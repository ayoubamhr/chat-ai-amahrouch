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98" r:id="rId4"/>
    <p:sldId id="263" r:id="rId5"/>
    <p:sldId id="299" r:id="rId6"/>
    <p:sldId id="277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accent1">
                <a:lumMod val="5000"/>
                <a:lumOff val="95000"/>
              </a:schemeClr>
            </a:gs>
            <a:gs pos="7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>
            <a:extLst>
              <a:ext uri="{FF2B5EF4-FFF2-40B4-BE49-F238E27FC236}">
                <a16:creationId xmlns:a16="http://schemas.microsoft.com/office/drawing/2014/main" id="{AC609EC0-00A1-4587-80D6-D873FE5DE4E0}"/>
              </a:ext>
            </a:extLst>
          </p:cNvPr>
          <p:cNvSpPr/>
          <p:nvPr/>
        </p:nvSpPr>
        <p:spPr>
          <a:xfrm flipH="1" flipV="1">
            <a:off x="10188482" y="2743200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6775869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775869" y="0"/>
                </a:lnTo>
                <a:lnTo>
                  <a:pt x="6775869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8259818F-130E-495F-8AE3-0F1CA0BB95AD}"/>
              </a:ext>
            </a:extLst>
          </p:cNvPr>
          <p:cNvSpPr/>
          <p:nvPr/>
        </p:nvSpPr>
        <p:spPr>
          <a:xfrm rot="10800000">
            <a:off x="8568229" y="5951579"/>
            <a:ext cx="2556168" cy="1533045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59843"/>
            <a:ext cx="12192000" cy="944550"/>
            <a:chOff x="0" y="1316467"/>
            <a:chExt cx="12192000" cy="1167653"/>
          </a:xfrm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solidFill>
                <a:srgbClr val="2B59C3">
                  <a:alpha val="71765"/>
                </a:srgbClr>
              </a:solidFill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93784" y="1316467"/>
              <a:ext cx="4542284" cy="9945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4400" b="1" dirty="0">
                  <a:solidFill>
                    <a:srgbClr val="F4F4F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456" y="38909"/>
            <a:ext cx="9347139" cy="1276655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641959" y="3762839"/>
            <a:ext cx="9553314" cy="104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en-US" sz="7000" b="1" i="1" dirty="0" err="1">
                <a:solidFill>
                  <a:srgbClr val="002060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Traitement</a:t>
            </a:r>
            <a:r>
              <a:rPr lang="en-US" sz="7000" b="1" i="1" dirty="0">
                <a:solidFill>
                  <a:srgbClr val="002060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 de </a:t>
            </a:r>
            <a:r>
              <a:rPr lang="en-US" sz="7000" b="1" i="1" dirty="0" err="1">
                <a:solidFill>
                  <a:srgbClr val="002060"/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texte</a:t>
            </a:r>
            <a:endParaRPr lang="en-US" sz="7000" b="1" i="1" dirty="0">
              <a:solidFill>
                <a:srgbClr val="002060"/>
              </a:solidFill>
              <a:latin typeface="Comic Sans MS" panose="030F0702030302020204" pitchFamily="66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622917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77766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229174" y="2938939"/>
            <a:ext cx="100102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Unité 2:  Utilitaires et fichiers &amp;&amp; Traitement de textes.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</a:rPr>
              <a:t>Séquence 2: </a:t>
            </a: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Traitement de texte</a:t>
            </a:r>
            <a:r>
              <a:rPr lang="fr-FR" b="1" dirty="0">
                <a:solidFill>
                  <a:schemeClr val="accent1"/>
                </a:solidFill>
                <a:latin typeface="Calibri" panose="020F0502020204030204" pitchFamily="34" charset="0"/>
              </a:rPr>
              <a:t>.</a:t>
            </a:r>
            <a:r>
              <a:rPr lang="fr-FR" sz="1800" b="1" i="0" u="none" strike="noStrike" dirty="0">
                <a:solidFill>
                  <a:schemeClr val="accent1"/>
                </a:solidFill>
                <a:effectLst/>
                <a:latin typeface="Calibri" panose="020F0502020204030204" pitchFamily="34" charset="0"/>
              </a:rPr>
              <a:t> </a:t>
            </a:r>
            <a:endParaRPr lang="fr-FR" b="1" dirty="0">
              <a:solidFill>
                <a:schemeClr val="accent1"/>
              </a:solidFill>
              <a:effectLst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CF8A8AE-9A68-4452-8691-1C5C7EC0D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64233">
            <a:off x="3936432" y="4478460"/>
            <a:ext cx="1633137" cy="1633137"/>
          </a:xfrm>
          <a:prstGeom prst="rect">
            <a:avLst/>
          </a:prstGeom>
        </p:spPr>
      </p:pic>
      <p:pic>
        <p:nvPicPr>
          <p:cNvPr id="24" name="Picture 2" descr="D:\my el mehdi salhi\Word.jpg.png">
            <a:extLst>
              <a:ext uri="{FF2B5EF4-FFF2-40B4-BE49-F238E27FC236}">
                <a16:creationId xmlns:a16="http://schemas.microsoft.com/office/drawing/2014/main" id="{0A6CEB32-8F54-42CE-99D9-85F143DE8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379581" y="3462560"/>
            <a:ext cx="1928826" cy="1928826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D4EEDF-B3D4-4182-BF8D-0CD864315C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8615">
            <a:off x="1953309" y="4931504"/>
            <a:ext cx="1368152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99E86-C7A6-4E50-9098-2912320AD594}"/>
              </a:ext>
            </a:extLst>
          </p:cNvPr>
          <p:cNvSpPr txBox="1"/>
          <p:nvPr/>
        </p:nvSpPr>
        <p:spPr>
          <a:xfrm>
            <a:off x="206755" y="3662729"/>
            <a:ext cx="4827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/>
              <a:t>Figure 1 : l'écriture à la 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37C22-2726-467E-BC14-13784D3A8E21}"/>
              </a:ext>
            </a:extLst>
          </p:cNvPr>
          <p:cNvSpPr txBox="1"/>
          <p:nvPr/>
        </p:nvSpPr>
        <p:spPr>
          <a:xfrm>
            <a:off x="7354304" y="3749885"/>
            <a:ext cx="406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/>
              <a:t>Figure 2 : </a:t>
            </a:r>
            <a:r>
              <a:rPr lang="fr-FR" sz="2400" dirty="0"/>
              <a:t>la machine à écrire</a:t>
            </a:r>
            <a:endParaRPr lang="fr-FR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B3C29-A5C9-4423-B8D9-452F6E24E046}"/>
              </a:ext>
            </a:extLst>
          </p:cNvPr>
          <p:cNvSpPr txBox="1"/>
          <p:nvPr/>
        </p:nvSpPr>
        <p:spPr>
          <a:xfrm>
            <a:off x="819150" y="105827"/>
            <a:ext cx="4159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Que représente cette image 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E2B86E-726F-4323-954F-4A0935D78BDE}"/>
              </a:ext>
            </a:extLst>
          </p:cNvPr>
          <p:cNvSpPr txBox="1"/>
          <p:nvPr/>
        </p:nvSpPr>
        <p:spPr>
          <a:xfrm>
            <a:off x="7479131" y="105827"/>
            <a:ext cx="4159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Que représente cette image 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E21DA8-E762-41E8-B759-21840CC66403}"/>
              </a:ext>
            </a:extLst>
          </p:cNvPr>
          <p:cNvSpPr txBox="1"/>
          <p:nvPr/>
        </p:nvSpPr>
        <p:spPr>
          <a:xfrm>
            <a:off x="1295400" y="4737208"/>
            <a:ext cx="10896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Cite quelques avantages de l’écriture avec la machine à écrire par rapport à l’écriture à la main.</a:t>
            </a:r>
          </a:p>
          <a:p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Cite quelques limitations de l’écriture avec la machine à écrire.</a:t>
            </a:r>
          </a:p>
        </p:txBody>
      </p:sp>
      <p:pic>
        <p:nvPicPr>
          <p:cNvPr id="10" name="Picture 3" descr="&#10;">
            <a:extLst>
              <a:ext uri="{FF2B5EF4-FFF2-40B4-BE49-F238E27FC236}">
                <a16:creationId xmlns:a16="http://schemas.microsoft.com/office/drawing/2014/main" id="{63F93C26-D278-4EE5-AA37-9FE16BAA9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286" y="697480"/>
            <a:ext cx="4144947" cy="2731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85E9E675-3702-4492-A7CD-9F205DD96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12862" y="697480"/>
            <a:ext cx="4104744" cy="2731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83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18912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 Activité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99E86-C7A6-4E50-9098-2912320AD594}"/>
              </a:ext>
            </a:extLst>
          </p:cNvPr>
          <p:cNvSpPr txBox="1"/>
          <p:nvPr/>
        </p:nvSpPr>
        <p:spPr>
          <a:xfrm>
            <a:off x="206755" y="3688129"/>
            <a:ext cx="4827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/>
              <a:t>Figure 3 : système informatique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37C22-2726-467E-BC14-13784D3A8E21}"/>
              </a:ext>
            </a:extLst>
          </p:cNvPr>
          <p:cNvSpPr txBox="1"/>
          <p:nvPr/>
        </p:nvSpPr>
        <p:spPr>
          <a:xfrm>
            <a:off x="7354304" y="3749885"/>
            <a:ext cx="40633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/>
              <a:t>Figure 2 : </a:t>
            </a:r>
            <a:r>
              <a:rPr lang="fr-FR" sz="2400" dirty="0"/>
              <a:t>la machine à écrire</a:t>
            </a:r>
            <a:endParaRPr lang="fr-FR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B3C29-A5C9-4423-B8D9-452F6E24E046}"/>
              </a:ext>
            </a:extLst>
          </p:cNvPr>
          <p:cNvSpPr txBox="1"/>
          <p:nvPr/>
        </p:nvSpPr>
        <p:spPr>
          <a:xfrm>
            <a:off x="819150" y="105827"/>
            <a:ext cx="4159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Que représente cette image 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E2B86E-726F-4323-954F-4A0935D78BDE}"/>
              </a:ext>
            </a:extLst>
          </p:cNvPr>
          <p:cNvSpPr txBox="1"/>
          <p:nvPr/>
        </p:nvSpPr>
        <p:spPr>
          <a:xfrm>
            <a:off x="7479131" y="105827"/>
            <a:ext cx="4159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Que représente cette image 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E21DA8-E762-41E8-B759-21840CC66403}"/>
              </a:ext>
            </a:extLst>
          </p:cNvPr>
          <p:cNvSpPr txBox="1"/>
          <p:nvPr/>
        </p:nvSpPr>
        <p:spPr>
          <a:xfrm>
            <a:off x="1295400" y="5194408"/>
            <a:ext cx="10896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Ces limitations seront-elles surpassées avec l’outil informatique ?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85E9E675-3702-4492-A7CD-9F205DD96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12862" y="697480"/>
            <a:ext cx="4104744" cy="27315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59000E9F-A7DB-4E43-8B60-F74272340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5" y="692696"/>
            <a:ext cx="3762703" cy="29260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2635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34461" y="0"/>
            <a:ext cx="11723077" cy="2932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I. traitement de texte </a:t>
            </a:r>
            <a:endParaRPr lang="fr-FR" sz="3600" b="0" i="0" dirty="0">
              <a:solidFill>
                <a:srgbClr val="F44336"/>
              </a:solidFill>
              <a:effectLst/>
              <a:latin typeface="Roboto" panose="02000000000000000000" pitchFamily="2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fr-FR" sz="3600" i="1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Définition</a:t>
            </a:r>
            <a:endParaRPr lang="fr-FR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fr-FR" sz="2800" dirty="0">
                <a:latin typeface="Georgia" panose="02040502050405020303" pitchFamily="18" charset="0"/>
              </a:rPr>
              <a:t>           Un logiciel de </a:t>
            </a:r>
            <a:r>
              <a:rPr lang="fr-FR" sz="2800" b="1" dirty="0">
                <a:solidFill>
                  <a:srgbClr val="7030A0"/>
                </a:solidFill>
                <a:latin typeface="Georgia" panose="02040502050405020303" pitchFamily="18" charset="0"/>
              </a:rPr>
              <a:t>traitement de textes </a:t>
            </a:r>
            <a:r>
              <a:rPr lang="fr-FR" sz="2800" dirty="0">
                <a:latin typeface="Georgia" panose="02040502050405020303" pitchFamily="18" charset="0"/>
              </a:rPr>
              <a:t>permet de  </a:t>
            </a: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saisir</a:t>
            </a:r>
            <a:r>
              <a:rPr lang="fr-FR" sz="2800" dirty="0">
                <a:latin typeface="Georgia" panose="02040502050405020303" pitchFamily="18" charset="0"/>
              </a:rPr>
              <a:t> un texte sur un ordinateur, de le </a:t>
            </a: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modifier</a:t>
            </a:r>
            <a:r>
              <a:rPr lang="fr-FR" sz="2800" dirty="0">
                <a:latin typeface="Georgia" panose="02040502050405020303" pitchFamily="18" charset="0"/>
              </a:rPr>
              <a:t>, de </a:t>
            </a: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l’enregistrer</a:t>
            </a:r>
            <a:r>
              <a:rPr lang="fr-FR" sz="2800" dirty="0">
                <a:latin typeface="Georgia" panose="02040502050405020303" pitchFamily="18" charset="0"/>
              </a:rPr>
              <a:t>, et de </a:t>
            </a: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l’imprimer</a:t>
            </a:r>
            <a:r>
              <a:rPr lang="fr-FR" sz="2800" dirty="0">
                <a:latin typeface="Georgia" panose="02040502050405020303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FD3F6-6C72-48E9-A110-2A9FDCD23BA6}"/>
              </a:ext>
            </a:extLst>
          </p:cNvPr>
          <p:cNvSpPr txBox="1"/>
          <p:nvPr/>
        </p:nvSpPr>
        <p:spPr>
          <a:xfrm>
            <a:off x="234460" y="2932982"/>
            <a:ext cx="11723077" cy="821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fr-FR" sz="2800" dirty="0">
                <a:solidFill>
                  <a:schemeClr val="accent2"/>
                </a:solidFill>
                <a:latin typeface="Georgia" panose="02040502050405020303" pitchFamily="18" charset="0"/>
              </a:rPr>
              <a:t>Exemple :</a:t>
            </a:r>
          </a:p>
        </p:txBody>
      </p:sp>
      <p:pic>
        <p:nvPicPr>
          <p:cNvPr id="4" name="Picture 6" descr="C:\Users\mohammed\Desktop\word MSP 4\openoffice.jpg">
            <a:extLst>
              <a:ext uri="{FF2B5EF4-FFF2-40B4-BE49-F238E27FC236}">
                <a16:creationId xmlns:a16="http://schemas.microsoft.com/office/drawing/2014/main" id="{E20F78F3-78D7-42C1-B636-1D0AE932E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98193" y="3509476"/>
            <a:ext cx="162939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 descr="C:\Users\mohammed\Desktop\word MSP 4\WordPerfect_Office_Professional.png">
            <a:extLst>
              <a:ext uri="{FF2B5EF4-FFF2-40B4-BE49-F238E27FC236}">
                <a16:creationId xmlns:a16="http://schemas.microsoft.com/office/drawing/2014/main" id="{32EAE5AF-20F5-4678-BB18-6A22527CB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63591" y="3343896"/>
            <a:ext cx="1949840" cy="1750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10">
            <a:extLst>
              <a:ext uri="{FF2B5EF4-FFF2-40B4-BE49-F238E27FC236}">
                <a16:creationId xmlns:a16="http://schemas.microsoft.com/office/drawing/2014/main" id="{10609AF3-2FAC-4D8C-90B8-C150E1515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499" y="5185147"/>
            <a:ext cx="1698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b="1" i="1" dirty="0"/>
              <a:t>MS Office Word</a:t>
            </a:r>
          </a:p>
        </p:txBody>
      </p:sp>
      <p:sp>
        <p:nvSpPr>
          <p:cNvPr id="7" name="ZoneTexte 10">
            <a:extLst>
              <a:ext uri="{FF2B5EF4-FFF2-40B4-BE49-F238E27FC236}">
                <a16:creationId xmlns:a16="http://schemas.microsoft.com/office/drawing/2014/main" id="{2423E28C-AE60-44AB-83F9-103F51033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98" y="5185147"/>
            <a:ext cx="12731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b="1" i="1" dirty="0"/>
              <a:t>OpenOffice</a:t>
            </a:r>
          </a:p>
        </p:txBody>
      </p:sp>
      <p:sp>
        <p:nvSpPr>
          <p:cNvPr id="8" name="ZoneTexte 10">
            <a:extLst>
              <a:ext uri="{FF2B5EF4-FFF2-40B4-BE49-F238E27FC236}">
                <a16:creationId xmlns:a16="http://schemas.microsoft.com/office/drawing/2014/main" id="{B2FFB8C5-7775-44C4-8228-F4D19CAD7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7467" y="5185148"/>
            <a:ext cx="13897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r-FR" b="1" i="1" dirty="0"/>
              <a:t>WordPerfect</a:t>
            </a:r>
          </a:p>
        </p:txBody>
      </p:sp>
      <p:pic>
        <p:nvPicPr>
          <p:cNvPr id="9" name="Picture 2" descr="D:\my el mehdi salhi\images\Word.jpg.png">
            <a:extLst>
              <a:ext uri="{FF2B5EF4-FFF2-40B4-BE49-F238E27FC236}">
                <a16:creationId xmlns:a16="http://schemas.microsoft.com/office/drawing/2014/main" id="{6DF39F66-2011-4EB5-AFD7-9FF75872A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01393" y="3509476"/>
            <a:ext cx="1219200" cy="1219200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9FA647-BB95-4C8E-90A9-189678905FB2}"/>
              </a:ext>
            </a:extLst>
          </p:cNvPr>
          <p:cNvSpPr txBox="1"/>
          <p:nvPr/>
        </p:nvSpPr>
        <p:spPr>
          <a:xfrm>
            <a:off x="4631907" y="6159013"/>
            <a:ext cx="7582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nstantia" pitchFamily="18" charset="0"/>
              </a:rPr>
              <a:t>Dans ce qui suit on va utiliser Microsoft Word</a:t>
            </a:r>
          </a:p>
        </p:txBody>
      </p:sp>
    </p:spTree>
    <p:extLst>
      <p:ext uri="{BB962C8B-B14F-4D97-AF65-F5344CB8AC3E}">
        <p14:creationId xmlns:p14="http://schemas.microsoft.com/office/powerpoint/2010/main" val="420378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27788C-6A8D-4993-83FA-3557F9F0EF45}"/>
              </a:ext>
            </a:extLst>
          </p:cNvPr>
          <p:cNvSpPr txBox="1"/>
          <p:nvPr/>
        </p:nvSpPr>
        <p:spPr>
          <a:xfrm>
            <a:off x="234461" y="0"/>
            <a:ext cx="11723077" cy="120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3600" dirty="0">
                <a:solidFill>
                  <a:srgbClr val="F44336"/>
                </a:solidFill>
                <a:latin typeface="Roboto" panose="02000000000000000000" pitchFamily="2" charset="0"/>
              </a:rPr>
              <a:t>I. traitement de textes </a:t>
            </a:r>
            <a:endParaRPr lang="fr-FR" sz="3600" b="0" i="0" dirty="0">
              <a:solidFill>
                <a:srgbClr val="F44336"/>
              </a:solidFill>
              <a:effectLst/>
              <a:latin typeface="Roboto" panose="02000000000000000000" pitchFamily="2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fr-FR" sz="3600" i="1" dirty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Fonctionnalités d’un logiciel de traitement de texte</a:t>
            </a:r>
            <a:endParaRPr lang="fr-FR" sz="2800" dirty="0"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C59FA7-73F6-41D3-BDE4-9FABB5B29B5D}"/>
              </a:ext>
            </a:extLst>
          </p:cNvPr>
          <p:cNvSpPr txBox="1"/>
          <p:nvPr/>
        </p:nvSpPr>
        <p:spPr>
          <a:xfrm>
            <a:off x="1764630" y="1495472"/>
            <a:ext cx="10427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latin typeface="Georgia" panose="02040502050405020303" pitchFamily="18" charset="0"/>
              </a:rPr>
              <a:t>En général, un logiciel de traitement de texte permet de 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307AA-FAC9-437B-BD27-0C194896B66E}"/>
              </a:ext>
            </a:extLst>
          </p:cNvPr>
          <p:cNvSpPr txBox="1"/>
          <p:nvPr/>
        </p:nvSpPr>
        <p:spPr>
          <a:xfrm>
            <a:off x="481262" y="2050776"/>
            <a:ext cx="11476276" cy="4547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>
                <a:latin typeface="Georgia" panose="02040502050405020303" pitchFamily="18" charset="0"/>
              </a:rPr>
              <a:t>Saisir un texte.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>
                <a:latin typeface="Georgia" panose="02040502050405020303" pitchFamily="18" charset="0"/>
              </a:rPr>
              <a:t>Enregistrer un texte (le sauvegarder).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>
                <a:latin typeface="Georgia" panose="02040502050405020303" pitchFamily="18" charset="0"/>
              </a:rPr>
              <a:t>Corriger des erreurs d’orthographe et de grammaire.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>
                <a:latin typeface="Georgia" panose="02040502050405020303" pitchFamily="18" charset="0"/>
              </a:rPr>
              <a:t>Mettre en forme les caractères et les paragraphes.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>
                <a:latin typeface="Georgia" panose="02040502050405020303" pitchFamily="18" charset="0"/>
              </a:rPr>
              <a:t>Insérer des objets (image, tableau, …).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>
                <a:latin typeface="Georgia" panose="02040502050405020303" pitchFamily="18" charset="0"/>
              </a:rPr>
              <a:t>Mettre en page et imprimer un document.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800" dirty="0">
                <a:latin typeface="Georgia" panose="02040502050405020303" pitchFamily="18" charset="0"/>
              </a:rPr>
              <a:t>Récupérer le document à tout moment pour </a:t>
            </a:r>
            <a:r>
              <a:rPr lang="fr-FR" sz="2800">
                <a:latin typeface="Georgia" panose="02040502050405020303" pitchFamily="18" charset="0"/>
              </a:rPr>
              <a:t>le modifier.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4943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3508960" y="0"/>
            <a:ext cx="51740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1"/>
                </a:solidFill>
                <a:effectLst/>
                <a:latin typeface="Roboto" panose="02000000000000000000" pitchFamily="2" charset="0"/>
              </a:rPr>
              <a:t>Je découvre l’environnement Word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217F566-6164-4BF7-BF01-97C29750EEE1}"/>
              </a:ext>
            </a:extLst>
          </p:cNvPr>
          <p:cNvSpPr txBox="1">
            <a:spLocks/>
          </p:cNvSpPr>
          <p:nvPr/>
        </p:nvSpPr>
        <p:spPr>
          <a:xfrm>
            <a:off x="593554" y="1192534"/>
            <a:ext cx="8660567" cy="419761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18" charset="2"/>
              <a:buNone/>
            </a:pPr>
            <a:endParaRPr lang="fr-FR" sz="3600" dirty="0"/>
          </a:p>
          <a:p>
            <a:pPr>
              <a:buFont typeface="Wingdings 2" pitchFamily="18" charset="2"/>
              <a:buNone/>
            </a:pPr>
            <a:r>
              <a:rPr lang="fr-FR" sz="3600" dirty="0"/>
              <a:t>Démarrer Ms Word:</a:t>
            </a:r>
          </a:p>
          <a:p>
            <a:pPr lvl="1">
              <a:buFont typeface="Wingdings 2" pitchFamily="18" charset="2"/>
              <a:buNone/>
            </a:pPr>
            <a:endParaRPr lang="fr-FR" sz="3200" dirty="0"/>
          </a:p>
          <a:p>
            <a:pPr lvl="1">
              <a:buFont typeface="Wingdings" pitchFamily="2" charset="2"/>
              <a:buChar char="Ø"/>
            </a:pPr>
            <a:r>
              <a:rPr lang="fr-FR" sz="3200" dirty="0"/>
              <a:t>	Cliquer sur le bouton «</a:t>
            </a:r>
            <a:r>
              <a:rPr lang="fr-FR" sz="3200" b="1" dirty="0"/>
              <a:t> </a:t>
            </a:r>
            <a:r>
              <a:rPr lang="fr-FR" sz="3200" b="1" dirty="0">
                <a:solidFill>
                  <a:srgbClr val="7030A0"/>
                </a:solidFill>
              </a:rPr>
              <a:t>Démarrer</a:t>
            </a:r>
            <a:r>
              <a:rPr lang="fr-FR" sz="3200" dirty="0"/>
              <a:t> » </a:t>
            </a:r>
          </a:p>
          <a:p>
            <a:pPr lvl="1">
              <a:buFont typeface="Wingdings" pitchFamily="2" charset="2"/>
              <a:buChar char="Ø"/>
            </a:pPr>
            <a:r>
              <a:rPr lang="fr-FR" sz="3200" dirty="0"/>
              <a:t>	Cliquer sur « </a:t>
            </a:r>
            <a:r>
              <a:rPr lang="fr-FR" sz="3200" b="1" dirty="0">
                <a:solidFill>
                  <a:srgbClr val="7030A0"/>
                </a:solidFill>
              </a:rPr>
              <a:t>tous les programmes</a:t>
            </a:r>
            <a:r>
              <a:rPr lang="fr-FR" sz="3200" dirty="0">
                <a:solidFill>
                  <a:schemeClr val="accent2"/>
                </a:solidFill>
              </a:rPr>
              <a:t> </a:t>
            </a:r>
            <a:r>
              <a:rPr lang="fr-FR" sz="3200" dirty="0"/>
              <a:t>»</a:t>
            </a:r>
          </a:p>
          <a:p>
            <a:pPr lvl="1">
              <a:buFont typeface="Wingdings" pitchFamily="2" charset="2"/>
              <a:buChar char="Ø"/>
            </a:pPr>
            <a:r>
              <a:rPr lang="fr-FR" sz="3200" dirty="0"/>
              <a:t>	Choisir « </a:t>
            </a:r>
            <a:r>
              <a:rPr lang="fr-FR" sz="3200" b="1" dirty="0">
                <a:solidFill>
                  <a:srgbClr val="7030A0"/>
                </a:solidFill>
              </a:rPr>
              <a:t>Microsoft Office</a:t>
            </a:r>
            <a:r>
              <a:rPr lang="fr-FR" sz="3200" dirty="0">
                <a:solidFill>
                  <a:srgbClr val="7030A0"/>
                </a:solidFill>
              </a:rPr>
              <a:t> </a:t>
            </a:r>
            <a:r>
              <a:rPr lang="fr-FR" sz="3200" dirty="0"/>
              <a:t>» </a:t>
            </a:r>
          </a:p>
          <a:p>
            <a:pPr lvl="1">
              <a:buFont typeface="Wingdings" pitchFamily="2" charset="2"/>
              <a:buChar char="Ø"/>
            </a:pPr>
            <a:r>
              <a:rPr lang="fr-FR" sz="3200" dirty="0"/>
              <a:t>	Cliquer sur « </a:t>
            </a:r>
            <a:r>
              <a:rPr lang="fr-FR" sz="3200" b="1" dirty="0">
                <a:solidFill>
                  <a:srgbClr val="7030A0"/>
                </a:solidFill>
              </a:rPr>
              <a:t>Microsoft Office Word</a:t>
            </a:r>
            <a:r>
              <a:rPr lang="fr-FR" sz="3200" dirty="0">
                <a:solidFill>
                  <a:srgbClr val="7030A0"/>
                </a:solidFill>
              </a:rPr>
              <a:t> </a:t>
            </a:r>
            <a:r>
              <a:rPr lang="fr-FR" sz="3200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362471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2872</TotalTime>
  <Words>301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Abadi</vt:lpstr>
      <vt:lpstr>Aldhabi</vt:lpstr>
      <vt:lpstr>Arial</vt:lpstr>
      <vt:lpstr>Calibri</vt:lpstr>
      <vt:lpstr>Calibri Light</vt:lpstr>
      <vt:lpstr>Comic Sans MS</vt:lpstr>
      <vt:lpstr>Constantia</vt:lpstr>
      <vt:lpstr>Georgia</vt:lpstr>
      <vt:lpstr>Poppins Bold</vt:lpstr>
      <vt:lpstr>Roboto</vt:lpstr>
      <vt:lpstr>Wingdings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54</cp:revision>
  <dcterms:created xsi:type="dcterms:W3CDTF">2025-09-27T13:59:56Z</dcterms:created>
  <dcterms:modified xsi:type="dcterms:W3CDTF">2026-02-12T22:43:25Z</dcterms:modified>
</cp:coreProperties>
</file>