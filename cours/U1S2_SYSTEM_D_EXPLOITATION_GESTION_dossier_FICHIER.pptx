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331" r:id="rId3"/>
    <p:sldId id="335" r:id="rId4"/>
    <p:sldId id="360" r:id="rId5"/>
    <p:sldId id="361" r:id="rId6"/>
    <p:sldId id="362" r:id="rId7"/>
    <p:sldId id="363" r:id="rId8"/>
    <p:sldId id="342" r:id="rId9"/>
    <p:sldId id="364" r:id="rId10"/>
    <p:sldId id="345" r:id="rId11"/>
    <p:sldId id="365" r:id="rId12"/>
    <p:sldId id="370" r:id="rId13"/>
    <p:sldId id="366" r:id="rId14"/>
    <p:sldId id="367" r:id="rId15"/>
    <p:sldId id="352" r:id="rId16"/>
    <p:sldId id="368" r:id="rId17"/>
    <p:sldId id="369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62" autoAdjust="0"/>
    <p:restoredTop sz="95153" autoAdjust="0"/>
  </p:normalViewPr>
  <p:slideViewPr>
    <p:cSldViewPr snapToGrid="0">
      <p:cViewPr varScale="1">
        <p:scale>
          <a:sx n="80" d="100"/>
          <a:sy n="80" d="100"/>
        </p:scale>
        <p:origin x="64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E09B5-6896-4D11-8FA7-55ACA35F7AB4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C201F-8126-43B5-9E39-38447D4B0BC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890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2580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8055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289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0794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7357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1711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4120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463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70988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0092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33193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6880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7678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3712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81687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2164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F3FEB-EE32-4154-9A6E-1D15592340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64D61C-6FF4-4EBC-B55F-B196E0C15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7E184-7BC2-4779-AB65-C95BC64CC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76307-FA66-4732-9AD3-DCA3ABBF6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9DA3F-A270-43D9-8D9A-16D8B6D8C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5812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F5EEB-A41E-47A2-BFCF-DC2186691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3AA52-8CC5-48C6-AD43-117C6164E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1E7A8-A49D-466C-9831-D72C0558E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33871-4D1B-428A-9248-3AF7E419C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5689F-E8EE-42A0-93F4-59D9B04E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1577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AD218-DA58-4A3E-97D6-9EC97D71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BD259-6463-4D7B-8B57-7C9428947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372B8-C74B-463F-952B-A1E1572EF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3DA59-7301-4883-9D6D-4119107D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C1A5B-54B9-4450-8E05-B2CA5A13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1035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16A9D-6F31-4F79-A67E-E47EBF0DA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B26B-4316-44EF-B62D-04D3FF20D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736F4-6C59-4437-B4B1-D60DEEC58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66A0B-D316-4BF8-AD6B-3148E4362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974CB-762C-45DD-9B88-1FC48EAEA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5EA80-BB76-4155-A649-BF3650BF3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5193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2FBDE-A5A6-4B09-8E0F-AEEF0C2BD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91344-AFD9-49DD-81BE-A9BD2E3C3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3C32B-4605-4CD7-BA19-2A8A77934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3A816-48DB-4865-85BE-D49DDDBC2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C19BD4-9B8A-49A1-8815-BC67A45427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792CE3-0F0E-4CC2-BB94-2CDAF224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2771A9-205F-4FA7-9813-4F2BEC2AA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33B49B-7833-4CAA-8D06-5F7C6DF93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2942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308FF-4F53-4D79-9E38-2D0464905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EAFDD5-63C6-4982-A08F-72A9CAF4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FE595F-2A5A-44C2-9087-3F40C549F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27727-9632-4099-AED0-DB09B36F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0997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4257B9-138C-4BF8-8641-C8F2D7312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6184AC-43F3-43A8-A42E-15362E40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FC04F-9331-4992-AD36-533C1149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351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04500-6B3D-4BBC-A786-DB1549BA3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89D07-0B9F-4CD5-8F14-52D48F056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99A98-17C9-4992-ACDA-83C975C29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129D3-9BB0-4118-9A82-AB779447E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764D8-83AC-4F0C-954C-89EF892F4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FC138-A754-47CA-AC65-B91B2DE6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9381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8BDC-89A2-41B8-B6A3-56D28C4AC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83CDE5-0CA6-4461-8AD3-4854DE460F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FBA00-4293-40E9-B8AC-280C612A8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F6E05-BA23-49D0-843A-1AAB2590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06534-8FFD-4EEE-8145-A8A3CE41A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17DDE-B9E1-44E7-93D5-52B6B879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2362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DCB55-7CC8-4ACE-B697-84E3CFA64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EE5AFA-E7D9-4BEE-AA1D-3737F8144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26F73-3831-4505-BCC2-C80CE1A8B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21F3D-E77E-4B53-80C1-DAC85A27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1465C-62FA-48F2-A889-395F0E352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981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7788D9-97FE-4AA4-BFB3-10A79A1BF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9F733B-3EE9-4642-87D4-932AAC8DE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92072-6B2F-4E34-AE95-ED4641086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C7584-662C-4EDE-B525-94F15BCC6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887BB-2677-4CC2-8EC6-9AF35308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2318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2FFE7">
                <a:alpha val="100000"/>
              </a:srgbClr>
            </a:gs>
            <a:gs pos="100000">
              <a:srgbClr val="D2FCE7">
                <a:alpha val="100000"/>
              </a:srgb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F018AA-DE76-4880-8155-4FC61DD9F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B00EE-FCE7-4115-B6C1-8E9526540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8FE22-E867-4F26-91CE-D3F0801AD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E4A35-7C5B-4D7C-B128-B940E2677F9B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95DCD-4141-46B7-8EE4-6C4F655047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0CC1A-C723-47B0-A4BA-F027B3C0D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6742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13.png"/><Relationship Id="rId4" Type="http://schemas.microsoft.com/office/2007/relationships/hdphoto" Target="../media/hdphoto3.wdp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4.png"/><Relationship Id="rId4" Type="http://schemas.microsoft.com/office/2007/relationships/hdphoto" Target="../media/hdphoto2.wdp"/><Relationship Id="rId9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4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4.png"/><Relationship Id="rId4" Type="http://schemas.microsoft.com/office/2007/relationships/hdphoto" Target="../media/hdphoto2.wdp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>
            <a:extLst>
              <a:ext uri="{FF2B5EF4-FFF2-40B4-BE49-F238E27FC236}">
                <a16:creationId xmlns:a16="http://schemas.microsoft.com/office/drawing/2014/main" id="{AC609EC0-00A1-4587-80D6-D873FE5DE4E0}"/>
              </a:ext>
            </a:extLst>
          </p:cNvPr>
          <p:cNvSpPr/>
          <p:nvPr/>
        </p:nvSpPr>
        <p:spPr>
          <a:xfrm flipH="1" flipV="1">
            <a:off x="10237419" y="2741815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677586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775869" y="0"/>
                </a:lnTo>
                <a:lnTo>
                  <a:pt x="6775869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8259818F-130E-495F-8AE3-0F1CA0BB95AD}"/>
              </a:ext>
            </a:extLst>
          </p:cNvPr>
          <p:cNvSpPr/>
          <p:nvPr/>
        </p:nvSpPr>
        <p:spPr>
          <a:xfrm rot="10800000">
            <a:off x="8568229" y="5951579"/>
            <a:ext cx="2556168" cy="1533045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F7BC0F-EFCF-4BB1-96CA-DD8FF908BF60}"/>
              </a:ext>
            </a:extLst>
          </p:cNvPr>
          <p:cNvGrpSpPr/>
          <p:nvPr/>
        </p:nvGrpSpPr>
        <p:grpSpPr>
          <a:xfrm>
            <a:off x="0" y="2339572"/>
            <a:ext cx="12192000" cy="944550"/>
            <a:chOff x="0" y="1316467"/>
            <a:chExt cx="12192000" cy="1167653"/>
          </a:xfrm>
        </p:grpSpPr>
        <p:grpSp>
          <p:nvGrpSpPr>
            <p:cNvPr id="6" name="Group 2">
              <a:extLst>
                <a:ext uri="{FF2B5EF4-FFF2-40B4-BE49-F238E27FC236}">
                  <a16:creationId xmlns:a16="http://schemas.microsoft.com/office/drawing/2014/main" id="{ACDAF367-CC7A-4EB5-A3DB-DE06FD2A39F5}"/>
                </a:ext>
              </a:extLst>
            </p:cNvPr>
            <p:cNvGrpSpPr/>
            <p:nvPr/>
          </p:nvGrpSpPr>
          <p:grpSpPr>
            <a:xfrm>
              <a:off x="0" y="1700568"/>
              <a:ext cx="12192000" cy="783552"/>
              <a:chOff x="0" y="0"/>
              <a:chExt cx="4988065" cy="385799"/>
            </a:xfrm>
          </p:grpSpPr>
          <p:sp>
            <p:nvSpPr>
              <p:cNvPr id="7" name="Freeform 3">
                <a:extLst>
                  <a:ext uri="{FF2B5EF4-FFF2-40B4-BE49-F238E27FC236}">
                    <a16:creationId xmlns:a16="http://schemas.microsoft.com/office/drawing/2014/main" id="{C9279D21-0EF3-4140-AEB6-6BE58791B678}"/>
                  </a:ext>
                </a:extLst>
              </p:cNvPr>
              <p:cNvSpPr/>
              <p:nvPr/>
            </p:nvSpPr>
            <p:spPr>
              <a:xfrm>
                <a:off x="0" y="0"/>
                <a:ext cx="4988065" cy="385799"/>
              </a:xfrm>
              <a:custGeom>
                <a:avLst/>
                <a:gdLst/>
                <a:ahLst/>
                <a:cxnLst/>
                <a:rect l="l" t="t" r="r" b="b"/>
                <a:pathLst>
                  <a:path w="4988065" h="385799">
                    <a:moveTo>
                      <a:pt x="0" y="0"/>
                    </a:moveTo>
                    <a:lnTo>
                      <a:pt x="4988065" y="0"/>
                    </a:lnTo>
                    <a:lnTo>
                      <a:pt x="4988065" y="385799"/>
                    </a:lnTo>
                    <a:lnTo>
                      <a:pt x="0" y="385799"/>
                    </a:lnTo>
                    <a:close/>
                  </a:path>
                </a:pathLst>
              </a:custGeom>
              <a:solidFill>
                <a:srgbClr val="2B59C3">
                  <a:alpha val="71765"/>
                </a:srgbClr>
              </a:solidFill>
            </p:spPr>
          </p:sp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81BF4A2C-89F2-4CD5-A915-8702FCB0702B}"/>
                  </a:ext>
                </a:extLst>
              </p:cNvPr>
              <p:cNvSpPr txBox="1"/>
              <p:nvPr/>
            </p:nvSpPr>
            <p:spPr>
              <a:xfrm>
                <a:off x="0" y="28575"/>
                <a:ext cx="4988065" cy="3572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/>
              </a:p>
            </p:txBody>
          </p:sp>
        </p:grp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84B50431-556A-4CB1-9245-727D28A61EC4}"/>
                </a:ext>
              </a:extLst>
            </p:cNvPr>
            <p:cNvSpPr txBox="1"/>
            <p:nvPr/>
          </p:nvSpPr>
          <p:spPr>
            <a:xfrm>
              <a:off x="93784" y="1316467"/>
              <a:ext cx="4542284" cy="9945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743"/>
                </a:lnSpc>
                <a:spcBef>
                  <a:spcPct val="0"/>
                </a:spcBef>
              </a:pPr>
              <a:r>
                <a:rPr lang="en-US" sz="4400" b="1" dirty="0">
                  <a:solidFill>
                    <a:srgbClr val="F4F4F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INFORMATIQUE</a:t>
              </a: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132FBDB5-A7F1-455A-B3AF-B3B12B5B321A}"/>
              </a:ext>
            </a:extLst>
          </p:cNvPr>
          <p:cNvSpPr txBox="1"/>
          <p:nvPr/>
        </p:nvSpPr>
        <p:spPr>
          <a:xfrm>
            <a:off x="165120" y="6321828"/>
            <a:ext cx="3257324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Pr. AMAHROUCH Ayoub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F1809D-6695-4FB7-BD39-1610A39BD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80" y="72736"/>
            <a:ext cx="10814040" cy="1618000"/>
          </a:xfrm>
          <a:prstGeom prst="rect">
            <a:avLst/>
          </a:prstGeom>
        </p:spPr>
      </p:pic>
      <p:sp>
        <p:nvSpPr>
          <p:cNvPr id="17" name="TextBox 10">
            <a:extLst>
              <a:ext uri="{FF2B5EF4-FFF2-40B4-BE49-F238E27FC236}">
                <a16:creationId xmlns:a16="http://schemas.microsoft.com/office/drawing/2014/main" id="{E6361432-DCD2-44DD-81A0-A091E3E123B7}"/>
              </a:ext>
            </a:extLst>
          </p:cNvPr>
          <p:cNvSpPr txBox="1"/>
          <p:nvPr/>
        </p:nvSpPr>
        <p:spPr>
          <a:xfrm>
            <a:off x="623175" y="3812556"/>
            <a:ext cx="7205374" cy="2132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4"/>
              </a:lnSpc>
              <a:spcBef>
                <a:spcPct val="0"/>
              </a:spcBef>
            </a:pPr>
            <a:r>
              <a:rPr lang="en-US" sz="7000" b="1" dirty="0" err="1">
                <a:solidFill>
                  <a:srgbClr val="004AAD"/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système</a:t>
            </a:r>
            <a:r>
              <a:rPr lang="en-US" sz="7000" b="1" dirty="0">
                <a:solidFill>
                  <a:srgbClr val="004AAD"/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 </a:t>
            </a:r>
            <a:r>
              <a:rPr lang="en-US" sz="7000" b="1" dirty="0" err="1">
                <a:solidFill>
                  <a:srgbClr val="004AAD"/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d’exploitation</a:t>
            </a:r>
            <a:endParaRPr lang="en-US" sz="7000" b="1" dirty="0">
              <a:solidFill>
                <a:srgbClr val="004AAD"/>
              </a:solidFill>
              <a:latin typeface="Comic Sans MS" panose="030F0702030302020204" pitchFamily="66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5536A886-117E-4348-86DA-6A7D00A50486}"/>
              </a:ext>
            </a:extLst>
          </p:cNvPr>
          <p:cNvSpPr txBox="1"/>
          <p:nvPr/>
        </p:nvSpPr>
        <p:spPr>
          <a:xfrm>
            <a:off x="10622917" y="6306124"/>
            <a:ext cx="1283559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2025/2026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230E712B-6AEB-4BF1-B6B9-3CBEEF5683F0}"/>
              </a:ext>
            </a:extLst>
          </p:cNvPr>
          <p:cNvSpPr/>
          <p:nvPr/>
        </p:nvSpPr>
        <p:spPr>
          <a:xfrm>
            <a:off x="9789187" y="1922421"/>
            <a:ext cx="3259773" cy="4587474"/>
          </a:xfrm>
          <a:custGeom>
            <a:avLst/>
            <a:gdLst/>
            <a:ahLst/>
            <a:cxnLst/>
            <a:rect l="l" t="t" r="r" b="b"/>
            <a:pathLst>
              <a:path w="6379233" h="8140553">
                <a:moveTo>
                  <a:pt x="0" y="0"/>
                </a:moveTo>
                <a:lnTo>
                  <a:pt x="6379233" y="0"/>
                </a:lnTo>
                <a:lnTo>
                  <a:pt x="6379233" y="8140553"/>
                </a:lnTo>
                <a:lnTo>
                  <a:pt x="0" y="81405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3287DA-EBB1-4397-850B-2D3B184FFFFC}"/>
              </a:ext>
            </a:extLst>
          </p:cNvPr>
          <p:cNvSpPr txBox="1"/>
          <p:nvPr/>
        </p:nvSpPr>
        <p:spPr>
          <a:xfrm>
            <a:off x="2655872" y="1602954"/>
            <a:ext cx="728285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>
                <a:solidFill>
                  <a:schemeClr val="bg1">
                    <a:lumMod val="65000"/>
                  </a:schemeClr>
                </a:solidFill>
                <a:latin typeface="Abadi" panose="020B0604020104020204" pitchFamily="34" charset="0"/>
              </a:rPr>
              <a:t>Académie Régionale de l'Éducation et de la Formation de Béni Mellal-</a:t>
            </a:r>
            <a:r>
              <a:rPr lang="fr-FR" sz="1600" b="1" dirty="0" err="1">
                <a:solidFill>
                  <a:schemeClr val="bg1">
                    <a:lumMod val="65000"/>
                  </a:schemeClr>
                </a:solidFill>
                <a:latin typeface="Abadi" panose="020B0604020104020204" pitchFamily="34" charset="0"/>
              </a:rPr>
              <a:t>Khénifra</a:t>
            </a:r>
            <a:endParaRPr lang="fr-FR" sz="1600" b="1" dirty="0">
              <a:solidFill>
                <a:schemeClr val="bg1">
                  <a:lumMod val="65000"/>
                </a:schemeClr>
              </a:solidFill>
              <a:latin typeface="Abadi" panose="020B0604020104020204" pitchFamily="34" charset="0"/>
            </a:endParaRPr>
          </a:p>
          <a:p>
            <a:pPr algn="ctr"/>
            <a:r>
              <a:rPr lang="fr-FR" sz="1600" b="1" dirty="0">
                <a:solidFill>
                  <a:schemeClr val="bg1">
                    <a:lumMod val="65000"/>
                  </a:schemeClr>
                </a:solidFill>
                <a:latin typeface="Abadi" panose="020B0604020104020204" pitchFamily="34" charset="0"/>
              </a:rPr>
              <a:t>Direction Provinciale de l'Éducation Nationale et de la Formation — Khouribga</a:t>
            </a:r>
          </a:p>
          <a:p>
            <a:pPr algn="ctr"/>
            <a:r>
              <a:rPr lang="fr-FR" sz="1600" b="1" dirty="0">
                <a:solidFill>
                  <a:schemeClr val="bg1">
                    <a:lumMod val="65000"/>
                  </a:schemeClr>
                </a:solidFill>
                <a:latin typeface="Abadi" panose="020B0604020104020204" pitchFamily="34" charset="0"/>
              </a:rPr>
              <a:t>Collège Aït Ammar</a:t>
            </a:r>
          </a:p>
        </p:txBody>
      </p:sp>
    </p:spTree>
    <p:extLst>
      <p:ext uri="{BB962C8B-B14F-4D97-AF65-F5344CB8AC3E}">
        <p14:creationId xmlns:p14="http://schemas.microsoft.com/office/powerpoint/2010/main" val="3915052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5F9C37-F6FF-4D6A-A495-CACDB8A4F14D}"/>
              </a:ext>
            </a:extLst>
          </p:cNvPr>
          <p:cNvSpPr txBox="1"/>
          <p:nvPr/>
        </p:nvSpPr>
        <p:spPr>
          <a:xfrm>
            <a:off x="546509" y="735399"/>
            <a:ext cx="11098981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fr-FR" sz="7000" b="1" dirty="0">
                <a:solidFill>
                  <a:srgbClr val="004AAD"/>
                </a:solidFill>
                <a:latin typeface="Comic Sans MS" panose="030F0702030302020204" pitchFamily="66" charset="0"/>
              </a:rPr>
              <a:t>Gestion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fr-FR" sz="7000" b="1" dirty="0">
                <a:solidFill>
                  <a:srgbClr val="004AAD"/>
                </a:solidFill>
                <a:latin typeface="Comic Sans MS" panose="030F0702030302020204" pitchFamily="66" charset="0"/>
              </a:rPr>
              <a:t> des fichiers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fr-FR" sz="7000" b="1" dirty="0">
                <a:solidFill>
                  <a:srgbClr val="004AAD"/>
                </a:solidFill>
                <a:latin typeface="Comic Sans MS" panose="030F0702030302020204" pitchFamily="66" charset="0"/>
              </a:rPr>
              <a:t> et 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fr-FR" sz="7000" b="1" dirty="0">
                <a:solidFill>
                  <a:srgbClr val="004AAD"/>
                </a:solidFill>
                <a:latin typeface="Comic Sans MS" panose="030F0702030302020204" pitchFamily="66" charset="0"/>
              </a:rPr>
              <a:t>des dossiers</a:t>
            </a:r>
          </a:p>
          <a:p>
            <a:endParaRPr lang="fr-FR" sz="7000" b="1" dirty="0">
              <a:solidFill>
                <a:srgbClr val="004AAD"/>
              </a:solidFill>
              <a:latin typeface="Comic Sans MS" panose="030F0702030302020204" pitchFamily="66" charset="0"/>
            </a:endParaRPr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84BC6D8F-45E1-4311-B0D5-E3E20845D0C9}"/>
              </a:ext>
            </a:extLst>
          </p:cNvPr>
          <p:cNvSpPr/>
          <p:nvPr/>
        </p:nvSpPr>
        <p:spPr>
          <a:xfrm rot="1149687">
            <a:off x="840911" y="928046"/>
            <a:ext cx="1559111" cy="2282475"/>
          </a:xfrm>
          <a:custGeom>
            <a:avLst/>
            <a:gdLst/>
            <a:ahLst/>
            <a:cxnLst/>
            <a:rect l="l" t="t" r="r" b="b"/>
            <a:pathLst>
              <a:path w="2412066" h="3128859">
                <a:moveTo>
                  <a:pt x="0" y="0"/>
                </a:moveTo>
                <a:lnTo>
                  <a:pt x="2412067" y="0"/>
                </a:lnTo>
                <a:lnTo>
                  <a:pt x="2412067" y="3128860"/>
                </a:lnTo>
                <a:lnTo>
                  <a:pt x="0" y="3128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FC549725-853E-4086-800F-E2E1E4308076}"/>
              </a:ext>
            </a:extLst>
          </p:cNvPr>
          <p:cNvSpPr/>
          <p:nvPr/>
        </p:nvSpPr>
        <p:spPr>
          <a:xfrm>
            <a:off x="9325862" y="856918"/>
            <a:ext cx="2319628" cy="1887209"/>
          </a:xfrm>
          <a:custGeom>
            <a:avLst/>
            <a:gdLst/>
            <a:ahLst/>
            <a:cxnLst/>
            <a:rect l="l" t="t" r="r" b="b"/>
            <a:pathLst>
              <a:path w="4457028" h="3452171">
                <a:moveTo>
                  <a:pt x="0" y="0"/>
                </a:moveTo>
                <a:lnTo>
                  <a:pt x="4457028" y="0"/>
                </a:lnTo>
                <a:lnTo>
                  <a:pt x="4457028" y="3452171"/>
                </a:lnTo>
                <a:lnTo>
                  <a:pt x="0" y="3452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1FE0E6-E3C1-4A43-A013-38BF0F4536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143116">
            <a:off x="735801" y="4158958"/>
            <a:ext cx="1769333" cy="1769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0E5FA3-ACA6-43AA-8690-580102851B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344588">
            <a:off x="9622303" y="4204221"/>
            <a:ext cx="2036138" cy="20361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37521E-1ACE-4FAE-A1F0-CC012B5C0C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982820">
            <a:off x="5530102" y="5227798"/>
            <a:ext cx="1507704" cy="150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49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92F5675F-16F5-4A59-9DAF-519A555B329E}"/>
              </a:ext>
            </a:extLst>
          </p:cNvPr>
          <p:cNvGrpSpPr/>
          <p:nvPr/>
        </p:nvGrpSpPr>
        <p:grpSpPr>
          <a:xfrm>
            <a:off x="195307" y="4547518"/>
            <a:ext cx="2522161" cy="2522161"/>
            <a:chOff x="200009" y="4547518"/>
            <a:chExt cx="2522161" cy="2522161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52CA2A3-033D-405E-AB3B-DBEBA61EE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961" b="89844" l="9961" r="96094">
                          <a14:foregroundMark x1="91113" y1="57129" x2="90918" y2="63477"/>
                          <a14:foregroundMark x1="93750" y1="58203" x2="93359" y2="63965"/>
                          <a14:foregroundMark x1="96094" y1="59375" x2="93945" y2="63184"/>
                          <a14:backgroundMark x1="20313" y1="36523" x2="67578" y2="28809"/>
                          <a14:backgroundMark x1="67578" y1="28809" x2="67383" y2="29297"/>
                          <a14:backgroundMark x1="69629" y1="37012" x2="77832" y2="41211"/>
                          <a14:backgroundMark x1="77832" y1="41211" x2="91504" y2="41699"/>
                          <a14:backgroundMark x1="91504" y1="41699" x2="90234" y2="49805"/>
                          <a14:backgroundMark x1="90234" y1="49805" x2="91504" y2="5009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009" y="4547518"/>
              <a:ext cx="2522161" cy="2522161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3DD399D-EF9B-4BA3-805D-38D21F0DCB0B}"/>
                </a:ext>
              </a:extLst>
            </p:cNvPr>
            <p:cNvSpPr txBox="1"/>
            <p:nvPr/>
          </p:nvSpPr>
          <p:spPr>
            <a:xfrm>
              <a:off x="1276310" y="5678611"/>
              <a:ext cx="3695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fr-FR" sz="2800" dirty="0">
                  <a:latin typeface="Georgia" panose="02040502050405020303" pitchFamily="18" charset="0"/>
                </a:rPr>
                <a:t>A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E2CBFC3-9351-45F9-8E09-07C0C6A738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backgroundMark x1="28320" y1="31445" x2="28320" y2="31445"/>
                        <a14:backgroundMark x1="28320" y1="31445" x2="39844" y2="25488"/>
                        <a14:backgroundMark x1="39844" y1="25488" x2="8691" y2="25098"/>
                        <a14:backgroundMark x1="33594" y1="40137" x2="47949" y2="216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" y="1524016"/>
            <a:ext cx="3177737" cy="38099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8F70B6-4FA8-40FD-BA30-D99F99F0AA01}"/>
              </a:ext>
            </a:extLst>
          </p:cNvPr>
          <p:cNvSpPr txBox="1"/>
          <p:nvPr/>
        </p:nvSpPr>
        <p:spPr>
          <a:xfrm>
            <a:off x="245440" y="186443"/>
            <a:ext cx="82128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800" dirty="0">
                <a:latin typeface="Georgia" panose="02040502050405020303" pitchFamily="18" charset="0"/>
              </a:rPr>
              <a:t>Imaginez que cette boîte est votre ordinateur.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72FDFB-025A-4DCD-9CD6-E7F41ECB7E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223" y="-981967"/>
            <a:ext cx="4003440" cy="38736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461051-A75E-4375-B128-3D58E46B32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backgroundMark x1="28320" y1="31445" x2="28320" y2="31445"/>
                        <a14:backgroundMark x1="28320" y1="31445" x2="39844" y2="25488"/>
                        <a14:backgroundMark x1="39844" y1="25488" x2="8691" y2="25098"/>
                        <a14:backgroundMark x1="33594" y1="40137" x2="47949" y2="216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237" y="1240259"/>
            <a:ext cx="3177737" cy="380996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D8C2576-46F6-4159-A4AD-8D3BC8A8DDE9}"/>
              </a:ext>
            </a:extLst>
          </p:cNvPr>
          <p:cNvSpPr txBox="1"/>
          <p:nvPr/>
        </p:nvSpPr>
        <p:spPr>
          <a:xfrm>
            <a:off x="265403" y="2432165"/>
            <a:ext cx="9452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800" dirty="0"/>
              <a:t>À l’intérieur, il y a des enveloppes, qui sont les dossiers.</a:t>
            </a:r>
            <a:endParaRPr lang="fr-FR" sz="2800" dirty="0">
              <a:latin typeface="Georgia" panose="02040502050405020303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D3D48D-5B47-472E-991D-4577B804243D}"/>
              </a:ext>
            </a:extLst>
          </p:cNvPr>
          <p:cNvSpPr txBox="1"/>
          <p:nvPr/>
        </p:nvSpPr>
        <p:spPr>
          <a:xfrm>
            <a:off x="223850" y="4547518"/>
            <a:ext cx="83501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Georgia" panose="02040502050405020303" pitchFamily="18" charset="0"/>
              </a:rPr>
              <a:t>Chaque papier à l’intérieur représente un fichier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76D92D9-D7FF-4CDD-A1C3-56663BA480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backgroundMark x1="28320" y1="31445" x2="28320" y2="31445"/>
                        <a14:backgroundMark x1="28320" y1="31445" x2="39844" y2="25488"/>
                        <a14:backgroundMark x1="39844" y1="25488" x2="8691" y2="25098"/>
                        <a14:backgroundMark x1="33594" y1="40137" x2="47949" y2="216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850" y="1524016"/>
            <a:ext cx="3177737" cy="380996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DD303D7-F831-4759-A719-07948A123F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backgroundMark x1="28320" y1="31445" x2="28320" y2="31445"/>
                        <a14:backgroundMark x1="28320" y1="31445" x2="39844" y2="25488"/>
                        <a14:backgroundMark x1="39844" y1="25488" x2="8691" y2="25098"/>
                        <a14:backgroundMark x1="33594" y1="40137" x2="47949" y2="216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247" y="1453613"/>
            <a:ext cx="3177737" cy="3809968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EF839640-A20E-4E30-B8AD-6EF76268D7F9}"/>
              </a:ext>
            </a:extLst>
          </p:cNvPr>
          <p:cNvGrpSpPr/>
          <p:nvPr/>
        </p:nvGrpSpPr>
        <p:grpSpPr>
          <a:xfrm>
            <a:off x="2999156" y="4547518"/>
            <a:ext cx="2522161" cy="2522161"/>
            <a:chOff x="200009" y="4547518"/>
            <a:chExt cx="2522161" cy="2522161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C4D61F6F-30D6-4EDD-92AE-D76BADC5F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961" b="89844" l="9961" r="96094">
                          <a14:foregroundMark x1="91113" y1="57129" x2="90918" y2="63477"/>
                          <a14:foregroundMark x1="93750" y1="58203" x2="93359" y2="63965"/>
                          <a14:foregroundMark x1="96094" y1="59375" x2="93945" y2="63184"/>
                          <a14:backgroundMark x1="20313" y1="36523" x2="67578" y2="28809"/>
                          <a14:backgroundMark x1="67578" y1="28809" x2="67383" y2="29297"/>
                          <a14:backgroundMark x1="69629" y1="37012" x2="77832" y2="41211"/>
                          <a14:backgroundMark x1="77832" y1="41211" x2="91504" y2="41699"/>
                          <a14:backgroundMark x1="91504" y1="41699" x2="90234" y2="49805"/>
                          <a14:backgroundMark x1="90234" y1="49805" x2="91504" y2="5009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009" y="4547518"/>
              <a:ext cx="2522161" cy="2522161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4BC6381-5309-4B38-8806-A3BC23CDE2DE}"/>
                </a:ext>
              </a:extLst>
            </p:cNvPr>
            <p:cNvSpPr txBox="1"/>
            <p:nvPr/>
          </p:nvSpPr>
          <p:spPr>
            <a:xfrm>
              <a:off x="1276310" y="5678611"/>
              <a:ext cx="3695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fr-FR" sz="2800" dirty="0">
                  <a:latin typeface="Georgia" panose="02040502050405020303" pitchFamily="18" charset="0"/>
                </a:rPr>
                <a:t>B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1C2AEB6-1DFC-4010-A47E-99EFA37C9921}"/>
              </a:ext>
            </a:extLst>
          </p:cNvPr>
          <p:cNvGrpSpPr/>
          <p:nvPr/>
        </p:nvGrpSpPr>
        <p:grpSpPr>
          <a:xfrm>
            <a:off x="5895205" y="4579181"/>
            <a:ext cx="2522161" cy="2522161"/>
            <a:chOff x="200009" y="4547518"/>
            <a:chExt cx="2522161" cy="2522161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0FE9A7A-6904-4CF8-8A9B-B9B2DB22E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961" b="89844" l="9961" r="96094">
                          <a14:foregroundMark x1="91113" y1="57129" x2="90918" y2="63477"/>
                          <a14:foregroundMark x1="93750" y1="58203" x2="93359" y2="63965"/>
                          <a14:foregroundMark x1="96094" y1="59375" x2="93945" y2="63184"/>
                          <a14:backgroundMark x1="20313" y1="36523" x2="67578" y2="28809"/>
                          <a14:backgroundMark x1="67578" y1="28809" x2="67383" y2="29297"/>
                          <a14:backgroundMark x1="69629" y1="37012" x2="77832" y2="41211"/>
                          <a14:backgroundMark x1="77832" y1="41211" x2="91504" y2="41699"/>
                          <a14:backgroundMark x1="91504" y1="41699" x2="90234" y2="49805"/>
                          <a14:backgroundMark x1="90234" y1="49805" x2="91504" y2="5009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009" y="4547518"/>
              <a:ext cx="2522161" cy="252216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F454118-CDAB-4D7C-901E-1194456ACD04}"/>
                </a:ext>
              </a:extLst>
            </p:cNvPr>
            <p:cNvSpPr txBox="1"/>
            <p:nvPr/>
          </p:nvSpPr>
          <p:spPr>
            <a:xfrm>
              <a:off x="1276310" y="5678611"/>
              <a:ext cx="3695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fr-FR" sz="2800" dirty="0">
                  <a:latin typeface="Georgia" panose="02040502050405020303" pitchFamily="18" charset="0"/>
                </a:rPr>
                <a:t>C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400109E-F922-4B76-9C2D-240144595FF2}"/>
              </a:ext>
            </a:extLst>
          </p:cNvPr>
          <p:cNvGrpSpPr/>
          <p:nvPr/>
        </p:nvGrpSpPr>
        <p:grpSpPr>
          <a:xfrm>
            <a:off x="8743071" y="4535454"/>
            <a:ext cx="2522161" cy="2522161"/>
            <a:chOff x="200009" y="4547518"/>
            <a:chExt cx="2522161" cy="2522161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8C67A77B-89AA-4C69-B5B3-6D4F03EDC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961" b="89844" l="9961" r="96094">
                          <a14:foregroundMark x1="91113" y1="57129" x2="90918" y2="63477"/>
                          <a14:foregroundMark x1="93750" y1="58203" x2="93359" y2="63965"/>
                          <a14:foregroundMark x1="96094" y1="59375" x2="93945" y2="63184"/>
                          <a14:backgroundMark x1="20313" y1="36523" x2="67578" y2="28809"/>
                          <a14:backgroundMark x1="67578" y1="28809" x2="67383" y2="29297"/>
                          <a14:backgroundMark x1="69629" y1="37012" x2="77832" y2="41211"/>
                          <a14:backgroundMark x1="77832" y1="41211" x2="91504" y2="41699"/>
                          <a14:backgroundMark x1="91504" y1="41699" x2="90234" y2="49805"/>
                          <a14:backgroundMark x1="90234" y1="49805" x2="91504" y2="5009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009" y="4547518"/>
              <a:ext cx="2522161" cy="252216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DD89FB5-7558-4AEB-B054-A6F35E739A45}"/>
                </a:ext>
              </a:extLst>
            </p:cNvPr>
            <p:cNvSpPr txBox="1"/>
            <p:nvPr/>
          </p:nvSpPr>
          <p:spPr>
            <a:xfrm>
              <a:off x="1276310" y="5678611"/>
              <a:ext cx="3695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fr-FR" sz="2800" dirty="0">
                  <a:latin typeface="Georgia" panose="02040502050405020303" pitchFamily="18" charset="0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8093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A8F70B6-4FA8-40FD-BA30-D99F99F0AA01}"/>
              </a:ext>
            </a:extLst>
          </p:cNvPr>
          <p:cNvSpPr txBox="1"/>
          <p:nvPr/>
        </p:nvSpPr>
        <p:spPr>
          <a:xfrm>
            <a:off x="245440" y="186443"/>
            <a:ext cx="21389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800" dirty="0"/>
              <a:t>Copier :</a:t>
            </a:r>
            <a:endParaRPr lang="fr-FR" sz="2800" dirty="0">
              <a:latin typeface="Georgia" panose="020405020504050203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72FDFB-025A-4DCD-9CD6-E7F41ECB7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087" y="-1345566"/>
            <a:ext cx="3448609" cy="38736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461051-A75E-4375-B128-3D58E46B32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backgroundMark x1="28320" y1="31445" x2="28320" y2="31445"/>
                        <a14:backgroundMark x1="28320" y1="31445" x2="39844" y2="25488"/>
                        <a14:backgroundMark x1="39844" y1="25488" x2="8691" y2="25098"/>
                        <a14:backgroundMark x1="33594" y1="40137" x2="47949" y2="216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628" y="922920"/>
            <a:ext cx="4196763" cy="503173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D8C2576-46F6-4159-A4AD-8D3BC8A8DDE9}"/>
              </a:ext>
            </a:extLst>
          </p:cNvPr>
          <p:cNvSpPr txBox="1"/>
          <p:nvPr/>
        </p:nvSpPr>
        <p:spPr>
          <a:xfrm>
            <a:off x="223850" y="922920"/>
            <a:ext cx="94525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800" dirty="0"/>
              <a:t>On </a:t>
            </a:r>
            <a:r>
              <a:rPr lang="fr-FR" sz="2800" b="1" dirty="0"/>
              <a:t>photocopie une feuille</a:t>
            </a:r>
            <a:r>
              <a:rPr lang="fr-FR" sz="2800" dirty="0"/>
              <a:t> et on place la </a:t>
            </a:r>
            <a:r>
              <a:rPr lang="fr-FR" sz="2800" b="1" dirty="0"/>
              <a:t>copie</a:t>
            </a:r>
            <a:r>
              <a:rPr lang="fr-FR" sz="2800" dirty="0"/>
              <a:t> dans une autre enveloppe tout en gardant l’original dans la première.</a:t>
            </a:r>
            <a:endParaRPr lang="fr-FR" sz="2800" dirty="0">
              <a:latin typeface="Georgia" panose="02040502050405020303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E2CBFC3-9351-45F9-8E09-07C0C6A738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backgroundMark x1="28320" y1="31445" x2="28320" y2="31445"/>
                        <a14:backgroundMark x1="28320" y1="31445" x2="39844" y2="25488"/>
                        <a14:backgroundMark x1="39844" y1="25488" x2="8691" y2="25098"/>
                        <a14:backgroundMark x1="33594" y1="40137" x2="47949" y2="216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8764" y="353871"/>
            <a:ext cx="4768150" cy="5716804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92F5675F-16F5-4A59-9DAF-519A555B329E}"/>
              </a:ext>
            </a:extLst>
          </p:cNvPr>
          <p:cNvGrpSpPr/>
          <p:nvPr/>
        </p:nvGrpSpPr>
        <p:grpSpPr>
          <a:xfrm>
            <a:off x="1019026" y="2043626"/>
            <a:ext cx="2522161" cy="2522161"/>
            <a:chOff x="200009" y="4547518"/>
            <a:chExt cx="2522161" cy="2522161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52CA2A3-033D-405E-AB3B-DBEBA61EE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9961" b="89844" l="9961" r="96094">
                          <a14:foregroundMark x1="91113" y1="57129" x2="90918" y2="63477"/>
                          <a14:foregroundMark x1="93750" y1="58203" x2="93359" y2="63965"/>
                          <a14:foregroundMark x1="96094" y1="59375" x2="93945" y2="63184"/>
                          <a14:backgroundMark x1="20313" y1="36523" x2="67578" y2="28809"/>
                          <a14:backgroundMark x1="67578" y1="28809" x2="67383" y2="29297"/>
                          <a14:backgroundMark x1="69629" y1="37012" x2="77832" y2="41211"/>
                          <a14:backgroundMark x1="77832" y1="41211" x2="91504" y2="41699"/>
                          <a14:backgroundMark x1="91504" y1="41699" x2="90234" y2="49805"/>
                          <a14:backgroundMark x1="90234" y1="49805" x2="91504" y2="5009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009" y="4547518"/>
              <a:ext cx="2522161" cy="2522161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3DD399D-EF9B-4BA3-805D-38D21F0DCB0B}"/>
                </a:ext>
              </a:extLst>
            </p:cNvPr>
            <p:cNvSpPr txBox="1"/>
            <p:nvPr/>
          </p:nvSpPr>
          <p:spPr>
            <a:xfrm>
              <a:off x="1276310" y="5678611"/>
              <a:ext cx="3695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fr-FR" sz="2800" dirty="0">
                  <a:latin typeface="Georgia" panose="02040502050405020303" pitchFamily="18" charset="0"/>
                </a:rPr>
                <a:t>A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205F125-4890-4C3C-BC81-F8604E711402}"/>
              </a:ext>
            </a:extLst>
          </p:cNvPr>
          <p:cNvSpPr txBox="1"/>
          <p:nvPr/>
        </p:nvSpPr>
        <p:spPr>
          <a:xfrm>
            <a:off x="332475" y="5621620"/>
            <a:ext cx="6417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Copier un fichier dans un autre dossier.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7A14B-BA11-4471-A36F-F090B54A83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8486752" flipH="1">
            <a:off x="4029244" y="954342"/>
            <a:ext cx="3254527" cy="413716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FD58D0B-6C5A-4662-A9F3-37DDE038F79A}"/>
              </a:ext>
            </a:extLst>
          </p:cNvPr>
          <p:cNvSpPr txBox="1"/>
          <p:nvPr/>
        </p:nvSpPr>
        <p:spPr>
          <a:xfrm>
            <a:off x="839682" y="4565787"/>
            <a:ext cx="1563553" cy="375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Dossier 1</a:t>
            </a:r>
            <a:endParaRPr lang="fr-FR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6C3553-DBE2-4504-A1F4-B8AE0B05B5B5}"/>
              </a:ext>
            </a:extLst>
          </p:cNvPr>
          <p:cNvSpPr txBox="1"/>
          <p:nvPr/>
        </p:nvSpPr>
        <p:spPr>
          <a:xfrm>
            <a:off x="7681661" y="4687359"/>
            <a:ext cx="1337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Dossier 2</a:t>
            </a:r>
            <a:endParaRPr lang="fr-FR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C4ED335-B874-45EA-A564-4E0F78713D54}"/>
              </a:ext>
            </a:extLst>
          </p:cNvPr>
          <p:cNvGrpSpPr/>
          <p:nvPr/>
        </p:nvGrpSpPr>
        <p:grpSpPr>
          <a:xfrm>
            <a:off x="1033038" y="2022817"/>
            <a:ext cx="2522161" cy="2522161"/>
            <a:chOff x="4279053" y="3108183"/>
            <a:chExt cx="2522161" cy="2522161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64224FA-8627-47C2-B5F6-1311DDAD8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9961" b="89844" l="9961" r="96094">
                          <a14:foregroundMark x1="91113" y1="57129" x2="90918" y2="63477"/>
                          <a14:foregroundMark x1="93750" y1="58203" x2="93359" y2="63965"/>
                          <a14:foregroundMark x1="96094" y1="59375" x2="93945" y2="63184"/>
                          <a14:backgroundMark x1="20313" y1="36523" x2="67578" y2="28809"/>
                          <a14:backgroundMark x1="67578" y1="28809" x2="67383" y2="29297"/>
                          <a14:backgroundMark x1="69629" y1="37012" x2="77832" y2="41211"/>
                          <a14:backgroundMark x1="77832" y1="41211" x2="91504" y2="41699"/>
                          <a14:backgroundMark x1="91504" y1="41699" x2="90234" y2="49805"/>
                          <a14:backgroundMark x1="90234" y1="49805" x2="91504" y2="5009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9053" y="3108183"/>
              <a:ext cx="2522161" cy="2522161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04326EC-055B-480A-9B1B-EF70E7C0A929}"/>
                </a:ext>
              </a:extLst>
            </p:cNvPr>
            <p:cNvSpPr txBox="1"/>
            <p:nvPr/>
          </p:nvSpPr>
          <p:spPr>
            <a:xfrm>
              <a:off x="5327252" y="4266591"/>
              <a:ext cx="3695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fr-FR" sz="2800" dirty="0">
                  <a:latin typeface="Georgia" panose="02040502050405020303" pitchFamily="18" charset="0"/>
                </a:rPr>
                <a:t>A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4ED11361-A44C-4141-BFA9-84F1C399F59D}"/>
              </a:ext>
            </a:extLst>
          </p:cNvPr>
          <p:cNvSpPr txBox="1"/>
          <p:nvPr/>
        </p:nvSpPr>
        <p:spPr>
          <a:xfrm>
            <a:off x="8161900" y="2004846"/>
            <a:ext cx="22852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Coller</a:t>
            </a:r>
          </a:p>
        </p:txBody>
      </p:sp>
    </p:spTree>
    <p:extLst>
      <p:ext uri="{BB962C8B-B14F-4D97-AF65-F5344CB8AC3E}">
        <p14:creationId xmlns:p14="http://schemas.microsoft.com/office/powerpoint/2010/main" val="3074079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0.03912 L 0.14245 -0.10185 C 0.17201 -0.13356 0.21654 -0.15046 0.26341 -0.15046 C 0.31654 -0.15046 0.35912 -0.13356 0.38867 -0.10185 L 0.53125 0.03912 " pathEditMode="relative" rAng="0" ptsTypes="AAAAA"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63" y="-9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E2CBFC3-9351-45F9-8E09-07C0C6A73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backgroundMark x1="28320" y1="31445" x2="28320" y2="31445"/>
                        <a14:backgroundMark x1="28320" y1="31445" x2="39844" y2="25488"/>
                        <a14:backgroundMark x1="39844" y1="25488" x2="8691" y2="25098"/>
                        <a14:backgroundMark x1="33594" y1="40137" x2="47949" y2="216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071" y="344461"/>
            <a:ext cx="4768150" cy="57168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8F70B6-4FA8-40FD-BA30-D99F99F0AA01}"/>
              </a:ext>
            </a:extLst>
          </p:cNvPr>
          <p:cNvSpPr txBox="1"/>
          <p:nvPr/>
        </p:nvSpPr>
        <p:spPr>
          <a:xfrm>
            <a:off x="245440" y="186443"/>
            <a:ext cx="3224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Couper / Déplacer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72FDFB-025A-4DCD-9CD6-E7F41ECB7E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087" y="-1345566"/>
            <a:ext cx="3448609" cy="38736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461051-A75E-4375-B128-3D58E46B3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backgroundMark x1="28320" y1="31445" x2="28320" y2="31445"/>
                        <a14:backgroundMark x1="28320" y1="31445" x2="39844" y2="25488"/>
                        <a14:backgroundMark x1="39844" y1="25488" x2="8691" y2="25098"/>
                        <a14:backgroundMark x1="33594" y1="40137" x2="47949" y2="216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628" y="922920"/>
            <a:ext cx="4196763" cy="503173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D8C2576-46F6-4159-A4AD-8D3BC8A8DDE9}"/>
              </a:ext>
            </a:extLst>
          </p:cNvPr>
          <p:cNvSpPr txBox="1"/>
          <p:nvPr/>
        </p:nvSpPr>
        <p:spPr>
          <a:xfrm>
            <a:off x="223850" y="922920"/>
            <a:ext cx="94525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On prend la feuille d’une enveloppe et on la met dans une autre. Elle ne reste plus dans la première</a:t>
            </a:r>
            <a:endParaRPr lang="fr-FR" sz="2800" dirty="0">
              <a:latin typeface="Georgia" panose="02040502050405020303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05F125-4890-4C3C-BC81-F8604E711402}"/>
              </a:ext>
            </a:extLst>
          </p:cNvPr>
          <p:cNvSpPr txBox="1"/>
          <p:nvPr/>
        </p:nvSpPr>
        <p:spPr>
          <a:xfrm>
            <a:off x="332475" y="5621620"/>
            <a:ext cx="6417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Déplacer un fichier vers un autre dossier.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7A14B-BA11-4471-A36F-F090B54A83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486752" flipH="1">
            <a:off x="4029244" y="954342"/>
            <a:ext cx="3254527" cy="413716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FD58D0B-6C5A-4662-A9F3-37DDE038F79A}"/>
              </a:ext>
            </a:extLst>
          </p:cNvPr>
          <p:cNvSpPr txBox="1"/>
          <p:nvPr/>
        </p:nvSpPr>
        <p:spPr>
          <a:xfrm>
            <a:off x="839682" y="4565787"/>
            <a:ext cx="1563553" cy="375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Dossier 1</a:t>
            </a:r>
            <a:endParaRPr lang="fr-FR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6C3553-DBE2-4504-A1F4-B8AE0B05B5B5}"/>
              </a:ext>
            </a:extLst>
          </p:cNvPr>
          <p:cNvSpPr txBox="1"/>
          <p:nvPr/>
        </p:nvSpPr>
        <p:spPr>
          <a:xfrm>
            <a:off x="7681661" y="4687359"/>
            <a:ext cx="1337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Dossier 2</a:t>
            </a:r>
            <a:endParaRPr lang="fr-FR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C4ED335-B874-45EA-A564-4E0F78713D54}"/>
              </a:ext>
            </a:extLst>
          </p:cNvPr>
          <p:cNvGrpSpPr/>
          <p:nvPr/>
        </p:nvGrpSpPr>
        <p:grpSpPr>
          <a:xfrm>
            <a:off x="1019026" y="2044455"/>
            <a:ext cx="2522161" cy="2522161"/>
            <a:chOff x="4279053" y="3108183"/>
            <a:chExt cx="2522161" cy="2522161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64224FA-8627-47C2-B5F6-1311DDAD8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9961" b="89844" l="9961" r="96094">
                          <a14:foregroundMark x1="91113" y1="57129" x2="90918" y2="63477"/>
                          <a14:foregroundMark x1="93750" y1="58203" x2="93359" y2="63965"/>
                          <a14:foregroundMark x1="96094" y1="59375" x2="93945" y2="63184"/>
                          <a14:backgroundMark x1="20313" y1="36523" x2="67578" y2="28809"/>
                          <a14:backgroundMark x1="67578" y1="28809" x2="67383" y2="29297"/>
                          <a14:backgroundMark x1="69629" y1="37012" x2="77832" y2="41211"/>
                          <a14:backgroundMark x1="77832" y1="41211" x2="91504" y2="41699"/>
                          <a14:backgroundMark x1="91504" y1="41699" x2="90234" y2="49805"/>
                          <a14:backgroundMark x1="90234" y1="49805" x2="91504" y2="5009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9053" y="3108183"/>
              <a:ext cx="2522161" cy="2522161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04326EC-055B-480A-9B1B-EF70E7C0A929}"/>
                </a:ext>
              </a:extLst>
            </p:cNvPr>
            <p:cNvSpPr txBox="1"/>
            <p:nvPr/>
          </p:nvSpPr>
          <p:spPr>
            <a:xfrm>
              <a:off x="5327252" y="4266591"/>
              <a:ext cx="3695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fr-FR" sz="2800" dirty="0">
                  <a:latin typeface="Georgia" panose="02040502050405020303" pitchFamily="18" charset="0"/>
                </a:rPr>
                <a:t>A</a:t>
              </a: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5BA61C-D440-48C2-80A3-4E4259F52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44275"/>
              </p:ext>
            </p:extLst>
          </p:nvPr>
        </p:nvGraphicFramePr>
        <p:xfrm>
          <a:off x="3121351" y="6634519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886959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8272508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3675FF8C-9844-4B76-B526-4328E9E5654B}"/>
              </a:ext>
            </a:extLst>
          </p:cNvPr>
          <p:cNvSpPr txBox="1"/>
          <p:nvPr/>
        </p:nvSpPr>
        <p:spPr>
          <a:xfrm>
            <a:off x="8161900" y="2004846"/>
            <a:ext cx="22852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Coller</a:t>
            </a:r>
          </a:p>
        </p:txBody>
      </p:sp>
    </p:spTree>
    <p:extLst>
      <p:ext uri="{BB962C8B-B14F-4D97-AF65-F5344CB8AC3E}">
        <p14:creationId xmlns:p14="http://schemas.microsoft.com/office/powerpoint/2010/main" val="390553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0.03912 L 0.14245 -0.10185 C 0.172 -0.13356 0.21654 -0.15046 0.26341 -0.15046 C 0.31654 -0.15046 0.35911 -0.13356 0.38867 -0.10185 L 0.53125 0.03912 " pathEditMode="relative" rAng="0" ptsTypes="AAAAA"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63" y="-9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E2CBFC3-9351-45F9-8E09-07C0C6A73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backgroundMark x1="28320" y1="31445" x2="28320" y2="31445"/>
                        <a14:backgroundMark x1="28320" y1="31445" x2="39844" y2="25488"/>
                        <a14:backgroundMark x1="39844" y1="25488" x2="8691" y2="25098"/>
                        <a14:backgroundMark x1="33594" y1="40137" x2="47949" y2="216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9" y="-375657"/>
            <a:ext cx="4768150" cy="571680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FD58D0B-6C5A-4662-A9F3-37DDE038F79A}"/>
              </a:ext>
            </a:extLst>
          </p:cNvPr>
          <p:cNvSpPr txBox="1"/>
          <p:nvPr/>
        </p:nvSpPr>
        <p:spPr>
          <a:xfrm>
            <a:off x="2311471" y="3921129"/>
            <a:ext cx="15635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Dossier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8F70B6-4FA8-40FD-BA30-D99F99F0AA01}"/>
              </a:ext>
            </a:extLst>
          </p:cNvPr>
          <p:cNvSpPr txBox="1"/>
          <p:nvPr/>
        </p:nvSpPr>
        <p:spPr>
          <a:xfrm>
            <a:off x="245440" y="186443"/>
            <a:ext cx="21577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Renommer</a:t>
            </a:r>
            <a:endParaRPr lang="fr-FR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72FDFB-025A-4DCD-9CD6-E7F41ECB7E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087" y="-1345566"/>
            <a:ext cx="3448609" cy="387363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D8C2576-46F6-4159-A4AD-8D3BC8A8DDE9}"/>
              </a:ext>
            </a:extLst>
          </p:cNvPr>
          <p:cNvSpPr txBox="1"/>
          <p:nvPr/>
        </p:nvSpPr>
        <p:spPr>
          <a:xfrm>
            <a:off x="223850" y="922920"/>
            <a:ext cx="9452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On </a:t>
            </a:r>
            <a:r>
              <a:rPr lang="fr-FR" sz="2800" b="1" dirty="0"/>
              <a:t>change le nom écrit sur l’enveloppe</a:t>
            </a:r>
            <a:r>
              <a:rPr lang="fr-FR" sz="2800" dirty="0"/>
              <a:t> ou sur la feuille.</a:t>
            </a:r>
            <a:endParaRPr lang="fr-FR" sz="2800" dirty="0">
              <a:latin typeface="Georgia" panose="02040502050405020303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05F125-4890-4C3C-BC81-F8604E711402}"/>
              </a:ext>
            </a:extLst>
          </p:cNvPr>
          <p:cNvSpPr txBox="1"/>
          <p:nvPr/>
        </p:nvSpPr>
        <p:spPr>
          <a:xfrm>
            <a:off x="245440" y="5527936"/>
            <a:ext cx="6417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Renommer un dossier ou un fichier.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64224FA-8627-47C2-B5F6-1311DDAD8F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961" b="89844" l="9961" r="96094">
                        <a14:foregroundMark x1="91113" y1="57129" x2="90918" y2="63477"/>
                        <a14:foregroundMark x1="93750" y1="58203" x2="93359" y2="63965"/>
                        <a14:foregroundMark x1="96094" y1="59375" x2="93945" y2="63184"/>
                        <a14:backgroundMark x1="20313" y1="36523" x2="67578" y2="28809"/>
                        <a14:backgroundMark x1="67578" y1="28809" x2="67383" y2="29297"/>
                        <a14:backgroundMark x1="69629" y1="37012" x2="77832" y2="41211"/>
                        <a14:backgroundMark x1="77832" y1="41211" x2="91504" y2="41699"/>
                        <a14:backgroundMark x1="91504" y1="41699" x2="90234" y2="49805"/>
                        <a14:backgroundMark x1="90234" y1="49805" x2="91504" y2="500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2430" y="1369514"/>
            <a:ext cx="2522161" cy="252216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B377BB-60AC-45B6-9281-F7A4F7EBD9D7}"/>
              </a:ext>
            </a:extLst>
          </p:cNvPr>
          <p:cNvSpPr/>
          <p:nvPr/>
        </p:nvSpPr>
        <p:spPr>
          <a:xfrm>
            <a:off x="1226916" y="3921129"/>
            <a:ext cx="3611301" cy="52322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E7F008-FE37-4355-B509-99B1F75F6D8B}"/>
              </a:ext>
            </a:extLst>
          </p:cNvPr>
          <p:cNvSpPr txBox="1"/>
          <p:nvPr/>
        </p:nvSpPr>
        <p:spPr>
          <a:xfrm>
            <a:off x="1957409" y="3921129"/>
            <a:ext cx="22736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Nouvelle nom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3B9C37-F5BE-472B-8B9C-37F8079C58D8}"/>
              </a:ext>
            </a:extLst>
          </p:cNvPr>
          <p:cNvSpPr txBox="1"/>
          <p:nvPr/>
        </p:nvSpPr>
        <p:spPr>
          <a:xfrm>
            <a:off x="8814215" y="2482745"/>
            <a:ext cx="381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1E7D55-BC6D-4993-9879-DAE09CF8EE92}"/>
              </a:ext>
            </a:extLst>
          </p:cNvPr>
          <p:cNvSpPr txBox="1"/>
          <p:nvPr/>
        </p:nvSpPr>
        <p:spPr>
          <a:xfrm>
            <a:off x="8514741" y="2482745"/>
            <a:ext cx="1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720635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7" dur="2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5" dur="3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3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7" grpId="0" animBg="1"/>
      <p:bldP spid="19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E2CBFC3-9351-45F9-8E09-07C0C6A73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backgroundMark x1="28320" y1="31445" x2="28320" y2="31445"/>
                        <a14:backgroundMark x1="28320" y1="31445" x2="39844" y2="25488"/>
                        <a14:backgroundMark x1="39844" y1="25488" x2="8691" y2="25098"/>
                        <a14:backgroundMark x1="33594" y1="40137" x2="47949" y2="216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55" y="665913"/>
            <a:ext cx="2923369" cy="35049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8F70B6-4FA8-40FD-BA30-D99F99F0AA01}"/>
              </a:ext>
            </a:extLst>
          </p:cNvPr>
          <p:cNvSpPr txBox="1"/>
          <p:nvPr/>
        </p:nvSpPr>
        <p:spPr>
          <a:xfrm>
            <a:off x="245440" y="186443"/>
            <a:ext cx="3224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Supprimer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72FDFB-025A-4DCD-9CD6-E7F41ECB7E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087" y="-1345566"/>
            <a:ext cx="3448609" cy="387363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D8C2576-46F6-4159-A4AD-8D3BC8A8DDE9}"/>
              </a:ext>
            </a:extLst>
          </p:cNvPr>
          <p:cNvSpPr txBox="1"/>
          <p:nvPr/>
        </p:nvSpPr>
        <p:spPr>
          <a:xfrm>
            <a:off x="223850" y="922920"/>
            <a:ext cx="9452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On </a:t>
            </a:r>
            <a:r>
              <a:rPr lang="fr-FR" sz="2800" b="1" dirty="0"/>
              <a:t>jette une feuille ou une enveloppe</a:t>
            </a:r>
            <a:r>
              <a:rPr lang="fr-FR" sz="2800" dirty="0"/>
              <a:t> à la poubelle.</a:t>
            </a:r>
            <a:endParaRPr lang="fr-FR" sz="2800" dirty="0">
              <a:latin typeface="Georgia" panose="02040502050405020303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05F125-4890-4C3C-BC81-F8604E711402}"/>
              </a:ext>
            </a:extLst>
          </p:cNvPr>
          <p:cNvSpPr txBox="1"/>
          <p:nvPr/>
        </p:nvSpPr>
        <p:spPr>
          <a:xfrm>
            <a:off x="332475" y="5621620"/>
            <a:ext cx="6417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Supprimer un fichier ou un dossier.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C4ED335-B874-45EA-A564-4E0F78713D54}"/>
              </a:ext>
            </a:extLst>
          </p:cNvPr>
          <p:cNvGrpSpPr/>
          <p:nvPr/>
        </p:nvGrpSpPr>
        <p:grpSpPr>
          <a:xfrm>
            <a:off x="1019026" y="3320721"/>
            <a:ext cx="2522161" cy="2522161"/>
            <a:chOff x="4279052" y="3142176"/>
            <a:chExt cx="2522161" cy="2522161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64224FA-8627-47C2-B5F6-1311DDAD8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9961" b="89844" l="9961" r="96094">
                          <a14:foregroundMark x1="91113" y1="57129" x2="90918" y2="63477"/>
                          <a14:foregroundMark x1="93750" y1="58203" x2="93359" y2="63965"/>
                          <a14:foregroundMark x1="96094" y1="59375" x2="93945" y2="63184"/>
                          <a14:backgroundMark x1="20313" y1="36523" x2="67578" y2="28809"/>
                          <a14:backgroundMark x1="67578" y1="28809" x2="67383" y2="29297"/>
                          <a14:backgroundMark x1="69629" y1="37012" x2="77832" y2="41211"/>
                          <a14:backgroundMark x1="77832" y1="41211" x2="91504" y2="41699"/>
                          <a14:backgroundMark x1="91504" y1="41699" x2="90234" y2="49805"/>
                          <a14:backgroundMark x1="90234" y1="49805" x2="91504" y2="5009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9052" y="3142176"/>
              <a:ext cx="2522161" cy="2522161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04326EC-055B-480A-9B1B-EF70E7C0A929}"/>
                </a:ext>
              </a:extLst>
            </p:cNvPr>
            <p:cNvSpPr txBox="1"/>
            <p:nvPr/>
          </p:nvSpPr>
          <p:spPr>
            <a:xfrm>
              <a:off x="5376955" y="4233060"/>
              <a:ext cx="3695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fr-FR" sz="2800" dirty="0">
                  <a:latin typeface="Georgia" panose="02040502050405020303" pitchFamily="18" charset="0"/>
                </a:rPr>
                <a:t>A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97DC5DAC-78F3-471B-926A-F611E81ED6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7538" y="4019200"/>
            <a:ext cx="2771627" cy="277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131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8495 L 0.16732 -0.07014 C 0.20209 -0.1588 0.25469 -0.18797 0.30964 -0.18797 C 0.37227 -0.18797 0.4224 -0.1588 0.45717 -0.07014 L 0.625 0.28495 " pathEditMode="relative" rAng="0" ptsTypes="AAAAA">
                                      <p:cBhvr>
                                        <p:cTn id="1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50" y="-2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0.20138 L 0.15586 -0.15973 C 0.18854 -0.24028 0.23724 -0.28889 0.28854 -0.28889 C 0.34713 -0.28889 0.39362 -0.24028 0.42643 -0.15973 L 0.58307 0.20138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54" y="-24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ans titre">
            <a:extLst>
              <a:ext uri="{FF2B5EF4-FFF2-40B4-BE49-F238E27FC236}">
                <a16:creationId xmlns:a16="http://schemas.microsoft.com/office/drawing/2014/main" id="{0E50725F-F271-4898-898F-607A3809E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784" y="210652"/>
            <a:ext cx="10761784" cy="56719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37DBEF-1689-48E5-8E46-32AC20FD2BBB}"/>
              </a:ext>
            </a:extLst>
          </p:cNvPr>
          <p:cNvSpPr txBox="1"/>
          <p:nvPr/>
        </p:nvSpPr>
        <p:spPr>
          <a:xfrm>
            <a:off x="1463379" y="6124128"/>
            <a:ext cx="92652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fr-FR" sz="2800" dirty="0">
                <a:latin typeface="Georgia" panose="02040502050405020303" pitchFamily="18" charset="0"/>
              </a:rPr>
              <a:t>Figure2: des document enregistrés  dans l’ordinateur</a:t>
            </a:r>
          </a:p>
        </p:txBody>
      </p:sp>
    </p:spTree>
    <p:extLst>
      <p:ext uri="{BB962C8B-B14F-4D97-AF65-F5344CB8AC3E}">
        <p14:creationId xmlns:p14="http://schemas.microsoft.com/office/powerpoint/2010/main" val="1204770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A8F70B6-4FA8-40FD-BA30-D99F99F0AA01}"/>
              </a:ext>
            </a:extLst>
          </p:cNvPr>
          <p:cNvSpPr txBox="1"/>
          <p:nvPr/>
        </p:nvSpPr>
        <p:spPr>
          <a:xfrm>
            <a:off x="487724" y="3798277"/>
            <a:ext cx="113689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000" dirty="0">
                <a:latin typeface="Georgia" panose="02040502050405020303" pitchFamily="18" charset="0"/>
              </a:rPr>
              <a:t>Karima souhaite réorganiser cette structure afin de:</a:t>
            </a: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000" dirty="0">
                <a:latin typeface="Georgia" panose="02040502050405020303" pitchFamily="18" charset="0"/>
              </a:rPr>
              <a:t>Nommer le dossier info au lieu de informatique.</a:t>
            </a: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000" dirty="0">
                <a:latin typeface="Georgia" panose="02040502050405020303" pitchFamily="18" charset="0"/>
              </a:rPr>
              <a:t>Dupliquer le fichier système d’exploitation dans le dossier SVT</a:t>
            </a: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000" dirty="0">
                <a:latin typeface="Georgia" panose="02040502050405020303" pitchFamily="18" charset="0"/>
              </a:rPr>
              <a:t>Déplacer  le fichier </a:t>
            </a:r>
            <a:r>
              <a:rPr lang="tzm-Arab-MA" sz="3000" dirty="0">
                <a:latin typeface="Georgia" panose="02040502050405020303" pitchFamily="18" charset="0"/>
              </a:rPr>
              <a:t>الشعر </a:t>
            </a:r>
            <a:r>
              <a:rPr lang="fr-FR" sz="3000" dirty="0">
                <a:latin typeface="Georgia" panose="02040502050405020303" pitchFamily="18" charset="0"/>
              </a:rPr>
              <a:t>vers le dossier arabe.</a:t>
            </a: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000" dirty="0">
                <a:latin typeface="Georgia" panose="02040502050405020303" pitchFamily="18" charset="0"/>
              </a:rPr>
              <a:t>Supprimer le fichier brouillon et le dossier divers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000" dirty="0">
                <a:latin typeface="Georgia" panose="02040502050405020303" pitchFamily="18" charset="0"/>
              </a:rPr>
              <a:t>Comment doit-elle procéder pour réaliser ces traitements ?</a:t>
            </a:r>
          </a:p>
        </p:txBody>
      </p:sp>
      <p:pic>
        <p:nvPicPr>
          <p:cNvPr id="5122" name="Picture 2" descr="Sans titre">
            <a:extLst>
              <a:ext uri="{FF2B5EF4-FFF2-40B4-BE49-F238E27FC236}">
                <a16:creationId xmlns:a16="http://schemas.microsoft.com/office/drawing/2014/main" id="{0E50725F-F271-4898-898F-607A3809E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784" y="210653"/>
            <a:ext cx="10761784" cy="28490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37DBEF-1689-48E5-8E46-32AC20FD2BBB}"/>
              </a:ext>
            </a:extLst>
          </p:cNvPr>
          <p:cNvSpPr txBox="1"/>
          <p:nvPr/>
        </p:nvSpPr>
        <p:spPr>
          <a:xfrm>
            <a:off x="1463379" y="3167390"/>
            <a:ext cx="92652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fr-FR" sz="2800" dirty="0">
                <a:latin typeface="Georgia" panose="02040502050405020303" pitchFamily="18" charset="0"/>
              </a:rPr>
              <a:t>Figure2: des document enregistrés  dans l’ordinateur</a:t>
            </a:r>
          </a:p>
        </p:txBody>
      </p:sp>
    </p:spTree>
    <p:extLst>
      <p:ext uri="{BB962C8B-B14F-4D97-AF65-F5344CB8AC3E}">
        <p14:creationId xmlns:p14="http://schemas.microsoft.com/office/powerpoint/2010/main" val="2533205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36F9A4-2EA4-4F55-8AD3-D7F08C73EA5B}"/>
              </a:ext>
            </a:extLst>
          </p:cNvPr>
          <p:cNvSpPr txBox="1"/>
          <p:nvPr/>
        </p:nvSpPr>
        <p:spPr>
          <a:xfrm>
            <a:off x="599885" y="606750"/>
            <a:ext cx="40067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400" b="1" i="0" u="none" strike="noStrike" dirty="0">
                <a:solidFill>
                  <a:srgbClr val="04617B"/>
                </a:solidFill>
                <a:effectLst/>
                <a:latin typeface="Arial" panose="020B0604020202020204" pitchFamily="34" charset="0"/>
              </a:rPr>
              <a:t>1. Sélectionner des fichiers/dossiers avec la touche « Ctrl »:</a:t>
            </a:r>
            <a:endParaRPr lang="fr-FR" sz="4000" b="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9CADB5-986B-464C-8BC3-62E1546CE021}"/>
              </a:ext>
            </a:extLst>
          </p:cNvPr>
          <p:cNvSpPr txBox="1"/>
          <p:nvPr/>
        </p:nvSpPr>
        <p:spPr>
          <a:xfrm>
            <a:off x="7585346" y="606749"/>
            <a:ext cx="4235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400" b="1" dirty="0">
                <a:solidFill>
                  <a:srgbClr val="04617B"/>
                </a:solidFill>
                <a:latin typeface="Arial" panose="020B0604020202020204" pitchFamily="34" charset="0"/>
              </a:rPr>
              <a:t>2. Sélectionner des fichiers/dossiers avec la touche « Shift»: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785B5E-A38F-42E8-A114-FBDE5C0BF152}"/>
              </a:ext>
            </a:extLst>
          </p:cNvPr>
          <p:cNvSpPr txBox="1"/>
          <p:nvPr/>
        </p:nvSpPr>
        <p:spPr>
          <a:xfrm>
            <a:off x="167660" y="1807084"/>
            <a:ext cx="564711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Permet de sélectionner plusieurs fichiers ou sous-dossier  éparpillés dans un répertoire de l’explorateur.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23C11-22B6-400C-8796-9945B35DD34F}"/>
              </a:ext>
            </a:extLst>
          </p:cNvPr>
          <p:cNvSpPr txBox="1"/>
          <p:nvPr/>
        </p:nvSpPr>
        <p:spPr>
          <a:xfrm>
            <a:off x="7069996" y="1807084"/>
            <a:ext cx="47507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Cette option permet de sélectionner une suite de fichiers/ dossiers (consécutifs)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E483C59-96B5-46AE-93CA-65F3209CD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80" y="3768144"/>
            <a:ext cx="6005320" cy="2975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3F1B0D3-7B70-40A3-9618-02F0845C4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832" y="4038918"/>
            <a:ext cx="5647113" cy="21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DB21BC-C573-4777-8464-E173C8601F0C}"/>
              </a:ext>
            </a:extLst>
          </p:cNvPr>
          <p:cNvSpPr txBox="1"/>
          <p:nvPr/>
        </p:nvSpPr>
        <p:spPr>
          <a:xfrm>
            <a:off x="46726" y="12635"/>
            <a:ext cx="6093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sélectionner des fichiers/dossiers: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317465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36F9A4-2EA4-4F55-8AD3-D7F08C73EA5B}"/>
              </a:ext>
            </a:extLst>
          </p:cNvPr>
          <p:cNvSpPr txBox="1"/>
          <p:nvPr/>
        </p:nvSpPr>
        <p:spPr>
          <a:xfrm>
            <a:off x="599885" y="606750"/>
            <a:ext cx="40067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400" b="1" i="0" u="none" strike="noStrike" dirty="0">
                <a:solidFill>
                  <a:srgbClr val="04617B"/>
                </a:solidFill>
                <a:effectLst/>
                <a:latin typeface="Arial" panose="020B0604020202020204" pitchFamily="34" charset="0"/>
              </a:rPr>
              <a:t>1. Avec le raccourcis clavier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9CADB5-986B-464C-8BC3-62E1546CE021}"/>
              </a:ext>
            </a:extLst>
          </p:cNvPr>
          <p:cNvSpPr txBox="1"/>
          <p:nvPr/>
        </p:nvSpPr>
        <p:spPr>
          <a:xfrm>
            <a:off x="7082502" y="606750"/>
            <a:ext cx="48643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400" b="1" dirty="0">
                <a:solidFill>
                  <a:srgbClr val="04617B"/>
                </a:solidFill>
                <a:latin typeface="Arial" panose="020B0604020202020204" pitchFamily="34" charset="0"/>
              </a:rPr>
              <a:t>2. Avec clic droit sur un des fichiers/dossiers sélectionnés»: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785B5E-A38F-42E8-A114-FBDE5C0BF152}"/>
              </a:ext>
            </a:extLst>
          </p:cNvPr>
          <p:cNvSpPr txBox="1"/>
          <p:nvPr/>
        </p:nvSpPr>
        <p:spPr>
          <a:xfrm>
            <a:off x="167660" y="1807084"/>
            <a:ext cx="56471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Ctrl + C =&gt;pour copier (dupliquer).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Ctrl + V =&gt;pour coller.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23C11-22B6-400C-8796-9945B35DD34F}"/>
              </a:ext>
            </a:extLst>
          </p:cNvPr>
          <p:cNvSpPr txBox="1"/>
          <p:nvPr/>
        </p:nvSpPr>
        <p:spPr>
          <a:xfrm>
            <a:off x="7082502" y="1695697"/>
            <a:ext cx="475070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Cliquer dans le menu contextuel qui s’affiche sur copier puis coller le fichier dans le dossier souhaité.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DB21BC-C573-4777-8464-E173C8601F0C}"/>
              </a:ext>
            </a:extLst>
          </p:cNvPr>
          <p:cNvSpPr txBox="1"/>
          <p:nvPr/>
        </p:nvSpPr>
        <p:spPr>
          <a:xfrm>
            <a:off x="46725" y="12635"/>
            <a:ext cx="7966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copier/coller les fichiers (ou dossiers):</a:t>
            </a:r>
            <a:endParaRPr lang="fr-FR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BAD74F-85DB-437A-9BCC-DEC5C185E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209234"/>
              </p:ext>
            </p:extLst>
          </p:nvPr>
        </p:nvGraphicFramePr>
        <p:xfrm>
          <a:off x="7149061" y="4295876"/>
          <a:ext cx="2127943" cy="2317450"/>
        </p:xfrm>
        <a:graphic>
          <a:graphicData uri="http://schemas.openxmlformats.org/drawingml/2006/table">
            <a:tbl>
              <a:tblPr/>
              <a:tblGrid>
                <a:gridCol w="2127943">
                  <a:extLst>
                    <a:ext uri="{9D8B030D-6E8A-4147-A177-3AD203B41FA5}">
                      <a16:colId xmlns:a16="http://schemas.microsoft.com/office/drawing/2014/main" val="2303146199"/>
                    </a:ext>
                  </a:extLst>
                </a:gridCol>
              </a:tblGrid>
              <a:tr h="381485">
                <a:tc>
                  <a:txBody>
                    <a:bodyPr/>
                    <a:lstStyle/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Envoyer vers</a:t>
                      </a:r>
                      <a:endParaRPr lang="fr-FR" sz="2800">
                        <a:effectLst/>
                      </a:endParaRPr>
                    </a:p>
                  </a:txBody>
                  <a:tcPr marL="53340" marR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823563"/>
                  </a:ext>
                </a:extLst>
              </a:tr>
              <a:tr h="890131">
                <a:tc>
                  <a:txBody>
                    <a:bodyPr/>
                    <a:lstStyle/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Couper</a:t>
                      </a:r>
                      <a:endParaRPr lang="fr-FR" sz="2800">
                        <a:effectLst/>
                      </a:endParaRPr>
                    </a:p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8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Copier</a:t>
                      </a:r>
                      <a:endParaRPr lang="fr-FR" sz="2800">
                        <a:effectLst/>
                      </a:endParaRPr>
                    </a:p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8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Coller</a:t>
                      </a:r>
                      <a:endParaRPr lang="fr-FR" sz="2800">
                        <a:effectLst/>
                      </a:endParaRPr>
                    </a:p>
                  </a:txBody>
                  <a:tcPr marL="53340" marR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00283"/>
                  </a:ext>
                </a:extLst>
              </a:tr>
              <a:tr h="635808">
                <a:tc>
                  <a:txBody>
                    <a:bodyPr/>
                    <a:lstStyle/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Supprimer</a:t>
                      </a:r>
                      <a:endParaRPr lang="fr-FR" sz="2800" dirty="0">
                        <a:effectLst/>
                      </a:endParaRPr>
                    </a:p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Renommer</a:t>
                      </a:r>
                      <a:endParaRPr lang="fr-FR" sz="2800" dirty="0">
                        <a:effectLst/>
                      </a:endParaRPr>
                    </a:p>
                  </a:txBody>
                  <a:tcPr marL="53340" marR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3702263"/>
                  </a:ext>
                </a:extLst>
              </a:tr>
              <a:tr h="381485">
                <a:tc>
                  <a:txBody>
                    <a:bodyPr/>
                    <a:lstStyle/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Propriété</a:t>
                      </a:r>
                      <a:endParaRPr lang="fr-FR" sz="2800" dirty="0">
                        <a:effectLst/>
                      </a:endParaRPr>
                    </a:p>
                  </a:txBody>
                  <a:tcPr marL="53340" marR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2333922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D5B3E622-5E46-440A-AD01-306FBDE66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3049" y="3178175"/>
            <a:ext cx="21829071" cy="56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A5D4C6-6D0B-4D15-ACC6-E14D362CCAAA}"/>
              </a:ext>
            </a:extLst>
          </p:cNvPr>
          <p:cNvSpPr txBox="1"/>
          <p:nvPr/>
        </p:nvSpPr>
        <p:spPr>
          <a:xfrm>
            <a:off x="9669086" y="4594465"/>
            <a:ext cx="1973523" cy="38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Pour dupliquer</a:t>
            </a:r>
            <a:endParaRPr lang="fr-F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FD82B4-D54A-4580-8506-7202EDA59EF2}"/>
              </a:ext>
            </a:extLst>
          </p:cNvPr>
          <p:cNvSpPr txBox="1"/>
          <p:nvPr/>
        </p:nvSpPr>
        <p:spPr>
          <a:xfrm>
            <a:off x="9669086" y="5269935"/>
            <a:ext cx="19735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Pour coller </a:t>
            </a:r>
            <a:endParaRPr lang="fr-FR" b="0" dirty="0">
              <a:effectLst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40DCA54E-318E-4434-8809-88BFA7B4F497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8445731" y="4785557"/>
            <a:ext cx="1223355" cy="32908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7ABCF53-321D-44E4-B8F7-D2DB7280EBED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8445731" y="5407931"/>
            <a:ext cx="1223355" cy="466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218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36F9A4-2EA4-4F55-8AD3-D7F08C73EA5B}"/>
              </a:ext>
            </a:extLst>
          </p:cNvPr>
          <p:cNvSpPr txBox="1"/>
          <p:nvPr/>
        </p:nvSpPr>
        <p:spPr>
          <a:xfrm>
            <a:off x="599885" y="606750"/>
            <a:ext cx="40067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400" b="1" i="0" u="none" strike="noStrike" dirty="0">
                <a:solidFill>
                  <a:srgbClr val="04617B"/>
                </a:solidFill>
                <a:effectLst/>
                <a:latin typeface="Arial" panose="020B0604020202020204" pitchFamily="34" charset="0"/>
              </a:rPr>
              <a:t>1. Avec le raccourcis clavier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9CADB5-986B-464C-8BC3-62E1546CE021}"/>
              </a:ext>
            </a:extLst>
          </p:cNvPr>
          <p:cNvSpPr txBox="1"/>
          <p:nvPr/>
        </p:nvSpPr>
        <p:spPr>
          <a:xfrm>
            <a:off x="7082502" y="606750"/>
            <a:ext cx="48643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400" b="1" dirty="0">
                <a:solidFill>
                  <a:srgbClr val="04617B"/>
                </a:solidFill>
                <a:latin typeface="Arial" panose="020B0604020202020204" pitchFamily="34" charset="0"/>
              </a:rPr>
              <a:t>2. Avec clic droit sur un des fichiers/dossiers sélectionnés»: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785B5E-A38F-42E8-A114-FBDE5C0BF152}"/>
              </a:ext>
            </a:extLst>
          </p:cNvPr>
          <p:cNvSpPr txBox="1"/>
          <p:nvPr/>
        </p:nvSpPr>
        <p:spPr>
          <a:xfrm>
            <a:off x="167660" y="1807084"/>
            <a:ext cx="56471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Ctrl + X =&gt;pour couper (déplacer).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Ctrl + V =&gt;pour coller.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23C11-22B6-400C-8796-9945B35DD34F}"/>
              </a:ext>
            </a:extLst>
          </p:cNvPr>
          <p:cNvSpPr txBox="1"/>
          <p:nvPr/>
        </p:nvSpPr>
        <p:spPr>
          <a:xfrm>
            <a:off x="7082502" y="1695697"/>
            <a:ext cx="475070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Cliquer dans le menu contextuel qui s’affiche sur couper puis coller le fichier dans le dossier souhaité.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DB21BC-C573-4777-8464-E173C8601F0C}"/>
              </a:ext>
            </a:extLst>
          </p:cNvPr>
          <p:cNvSpPr txBox="1"/>
          <p:nvPr/>
        </p:nvSpPr>
        <p:spPr>
          <a:xfrm>
            <a:off x="46725" y="12635"/>
            <a:ext cx="7966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couper/coller les fichiers (ou dossiers):</a:t>
            </a:r>
            <a:endParaRPr lang="fr-FR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BAD74F-85DB-437A-9BCC-DEC5C185E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507564"/>
              </p:ext>
            </p:extLst>
          </p:nvPr>
        </p:nvGraphicFramePr>
        <p:xfrm>
          <a:off x="7149061" y="4295876"/>
          <a:ext cx="2127943" cy="2317450"/>
        </p:xfrm>
        <a:graphic>
          <a:graphicData uri="http://schemas.openxmlformats.org/drawingml/2006/table">
            <a:tbl>
              <a:tblPr/>
              <a:tblGrid>
                <a:gridCol w="2127943">
                  <a:extLst>
                    <a:ext uri="{9D8B030D-6E8A-4147-A177-3AD203B41FA5}">
                      <a16:colId xmlns:a16="http://schemas.microsoft.com/office/drawing/2014/main" val="2303146199"/>
                    </a:ext>
                  </a:extLst>
                </a:gridCol>
              </a:tblGrid>
              <a:tr h="381485">
                <a:tc>
                  <a:txBody>
                    <a:bodyPr/>
                    <a:lstStyle/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Envoyer vers</a:t>
                      </a:r>
                      <a:endParaRPr lang="fr-FR" sz="2800">
                        <a:effectLst/>
                      </a:endParaRPr>
                    </a:p>
                  </a:txBody>
                  <a:tcPr marL="53340" marR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823563"/>
                  </a:ext>
                </a:extLst>
              </a:tr>
              <a:tr h="890131">
                <a:tc>
                  <a:txBody>
                    <a:bodyPr/>
                    <a:lstStyle/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Couper</a:t>
                      </a:r>
                      <a:endParaRPr lang="fr-FR" sz="28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Copier</a:t>
                      </a:r>
                      <a:endParaRPr lang="fr-FR" sz="28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Coller</a:t>
                      </a:r>
                      <a:endParaRPr lang="fr-FR" sz="2800" dirty="0">
                        <a:effectLst/>
                      </a:endParaRPr>
                    </a:p>
                  </a:txBody>
                  <a:tcPr marL="53340" marR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00283"/>
                  </a:ext>
                </a:extLst>
              </a:tr>
              <a:tr h="635808">
                <a:tc>
                  <a:txBody>
                    <a:bodyPr/>
                    <a:lstStyle/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Supprimer</a:t>
                      </a:r>
                      <a:endParaRPr lang="fr-FR" sz="2800" dirty="0">
                        <a:effectLst/>
                      </a:endParaRPr>
                    </a:p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Renommer</a:t>
                      </a:r>
                      <a:endParaRPr lang="fr-FR" sz="2800" dirty="0">
                        <a:effectLst/>
                      </a:endParaRPr>
                    </a:p>
                  </a:txBody>
                  <a:tcPr marL="53340" marR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3702263"/>
                  </a:ext>
                </a:extLst>
              </a:tr>
              <a:tr h="381485">
                <a:tc>
                  <a:txBody>
                    <a:bodyPr/>
                    <a:lstStyle/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Propriété</a:t>
                      </a:r>
                      <a:endParaRPr lang="fr-FR" sz="2800" dirty="0">
                        <a:effectLst/>
                      </a:endParaRPr>
                    </a:p>
                  </a:txBody>
                  <a:tcPr marL="53340" marR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2333922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D5B3E622-5E46-440A-AD01-306FBDE66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3049" y="3178175"/>
            <a:ext cx="21829071" cy="56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A5D4C6-6D0B-4D15-ACC6-E14D362CCAAA}"/>
              </a:ext>
            </a:extLst>
          </p:cNvPr>
          <p:cNvSpPr txBox="1"/>
          <p:nvPr/>
        </p:nvSpPr>
        <p:spPr>
          <a:xfrm>
            <a:off x="9669086" y="4594465"/>
            <a:ext cx="1973523" cy="38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Pour déplacer</a:t>
            </a:r>
            <a:endParaRPr lang="fr-F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FD82B4-D54A-4580-8506-7202EDA59EF2}"/>
              </a:ext>
            </a:extLst>
          </p:cNvPr>
          <p:cNvSpPr txBox="1"/>
          <p:nvPr/>
        </p:nvSpPr>
        <p:spPr>
          <a:xfrm>
            <a:off x="9669086" y="5269935"/>
            <a:ext cx="19735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Pour coller </a:t>
            </a:r>
            <a:endParaRPr lang="fr-FR" b="0" dirty="0">
              <a:effectLst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40DCA54E-318E-4434-8809-88BFA7B4F497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8479155" y="4785557"/>
            <a:ext cx="1189931" cy="626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7ABCF53-321D-44E4-B8F7-D2DB7280EBED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8445731" y="5407931"/>
            <a:ext cx="1223355" cy="466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77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36F9A4-2EA4-4F55-8AD3-D7F08C73EA5B}"/>
              </a:ext>
            </a:extLst>
          </p:cNvPr>
          <p:cNvSpPr txBox="1"/>
          <p:nvPr/>
        </p:nvSpPr>
        <p:spPr>
          <a:xfrm>
            <a:off x="599885" y="606750"/>
            <a:ext cx="40067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400" b="1" i="0" u="none" strike="noStrike" dirty="0">
                <a:solidFill>
                  <a:srgbClr val="04617B"/>
                </a:solidFill>
                <a:effectLst/>
                <a:latin typeface="Arial" panose="020B0604020202020204" pitchFamily="34" charset="0"/>
              </a:rPr>
              <a:t>1. Méthode double cliques: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9CADB5-986B-464C-8BC3-62E1546CE021}"/>
              </a:ext>
            </a:extLst>
          </p:cNvPr>
          <p:cNvSpPr txBox="1"/>
          <p:nvPr/>
        </p:nvSpPr>
        <p:spPr>
          <a:xfrm>
            <a:off x="7082502" y="606750"/>
            <a:ext cx="48643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400" b="1" dirty="0">
                <a:solidFill>
                  <a:srgbClr val="04617B"/>
                </a:solidFill>
                <a:latin typeface="Arial" panose="020B0604020202020204" pitchFamily="34" charset="0"/>
              </a:rPr>
              <a:t>2. Avec clic droit sur un des fichiers/dossiers sélectionnés»: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785B5E-A38F-42E8-A114-FBDE5C0BF152}"/>
              </a:ext>
            </a:extLst>
          </p:cNvPr>
          <p:cNvSpPr txBox="1"/>
          <p:nvPr/>
        </p:nvSpPr>
        <p:spPr>
          <a:xfrm>
            <a:off x="167660" y="1807084"/>
            <a:ext cx="564711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Clic pour sélectionner le fichier/dossier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Deuxième clic pour activer l’option renommer.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23C11-22B6-400C-8796-9945B35DD34F}"/>
              </a:ext>
            </a:extLst>
          </p:cNvPr>
          <p:cNvSpPr txBox="1"/>
          <p:nvPr/>
        </p:nvSpPr>
        <p:spPr>
          <a:xfrm>
            <a:off x="7082502" y="1695697"/>
            <a:ext cx="475070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Sélectionné le fichier/dossier.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Cliquer dans le menu contextuel qui s’affiche sur renommer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DB21BC-C573-4777-8464-E173C8601F0C}"/>
              </a:ext>
            </a:extLst>
          </p:cNvPr>
          <p:cNvSpPr txBox="1"/>
          <p:nvPr/>
        </p:nvSpPr>
        <p:spPr>
          <a:xfrm>
            <a:off x="46725" y="12635"/>
            <a:ext cx="7966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fr-FR" sz="2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renommer les fichiers (ou dossiers):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FD82B4-D54A-4580-8506-7202EDA59EF2}"/>
              </a:ext>
            </a:extLst>
          </p:cNvPr>
          <p:cNvSpPr txBox="1"/>
          <p:nvPr/>
        </p:nvSpPr>
        <p:spPr>
          <a:xfrm>
            <a:off x="9875520" y="5512586"/>
            <a:ext cx="2152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Pour renommer </a:t>
            </a:r>
            <a:endParaRPr lang="fr-FR" b="0" dirty="0">
              <a:effectLst/>
            </a:endParaRP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7ABCF53-321D-44E4-B8F7-D2DB7280EBED}"/>
              </a:ext>
            </a:extLst>
          </p:cNvPr>
          <p:cNvCxnSpPr>
            <a:cxnSpLocks/>
          </p:cNvCxnSpPr>
          <p:nvPr/>
        </p:nvCxnSpPr>
        <p:spPr>
          <a:xfrm flipV="1">
            <a:off x="8594782" y="5697252"/>
            <a:ext cx="1280738" cy="1846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22C1BC-8282-4288-8E33-EA45C47EA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288726"/>
              </p:ext>
            </p:extLst>
          </p:nvPr>
        </p:nvGraphicFramePr>
        <p:xfrm>
          <a:off x="7013950" y="4271234"/>
          <a:ext cx="1973522" cy="2084646"/>
        </p:xfrm>
        <a:graphic>
          <a:graphicData uri="http://schemas.openxmlformats.org/drawingml/2006/table">
            <a:tbl>
              <a:tblPr/>
              <a:tblGrid>
                <a:gridCol w="1973522">
                  <a:extLst>
                    <a:ext uri="{9D8B030D-6E8A-4147-A177-3AD203B41FA5}">
                      <a16:colId xmlns:a16="http://schemas.microsoft.com/office/drawing/2014/main" val="223528979"/>
                    </a:ext>
                  </a:extLst>
                </a:gridCol>
              </a:tblGrid>
              <a:tr h="341283">
                <a:tc>
                  <a:txBody>
                    <a:bodyPr/>
                    <a:lstStyle/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Envoyer vers</a:t>
                      </a:r>
                      <a:endParaRPr lang="fr-FR" sz="2400">
                        <a:effectLst/>
                      </a:endParaRPr>
                    </a:p>
                  </a:txBody>
                  <a:tcPr marL="53340" marR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8056788"/>
                  </a:ext>
                </a:extLst>
              </a:tr>
              <a:tr h="796327">
                <a:tc>
                  <a:txBody>
                    <a:bodyPr/>
                    <a:lstStyle/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Couper</a:t>
                      </a:r>
                      <a:endParaRPr lang="fr-FR" sz="2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Copier</a:t>
                      </a:r>
                      <a:endParaRPr lang="fr-FR" sz="2400" dirty="0">
                        <a:effectLst/>
                      </a:endParaRPr>
                    </a:p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Coller</a:t>
                      </a:r>
                      <a:endParaRPr lang="fr-FR" sz="2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09560"/>
                  </a:ext>
                </a:extLst>
              </a:tr>
              <a:tr h="568805">
                <a:tc>
                  <a:txBody>
                    <a:bodyPr/>
                    <a:lstStyle/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Supprimer</a:t>
                      </a:r>
                      <a:endParaRPr lang="fr-FR" sz="2400" dirty="0">
                        <a:effectLst/>
                      </a:endParaRPr>
                    </a:p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Renommer</a:t>
                      </a:r>
                      <a:endParaRPr lang="fr-FR" sz="2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53340" marR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0389423"/>
                  </a:ext>
                </a:extLst>
              </a:tr>
              <a:tr h="341283">
                <a:tc>
                  <a:txBody>
                    <a:bodyPr/>
                    <a:lstStyle/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Propriété</a:t>
                      </a:r>
                      <a:endParaRPr lang="fr-FR" sz="2400" dirty="0">
                        <a:effectLst/>
                      </a:endParaRPr>
                    </a:p>
                  </a:txBody>
                  <a:tcPr marL="53340" marR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821869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98BCD2BD-E8B4-483F-ACA7-E1BFEC39E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2502" y="4594307"/>
            <a:ext cx="16193001" cy="568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2567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36F9A4-2EA4-4F55-8AD3-D7F08C73EA5B}"/>
              </a:ext>
            </a:extLst>
          </p:cNvPr>
          <p:cNvSpPr txBox="1"/>
          <p:nvPr/>
        </p:nvSpPr>
        <p:spPr>
          <a:xfrm>
            <a:off x="599885" y="606750"/>
            <a:ext cx="40067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400" b="1" i="0" u="none" strike="noStrike" dirty="0">
                <a:solidFill>
                  <a:srgbClr val="04617B"/>
                </a:solidFill>
                <a:effectLst/>
                <a:latin typeface="Arial" panose="020B0604020202020204" pitchFamily="34" charset="0"/>
              </a:rPr>
              <a:t>1. Supprimer un fichier/dossier: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9CADB5-986B-464C-8BC3-62E1546CE021}"/>
              </a:ext>
            </a:extLst>
          </p:cNvPr>
          <p:cNvSpPr txBox="1"/>
          <p:nvPr/>
        </p:nvSpPr>
        <p:spPr>
          <a:xfrm>
            <a:off x="7082502" y="606750"/>
            <a:ext cx="4864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400" b="1" dirty="0">
                <a:solidFill>
                  <a:srgbClr val="04617B"/>
                </a:solidFill>
                <a:latin typeface="Arial" panose="020B0604020202020204" pitchFamily="34" charset="0"/>
              </a:rPr>
              <a:t>2. Restaurer un fichier/dossier: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785B5E-A38F-42E8-A114-FBDE5C0BF152}"/>
              </a:ext>
            </a:extLst>
          </p:cNvPr>
          <p:cNvSpPr txBox="1"/>
          <p:nvPr/>
        </p:nvSpPr>
        <p:spPr>
          <a:xfrm>
            <a:off x="167660" y="1807084"/>
            <a:ext cx="56471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Clic droit sur la sélection.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Cliquez sur supprimer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23C11-22B6-400C-8796-9945B35DD34F}"/>
              </a:ext>
            </a:extLst>
          </p:cNvPr>
          <p:cNvSpPr txBox="1"/>
          <p:nvPr/>
        </p:nvSpPr>
        <p:spPr>
          <a:xfrm>
            <a:off x="7082502" y="1695697"/>
            <a:ext cx="47507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Tant que la corbeille n’est pas vidée, tout fichier/dossier supprimé peut être restauré.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DB21BC-C573-4777-8464-E173C8601F0C}"/>
              </a:ext>
            </a:extLst>
          </p:cNvPr>
          <p:cNvSpPr txBox="1"/>
          <p:nvPr/>
        </p:nvSpPr>
        <p:spPr>
          <a:xfrm>
            <a:off x="46725" y="12635"/>
            <a:ext cx="7966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800" dirty="0">
                <a:solidFill>
                  <a:srgbClr val="FF0000"/>
                </a:solidFill>
                <a:latin typeface="Arial" panose="020B0604020202020204" pitchFamily="34" charset="0"/>
              </a:rPr>
              <a:t>supprimer/restaurer les fichiers (ou dossiers):</a:t>
            </a:r>
            <a:endParaRPr lang="fr-FR" sz="28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FD82B4-D54A-4580-8506-7202EDA59EF2}"/>
              </a:ext>
            </a:extLst>
          </p:cNvPr>
          <p:cNvSpPr txBox="1"/>
          <p:nvPr/>
        </p:nvSpPr>
        <p:spPr>
          <a:xfrm>
            <a:off x="3243639" y="4409641"/>
            <a:ext cx="2152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Pour supprimer </a:t>
            </a:r>
            <a:endParaRPr lang="fr-FR" b="0" dirty="0">
              <a:effectLst/>
            </a:endParaRP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7ABCF53-321D-44E4-B8F7-D2DB7280EBED}"/>
              </a:ext>
            </a:extLst>
          </p:cNvPr>
          <p:cNvCxnSpPr>
            <a:cxnSpLocks/>
          </p:cNvCxnSpPr>
          <p:nvPr/>
        </p:nvCxnSpPr>
        <p:spPr>
          <a:xfrm flipV="1">
            <a:off x="1962901" y="4594307"/>
            <a:ext cx="1280738" cy="1846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22C1BC-8282-4288-8E33-EA45C47EA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865347"/>
              </p:ext>
            </p:extLst>
          </p:nvPr>
        </p:nvGraphicFramePr>
        <p:xfrm>
          <a:off x="395732" y="3427940"/>
          <a:ext cx="1973522" cy="2084646"/>
        </p:xfrm>
        <a:graphic>
          <a:graphicData uri="http://schemas.openxmlformats.org/drawingml/2006/table">
            <a:tbl>
              <a:tblPr/>
              <a:tblGrid>
                <a:gridCol w="1973522">
                  <a:extLst>
                    <a:ext uri="{9D8B030D-6E8A-4147-A177-3AD203B41FA5}">
                      <a16:colId xmlns:a16="http://schemas.microsoft.com/office/drawing/2014/main" val="223528979"/>
                    </a:ext>
                  </a:extLst>
                </a:gridCol>
              </a:tblGrid>
              <a:tr h="341283">
                <a:tc>
                  <a:txBody>
                    <a:bodyPr/>
                    <a:lstStyle/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Envoyer vers</a:t>
                      </a:r>
                      <a:endParaRPr lang="fr-FR" sz="2400">
                        <a:effectLst/>
                      </a:endParaRPr>
                    </a:p>
                  </a:txBody>
                  <a:tcPr marL="53340" marR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8056788"/>
                  </a:ext>
                </a:extLst>
              </a:tr>
              <a:tr h="796327">
                <a:tc>
                  <a:txBody>
                    <a:bodyPr/>
                    <a:lstStyle/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Couper</a:t>
                      </a:r>
                      <a:endParaRPr lang="fr-FR" sz="2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Copier</a:t>
                      </a:r>
                      <a:endParaRPr lang="fr-FR" sz="2400" dirty="0">
                        <a:effectLst/>
                      </a:endParaRPr>
                    </a:p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Coller</a:t>
                      </a:r>
                      <a:endParaRPr lang="fr-FR" sz="2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09560"/>
                  </a:ext>
                </a:extLst>
              </a:tr>
              <a:tr h="568805">
                <a:tc>
                  <a:txBody>
                    <a:bodyPr/>
                    <a:lstStyle/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Supprimer</a:t>
                      </a:r>
                      <a:endParaRPr lang="fr-FR" sz="24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Renommer</a:t>
                      </a:r>
                      <a:endParaRPr lang="fr-FR" sz="2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340" marR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0389423"/>
                  </a:ext>
                </a:extLst>
              </a:tr>
              <a:tr h="341283">
                <a:tc>
                  <a:txBody>
                    <a:bodyPr/>
                    <a:lstStyle/>
                    <a:p>
                      <a:pPr marL="45720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Propriété</a:t>
                      </a:r>
                      <a:endParaRPr lang="fr-FR" sz="2400" dirty="0">
                        <a:effectLst/>
                      </a:endParaRPr>
                    </a:p>
                  </a:txBody>
                  <a:tcPr marL="53340" marR="53340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8218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2602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A048B-182C-447F-A673-9F2EFFBC5443}"/>
              </a:ext>
            </a:extLst>
          </p:cNvPr>
          <p:cNvSpPr txBox="1"/>
          <p:nvPr/>
        </p:nvSpPr>
        <p:spPr>
          <a:xfrm>
            <a:off x="0" y="25672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3600" i="1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IV. Gestion des fichiers et des dossiers: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3F334-6B5E-4311-8297-DDBB8ADBD7C5}"/>
              </a:ext>
            </a:extLst>
          </p:cNvPr>
          <p:cNvSpPr txBox="1"/>
          <p:nvPr/>
        </p:nvSpPr>
        <p:spPr>
          <a:xfrm>
            <a:off x="8117307" y="4261896"/>
            <a:ext cx="2614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2800" b="1" dirty="0">
              <a:solidFill>
                <a:srgbClr val="7030A0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337439-66E4-498A-A94B-DD6060560E6A}"/>
              </a:ext>
            </a:extLst>
          </p:cNvPr>
          <p:cNvSpPr txBox="1"/>
          <p:nvPr/>
        </p:nvSpPr>
        <p:spPr>
          <a:xfrm>
            <a:off x="351691" y="969140"/>
            <a:ext cx="1148861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600" dirty="0">
                <a:latin typeface="Georgia" panose="02040502050405020303" pitchFamily="18" charset="0"/>
              </a:rPr>
              <a:t>Avant de manipuler un fichier ou un dossier je dois le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sélectionner</a:t>
            </a:r>
            <a:r>
              <a:rPr lang="fr-FR" sz="3600" dirty="0">
                <a:latin typeface="Georgia" panose="02040502050405020303" pitchFamily="18" charset="0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600" dirty="0">
                <a:latin typeface="Georgia" panose="02040502050405020303" pitchFamily="18" charset="0"/>
              </a:rPr>
              <a:t>Un fichier ou un dossier peut être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dupliquer</a:t>
            </a:r>
            <a:r>
              <a:rPr lang="fr-FR" sz="3600" dirty="0">
                <a:latin typeface="Georgia" panose="02040502050405020303" pitchFamily="18" charset="0"/>
              </a:rPr>
              <a:t>,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déplacer</a:t>
            </a:r>
            <a:r>
              <a:rPr lang="fr-FR" sz="3600" dirty="0">
                <a:latin typeface="Georgia" panose="02040502050405020303" pitchFamily="18" charset="0"/>
              </a:rPr>
              <a:t> ,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renommer</a:t>
            </a:r>
            <a:r>
              <a:rPr lang="fr-FR" sz="3600" dirty="0">
                <a:latin typeface="Georgia" panose="02040502050405020303" pitchFamily="18" charset="0"/>
              </a:rPr>
              <a:t> ou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supprimer</a:t>
            </a:r>
            <a:r>
              <a:rPr lang="fr-FR" sz="3600" dirty="0">
                <a:latin typeface="Georgia" panose="02040502050405020303" pitchFamily="18" charset="0"/>
              </a:rPr>
              <a:t> par plusieurs méthodes :</a:t>
            </a:r>
          </a:p>
          <a:p>
            <a:pPr marL="2857500" lvl="5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600" dirty="0">
                <a:latin typeface="Georgia" panose="02040502050405020303" pitchFamily="18" charset="0"/>
              </a:rPr>
              <a:t>Menu contextuel.</a:t>
            </a:r>
          </a:p>
          <a:p>
            <a:pPr marL="2857500" lvl="5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600" dirty="0">
                <a:latin typeface="Georgia" panose="02040502050405020303" pitchFamily="18" charset="0"/>
              </a:rPr>
              <a:t>Les raccourcis clavier.</a:t>
            </a:r>
          </a:p>
          <a:p>
            <a:pPr marL="2857500" lvl="5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600" dirty="0">
                <a:latin typeface="Georgia" panose="02040502050405020303" pitchFamily="18" charset="0"/>
              </a:rPr>
              <a:t>Menu Edition.</a:t>
            </a:r>
          </a:p>
          <a:p>
            <a:endParaRPr lang="fr-FR" sz="3600" dirty="0">
              <a:latin typeface="Georgia" panose="02040502050405020303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98B984-C115-4F55-AE4D-B923EF8726E4}"/>
              </a:ext>
            </a:extLst>
          </p:cNvPr>
          <p:cNvSpPr/>
          <p:nvPr/>
        </p:nvSpPr>
        <p:spPr>
          <a:xfrm>
            <a:off x="0" y="6570219"/>
            <a:ext cx="12192000" cy="287781"/>
          </a:xfrm>
          <a:prstGeom prst="round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5_minute_countdown">
            <a:hlinkClick r:id="" action="ppaction://media"/>
            <a:extLst>
              <a:ext uri="{FF2B5EF4-FFF2-40B4-BE49-F238E27FC236}">
                <a16:creationId xmlns:a16="http://schemas.microsoft.com/office/drawing/2014/main" id="{189A8B65-EC11-45C1-8828-E33AF5FBC0A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258956" y="5586278"/>
            <a:ext cx="1581353" cy="85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64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1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3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1000"/>
                            </p:stCondLst>
                            <p:childTnLst>
                              <p:par>
                                <p:cTn id="11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A048B-182C-447F-A673-9F2EFFBC5443}"/>
              </a:ext>
            </a:extLst>
          </p:cNvPr>
          <p:cNvSpPr txBox="1"/>
          <p:nvPr/>
        </p:nvSpPr>
        <p:spPr>
          <a:xfrm>
            <a:off x="0" y="25672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3600" i="1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IV. Gestion des fichiers et des dossiers: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3F334-6B5E-4311-8297-DDBB8ADBD7C5}"/>
              </a:ext>
            </a:extLst>
          </p:cNvPr>
          <p:cNvSpPr txBox="1"/>
          <p:nvPr/>
        </p:nvSpPr>
        <p:spPr>
          <a:xfrm>
            <a:off x="8117307" y="4261896"/>
            <a:ext cx="2614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2800" b="1" dirty="0">
              <a:solidFill>
                <a:srgbClr val="7030A0"/>
              </a:solidFill>
              <a:latin typeface="Georgia" panose="02040502050405020303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98B984-C115-4F55-AE4D-B923EF8726E4}"/>
              </a:ext>
            </a:extLst>
          </p:cNvPr>
          <p:cNvSpPr/>
          <p:nvPr/>
        </p:nvSpPr>
        <p:spPr>
          <a:xfrm>
            <a:off x="0" y="6570219"/>
            <a:ext cx="12192000" cy="287781"/>
          </a:xfrm>
          <a:prstGeom prst="round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5_minute_countdown">
            <a:hlinkClick r:id="" action="ppaction://media"/>
            <a:extLst>
              <a:ext uri="{FF2B5EF4-FFF2-40B4-BE49-F238E27FC236}">
                <a16:creationId xmlns:a16="http://schemas.microsoft.com/office/drawing/2014/main" id="{189A8B65-EC11-45C1-8828-E33AF5FBC0A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17307" y="116298"/>
            <a:ext cx="1201048" cy="646331"/>
          </a:xfrm>
          <a:prstGeom prst="rect">
            <a:avLst/>
          </a:prstGeom>
        </p:spPr>
      </p:pic>
      <p:pic>
        <p:nvPicPr>
          <p:cNvPr id="4098" name="Picture 2" descr="X">
            <a:extLst>
              <a:ext uri="{FF2B5EF4-FFF2-40B4-BE49-F238E27FC236}">
                <a16:creationId xmlns:a16="http://schemas.microsoft.com/office/drawing/2014/main" id="{0C4AF2DE-AE52-429F-A65E-077C55EB0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25" y="853255"/>
            <a:ext cx="11809550" cy="562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323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1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3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1000"/>
                            </p:stCondLst>
                            <p:childTnLst>
                              <p:par>
                                <p:cTn id="11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A8F70B6-4FA8-40FD-BA30-D99F99F0AA01}"/>
              </a:ext>
            </a:extLst>
          </p:cNvPr>
          <p:cNvSpPr txBox="1"/>
          <p:nvPr/>
        </p:nvSpPr>
        <p:spPr>
          <a:xfrm>
            <a:off x="544271" y="581293"/>
            <a:ext cx="11368996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000" dirty="0">
                <a:latin typeface="Georgia" panose="02040502050405020303" pitchFamily="18" charset="0"/>
              </a:rPr>
              <a:t>Karima t’a demandé de l’aider à réorganiser ses dossiers dans son ordinateur.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fr-FR" sz="3000" dirty="0">
              <a:latin typeface="Georgia" panose="02040502050405020303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000" dirty="0">
                <a:latin typeface="Georgia" panose="02040502050405020303" pitchFamily="18" charset="0"/>
              </a:rPr>
              <a:t>Voici ce qu’elle souhaite faire 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fr-FR" sz="3000" dirty="0">
              <a:latin typeface="Georgia" panose="02040502050405020303" pitchFamily="18" charset="0"/>
            </a:endParaRPr>
          </a:p>
          <a:p>
            <a:pPr marL="514350" indent="-51435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fr-FR" sz="3000" dirty="0">
                <a:latin typeface="Georgia" panose="02040502050405020303" pitchFamily="18" charset="0"/>
              </a:rPr>
              <a:t>Renommer le </a:t>
            </a:r>
            <a:r>
              <a:rPr lang="fr-FR" sz="3000" dirty="0">
                <a:highlight>
                  <a:srgbClr val="FFFF00"/>
                </a:highlight>
                <a:latin typeface="Georgia" panose="02040502050405020303" pitchFamily="18" charset="0"/>
              </a:rPr>
              <a:t>dossier</a:t>
            </a:r>
            <a:r>
              <a:rPr lang="fr-FR" sz="3000" dirty="0">
                <a:latin typeface="Georgia" panose="02040502050405020303" pitchFamily="18" charset="0"/>
              </a:rPr>
              <a:t> </a:t>
            </a:r>
            <a:r>
              <a:rPr lang="fr-FR" sz="3000" b="1" dirty="0">
                <a:latin typeface="Georgia" panose="02040502050405020303" pitchFamily="18" charset="0"/>
              </a:rPr>
              <a:t>Informatique</a:t>
            </a:r>
            <a:r>
              <a:rPr lang="fr-FR" sz="3000" dirty="0">
                <a:latin typeface="Georgia" panose="02040502050405020303" pitchFamily="18" charset="0"/>
              </a:rPr>
              <a:t> en </a:t>
            </a:r>
            <a:r>
              <a:rPr lang="fr-FR" sz="3000" b="1" dirty="0">
                <a:latin typeface="Georgia" panose="02040502050405020303" pitchFamily="18" charset="0"/>
              </a:rPr>
              <a:t>Info</a:t>
            </a:r>
          </a:p>
          <a:p>
            <a:pPr marL="514350" indent="-51435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fr-FR" sz="3000" dirty="0">
                <a:latin typeface="Georgia" panose="02040502050405020303" pitchFamily="18" charset="0"/>
              </a:rPr>
              <a:t>Dupliquer le </a:t>
            </a:r>
            <a:r>
              <a:rPr lang="fr-FR" sz="3000" dirty="0">
                <a:highlight>
                  <a:srgbClr val="00FF00"/>
                </a:highlight>
                <a:latin typeface="Georgia" panose="02040502050405020303" pitchFamily="18" charset="0"/>
              </a:rPr>
              <a:t>fichier</a:t>
            </a:r>
            <a:r>
              <a:rPr lang="fr-FR" sz="3000" dirty="0">
                <a:latin typeface="Georgia" panose="02040502050405020303" pitchFamily="18" charset="0"/>
              </a:rPr>
              <a:t> </a:t>
            </a:r>
            <a:r>
              <a:rPr lang="fr-FR" sz="3000" b="1" dirty="0">
                <a:latin typeface="Georgia" panose="02040502050405020303" pitchFamily="18" charset="0"/>
              </a:rPr>
              <a:t>Système d’exploitation </a:t>
            </a:r>
            <a:r>
              <a:rPr lang="fr-FR" sz="3000" dirty="0">
                <a:latin typeface="Georgia" panose="02040502050405020303" pitchFamily="18" charset="0"/>
              </a:rPr>
              <a:t>dans le </a:t>
            </a:r>
            <a:r>
              <a:rPr lang="fr-FR" sz="3000" dirty="0">
                <a:highlight>
                  <a:srgbClr val="FFFF00"/>
                </a:highlight>
                <a:latin typeface="Georgia" panose="02040502050405020303" pitchFamily="18" charset="0"/>
              </a:rPr>
              <a:t>dossier</a:t>
            </a:r>
            <a:r>
              <a:rPr lang="fr-FR" sz="3000" dirty="0">
                <a:latin typeface="Georgia" panose="02040502050405020303" pitchFamily="18" charset="0"/>
              </a:rPr>
              <a:t> </a:t>
            </a:r>
            <a:r>
              <a:rPr lang="fr-FR" sz="3000" b="1" dirty="0">
                <a:latin typeface="Georgia" panose="02040502050405020303" pitchFamily="18" charset="0"/>
              </a:rPr>
              <a:t>SVT</a:t>
            </a:r>
          </a:p>
          <a:p>
            <a:pPr marL="514350" indent="-51435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fr-FR" sz="3000" dirty="0">
                <a:latin typeface="Georgia" panose="02040502050405020303" pitchFamily="18" charset="0"/>
              </a:rPr>
              <a:t>Déplacer le </a:t>
            </a:r>
            <a:r>
              <a:rPr lang="fr-FR" sz="3000" dirty="0">
                <a:highlight>
                  <a:srgbClr val="00FF00"/>
                </a:highlight>
                <a:latin typeface="Georgia" panose="02040502050405020303" pitchFamily="18" charset="0"/>
              </a:rPr>
              <a:t>fichier</a:t>
            </a:r>
            <a:r>
              <a:rPr lang="tzm-Arab-MA" sz="3000" b="1" dirty="0">
                <a:latin typeface="Georgia" panose="02040502050405020303" pitchFamily="18" charset="0"/>
              </a:rPr>
              <a:t>الشعر</a:t>
            </a:r>
            <a:r>
              <a:rPr lang="fr-FR" sz="3000" dirty="0">
                <a:latin typeface="Georgia" panose="02040502050405020303" pitchFamily="18" charset="0"/>
              </a:rPr>
              <a:t>vers le </a:t>
            </a:r>
            <a:r>
              <a:rPr lang="fr-FR" sz="3000" dirty="0">
                <a:highlight>
                  <a:srgbClr val="FFFF00"/>
                </a:highlight>
                <a:latin typeface="Georgia" panose="02040502050405020303" pitchFamily="18" charset="0"/>
              </a:rPr>
              <a:t>dossier</a:t>
            </a:r>
            <a:r>
              <a:rPr lang="fr-FR" sz="3000" dirty="0">
                <a:latin typeface="Georgia" panose="02040502050405020303" pitchFamily="18" charset="0"/>
              </a:rPr>
              <a:t> </a:t>
            </a:r>
            <a:r>
              <a:rPr lang="fr-FR" sz="3000" b="1" dirty="0">
                <a:latin typeface="Georgia" panose="02040502050405020303" pitchFamily="18" charset="0"/>
              </a:rPr>
              <a:t>Arabe</a:t>
            </a:r>
          </a:p>
          <a:p>
            <a:pPr marL="514350" indent="-51435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fr-FR" sz="3000" dirty="0">
                <a:latin typeface="Georgia" panose="02040502050405020303" pitchFamily="18" charset="0"/>
              </a:rPr>
              <a:t>Supprimer le </a:t>
            </a:r>
            <a:r>
              <a:rPr lang="fr-FR" sz="3000" dirty="0">
                <a:highlight>
                  <a:srgbClr val="00FF00"/>
                </a:highlight>
                <a:latin typeface="Georgia" panose="02040502050405020303" pitchFamily="18" charset="0"/>
              </a:rPr>
              <a:t>fichier</a:t>
            </a:r>
            <a:r>
              <a:rPr lang="fr-FR" sz="3000" dirty="0">
                <a:latin typeface="Georgia" panose="02040502050405020303" pitchFamily="18" charset="0"/>
              </a:rPr>
              <a:t> </a:t>
            </a:r>
            <a:r>
              <a:rPr lang="fr-FR" sz="3000" b="1" dirty="0">
                <a:latin typeface="Georgia" panose="02040502050405020303" pitchFamily="18" charset="0"/>
              </a:rPr>
              <a:t>Brouillon</a:t>
            </a:r>
            <a:r>
              <a:rPr lang="fr-FR" sz="3000" dirty="0">
                <a:latin typeface="Georgia" panose="02040502050405020303" pitchFamily="18" charset="0"/>
              </a:rPr>
              <a:t> et le </a:t>
            </a:r>
            <a:r>
              <a:rPr lang="fr-FR" sz="3000" dirty="0">
                <a:highlight>
                  <a:srgbClr val="FFFF00"/>
                </a:highlight>
                <a:latin typeface="Georgia" panose="02040502050405020303" pitchFamily="18" charset="0"/>
              </a:rPr>
              <a:t>dossier</a:t>
            </a:r>
            <a:r>
              <a:rPr lang="fr-FR" sz="3000" dirty="0">
                <a:latin typeface="Georgia" panose="02040502050405020303" pitchFamily="18" charset="0"/>
              </a:rPr>
              <a:t> </a:t>
            </a:r>
            <a:r>
              <a:rPr lang="fr-FR" sz="3000" b="1" dirty="0">
                <a:latin typeface="Georgia" panose="02040502050405020303" pitchFamily="18" charset="0"/>
              </a:rPr>
              <a:t>Divers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fr-FR" sz="3000" dirty="0">
              <a:latin typeface="Georgia" panose="02040502050405020303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000" dirty="0">
                <a:latin typeface="Georgia" panose="02040502050405020303" pitchFamily="18" charset="0"/>
              </a:rPr>
              <a:t>Tâche à réaliser 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000" dirty="0">
                <a:latin typeface="Georgia" panose="02040502050405020303" pitchFamily="18" charset="0"/>
              </a:rPr>
              <a:t>Aide Karima dans ton ordinateur pour résoudre ce problème.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32DE73-CFFD-407B-9D0B-3B83E99334D7}"/>
              </a:ext>
            </a:extLst>
          </p:cNvPr>
          <p:cNvSpPr txBox="1"/>
          <p:nvPr/>
        </p:nvSpPr>
        <p:spPr>
          <a:xfrm>
            <a:off x="0" y="102986"/>
            <a:ext cx="855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TP: </a:t>
            </a:r>
          </a:p>
        </p:txBody>
      </p:sp>
    </p:spTree>
    <p:extLst>
      <p:ext uri="{BB962C8B-B14F-4D97-AF65-F5344CB8AC3E}">
        <p14:creationId xmlns:p14="http://schemas.microsoft.com/office/powerpoint/2010/main" val="427476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3049</TotalTime>
  <Words>740</Words>
  <Application>Microsoft Office PowerPoint</Application>
  <PresentationFormat>Widescreen</PresentationFormat>
  <Paragraphs>151</Paragraphs>
  <Slides>17</Slides>
  <Notes>16</Notes>
  <HiddenSlides>0</HiddenSlides>
  <MMClips>2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Abadi</vt:lpstr>
      <vt:lpstr>Aldhabi</vt:lpstr>
      <vt:lpstr>Arial</vt:lpstr>
      <vt:lpstr>Calibri</vt:lpstr>
      <vt:lpstr>Calibri Light</vt:lpstr>
      <vt:lpstr>Comic Sans MS</vt:lpstr>
      <vt:lpstr>Georgia</vt:lpstr>
      <vt:lpstr>Poppins Bold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118</cp:revision>
  <dcterms:created xsi:type="dcterms:W3CDTF">2025-09-27T14:04:33Z</dcterms:created>
  <dcterms:modified xsi:type="dcterms:W3CDTF">2025-11-10T19:19:43Z</dcterms:modified>
</cp:coreProperties>
</file>