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9" r:id="rId3"/>
    <p:sldId id="311" r:id="rId4"/>
    <p:sldId id="302" r:id="rId5"/>
    <p:sldId id="301" r:id="rId6"/>
    <p:sldId id="314" r:id="rId7"/>
    <p:sldId id="305" r:id="rId8"/>
    <p:sldId id="315" r:id="rId9"/>
    <p:sldId id="263" r:id="rId10"/>
    <p:sldId id="312" r:id="rId11"/>
    <p:sldId id="316" r:id="rId12"/>
    <p:sldId id="317" r:id="rId13"/>
    <p:sldId id="318" r:id="rId14"/>
    <p:sldId id="319" r:id="rId15"/>
    <p:sldId id="262" r:id="rId16"/>
    <p:sldId id="320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7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87F6C2-1EC5-4F43-9722-B6F853F98E3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89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E24583-B81B-4FCE-ACE5-4096393C82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57937" y="3115104"/>
            <a:ext cx="4876800" cy="4876800"/>
          </a:xfrm>
          <a:prstGeom prst="rect">
            <a:avLst/>
          </a:prstGeom>
        </p:spPr>
      </p:pic>
      <p:sp>
        <p:nvSpPr>
          <p:cNvPr id="10" name="Freeform 7">
            <a:extLst>
              <a:ext uri="{FF2B5EF4-FFF2-40B4-BE49-F238E27FC236}">
                <a16:creationId xmlns:a16="http://schemas.microsoft.com/office/drawing/2014/main" id="{AC609EC0-00A1-4587-80D6-D873FE5DE4E0}"/>
              </a:ext>
            </a:extLst>
          </p:cNvPr>
          <p:cNvSpPr/>
          <p:nvPr/>
        </p:nvSpPr>
        <p:spPr>
          <a:xfrm flipH="1" flipV="1">
            <a:off x="10622916" y="2743200"/>
            <a:ext cx="6341433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259818F-130E-495F-8AE3-0F1CA0BB95AD}"/>
              </a:ext>
            </a:extLst>
          </p:cNvPr>
          <p:cNvSpPr/>
          <p:nvPr/>
        </p:nvSpPr>
        <p:spPr>
          <a:xfrm rot="10800000">
            <a:off x="8568229" y="5951579"/>
            <a:ext cx="2556168" cy="1533045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59843"/>
            <a:ext cx="12192000" cy="944550"/>
            <a:chOff x="0" y="1316467"/>
            <a:chExt cx="12192000" cy="1167653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93784" y="1316467"/>
              <a:ext cx="4542284" cy="994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4400" b="1" dirty="0">
                  <a:solidFill>
                    <a:srgbClr val="F4F4F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724" y="-6010"/>
            <a:ext cx="8242286" cy="1339192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150482" y="3481290"/>
            <a:ext cx="8207456" cy="2092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4AAD"/>
                </a:solidFill>
                <a:latin typeface="Courier New" panose="02070309020205020404" pitchFamily="49" charset="0"/>
                <a:ea typeface="Poppins Bold"/>
                <a:cs typeface="Courier New" panose="02070309020205020404" pitchFamily="49" charset="0"/>
                <a:sym typeface="Poppins Bold"/>
              </a:rPr>
              <a:t>Configuration </a:t>
            </a:r>
          </a:p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en-US" sz="4800" b="1" dirty="0" err="1">
                <a:solidFill>
                  <a:srgbClr val="004AAD"/>
                </a:solidFill>
                <a:latin typeface="Courier New" panose="02070309020205020404" pitchFamily="49" charset="0"/>
                <a:ea typeface="Poppins Bold"/>
                <a:cs typeface="Courier New" panose="02070309020205020404" pitchFamily="49" charset="0"/>
                <a:sym typeface="Poppins Bold"/>
              </a:rPr>
              <a:t>Matérielle</a:t>
            </a:r>
            <a:r>
              <a:rPr lang="en-US" sz="4800" b="1" dirty="0">
                <a:solidFill>
                  <a:srgbClr val="004AAD"/>
                </a:solidFill>
                <a:latin typeface="Courier New" panose="02070309020205020404" pitchFamily="49" charset="0"/>
                <a:ea typeface="Poppins Bold"/>
                <a:cs typeface="Courier New" panose="02070309020205020404" pitchFamily="49" charset="0"/>
                <a:sym typeface="Poppins Bold"/>
              </a:rPr>
              <a:t> d’un </a:t>
            </a:r>
            <a:r>
              <a:rPr lang="en-US" sz="4800" b="1" dirty="0" err="1">
                <a:solidFill>
                  <a:srgbClr val="004AAD"/>
                </a:solidFill>
                <a:latin typeface="Courier New" panose="02070309020205020404" pitchFamily="49" charset="0"/>
                <a:ea typeface="Poppins Bold"/>
                <a:cs typeface="Courier New" panose="02070309020205020404" pitchFamily="49" charset="0"/>
                <a:sym typeface="Poppins Bold"/>
              </a:rPr>
              <a:t>réseau</a:t>
            </a:r>
            <a:endParaRPr lang="en-US" sz="4800" b="1" dirty="0">
              <a:solidFill>
                <a:srgbClr val="004AAD"/>
              </a:solidFill>
              <a:latin typeface="Courier New" panose="02070309020205020404" pitchFamily="49" charset="0"/>
              <a:ea typeface="Poppins Bold"/>
              <a:cs typeface="Courier New" panose="02070309020205020404" pitchFamily="49" charset="0"/>
              <a:sym typeface="Poppins 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622917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89920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de l'Éducation Nationale et de la Formation —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-32084" y="2906281"/>
            <a:ext cx="10010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Unité I:  Environnement matériel d’un réseau informatique &amp;&amp; système d exploitation et réseau local.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</a:rPr>
              <a:t>Séquence 1: </a:t>
            </a: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Environnement matériel d’un réseau informatique </a:t>
            </a:r>
            <a:endParaRPr lang="fr-FR" b="1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0C7410-9A8A-4D40-98B8-2BD141BBC8C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1141" y="5995443"/>
            <a:ext cx="1098751" cy="10987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421274-79A0-4435-97AB-E52E57E05D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3946" y="2170553"/>
            <a:ext cx="633839" cy="63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05C903-7CF3-480E-9419-03F4BB114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82" y="2152902"/>
            <a:ext cx="4682791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Espace réservé du contenu 8">
            <a:extLst>
              <a:ext uri="{FF2B5EF4-FFF2-40B4-BE49-F238E27FC236}">
                <a16:creationId xmlns:a16="http://schemas.microsoft.com/office/drawing/2014/main" id="{551BDB47-B712-47F2-B787-50915D352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92224"/>
            <a:ext cx="5498558" cy="42497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95BFD3-E4AD-4634-AE69-05C139B7737F}"/>
              </a:ext>
            </a:extLst>
          </p:cNvPr>
          <p:cNvSpPr txBox="1"/>
          <p:nvPr/>
        </p:nvSpPr>
        <p:spPr>
          <a:xfrm>
            <a:off x="84885" y="635800"/>
            <a:ext cx="9760176" cy="660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Comment relier  les équipements de chaque réseau ?</a:t>
            </a:r>
          </a:p>
        </p:txBody>
      </p:sp>
    </p:spTree>
    <p:extLst>
      <p:ext uri="{BB962C8B-B14F-4D97-AF65-F5344CB8AC3E}">
        <p14:creationId xmlns:p14="http://schemas.microsoft.com/office/powerpoint/2010/main" val="294983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E21DA8-E762-41E8-B759-21840CC66403}"/>
              </a:ext>
            </a:extLst>
          </p:cNvPr>
          <p:cNvSpPr txBox="1"/>
          <p:nvPr/>
        </p:nvSpPr>
        <p:spPr>
          <a:xfrm>
            <a:off x="282182" y="537979"/>
            <a:ext cx="9760176" cy="660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Comment relier  les équipements de chaque réseau 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05C903-7CF3-480E-9419-03F4BB114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22" y="2152902"/>
            <a:ext cx="4682791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C568E7B-E22D-4EB7-928B-A102C5C7D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788" y="2152902"/>
            <a:ext cx="5272087" cy="350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153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D8FCE73-D8D0-4D52-BF6F-F99587254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704" y="0"/>
            <a:ext cx="5491295" cy="365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1" y="0"/>
            <a:ext cx="8149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7030A0"/>
                </a:solidFill>
                <a:latin typeface="Roboto" panose="02000000000000000000" pitchFamily="2" charset="0"/>
              </a:rPr>
              <a:t>Configuration matérielle d’un réseau: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AC9117B0-3814-445B-8CC6-E5C5541FFBED}"/>
              </a:ext>
            </a:extLst>
          </p:cNvPr>
          <p:cNvSpPr txBox="1"/>
          <p:nvPr/>
        </p:nvSpPr>
        <p:spPr>
          <a:xfrm>
            <a:off x="80829" y="3540391"/>
            <a:ext cx="11854497" cy="3292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pour connecter deux ordinateur, il faut </a:t>
            </a:r>
            <a:r>
              <a:rPr lang="fr-FR" sz="3699" b="1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deux cartes réseau </a:t>
            </a:r>
            <a:r>
              <a:rPr lang="fr-FR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et </a:t>
            </a:r>
            <a:r>
              <a:rPr lang="fr-FR" sz="3699" b="1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un câble a paire torsadée RJ45</a:t>
            </a:r>
            <a:r>
              <a:rPr lang="fr-FR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.</a:t>
            </a:r>
          </a:p>
          <a:p>
            <a:pPr marL="571500" indent="-571500">
              <a:lnSpc>
                <a:spcPts val="51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A partir de trois ordinateurs, il va falloir un </a:t>
            </a:r>
            <a:r>
              <a:rPr lang="fr-FR" sz="3699" b="1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hub</a:t>
            </a:r>
            <a:r>
              <a:rPr lang="fr-FR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ou un </a:t>
            </a:r>
            <a:r>
              <a:rPr lang="fr-FR" sz="3699" b="1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Switch</a:t>
            </a:r>
            <a:r>
              <a:rPr lang="fr-FR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avec des </a:t>
            </a:r>
            <a:r>
              <a:rPr lang="fr-FR" sz="3699" b="1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cartes réseau </a:t>
            </a:r>
            <a:r>
              <a:rPr lang="fr-FR" sz="36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et </a:t>
            </a:r>
            <a:r>
              <a:rPr lang="fr-FR" sz="3699" b="1" dirty="0">
                <a:solidFill>
                  <a:srgbClr val="7030A0"/>
                </a:solidFill>
                <a:latin typeface="DejaVu Serif"/>
                <a:ea typeface="DejaVu Serif"/>
                <a:cs typeface="DejaVu Serif"/>
                <a:sym typeface="DejaVu Serif"/>
              </a:rPr>
              <a:t>des câbles a paire torsadée RJ45</a:t>
            </a:r>
            <a:endParaRPr lang="en-US" sz="3699" b="1" dirty="0">
              <a:solidFill>
                <a:srgbClr val="7030A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8FA39A-9D6E-4303-95AA-8012A1D789F5}"/>
              </a:ext>
            </a:extLst>
          </p:cNvPr>
          <p:cNvSpPr txBox="1"/>
          <p:nvPr/>
        </p:nvSpPr>
        <p:spPr>
          <a:xfrm>
            <a:off x="647568" y="933138"/>
            <a:ext cx="3619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200" b="1" dirty="0">
                <a:solidFill>
                  <a:schemeClr val="accent2"/>
                </a:solidFill>
              </a:rPr>
              <a:t>Réseau filaire :</a:t>
            </a:r>
          </a:p>
        </p:txBody>
      </p:sp>
    </p:spTree>
    <p:extLst>
      <p:ext uri="{BB962C8B-B14F-4D97-AF65-F5344CB8AC3E}">
        <p14:creationId xmlns:p14="http://schemas.microsoft.com/office/powerpoint/2010/main" val="2307161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5733058" y="6237312"/>
            <a:ext cx="362943" cy="374893"/>
          </a:xfrm>
        </p:spPr>
        <p:txBody>
          <a:bodyPr/>
          <a:lstStyle/>
          <a:p>
            <a:r>
              <a:rPr lang="fr-FR" dirty="0"/>
              <a:t>5</a:t>
            </a:r>
          </a:p>
        </p:txBody>
      </p:sp>
      <p:pic>
        <p:nvPicPr>
          <p:cNvPr id="4" name="WhatsApp Video 2024-12-19 at 22.58.45">
            <a:hlinkClick r:id="" action="ppaction://media"/>
          </p:cNvPr>
          <p:cNvPicPr>
            <a:picLocks noGrp="1" noChangeAspect="1"/>
          </p:cNvPicPr>
          <p:nvPr>
            <p:ph sz="quarter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123993"/>
          </a:xfrm>
        </p:spPr>
      </p:pic>
    </p:spTree>
    <p:extLst>
      <p:ext uri="{BB962C8B-B14F-4D97-AF65-F5344CB8AC3E}">
        <p14:creationId xmlns:p14="http://schemas.microsoft.com/office/powerpoint/2010/main" val="261119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1" y="0"/>
            <a:ext cx="8149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7030A0"/>
                </a:solidFill>
                <a:latin typeface="Roboto" panose="02000000000000000000" pitchFamily="2" charset="0"/>
              </a:rPr>
              <a:t>Configuration matérielle d’un réseau: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8FA39A-9D6E-4303-95AA-8012A1D789F5}"/>
              </a:ext>
            </a:extLst>
          </p:cNvPr>
          <p:cNvSpPr txBox="1"/>
          <p:nvPr/>
        </p:nvSpPr>
        <p:spPr>
          <a:xfrm>
            <a:off x="647568" y="612298"/>
            <a:ext cx="3619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200" b="1" dirty="0">
                <a:solidFill>
                  <a:schemeClr val="accent2"/>
                </a:solidFill>
              </a:rPr>
              <a:t>Réseau filaire :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C4167C2-C89A-4059-9F92-F2153C5A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2" y="2458038"/>
            <a:ext cx="3943417" cy="2586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B44987-2B00-454B-98D0-E5D95A6C74E6}"/>
              </a:ext>
            </a:extLst>
          </p:cNvPr>
          <p:cNvSpPr txBox="1"/>
          <p:nvPr/>
        </p:nvSpPr>
        <p:spPr>
          <a:xfrm>
            <a:off x="4807551" y="1680265"/>
            <a:ext cx="6683675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Hub</a:t>
            </a:r>
            <a:r>
              <a:rPr lang="fr-FR" sz="2800" dirty="0">
                <a:latin typeface="Georgia" panose="02040502050405020303" pitchFamily="18" charset="0"/>
              </a:rPr>
              <a:t> est un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boîtier</a:t>
            </a:r>
            <a:r>
              <a:rPr lang="fr-FR" sz="2800" dirty="0">
                <a:latin typeface="Georgia" panose="02040502050405020303" pitchFamily="18" charset="0"/>
              </a:rPr>
              <a:t> de répartition, comme une prise multiple électrique. On l’utilise dans un réseau local pour relier plusieurs machines (ordinateurs)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800" dirty="0"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Le  </a:t>
            </a:r>
            <a:r>
              <a:rPr lang="fr-FR" sz="2800" dirty="0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HUB</a:t>
            </a:r>
            <a:r>
              <a:rPr lang="fr-FR" sz="2800" dirty="0">
                <a:latin typeface="Georgia" panose="02040502050405020303" pitchFamily="18" charset="0"/>
              </a:rPr>
              <a:t> reçoit les données émises par un ordinateur et les diffuse vers les autres.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800" dirty="0">
              <a:latin typeface="Georgia" panose="02040502050405020303" pitchFamily="18" charset="0"/>
            </a:endParaRPr>
          </a:p>
          <a:p>
            <a:br>
              <a:rPr lang="fr-FR" dirty="0"/>
            </a:br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010334-4302-4FDF-BE19-CFF55784FC01}"/>
              </a:ext>
            </a:extLst>
          </p:cNvPr>
          <p:cNvSpPr txBox="1"/>
          <p:nvPr/>
        </p:nvSpPr>
        <p:spPr>
          <a:xfrm>
            <a:off x="288756" y="1226545"/>
            <a:ext cx="1668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b="1" dirty="0">
                <a:solidFill>
                  <a:schemeClr val="accent5">
                    <a:lumMod val="75000"/>
                  </a:schemeClr>
                </a:solidFill>
                <a:latin typeface="Aldhabi" panose="01000000000000000000" pitchFamily="2" charset="-78"/>
                <a:ea typeface="SimSun" panose="02010600030101010101" pitchFamily="2" charset="-122"/>
                <a:cs typeface="Aldhabi" panose="01000000000000000000" pitchFamily="2" charset="-78"/>
              </a:rPr>
              <a:t>Hub</a:t>
            </a:r>
            <a:endParaRPr lang="fr-FR" sz="4400" b="1" dirty="0">
              <a:solidFill>
                <a:schemeClr val="accent5">
                  <a:lumMod val="75000"/>
                </a:schemeClr>
              </a:solidFill>
              <a:latin typeface="Aldhabi" panose="01000000000000000000" pitchFamily="2" charset="-78"/>
              <a:ea typeface="SimSun" panose="02010600030101010101" pitchFamily="2" charset="-122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33672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1484784"/>
            <a:ext cx="6192688" cy="4644516"/>
          </a:xfrm>
        </p:spPr>
      </p:pic>
      <p:sp>
        <p:nvSpPr>
          <p:cNvPr id="7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5807969" y="5949281"/>
            <a:ext cx="362943" cy="374893"/>
          </a:xfrm>
        </p:spPr>
        <p:txBody>
          <a:bodyPr/>
          <a:lstStyle/>
          <a:p>
            <a:r>
              <a:rPr lang="fr-F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16050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1" y="0"/>
            <a:ext cx="8149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7030A0"/>
                </a:solidFill>
                <a:latin typeface="Roboto" panose="02000000000000000000" pitchFamily="2" charset="0"/>
              </a:rPr>
              <a:t>Configuration matérielle d’un réseau: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8FA39A-9D6E-4303-95AA-8012A1D789F5}"/>
              </a:ext>
            </a:extLst>
          </p:cNvPr>
          <p:cNvSpPr txBox="1"/>
          <p:nvPr/>
        </p:nvSpPr>
        <p:spPr>
          <a:xfrm>
            <a:off x="647568" y="612298"/>
            <a:ext cx="3619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200" b="1" dirty="0">
                <a:solidFill>
                  <a:schemeClr val="accent2"/>
                </a:solidFill>
              </a:rPr>
              <a:t>Réseau filaire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44987-2B00-454B-98D0-E5D95A6C74E6}"/>
              </a:ext>
            </a:extLst>
          </p:cNvPr>
          <p:cNvSpPr txBox="1"/>
          <p:nvPr/>
        </p:nvSpPr>
        <p:spPr>
          <a:xfrm>
            <a:off x="4807551" y="1938896"/>
            <a:ext cx="66836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Switch</a:t>
            </a:r>
            <a:r>
              <a:rPr lang="fr-FR" sz="2800" dirty="0">
                <a:latin typeface="Georgia" panose="02040502050405020303" pitchFamily="18" charset="0"/>
              </a:rPr>
              <a:t> est un équipement  qui assure l’interconnexion des ordinateurs</a:t>
            </a: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800" dirty="0">
              <a:latin typeface="Georgia" panose="02040502050405020303" pitchFamily="18" charset="0"/>
            </a:endParaRP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800" dirty="0">
              <a:latin typeface="Georgia" panose="02040502050405020303" pitchFamily="18" charset="0"/>
            </a:endParaRPr>
          </a:p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Le </a:t>
            </a:r>
            <a:r>
              <a:rPr lang="fr-FR" sz="2800" dirty="0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Switch</a:t>
            </a:r>
            <a:r>
              <a:rPr lang="fr-FR" sz="2800" dirty="0">
                <a:latin typeface="Georgia" panose="02040502050405020303" pitchFamily="18" charset="0"/>
              </a:rPr>
              <a:t> crée une liaison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seulement entre les ordinateurs</a:t>
            </a:r>
            <a:r>
              <a:rPr lang="fr-FR" sz="2800" dirty="0">
                <a:latin typeface="Georgia" panose="02040502050405020303" pitchFamily="18" charset="0"/>
              </a:rPr>
              <a:t> qui veulent communiquée entre eux </a:t>
            </a:r>
            <a:endParaRPr lang="fr-FR" dirty="0"/>
          </a:p>
        </p:txBody>
      </p:sp>
      <p:pic>
        <p:nvPicPr>
          <p:cNvPr id="6" name="Espace réservé du contenu 3">
            <a:extLst>
              <a:ext uri="{FF2B5EF4-FFF2-40B4-BE49-F238E27FC236}">
                <a16:creationId xmlns:a16="http://schemas.microsoft.com/office/drawing/2014/main" id="{9D401133-0851-4B90-9193-051883F1D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46" y="1809371"/>
            <a:ext cx="4333875" cy="3352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52B729-C680-4437-A1E6-A06EF29D1F30}"/>
              </a:ext>
            </a:extLst>
          </p:cNvPr>
          <p:cNvSpPr txBox="1"/>
          <p:nvPr/>
        </p:nvSpPr>
        <p:spPr>
          <a:xfrm>
            <a:off x="700774" y="1051514"/>
            <a:ext cx="1668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b="1" dirty="0">
                <a:solidFill>
                  <a:schemeClr val="accent5">
                    <a:lumMod val="75000"/>
                  </a:schemeClr>
                </a:solidFill>
                <a:latin typeface="Aldhabi" panose="01000000000000000000" pitchFamily="2" charset="-78"/>
                <a:ea typeface="SimSun" panose="02010600030101010101" pitchFamily="2" charset="-122"/>
                <a:cs typeface="Aldhabi" panose="01000000000000000000" pitchFamily="2" charset="-78"/>
              </a:rPr>
              <a:t>Switch</a:t>
            </a:r>
            <a:endParaRPr lang="fr-FR" sz="4400" b="1" dirty="0">
              <a:solidFill>
                <a:schemeClr val="accent5">
                  <a:lumMod val="75000"/>
                </a:schemeClr>
              </a:solidFill>
              <a:latin typeface="Aldhabi" panose="01000000000000000000" pitchFamily="2" charset="-78"/>
              <a:ea typeface="SimSun" panose="02010600030101010101" pitchFamily="2" charset="-122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43127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34461" y="192506"/>
            <a:ext cx="11723077" cy="2231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III. </a:t>
            </a:r>
            <a:r>
              <a:rPr lang="fr-FR" sz="3600" b="0" i="0" dirty="0">
                <a:solidFill>
                  <a:srgbClr val="F44336"/>
                </a:solidFill>
                <a:effectLst/>
                <a:latin typeface="Roboto" panose="02000000000000000000" pitchFamily="2" charset="0"/>
              </a:rPr>
              <a:t>Configuration matérielle d'un réseau local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Réseau filaire </a:t>
            </a:r>
            <a:r>
              <a:rPr lang="fr-FR" sz="3600" b="0" i="0" dirty="0">
                <a:solidFill>
                  <a:srgbClr val="4CAF50"/>
                </a:solidFill>
                <a:effectLst/>
                <a:latin typeface="Roboto" panose="02000000000000000000" pitchFamily="2" charset="0"/>
              </a:rPr>
              <a:t>(Hub et Switch)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Georgia" panose="02040502050405020303" pitchFamily="18" charset="0"/>
              </a:rPr>
              <a:t>A partir de trois ordinateurs, il va falloir un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hub</a:t>
            </a:r>
            <a:r>
              <a:rPr lang="fr-FR" sz="2800" dirty="0">
                <a:latin typeface="Georgia" panose="02040502050405020303" pitchFamily="18" charset="0"/>
              </a:rPr>
              <a:t> ou un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Switch</a:t>
            </a:r>
            <a:r>
              <a:rPr lang="fr-FR" sz="2800" dirty="0">
                <a:latin typeface="Georgia" panose="02040502050405020303" pitchFamily="18" charset="0"/>
              </a:rPr>
              <a:t> avec des cartes réseau et des câbles a paire torsadée RJ45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D90FE-1086-4D2D-A150-3A29B1817964}"/>
              </a:ext>
            </a:extLst>
          </p:cNvPr>
          <p:cNvSpPr txBox="1"/>
          <p:nvPr/>
        </p:nvSpPr>
        <p:spPr>
          <a:xfrm>
            <a:off x="1155033" y="2471805"/>
            <a:ext cx="3866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  <a:latin typeface="Roboto" panose="02000000000000000000" pitchFamily="2" charset="0"/>
              </a:rPr>
              <a:t>a. Concentrateur (Hub)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EF30A-0164-43B4-BA5D-430637129BAE}"/>
              </a:ext>
            </a:extLst>
          </p:cNvPr>
          <p:cNvSpPr txBox="1"/>
          <p:nvPr/>
        </p:nvSpPr>
        <p:spPr>
          <a:xfrm>
            <a:off x="641685" y="3089429"/>
            <a:ext cx="113158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Le hub est un boîtier qui sert à relier plusieurs ordinateurs entre eux avec des câbles. Il envoie les informations à toutes les machines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7124F9-7DD9-430A-AE1F-EFA2DE3BC254}"/>
              </a:ext>
            </a:extLst>
          </p:cNvPr>
          <p:cNvSpPr txBox="1"/>
          <p:nvPr/>
        </p:nvSpPr>
        <p:spPr>
          <a:xfrm>
            <a:off x="1171074" y="4139788"/>
            <a:ext cx="49409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  <a:latin typeface="Roboto" panose="02000000000000000000" pitchFamily="2" charset="0"/>
              </a:rPr>
              <a:t>b. Commutateur (Switch)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D95142-7A60-4602-B270-83EB7D446874}"/>
              </a:ext>
            </a:extLst>
          </p:cNvPr>
          <p:cNvSpPr txBox="1"/>
          <p:nvPr/>
        </p:nvSpPr>
        <p:spPr>
          <a:xfrm>
            <a:off x="641685" y="4788968"/>
            <a:ext cx="111492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Le switch relie plusieurs ordinateurs, mais il est plus intelligent que le hub. Il envoie les données seulement à l’ordinateur concerné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378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pic>
        <p:nvPicPr>
          <p:cNvPr id="11" name="Espace réservé du contenu 8">
            <a:extLst>
              <a:ext uri="{FF2B5EF4-FFF2-40B4-BE49-F238E27FC236}">
                <a16:creationId xmlns:a16="http://schemas.microsoft.com/office/drawing/2014/main" id="{551BDB47-B712-47F2-B787-50915D352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92224"/>
            <a:ext cx="5498558" cy="42497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95BFD3-E4AD-4634-AE69-05C139B7737F}"/>
              </a:ext>
            </a:extLst>
          </p:cNvPr>
          <p:cNvSpPr txBox="1"/>
          <p:nvPr/>
        </p:nvSpPr>
        <p:spPr>
          <a:xfrm>
            <a:off x="84885" y="635800"/>
            <a:ext cx="9760176" cy="660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Comment relier  les équipements de chaque réseau 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9720F1A-669F-438F-B478-366C043E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89" y="2213066"/>
            <a:ext cx="5011219" cy="3257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424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95BFD3-E4AD-4634-AE69-05C139B7737F}"/>
              </a:ext>
            </a:extLst>
          </p:cNvPr>
          <p:cNvSpPr txBox="1"/>
          <p:nvPr/>
        </p:nvSpPr>
        <p:spPr>
          <a:xfrm>
            <a:off x="84885" y="635800"/>
            <a:ext cx="9760176" cy="660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Comment relier  les équipements de chaque réseau 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9720F1A-669F-438F-B478-366C043E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73" y="2261193"/>
            <a:ext cx="5011219" cy="3257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64EE2F1F-70C8-4A00-B158-98E0A3FC5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880" y="1776663"/>
            <a:ext cx="4563478" cy="456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274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295BFD3-E4AD-4634-AE69-05C139B7737F}"/>
              </a:ext>
            </a:extLst>
          </p:cNvPr>
          <p:cNvSpPr txBox="1"/>
          <p:nvPr/>
        </p:nvSpPr>
        <p:spPr>
          <a:xfrm>
            <a:off x="0" y="3396916"/>
            <a:ext cx="12047621" cy="389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 pour connecter deux ordinateurs dans un réseau sans fil, il faut un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adaptateur Wifi </a:t>
            </a:r>
            <a:r>
              <a:rPr lang="fr-FR" sz="2800" dirty="0">
                <a:latin typeface="Georgia" panose="02040502050405020303" pitchFamily="18" charset="0"/>
              </a:rPr>
              <a:t>pour chacun et respecter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la zone de couverture </a:t>
            </a:r>
            <a:r>
              <a:rPr lang="fr-FR" sz="2800" dirty="0">
                <a:latin typeface="Georgia" panose="02040502050405020303" pitchFamily="18" charset="0"/>
              </a:rPr>
              <a:t>des adaptateurs.</a:t>
            </a:r>
          </a:p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A partir de trois ordinateurs, il va falloir utiliser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un point d’accès </a:t>
            </a:r>
            <a:r>
              <a:rPr lang="fr-FR" sz="2800" dirty="0">
                <a:latin typeface="Georgia" panose="02040502050405020303" pitchFamily="18" charset="0"/>
              </a:rPr>
              <a:t>avec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des adaptateurs Wifi </a:t>
            </a:r>
            <a:r>
              <a:rPr lang="fr-FR" sz="2800" dirty="0">
                <a:latin typeface="Georgia" panose="02040502050405020303" pitchFamily="18" charset="0"/>
              </a:rPr>
              <a:t>et respecter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la zone de couverture. </a:t>
            </a:r>
          </a:p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fr-FR" sz="2800" dirty="0">
              <a:latin typeface="Georgia" panose="02040502050405020303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4EE2F1F-70C8-4A00-B158-98E0A3FC5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3979" y="0"/>
            <a:ext cx="3435097" cy="343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CC705C-E108-4AEC-82A9-EDD9A9A0611A}"/>
              </a:ext>
            </a:extLst>
          </p:cNvPr>
          <p:cNvSpPr txBox="1"/>
          <p:nvPr/>
        </p:nvSpPr>
        <p:spPr>
          <a:xfrm>
            <a:off x="382924" y="646331"/>
            <a:ext cx="6152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3200" b="1" dirty="0">
                <a:solidFill>
                  <a:schemeClr val="accent2"/>
                </a:solidFill>
              </a:rPr>
              <a:t>Réseau sans fil: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80731-AFDF-4BD8-B7C6-9DE7677E84D1}"/>
              </a:ext>
            </a:extLst>
          </p:cNvPr>
          <p:cNvSpPr txBox="1"/>
          <p:nvPr/>
        </p:nvSpPr>
        <p:spPr>
          <a:xfrm>
            <a:off x="1" y="0"/>
            <a:ext cx="8149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7030A0"/>
                </a:solidFill>
                <a:latin typeface="Roboto" panose="02000000000000000000" pitchFamily="2" charset="0"/>
              </a:rPr>
              <a:t>Configuration matérielle d’un réseau:</a:t>
            </a:r>
          </a:p>
        </p:txBody>
      </p:sp>
    </p:spTree>
    <p:extLst>
      <p:ext uri="{BB962C8B-B14F-4D97-AF65-F5344CB8AC3E}">
        <p14:creationId xmlns:p14="http://schemas.microsoft.com/office/powerpoint/2010/main" val="4190122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1" y="0"/>
            <a:ext cx="8149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7030A0"/>
                </a:solidFill>
                <a:latin typeface="Roboto" panose="02000000000000000000" pitchFamily="2" charset="0"/>
              </a:rPr>
              <a:t>Configuration matérielle d’un réseau: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8FA39A-9D6E-4303-95AA-8012A1D789F5}"/>
              </a:ext>
            </a:extLst>
          </p:cNvPr>
          <p:cNvSpPr txBox="1"/>
          <p:nvPr/>
        </p:nvSpPr>
        <p:spPr>
          <a:xfrm>
            <a:off x="647568" y="612298"/>
            <a:ext cx="3619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3200" b="1" dirty="0">
                <a:solidFill>
                  <a:schemeClr val="accent2"/>
                </a:solidFill>
              </a:rPr>
              <a:t>Réseau filaire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44987-2B00-454B-98D0-E5D95A6C74E6}"/>
              </a:ext>
            </a:extLst>
          </p:cNvPr>
          <p:cNvSpPr txBox="1"/>
          <p:nvPr/>
        </p:nvSpPr>
        <p:spPr>
          <a:xfrm>
            <a:off x="4941775" y="2736502"/>
            <a:ext cx="66836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Il permet de relier les machines d’un réseau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sans utiliser de câbles</a:t>
            </a:r>
            <a:r>
              <a:rPr lang="fr-FR" sz="2800" dirty="0">
                <a:latin typeface="Georgia" panose="02040502050405020303" pitchFamily="18" charset="0"/>
              </a:rPr>
              <a:t>, grâce au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Wi-Fi</a:t>
            </a:r>
            <a:r>
              <a:rPr lang="fr-FR" sz="2800" dirty="0"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010334-4302-4FDF-BE19-CFF55784FC01}"/>
              </a:ext>
            </a:extLst>
          </p:cNvPr>
          <p:cNvSpPr txBox="1"/>
          <p:nvPr/>
        </p:nvSpPr>
        <p:spPr>
          <a:xfrm>
            <a:off x="288756" y="1085019"/>
            <a:ext cx="3619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b="1" dirty="0">
                <a:solidFill>
                  <a:schemeClr val="accent5">
                    <a:lumMod val="75000"/>
                  </a:schemeClr>
                </a:solidFill>
                <a:latin typeface="Aldhabi" panose="01000000000000000000" pitchFamily="2" charset="-78"/>
                <a:ea typeface="SimSun" panose="02010600030101010101" pitchFamily="2" charset="-122"/>
                <a:cs typeface="Aldhabi" panose="01000000000000000000" pitchFamily="2" charset="-78"/>
              </a:rPr>
              <a:t>point d’accès</a:t>
            </a:r>
            <a:endParaRPr lang="fr-FR" sz="4400" b="1" dirty="0">
              <a:solidFill>
                <a:schemeClr val="accent5">
                  <a:lumMod val="75000"/>
                </a:schemeClr>
              </a:solidFill>
              <a:latin typeface="Aldhabi" panose="01000000000000000000" pitchFamily="2" charset="-78"/>
              <a:ea typeface="SimSun" panose="02010600030101010101" pitchFamily="2" charset="-122"/>
              <a:cs typeface="Aldhabi" panose="01000000000000000000" pitchFamily="2" charset="-78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DB83597-A1EE-4342-90D7-1FF9A23A9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56" y="2179347"/>
            <a:ext cx="3619633" cy="3619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06058C-8895-4045-A516-337D789E4AF0}"/>
              </a:ext>
            </a:extLst>
          </p:cNvPr>
          <p:cNvSpPr txBox="1"/>
          <p:nvPr/>
        </p:nvSpPr>
        <p:spPr>
          <a:xfrm>
            <a:off x="4267201" y="5226784"/>
            <a:ext cx="62695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000" dirty="0">
                <a:latin typeface="Georgia" panose="02040502050405020303" pitchFamily="18" charset="0"/>
              </a:rPr>
              <a:t>   On peut augmenter la zone de couverture en utilisant plusieurs points d’accès.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000" dirty="0">
                <a:latin typeface="Georgia" panose="02040502050405020303" pitchFamily="18" charset="0"/>
              </a:rPr>
              <a:t>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000" dirty="0">
                <a:latin typeface="Georgia" panose="02040502050405020303" pitchFamily="18" charset="0"/>
              </a:rPr>
              <a:t>   On peut connecter les réseaux filaire et les réseaux sans fil</a:t>
            </a:r>
            <a:endParaRPr lang="fr-FR" sz="1400" b="0" i="0" u="none" strike="noStrike" dirty="0">
              <a:solidFill>
                <a:srgbClr val="000000"/>
              </a:solidFill>
              <a:effectLst/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815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34461" y="192506"/>
            <a:ext cx="11723077" cy="1211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III. </a:t>
            </a:r>
            <a:r>
              <a:rPr lang="fr-FR" sz="3600" b="0" i="0" dirty="0">
                <a:solidFill>
                  <a:srgbClr val="F44336"/>
                </a:solidFill>
                <a:effectLst/>
                <a:latin typeface="Roboto" panose="02000000000000000000" pitchFamily="2" charset="0"/>
              </a:rPr>
              <a:t>Configuration matérielle d'un réseau local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Réseau sans fil </a:t>
            </a:r>
            <a:endParaRPr lang="fr-FR" sz="3600" b="0" i="0" dirty="0">
              <a:solidFill>
                <a:srgbClr val="4CAF5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D90FE-1086-4D2D-A150-3A29B1817964}"/>
              </a:ext>
            </a:extLst>
          </p:cNvPr>
          <p:cNvSpPr txBox="1"/>
          <p:nvPr/>
        </p:nvSpPr>
        <p:spPr>
          <a:xfrm>
            <a:off x="651210" y="2712218"/>
            <a:ext cx="3866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  <a:latin typeface="Roboto" panose="02000000000000000000" pitchFamily="2" charset="0"/>
              </a:rPr>
              <a:t>a. Point d’accès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EF30A-0164-43B4-BA5D-430637129BAE}"/>
              </a:ext>
            </a:extLst>
          </p:cNvPr>
          <p:cNvSpPr txBox="1"/>
          <p:nvPr/>
        </p:nvSpPr>
        <p:spPr>
          <a:xfrm>
            <a:off x="641685" y="3400425"/>
            <a:ext cx="113158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Le point d’accès</a:t>
            </a:r>
            <a:r>
              <a:rPr lang="fr-FR" sz="2800" dirty="0">
                <a:latin typeface="Georgia" panose="02040502050405020303" pitchFamily="18" charset="0"/>
              </a:rPr>
              <a:t> sert à créer du Wi-Fi à partir d’un réseau câblé.</a:t>
            </a:r>
          </a:p>
          <a:p>
            <a:r>
              <a:rPr lang="fr-FR" sz="2800" dirty="0">
                <a:latin typeface="Georgia" panose="02040502050405020303" pitchFamily="18" charset="0"/>
              </a:rPr>
              <a:t>Il permet aux ordinateurs équipés de Wi-Fi de se connecter </a:t>
            </a:r>
            <a:r>
              <a:rPr lang="fr-FR" sz="2800" dirty="0">
                <a:solidFill>
                  <a:srgbClr val="7030A0"/>
                </a:solidFill>
                <a:latin typeface="Georgia" panose="02040502050405020303" pitchFamily="18" charset="0"/>
              </a:rPr>
              <a:t>sans câble</a:t>
            </a:r>
            <a:r>
              <a:rPr lang="fr-FR" sz="2800" dirty="0"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5D4BCB-B8B3-4ABA-ABB2-50160DFBED61}"/>
              </a:ext>
            </a:extLst>
          </p:cNvPr>
          <p:cNvSpPr txBox="1"/>
          <p:nvPr/>
        </p:nvSpPr>
        <p:spPr>
          <a:xfrm>
            <a:off x="641685" y="1542668"/>
            <a:ext cx="106198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A partir de trois ordinateurs, il va falloir utiliser un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point d’accès </a:t>
            </a:r>
            <a:r>
              <a:rPr lang="fr-FR" sz="2800" dirty="0">
                <a:latin typeface="Georgia" panose="02040502050405020303" pitchFamily="18" charset="0"/>
              </a:rPr>
              <a:t>avec des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adaptateurs Wifi </a:t>
            </a:r>
            <a:r>
              <a:rPr lang="fr-FR" sz="2800" dirty="0">
                <a:latin typeface="Georgia" panose="02040502050405020303" pitchFamily="18" charset="0"/>
              </a:rPr>
              <a:t>et respecter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la zone de couverture</a:t>
            </a:r>
          </a:p>
        </p:txBody>
      </p:sp>
    </p:spTree>
    <p:extLst>
      <p:ext uri="{BB962C8B-B14F-4D97-AF65-F5344CB8AC3E}">
        <p14:creationId xmlns:p14="http://schemas.microsoft.com/office/powerpoint/2010/main" val="3413964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628724" y="157057"/>
            <a:ext cx="3711669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FFFFFF"/>
                </a:solidFill>
                <a:latin typeface="DejaVu Serif"/>
                <a:ea typeface="DejaVu Serif"/>
                <a:cs typeface="DejaVu Serif"/>
                <a:sym typeface="DejaVu Serif"/>
              </a:rPr>
              <a:t>LA TOPOLOGIE EN BUS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5393" y="1637186"/>
            <a:ext cx="11181213" cy="4459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ts val="3453"/>
              </a:lnSpc>
              <a:spcBef>
                <a:spcPct val="0"/>
              </a:spcBef>
              <a:buAutoNum type="alphaLcParenR"/>
            </a:pPr>
            <a:r>
              <a:rPr lang="fr-FR" sz="2800" b="1" dirty="0">
                <a:latin typeface="Comic Sans MS" pitchFamily="66" charset="0"/>
              </a:rPr>
              <a:t>Le __________ envoie les données à tous les ordinateurs du réseau.</a:t>
            </a:r>
          </a:p>
          <a:p>
            <a:pPr>
              <a:lnSpc>
                <a:spcPts val="3453"/>
              </a:lnSpc>
              <a:spcBef>
                <a:spcPct val="0"/>
              </a:spcBef>
            </a:pPr>
            <a:br>
              <a:rPr lang="fr-FR" sz="2800" b="1" dirty="0">
                <a:latin typeface="Comic Sans MS" pitchFamily="66" charset="0"/>
              </a:rPr>
            </a:br>
            <a:r>
              <a:rPr lang="fr-FR" sz="2800" b="1" dirty="0">
                <a:latin typeface="Comic Sans MS" pitchFamily="66" charset="0"/>
              </a:rPr>
              <a:t>b) Le __________ envoie les données seulement à l’ordinateur ou aux ordinateurs qui en ont besoin.</a:t>
            </a:r>
          </a:p>
          <a:p>
            <a:pPr>
              <a:lnSpc>
                <a:spcPts val="3453"/>
              </a:lnSpc>
              <a:spcBef>
                <a:spcPct val="0"/>
              </a:spcBef>
            </a:pPr>
            <a:endParaRPr lang="fr-FR" sz="2800" b="1" dirty="0">
              <a:latin typeface="Comic Sans MS" pitchFamily="66" charset="0"/>
            </a:endParaRPr>
          </a:p>
          <a:p>
            <a:pPr>
              <a:lnSpc>
                <a:spcPts val="3453"/>
              </a:lnSpc>
              <a:spcBef>
                <a:spcPct val="0"/>
              </a:spcBef>
            </a:pPr>
            <a:r>
              <a:rPr lang="fr-FR" sz="2800" b="1" dirty="0">
                <a:latin typeface="Comic Sans MS" pitchFamily="66" charset="0"/>
              </a:rPr>
              <a:t>c) Le __________ permet de créer une zone Wi-Fi pour connecter les appareils sans fil.</a:t>
            </a:r>
          </a:p>
          <a:p>
            <a:pPr>
              <a:lnSpc>
                <a:spcPts val="3453"/>
              </a:lnSpc>
              <a:spcBef>
                <a:spcPct val="0"/>
              </a:spcBef>
            </a:pPr>
            <a:endParaRPr lang="fr-FR" sz="2800" b="1" dirty="0">
              <a:latin typeface="Comic Sans MS" pitchFamily="66" charset="0"/>
            </a:endParaRPr>
          </a:p>
          <a:p>
            <a:pPr>
              <a:lnSpc>
                <a:spcPts val="3453"/>
              </a:lnSpc>
              <a:spcBef>
                <a:spcPct val="0"/>
              </a:spcBef>
            </a:pPr>
            <a:endParaRPr lang="en-US" sz="2466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EB2AE-7F1F-4C95-A5BB-5243E046F182}"/>
              </a:ext>
            </a:extLst>
          </p:cNvPr>
          <p:cNvSpPr txBox="1"/>
          <p:nvPr/>
        </p:nvSpPr>
        <p:spPr>
          <a:xfrm>
            <a:off x="1" y="0"/>
            <a:ext cx="511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0070C0"/>
                </a:solidFill>
                <a:latin typeface="Roboto" panose="02000000000000000000" pitchFamily="2" charset="0"/>
              </a:rPr>
              <a:t>Exercice d'application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628724" y="157057"/>
            <a:ext cx="3711669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FFFFFF"/>
                </a:solidFill>
                <a:latin typeface="DejaVu Serif"/>
                <a:ea typeface="DejaVu Serif"/>
                <a:cs typeface="DejaVu Serif"/>
                <a:sym typeface="DejaVu Serif"/>
              </a:rPr>
              <a:t>LA TOPOLOGIE EN BUS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EB2AE-7F1F-4C95-A5BB-5243E046F182}"/>
              </a:ext>
            </a:extLst>
          </p:cNvPr>
          <p:cNvSpPr txBox="1"/>
          <p:nvPr/>
        </p:nvSpPr>
        <p:spPr>
          <a:xfrm>
            <a:off x="1" y="0"/>
            <a:ext cx="511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0070C0"/>
                </a:solidFill>
                <a:latin typeface="Roboto" panose="02000000000000000000" pitchFamily="2" charset="0"/>
              </a:rPr>
              <a:t>Travail à faire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22694-458D-4652-8191-C4A77ADFEC71}"/>
              </a:ext>
            </a:extLst>
          </p:cNvPr>
          <p:cNvSpPr txBox="1"/>
          <p:nvPr/>
        </p:nvSpPr>
        <p:spPr>
          <a:xfrm>
            <a:off x="488883" y="803388"/>
            <a:ext cx="115747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chemeClr val="accent2"/>
                </a:solidFill>
                <a:latin typeface="Comic Sans MS" pitchFamily="66" charset="0"/>
              </a:rPr>
              <a:t>Situation :</a:t>
            </a:r>
            <a:br>
              <a:rPr lang="fr-FR" sz="2800" dirty="0">
                <a:latin typeface="Comic Sans MS" pitchFamily="66" charset="0"/>
              </a:rPr>
            </a:br>
            <a:r>
              <a:rPr lang="fr-FR" sz="2800" dirty="0">
                <a:latin typeface="Comic Sans MS" pitchFamily="66" charset="0"/>
              </a:rPr>
              <a:t>Dans une petite salle informatique de votre collège, il y a </a:t>
            </a:r>
            <a:r>
              <a:rPr lang="fr-FR" sz="2800" b="1" dirty="0">
                <a:latin typeface="Comic Sans MS" pitchFamily="66" charset="0"/>
              </a:rPr>
              <a:t>3 ordinateurs</a:t>
            </a:r>
            <a:r>
              <a:rPr lang="fr-FR" sz="2800" dirty="0">
                <a:latin typeface="Comic Sans MS" pitchFamily="66" charset="0"/>
              </a:rPr>
              <a:t>. Le professeur veut les connecter entre eux pour qu’ils puissent partager des documents.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8FBA2-ABD1-4AFB-9CBC-2339625B5BDF}"/>
              </a:ext>
            </a:extLst>
          </p:cNvPr>
          <p:cNvSpPr txBox="1"/>
          <p:nvPr/>
        </p:nvSpPr>
        <p:spPr>
          <a:xfrm>
            <a:off x="488883" y="2776327"/>
            <a:ext cx="1178786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400" dirty="0">
                <a:latin typeface="Comic Sans MS" pitchFamily="66" charset="0"/>
              </a:rPr>
              <a:t>1.  </a:t>
            </a:r>
            <a:r>
              <a:rPr lang="fr-FR" altLang="fr-FR" sz="2400" b="1" dirty="0">
                <a:latin typeface="Comic Sans MS" pitchFamily="66" charset="0"/>
              </a:rPr>
              <a:t>Quel est le matériel nécessaire</a:t>
            </a:r>
            <a:r>
              <a:rPr lang="fr-FR" altLang="fr-FR" sz="2400" dirty="0">
                <a:latin typeface="Comic Sans MS" pitchFamily="66" charset="0"/>
              </a:rPr>
              <a:t> pour relier ces ordinateurs avec un réseau filaire ?   (Donne au moins 2 éléments.)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400" dirty="0">
                <a:latin typeface="Comic Sans MS" pitchFamily="66" charset="0"/>
              </a:rPr>
              <a:t>2.  </a:t>
            </a:r>
            <a:r>
              <a:rPr lang="fr-FR" altLang="fr-FR" sz="2400" b="1" dirty="0">
                <a:latin typeface="Comic Sans MS" pitchFamily="66" charset="0"/>
              </a:rPr>
              <a:t>Quel est le rôle du HUB </a:t>
            </a:r>
            <a:r>
              <a:rPr lang="fr-FR" altLang="fr-FR" sz="2400" dirty="0">
                <a:latin typeface="Comic Sans MS" pitchFamily="66" charset="0"/>
              </a:rPr>
              <a:t>dans un réseau filaire 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2400" dirty="0">
                <a:latin typeface="Comic Sans MS" pitchFamily="66" charset="0"/>
              </a:rPr>
              <a:t>3.  Complète ce schéma en plaçant les éléments suivants :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400" b="1" dirty="0">
                <a:latin typeface="Comic Sans MS" pitchFamily="66" charset="0"/>
              </a:rPr>
              <a:t> 3 ordinateurs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400" b="1" dirty="0">
                <a:latin typeface="Comic Sans MS" pitchFamily="66" charset="0"/>
              </a:rPr>
              <a:t> 1 HUB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400" b="1" dirty="0">
                <a:latin typeface="Comic Sans MS" pitchFamily="66" charset="0"/>
              </a:rPr>
              <a:t> des câbles RJ45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749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6802</TotalTime>
  <Words>678</Words>
  <Application>Microsoft Office PowerPoint</Application>
  <PresentationFormat>Widescreen</PresentationFormat>
  <Paragraphs>79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Abadi</vt:lpstr>
      <vt:lpstr>Aldhabi</vt:lpstr>
      <vt:lpstr>Arial</vt:lpstr>
      <vt:lpstr>Calibri</vt:lpstr>
      <vt:lpstr>Calibri Light</vt:lpstr>
      <vt:lpstr>Comic Sans MS</vt:lpstr>
      <vt:lpstr>Constantia</vt:lpstr>
      <vt:lpstr>Courier New</vt:lpstr>
      <vt:lpstr>DejaVu Serif</vt:lpstr>
      <vt:lpstr>Georgia</vt:lpstr>
      <vt:lpstr>Poppins Bold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90</cp:revision>
  <dcterms:created xsi:type="dcterms:W3CDTF">2025-09-27T13:59:56Z</dcterms:created>
  <dcterms:modified xsi:type="dcterms:W3CDTF">2025-12-25T19:37:21Z</dcterms:modified>
</cp:coreProperties>
</file>