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9" r:id="rId3"/>
    <p:sldId id="260" r:id="rId4"/>
    <p:sldId id="263" r:id="rId5"/>
    <p:sldId id="277" r:id="rId6"/>
    <p:sldId id="279" r:id="rId7"/>
    <p:sldId id="276" r:id="rId8"/>
    <p:sldId id="278" r:id="rId9"/>
    <p:sldId id="280" r:id="rId10"/>
    <p:sldId id="281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3" r:id="rId19"/>
    <p:sldId id="294" r:id="rId20"/>
    <p:sldId id="291" r:id="rId21"/>
    <p:sldId id="295" r:id="rId22"/>
    <p:sldId id="290" r:id="rId23"/>
    <p:sldId id="297" r:id="rId24"/>
    <p:sldId id="296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6" autoAdjust="0"/>
    <p:restoredTop sz="94660"/>
  </p:normalViewPr>
  <p:slideViewPr>
    <p:cSldViewPr snapToGrid="0">
      <p:cViewPr varScale="1">
        <p:scale>
          <a:sx n="48" d="100"/>
          <a:sy n="48" d="100"/>
        </p:scale>
        <p:origin x="82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62455-04AA-4E95-B9B2-A90818A1A9E6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892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62455-04AA-4E95-B9B2-A90818A1A9E6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9242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62455-04AA-4E95-B9B2-A90818A1A9E6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4750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62455-04AA-4E95-B9B2-A90818A1A9E6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097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E24583-B81B-4FCE-ACE5-4096393C82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57937" y="3115104"/>
            <a:ext cx="4876800" cy="4876800"/>
          </a:xfrm>
          <a:prstGeom prst="rect">
            <a:avLst/>
          </a:prstGeom>
        </p:spPr>
      </p:pic>
      <p:sp>
        <p:nvSpPr>
          <p:cNvPr id="10" name="Freeform 7">
            <a:extLst>
              <a:ext uri="{FF2B5EF4-FFF2-40B4-BE49-F238E27FC236}">
                <a16:creationId xmlns:a16="http://schemas.microsoft.com/office/drawing/2014/main" id="{AC609EC0-00A1-4587-80D6-D873FE5DE4E0}"/>
              </a:ext>
            </a:extLst>
          </p:cNvPr>
          <p:cNvSpPr/>
          <p:nvPr/>
        </p:nvSpPr>
        <p:spPr>
          <a:xfrm flipH="1" flipV="1">
            <a:off x="10188482" y="2743200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259818F-130E-495F-8AE3-0F1CA0BB95AD}"/>
              </a:ext>
            </a:extLst>
          </p:cNvPr>
          <p:cNvSpPr/>
          <p:nvPr/>
        </p:nvSpPr>
        <p:spPr>
          <a:xfrm rot="10800000">
            <a:off x="8568229" y="5951579"/>
            <a:ext cx="2556168" cy="1533045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59843"/>
            <a:ext cx="12192000" cy="944550"/>
            <a:chOff x="0" y="1316467"/>
            <a:chExt cx="12192000" cy="1167653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93784" y="1316467"/>
              <a:ext cx="4542284" cy="994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4400" b="1" dirty="0">
                  <a:solidFill>
                    <a:srgbClr val="F4F4F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i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30" y="-10078"/>
            <a:ext cx="9347139" cy="1398522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440392" y="3802504"/>
            <a:ext cx="7917545" cy="213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Notion de </a:t>
            </a:r>
            <a:r>
              <a:rPr lang="en-US" sz="7000" b="1" dirty="0" err="1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réseau</a:t>
            </a:r>
            <a:r>
              <a:rPr lang="en-US" sz="7000" b="1" dirty="0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 </a:t>
            </a:r>
            <a:r>
              <a:rPr lang="en-US" sz="7000" b="1" dirty="0" err="1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informatique</a:t>
            </a:r>
            <a:r>
              <a:rPr lang="en-US" sz="7000" b="1" dirty="0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622917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6" y="1277766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de l'Éducation Nationale et de la Formation —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-32084" y="2906281"/>
            <a:ext cx="10010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Unité I:  Environnement matériel d’un réseau informatique &amp;&amp; système d exploitation et réseau local. 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</a:rPr>
              <a:t>Séquence 1: </a:t>
            </a: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Environnement matériel d’un réseau informatique </a:t>
            </a:r>
            <a:endParaRPr lang="fr-FR" b="1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0C7410-9A8A-4D40-98B8-2BD141BBC8C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69478" y="5772452"/>
            <a:ext cx="1098751" cy="10987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421274-79A0-4435-97AB-E52E57E05D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3946" y="2170553"/>
            <a:ext cx="633839" cy="63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99E86-C7A6-4E50-9098-2912320AD594}"/>
              </a:ext>
            </a:extLst>
          </p:cNvPr>
          <p:cNvSpPr txBox="1"/>
          <p:nvPr/>
        </p:nvSpPr>
        <p:spPr>
          <a:xfrm>
            <a:off x="819150" y="3737109"/>
            <a:ext cx="362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/>
              <a:t>Figure 1 : réseau routier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521204-E00D-489C-9B8D-FAF8805EA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10" y="675824"/>
            <a:ext cx="4572000" cy="2965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0AADCF-FDE6-49C0-B1D9-DD815E868D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9" t="13728" r="899" b="17004"/>
          <a:stretch/>
        </p:blipFill>
        <p:spPr>
          <a:xfrm>
            <a:off x="6491038" y="675825"/>
            <a:ext cx="5354052" cy="2965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A37C22-2726-467E-BC14-13784D3A8E21}"/>
              </a:ext>
            </a:extLst>
          </p:cNvPr>
          <p:cNvSpPr txBox="1"/>
          <p:nvPr/>
        </p:nvSpPr>
        <p:spPr>
          <a:xfrm>
            <a:off x="7354304" y="3749885"/>
            <a:ext cx="362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/>
              <a:t>Figure 2 : réseau électrique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FB3C29-A5C9-4423-B8D9-452F6E24E046}"/>
              </a:ext>
            </a:extLst>
          </p:cNvPr>
          <p:cNvSpPr txBox="1"/>
          <p:nvPr/>
        </p:nvSpPr>
        <p:spPr>
          <a:xfrm>
            <a:off x="819150" y="105827"/>
            <a:ext cx="4159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Que représente cette image 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E2B86E-726F-4323-954F-4A0935D78BDE}"/>
              </a:ext>
            </a:extLst>
          </p:cNvPr>
          <p:cNvSpPr txBox="1"/>
          <p:nvPr/>
        </p:nvSpPr>
        <p:spPr>
          <a:xfrm>
            <a:off x="7479131" y="105827"/>
            <a:ext cx="4159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Que représente cette image 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E21DA8-E762-41E8-B759-21840CC66403}"/>
              </a:ext>
            </a:extLst>
          </p:cNvPr>
          <p:cNvSpPr txBox="1"/>
          <p:nvPr/>
        </p:nvSpPr>
        <p:spPr>
          <a:xfrm>
            <a:off x="0" y="4109053"/>
            <a:ext cx="1253490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Quels sont les éléments reliés dans chaque image 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Pourquoi, selon vous, doit-on relier ces éléments ensemble 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Quelles est la matière véhiculée dans ces cas 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Quand plusieurs éléments sont reliés entre eux et travaillent ensemble, comment peut-on appeler cet ensemble ?</a:t>
            </a:r>
          </a:p>
        </p:txBody>
      </p:sp>
    </p:spTree>
    <p:extLst>
      <p:ext uri="{BB962C8B-B14F-4D97-AF65-F5344CB8AC3E}">
        <p14:creationId xmlns:p14="http://schemas.microsoft.com/office/powerpoint/2010/main" val="2949839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2632910" y="497836"/>
            <a:ext cx="6926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69E02-8459-4690-919F-EE5C2524C8CF}"/>
              </a:ext>
            </a:extLst>
          </p:cNvPr>
          <p:cNvSpPr txBox="1"/>
          <p:nvPr/>
        </p:nvSpPr>
        <p:spPr>
          <a:xfrm>
            <a:off x="1953772" y="1193466"/>
            <a:ext cx="42545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Georgia" panose="02040502050405020303" pitchFamily="18" charset="0"/>
              </a:rPr>
              <a:t>Questions</a:t>
            </a:r>
            <a:r>
              <a:rPr lang="fr-FR" dirty="0">
                <a:latin typeface="Georgia" panose="02040502050405020303" pitchFamily="18" charset="0"/>
              </a:rPr>
              <a:t> </a:t>
            </a:r>
            <a:r>
              <a:rPr lang="fr-FR" sz="2800" dirty="0">
                <a:latin typeface="Georgia" panose="02040502050405020303" pitchFamily="18" charset="0"/>
              </a:rPr>
              <a:t>pour</a:t>
            </a:r>
            <a:r>
              <a:rPr lang="fr-FR" dirty="0">
                <a:latin typeface="Georgia" panose="02040502050405020303" pitchFamily="18" charset="0"/>
              </a:rPr>
              <a:t> </a:t>
            </a:r>
            <a:r>
              <a:rPr lang="fr-FR" sz="2800" dirty="0">
                <a:latin typeface="Georgia" panose="02040502050405020303" pitchFamily="18" charset="0"/>
              </a:rPr>
              <a:t>réfléchir</a:t>
            </a:r>
            <a:r>
              <a:rPr lang="fr-FR" dirty="0">
                <a:latin typeface="Georgia" panose="02040502050405020303" pitchFamily="18" charset="0"/>
              </a:rPr>
              <a:t> </a:t>
            </a:r>
            <a:r>
              <a:rPr lang="fr-FR" sz="2800" dirty="0">
                <a:latin typeface="Georgia" panose="02040502050405020303" pitchFamily="18" charset="0"/>
              </a:rPr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5B225F-57F5-4180-BAFD-98B13D58D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75" y="683111"/>
            <a:ext cx="1331497" cy="13314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9E9FEE-1D82-48FC-9099-07C81B74F3E7}"/>
              </a:ext>
            </a:extLst>
          </p:cNvPr>
          <p:cNvSpPr txBox="1"/>
          <p:nvPr/>
        </p:nvSpPr>
        <p:spPr>
          <a:xfrm>
            <a:off x="1288023" y="3429000"/>
            <a:ext cx="10138610" cy="130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sz="2800" dirty="0">
                <a:latin typeface="Georgia" panose="02040502050405020303" pitchFamily="18" charset="0"/>
              </a:rPr>
              <a:t>D’après vous, qu’est-ce qu’un réseau ?</a:t>
            </a:r>
            <a:endParaRPr lang="fr-FR" altLang="fr-FR" sz="2800" dirty="0">
              <a:latin typeface="Georgia" panose="02040502050405020303" pitchFamily="18" charset="0"/>
            </a:endParaRPr>
          </a:p>
          <a:p>
            <a:pPr marL="457200" marR="0" lvl="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800" dirty="0">
                <a:latin typeface="Georgia" panose="02040502050405020303" pitchFamily="18" charset="0"/>
              </a:rPr>
              <a:t>Donne un autre exemple de réseau dans la vie quotidienne.</a:t>
            </a:r>
          </a:p>
        </p:txBody>
      </p:sp>
    </p:spTree>
    <p:extLst>
      <p:ext uri="{BB962C8B-B14F-4D97-AF65-F5344CB8AC3E}">
        <p14:creationId xmlns:p14="http://schemas.microsoft.com/office/powerpoint/2010/main" val="3146801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234461" y="0"/>
            <a:ext cx="11723077" cy="2932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I. </a:t>
            </a:r>
            <a:r>
              <a:rPr lang="fr-FR" sz="3600" b="0" i="0" dirty="0">
                <a:solidFill>
                  <a:srgbClr val="F44336"/>
                </a:solidFill>
                <a:effectLst/>
                <a:latin typeface="Roboto" panose="02000000000000000000" pitchFamily="2" charset="0"/>
              </a:rPr>
              <a:t>Notion de réseau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fr-FR" sz="3600" i="1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Définition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fr-FR" sz="2800" dirty="0">
                <a:latin typeface="Georgia" panose="02040502050405020303" pitchFamily="18" charset="0"/>
              </a:rPr>
              <a:t>Un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réseau</a:t>
            </a:r>
            <a:r>
              <a:rPr lang="fr-FR" sz="2800" dirty="0">
                <a:latin typeface="Georgia" panose="02040502050405020303" pitchFamily="18" charset="0"/>
              </a:rPr>
              <a:t> est un ensemble d’éléments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reliés entre eux </a:t>
            </a:r>
            <a:r>
              <a:rPr lang="fr-FR" sz="2800" dirty="0">
                <a:latin typeface="Georgia" panose="02040502050405020303" pitchFamily="18" charset="0"/>
              </a:rPr>
              <a:t>pour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transporter</a:t>
            </a:r>
            <a:r>
              <a:rPr lang="fr-FR" sz="2800" dirty="0">
                <a:latin typeface="Georgia" panose="02040502050405020303" pitchFamily="18" charset="0"/>
              </a:rPr>
              <a:t> ou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échanger</a:t>
            </a:r>
            <a:r>
              <a:rPr lang="fr-FR" sz="2800" dirty="0">
                <a:latin typeface="Georgia" panose="02040502050405020303" pitchFamily="18" charset="0"/>
              </a:rPr>
              <a:t> quelque chose.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FD3F6-6C72-48E9-A110-2A9FDCD23BA6}"/>
              </a:ext>
            </a:extLst>
          </p:cNvPr>
          <p:cNvSpPr txBox="1"/>
          <p:nvPr/>
        </p:nvSpPr>
        <p:spPr>
          <a:xfrm>
            <a:off x="234461" y="2836730"/>
            <a:ext cx="11723077" cy="396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Exemple :</a:t>
            </a:r>
          </a:p>
          <a:p>
            <a:pPr marL="1440000" indent="-4572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7030A0"/>
                </a:solidFill>
                <a:latin typeface="Georgia" panose="02040502050405020303" pitchFamily="18" charset="0"/>
              </a:rPr>
              <a:t>Réseaux routiers : </a:t>
            </a:r>
            <a:r>
              <a:rPr lang="fr-FR" sz="2400" dirty="0">
                <a:latin typeface="Georgia" panose="02040502050405020303" pitchFamily="18" charset="0"/>
              </a:rPr>
              <a:t>Ce sont des ensembles de routes et d’autoroutes qui relient plusieurs endroits et permettent le déplacement des véhicules.</a:t>
            </a:r>
          </a:p>
          <a:p>
            <a:pPr marL="1440000" indent="-4572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7030A0"/>
                </a:solidFill>
                <a:latin typeface="Georgia" panose="02040502050405020303" pitchFamily="18" charset="0"/>
              </a:rPr>
              <a:t>Réseaux électriques: </a:t>
            </a:r>
            <a:r>
              <a:rPr lang="fr-FR" sz="2400" dirty="0">
                <a:latin typeface="Georgia" panose="02040502050405020303" pitchFamily="18" charset="0"/>
              </a:rPr>
              <a:t>Ce sont des ensembles de câbles et de postes électriques qui transportent l’électricité depuis les centrales jusqu’aux maisons, écoles, usines et magasins.</a:t>
            </a:r>
          </a:p>
        </p:txBody>
      </p:sp>
    </p:spTree>
    <p:extLst>
      <p:ext uri="{BB962C8B-B14F-4D97-AF65-F5344CB8AC3E}">
        <p14:creationId xmlns:p14="http://schemas.microsoft.com/office/powerpoint/2010/main" val="420378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A36F3-8446-4C4B-BC50-F8BB5A31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4178968"/>
            <a:ext cx="1303421" cy="1303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CB6C6-C1F2-462E-BD81-56F8B762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852084"/>
            <a:ext cx="1175084" cy="11750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6074EA-6594-4FBC-8CF2-F60A240A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458" y="2027168"/>
            <a:ext cx="1175084" cy="11750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13D8E1-D97C-4668-9081-23A93F2B9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179" y="4003893"/>
            <a:ext cx="1175084" cy="1175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642FE0-2FB4-48E2-A619-8BD60DFAD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999" y="264542"/>
            <a:ext cx="1175084" cy="117508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E46018A-3BEB-436E-9862-E83683468E60}"/>
              </a:ext>
            </a:extLst>
          </p:cNvPr>
          <p:cNvSpPr txBox="1"/>
          <p:nvPr/>
        </p:nvSpPr>
        <p:spPr>
          <a:xfrm>
            <a:off x="115149" y="5733135"/>
            <a:ext cx="120768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Quand plusieurs éléments sont reliés et travaillent ensemble, comment peut-on appeler cet ensemble ?</a:t>
            </a:r>
          </a:p>
        </p:txBody>
      </p:sp>
    </p:spTree>
    <p:extLst>
      <p:ext uri="{BB962C8B-B14F-4D97-AF65-F5344CB8AC3E}">
        <p14:creationId xmlns:p14="http://schemas.microsoft.com/office/powerpoint/2010/main" val="362471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A36F3-8446-4C4B-BC50-F8BB5A31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5129463"/>
            <a:ext cx="1303421" cy="1303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CB6C6-C1F2-462E-BD81-56F8B762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1375611"/>
            <a:ext cx="1175084" cy="11750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6074EA-6594-4FBC-8CF2-F60A240A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458" y="3052011"/>
            <a:ext cx="1175084" cy="11750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13D8E1-D97C-4668-9081-23A93F2B9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737" y="4894847"/>
            <a:ext cx="1175084" cy="1175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642FE0-2FB4-48E2-A619-8BD60DFAD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553" y="1375611"/>
            <a:ext cx="1175084" cy="117508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9840C0-D252-418C-A9B6-0F4252F906F6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6683542" y="1963153"/>
            <a:ext cx="3052011" cy="1676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6F26F5-81B1-4FF5-BCE2-D4D96DDE1007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6683542" y="3639553"/>
            <a:ext cx="3503195" cy="184283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E0B193-75ED-4D1A-A575-1BCE2FD686FB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2217821" y="1955132"/>
            <a:ext cx="3290637" cy="168442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4C10F31-A5DE-446C-9AEC-63D00E05551A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 flipV="1">
            <a:off x="2346158" y="5482389"/>
            <a:ext cx="7840579" cy="29878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83037E3-C30F-4764-83C1-81811E282E1E}"/>
              </a:ext>
            </a:extLst>
          </p:cNvPr>
          <p:cNvCxnSpPr>
            <a:cxnSpLocks/>
            <a:stCxn id="8" idx="3"/>
            <a:endCxn id="22" idx="1"/>
          </p:cNvCxnSpPr>
          <p:nvPr/>
        </p:nvCxnSpPr>
        <p:spPr>
          <a:xfrm>
            <a:off x="2217821" y="1963153"/>
            <a:ext cx="751773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710969-4856-4B87-A003-24F05F9BD80F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flipH="1" flipV="1">
            <a:off x="1630279" y="2550695"/>
            <a:ext cx="64169" cy="257876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03E0D96-5292-4BBC-AE43-D94B267E6CF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346158" y="4227096"/>
            <a:ext cx="3630529" cy="155407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2EE28D-C382-4304-B9F1-C6222A9788EE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>
          <a:xfrm flipH="1" flipV="1">
            <a:off x="10323095" y="2550695"/>
            <a:ext cx="451184" cy="234415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913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BB5DE-2D63-4B91-B4BC-1319D9BC5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34" y="311996"/>
            <a:ext cx="2265947" cy="2265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E14E1D-34D8-4025-8744-76FF043F6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705" y="311997"/>
            <a:ext cx="2265947" cy="22659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B2AFC7-0CE5-4670-992E-95C03627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704" y="3724578"/>
            <a:ext cx="2265947" cy="22659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3371800-A1BE-49AA-A017-B75D68125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026" y="2072128"/>
            <a:ext cx="2265947" cy="2265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9BF705-C1EB-4554-9A4A-F96F96080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34" y="3728475"/>
            <a:ext cx="2265947" cy="22659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794AB2D-9D5C-45D0-9A08-0A36739200EA}"/>
              </a:ext>
            </a:extLst>
          </p:cNvPr>
          <p:cNvSpPr txBox="1"/>
          <p:nvPr/>
        </p:nvSpPr>
        <p:spPr>
          <a:xfrm>
            <a:off x="407781" y="6093121"/>
            <a:ext cx="113764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Si nous relions des ordinateurs entre eux, que formons-nous ?</a:t>
            </a:r>
          </a:p>
        </p:txBody>
      </p:sp>
    </p:spTree>
    <p:extLst>
      <p:ext uri="{BB962C8B-B14F-4D97-AF65-F5344CB8AC3E}">
        <p14:creationId xmlns:p14="http://schemas.microsoft.com/office/powerpoint/2010/main" val="3674802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A36F3-8446-4C4B-BC50-F8BB5A31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751" y="4074392"/>
            <a:ext cx="1303421" cy="1303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CB6C6-C1F2-462E-BD81-56F8B762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751" y="320540"/>
            <a:ext cx="1175084" cy="11750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6074EA-6594-4FBC-8CF2-F60A240A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472" y="1996940"/>
            <a:ext cx="1175084" cy="11750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13D8E1-D97C-4668-9081-23A93F2B9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751" y="3839776"/>
            <a:ext cx="1175084" cy="1175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642FE0-2FB4-48E2-A619-8BD60DFAD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67" y="320540"/>
            <a:ext cx="1175084" cy="117508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9840C0-D252-418C-A9B6-0F4252F906F6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 flipV="1">
            <a:off x="6894556" y="908082"/>
            <a:ext cx="3052011" cy="1676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6F26F5-81B1-4FF5-BCE2-D4D96DDE1007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6894556" y="2584482"/>
            <a:ext cx="3503195" cy="184283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E0B193-75ED-4D1A-A575-1BCE2FD686FB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2428835" y="900061"/>
            <a:ext cx="3290637" cy="168442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4C10F31-A5DE-446C-9AEC-63D00E05551A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 flipV="1">
            <a:off x="2557172" y="4427318"/>
            <a:ext cx="7840579" cy="29878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83037E3-C30F-4764-83C1-81811E282E1E}"/>
              </a:ext>
            </a:extLst>
          </p:cNvPr>
          <p:cNvCxnSpPr>
            <a:cxnSpLocks/>
            <a:stCxn id="8" idx="3"/>
            <a:endCxn id="22" idx="1"/>
          </p:cNvCxnSpPr>
          <p:nvPr/>
        </p:nvCxnSpPr>
        <p:spPr>
          <a:xfrm>
            <a:off x="2428835" y="908082"/>
            <a:ext cx="751773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710969-4856-4B87-A003-24F05F9BD80F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flipH="1" flipV="1">
            <a:off x="1841293" y="1495624"/>
            <a:ext cx="64169" cy="257876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03E0D96-5292-4BBC-AE43-D94B267E6CF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557172" y="3172025"/>
            <a:ext cx="3630529" cy="155407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2EE28D-C382-4304-B9F1-C6222A9788EE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>
          <a:xfrm flipH="1" flipV="1">
            <a:off x="10534109" y="1495624"/>
            <a:ext cx="451184" cy="234415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9B361E0-2837-4BE8-A307-84C2C59F4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24" y="-208306"/>
            <a:ext cx="2265947" cy="22659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D1BF79B-B359-4823-80B9-295331036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641" y="1477576"/>
            <a:ext cx="2265947" cy="2265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DD19F3-CB3F-4B3D-AE75-5B4E4911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885" y="3259175"/>
            <a:ext cx="2265947" cy="22659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F3CD5A-47BF-4D30-BBC6-6AAC47DD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3754" y="-23363"/>
            <a:ext cx="2265947" cy="22659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F59E774-7C24-41B5-9658-6090D97D5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785" y="3443736"/>
            <a:ext cx="2265947" cy="226594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0F8345E-5C04-49C6-BFD2-3A880E21AC55}"/>
              </a:ext>
            </a:extLst>
          </p:cNvPr>
          <p:cNvSpPr txBox="1"/>
          <p:nvPr/>
        </p:nvSpPr>
        <p:spPr>
          <a:xfrm>
            <a:off x="524597" y="5705949"/>
            <a:ext cx="114282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>
                <a:latin typeface="Georgia" panose="02040502050405020303" pitchFamily="18" charset="0"/>
              </a:rPr>
              <a:t>Qu’est-ce qu’un réseau informatique selon vous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>
                <a:latin typeface="Georgia" panose="02040502050405020303" pitchFamily="18" charset="0"/>
              </a:rPr>
              <a:t>Quels appareils peuvent être reliés dans un réseau informatique ?</a:t>
            </a:r>
          </a:p>
        </p:txBody>
      </p:sp>
    </p:spTree>
    <p:extLst>
      <p:ext uri="{BB962C8B-B14F-4D97-AF65-F5344CB8AC3E}">
        <p14:creationId xmlns:p14="http://schemas.microsoft.com/office/powerpoint/2010/main" val="2993724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A36F3-8446-4C4B-BC50-F8BB5A31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4332293"/>
            <a:ext cx="1303421" cy="1303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CB6C6-C1F2-462E-BD81-56F8B762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578441"/>
            <a:ext cx="1175084" cy="11750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6074EA-6594-4FBC-8CF2-F60A240A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458" y="2254841"/>
            <a:ext cx="1175084" cy="11750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13D8E1-D97C-4668-9081-23A93F2B9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737" y="4097677"/>
            <a:ext cx="1175084" cy="1175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642FE0-2FB4-48E2-A619-8BD60DFAD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553" y="578441"/>
            <a:ext cx="1175084" cy="117508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9840C0-D252-418C-A9B6-0F4252F906F6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 flipV="1">
            <a:off x="6683542" y="1165983"/>
            <a:ext cx="3052011" cy="1676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6F26F5-81B1-4FF5-BCE2-D4D96DDE1007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6683542" y="2842383"/>
            <a:ext cx="3503195" cy="184283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E0B193-75ED-4D1A-A575-1BCE2FD686FB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2217821" y="1157962"/>
            <a:ext cx="3290637" cy="168442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4C10F31-A5DE-446C-9AEC-63D00E05551A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 flipV="1">
            <a:off x="2346158" y="4685219"/>
            <a:ext cx="7840579" cy="29878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83037E3-C30F-4764-83C1-81811E282E1E}"/>
              </a:ext>
            </a:extLst>
          </p:cNvPr>
          <p:cNvCxnSpPr>
            <a:cxnSpLocks/>
            <a:stCxn id="8" idx="3"/>
            <a:endCxn id="22" idx="1"/>
          </p:cNvCxnSpPr>
          <p:nvPr/>
        </p:nvCxnSpPr>
        <p:spPr>
          <a:xfrm>
            <a:off x="2217821" y="1165983"/>
            <a:ext cx="751773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710969-4856-4B87-A003-24F05F9BD80F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flipH="1" flipV="1">
            <a:off x="1630279" y="1753525"/>
            <a:ext cx="64169" cy="257876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03E0D96-5292-4BBC-AE43-D94B267E6CF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346158" y="3429926"/>
            <a:ext cx="3630529" cy="155407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2EE28D-C382-4304-B9F1-C6222A9788EE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>
          <a:xfrm flipH="1" flipV="1">
            <a:off x="10323095" y="1753525"/>
            <a:ext cx="451184" cy="234415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9B361E0-2837-4BE8-A307-84C2C59F4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72" y="95173"/>
            <a:ext cx="2265947" cy="22659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D1BF79B-B359-4823-80B9-295331036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627" y="1735477"/>
            <a:ext cx="2265947" cy="2265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DD19F3-CB3F-4B3D-AE75-5B4E4911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871" y="3517076"/>
            <a:ext cx="2265947" cy="22659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F3CD5A-47BF-4D30-BBC6-6AAC47DD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945" y="-75274"/>
            <a:ext cx="2265947" cy="22659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290D71-F5B2-4AB3-A8E4-FA59A1A98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8224" y="-225048"/>
            <a:ext cx="1306198" cy="13061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6EB837-1AA0-4DB1-AD07-0CC2B2B65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171" y="377481"/>
            <a:ext cx="788502" cy="7885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C2FB3D-368D-4A7F-9750-F84343BC7F7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36280" y="4349259"/>
            <a:ext cx="987670" cy="9876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3C05B9D-B3B9-429B-B41C-423DAF7DBC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9" y="3570754"/>
            <a:ext cx="2265947" cy="226594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FDEF1A5-B176-490E-80F4-F66CFC47967C}"/>
              </a:ext>
            </a:extLst>
          </p:cNvPr>
          <p:cNvSpPr txBox="1"/>
          <p:nvPr/>
        </p:nvSpPr>
        <p:spPr>
          <a:xfrm>
            <a:off x="502319" y="5901023"/>
            <a:ext cx="10106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Qu’est-ce qui peut circuler dans un réseau informatique</a:t>
            </a:r>
          </a:p>
        </p:txBody>
      </p:sp>
    </p:spTree>
    <p:extLst>
      <p:ext uri="{BB962C8B-B14F-4D97-AF65-F5344CB8AC3E}">
        <p14:creationId xmlns:p14="http://schemas.microsoft.com/office/powerpoint/2010/main" val="2536512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EAC28F-62CC-4F1D-ADCB-D4ED82424D88}"/>
              </a:ext>
            </a:extLst>
          </p:cNvPr>
          <p:cNvCxnSpPr>
            <a:cxnSpLocks/>
          </p:cNvCxnSpPr>
          <p:nvPr/>
        </p:nvCxnSpPr>
        <p:spPr>
          <a:xfrm flipV="1">
            <a:off x="5831306" y="1047901"/>
            <a:ext cx="113296" cy="377197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A36F3-8446-4C4B-BC50-F8BB5A31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4168169"/>
            <a:ext cx="1303421" cy="1303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CB6C6-C1F2-462E-BD81-56F8B762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414317"/>
            <a:ext cx="1175084" cy="11750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13D8E1-D97C-4668-9081-23A93F2B9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553" y="4080321"/>
            <a:ext cx="1175084" cy="1175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642FE0-2FB4-48E2-A619-8BD60DFAD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553" y="414317"/>
            <a:ext cx="1175084" cy="1175084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710969-4856-4B87-A003-24F05F9BD80F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694448" y="1589401"/>
            <a:ext cx="113296" cy="257876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2EE28D-C382-4304-B9F1-C6222A9788EE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>
          <a:xfrm flipV="1">
            <a:off x="10323095" y="1589401"/>
            <a:ext cx="0" cy="249092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9B361E0-2837-4BE8-A307-84C2C59F4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05" y="243253"/>
            <a:ext cx="2265947" cy="2265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DD19F3-CB3F-4B3D-AE75-5B4E4911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119" y="-33367"/>
            <a:ext cx="2265947" cy="22659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F3CD5A-47BF-4D30-BBC6-6AAC47DD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229" y="489853"/>
            <a:ext cx="2265947" cy="22659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F59E774-7C24-41B5-9658-6090D97D5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61" y="3429000"/>
            <a:ext cx="2265947" cy="22659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E44AD93-C97E-406C-AF69-FC5D58F83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264" y="3279020"/>
            <a:ext cx="2265947" cy="226594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5C09657-1556-4875-A879-81F93F1D0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4578" y="3390744"/>
            <a:ext cx="2265947" cy="226594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93DAAAB-935B-4842-8AB3-07F26F500D1D}"/>
              </a:ext>
            </a:extLst>
          </p:cNvPr>
          <p:cNvSpPr txBox="1"/>
          <p:nvPr/>
        </p:nvSpPr>
        <p:spPr>
          <a:xfrm>
            <a:off x="703850" y="579117"/>
            <a:ext cx="244240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  <a:latin typeface="Roboto" panose="02000000000000000000" pitchFamily="2" charset="0"/>
              </a:rPr>
              <a:t>Or</a:t>
            </a:r>
            <a:r>
              <a:rPr lang="fr-FR" sz="66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1</a:t>
            </a:r>
            <a:endParaRPr lang="fr-FR" sz="28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C8181-8688-4FC7-B32D-6097F7F913A0}"/>
              </a:ext>
            </a:extLst>
          </p:cNvPr>
          <p:cNvSpPr txBox="1"/>
          <p:nvPr/>
        </p:nvSpPr>
        <p:spPr>
          <a:xfrm>
            <a:off x="9380504" y="398796"/>
            <a:ext cx="244240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  <a:latin typeface="Roboto" panose="02000000000000000000" pitchFamily="2" charset="0"/>
              </a:rPr>
              <a:t>Or3</a:t>
            </a:r>
            <a:endParaRPr lang="fr-FR" sz="28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FAC0FB-E113-48D7-A1F8-A40AE875C0F5}"/>
              </a:ext>
            </a:extLst>
          </p:cNvPr>
          <p:cNvSpPr txBox="1"/>
          <p:nvPr/>
        </p:nvSpPr>
        <p:spPr>
          <a:xfrm>
            <a:off x="4858428" y="822228"/>
            <a:ext cx="226594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  <a:latin typeface="Roboto" panose="02000000000000000000" pitchFamily="2" charset="0"/>
              </a:rPr>
              <a:t>Or2</a:t>
            </a:r>
            <a:endParaRPr lang="fr-FR" sz="28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3B3227-8E6C-44F5-B9B1-32D62BF9862A}"/>
              </a:ext>
            </a:extLst>
          </p:cNvPr>
          <p:cNvSpPr txBox="1"/>
          <p:nvPr/>
        </p:nvSpPr>
        <p:spPr>
          <a:xfrm>
            <a:off x="1" y="5559048"/>
            <a:ext cx="12192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Georgia" panose="02040502050405020303" pitchFamily="18" charset="0"/>
              </a:rPr>
              <a:t>On a réalisé un document texte dans l’ordinateur 2 et on veut l’imprimer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.</a:t>
            </a:r>
          </a:p>
          <a:p>
            <a:endParaRPr lang="fr-FR" dirty="0">
              <a:solidFill>
                <a:srgbClr val="000000"/>
              </a:solidFill>
              <a:latin typeface="Constantia" panose="0203060205030603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Georgia" panose="02040502050405020303" pitchFamily="18" charset="0"/>
              </a:rPr>
              <a:t>Comment procéder dans ce cas ?</a:t>
            </a:r>
          </a:p>
        </p:txBody>
      </p:sp>
    </p:spTree>
    <p:extLst>
      <p:ext uri="{BB962C8B-B14F-4D97-AF65-F5344CB8AC3E}">
        <p14:creationId xmlns:p14="http://schemas.microsoft.com/office/powerpoint/2010/main" val="816690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A36F3-8446-4C4B-BC50-F8BB5A31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4168169"/>
            <a:ext cx="1303421" cy="1303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9CB6C6-C1F2-462E-BD81-56F8B762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414317"/>
            <a:ext cx="1175084" cy="1175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642FE0-2FB4-48E2-A619-8BD60DFAD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553" y="414317"/>
            <a:ext cx="1175084" cy="1175084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710969-4856-4B87-A003-24F05F9BD80F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694448" y="1589401"/>
            <a:ext cx="113296" cy="257876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9B361E0-2837-4BE8-A307-84C2C59F4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05" y="243253"/>
            <a:ext cx="2265947" cy="2265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DD19F3-CB3F-4B3D-AE75-5B4E4911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119" y="-33367"/>
            <a:ext cx="2265947" cy="22659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F3CD5A-47BF-4D30-BBC6-6AAC47DD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229" y="489853"/>
            <a:ext cx="2265947" cy="22659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F59E774-7C24-41B5-9658-6090D97D5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61" y="3429000"/>
            <a:ext cx="2265947" cy="226594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93DAAAB-935B-4842-8AB3-07F26F500D1D}"/>
              </a:ext>
            </a:extLst>
          </p:cNvPr>
          <p:cNvSpPr txBox="1"/>
          <p:nvPr/>
        </p:nvSpPr>
        <p:spPr>
          <a:xfrm>
            <a:off x="703850" y="579117"/>
            <a:ext cx="244240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  <a:latin typeface="Roboto" panose="02000000000000000000" pitchFamily="2" charset="0"/>
              </a:rPr>
              <a:t>Or</a:t>
            </a:r>
            <a:r>
              <a:rPr lang="fr-FR" sz="66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1</a:t>
            </a:r>
            <a:endParaRPr lang="fr-FR" sz="28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C8181-8688-4FC7-B32D-6097F7F913A0}"/>
              </a:ext>
            </a:extLst>
          </p:cNvPr>
          <p:cNvSpPr txBox="1"/>
          <p:nvPr/>
        </p:nvSpPr>
        <p:spPr>
          <a:xfrm>
            <a:off x="9380504" y="398796"/>
            <a:ext cx="244240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  <a:latin typeface="Roboto" panose="02000000000000000000" pitchFamily="2" charset="0"/>
              </a:rPr>
              <a:t>Or3</a:t>
            </a:r>
            <a:endParaRPr lang="fr-FR" sz="28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FAC0FB-E113-48D7-A1F8-A40AE875C0F5}"/>
              </a:ext>
            </a:extLst>
          </p:cNvPr>
          <p:cNvSpPr txBox="1"/>
          <p:nvPr/>
        </p:nvSpPr>
        <p:spPr>
          <a:xfrm>
            <a:off x="4858428" y="822228"/>
            <a:ext cx="226594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  <a:latin typeface="Roboto" panose="02000000000000000000" pitchFamily="2" charset="0"/>
              </a:rPr>
              <a:t>Or2</a:t>
            </a:r>
            <a:endParaRPr lang="fr-FR" sz="28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31A75F-1D3E-445C-B43B-A0D3EDCF351F}"/>
              </a:ext>
            </a:extLst>
          </p:cNvPr>
          <p:cNvSpPr txBox="1"/>
          <p:nvPr/>
        </p:nvSpPr>
        <p:spPr>
          <a:xfrm>
            <a:off x="3363445" y="3819781"/>
            <a:ext cx="848388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Georgia" panose="02040502050405020303" pitchFamily="18" charset="0"/>
              </a:rPr>
              <a:t>On a réalisé un document texte dans l’ordinateur 2 et on veut l’imprimer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.</a:t>
            </a:r>
          </a:p>
          <a:p>
            <a:endParaRPr lang="fr-FR" sz="1800" b="0" i="0" u="none" strike="noStrike" dirty="0">
              <a:solidFill>
                <a:srgbClr val="000000"/>
              </a:solidFill>
              <a:effectLst/>
              <a:latin typeface="Constantia" panose="02030602050306030303" pitchFamily="18" charset="0"/>
            </a:endParaRPr>
          </a:p>
          <a:p>
            <a:endParaRPr lang="fr-FR" dirty="0">
              <a:solidFill>
                <a:srgbClr val="000000"/>
              </a:solidFill>
              <a:latin typeface="Constantia" panose="0203060205030603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Georgia" panose="02040502050405020303" pitchFamily="18" charset="0"/>
              </a:rPr>
              <a:t>Comment procéder dans ce cas ?</a:t>
            </a:r>
            <a:endParaRPr lang="fr-FR" b="1" dirty="0">
              <a:solidFill>
                <a:srgbClr val="000000"/>
              </a:solidFill>
              <a:latin typeface="Constantia" panose="02030602050306030303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5249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EAC28F-62CC-4F1D-ADCB-D4ED82424D88}"/>
              </a:ext>
            </a:extLst>
          </p:cNvPr>
          <p:cNvCxnSpPr>
            <a:cxnSpLocks/>
          </p:cNvCxnSpPr>
          <p:nvPr/>
        </p:nvCxnSpPr>
        <p:spPr>
          <a:xfrm flipV="1">
            <a:off x="5991401" y="1058061"/>
            <a:ext cx="0" cy="213061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9CB6C6-C1F2-462E-BD81-56F8B762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414317"/>
            <a:ext cx="1175084" cy="1175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642FE0-2FB4-48E2-A619-8BD60DFAD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553" y="414317"/>
            <a:ext cx="1175084" cy="1175084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710969-4856-4B87-A003-24F05F9BD80F}"/>
              </a:ext>
            </a:extLst>
          </p:cNvPr>
          <p:cNvCxnSpPr>
            <a:cxnSpLocks/>
          </p:cNvCxnSpPr>
          <p:nvPr/>
        </p:nvCxnSpPr>
        <p:spPr>
          <a:xfrm flipH="1" flipV="1">
            <a:off x="1807744" y="1589401"/>
            <a:ext cx="117310" cy="387355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2EE28D-C382-4304-B9F1-C6222A9788EE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10271760" y="1589401"/>
            <a:ext cx="51335" cy="164147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9B361E0-2837-4BE8-A307-84C2C59F4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05" y="243253"/>
            <a:ext cx="2265947" cy="2265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DD19F3-CB3F-4B3D-AE75-5B4E4911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2305" y="141"/>
            <a:ext cx="2265947" cy="22659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F3CD5A-47BF-4D30-BBC6-6AAC47DD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229" y="489853"/>
            <a:ext cx="2265947" cy="22659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F59E774-7C24-41B5-9658-6090D97D5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30" y="4016150"/>
            <a:ext cx="2265947" cy="226594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93DAAAB-935B-4842-8AB3-07F26F500D1D}"/>
              </a:ext>
            </a:extLst>
          </p:cNvPr>
          <p:cNvSpPr txBox="1"/>
          <p:nvPr/>
        </p:nvSpPr>
        <p:spPr>
          <a:xfrm>
            <a:off x="703850" y="579117"/>
            <a:ext cx="244240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  <a:latin typeface="Roboto" panose="02000000000000000000" pitchFamily="2" charset="0"/>
              </a:rPr>
              <a:t>Or</a:t>
            </a:r>
            <a:r>
              <a:rPr lang="fr-FR" sz="66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1</a:t>
            </a:r>
            <a:endParaRPr lang="fr-FR" sz="28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C8181-8688-4FC7-B32D-6097F7F913A0}"/>
              </a:ext>
            </a:extLst>
          </p:cNvPr>
          <p:cNvSpPr txBox="1"/>
          <p:nvPr/>
        </p:nvSpPr>
        <p:spPr>
          <a:xfrm>
            <a:off x="9380504" y="398796"/>
            <a:ext cx="244240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  <a:latin typeface="Roboto" panose="02000000000000000000" pitchFamily="2" charset="0"/>
              </a:rPr>
              <a:t>Or3</a:t>
            </a:r>
            <a:endParaRPr lang="fr-FR" sz="28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FAC0FB-E113-48D7-A1F8-A40AE875C0F5}"/>
              </a:ext>
            </a:extLst>
          </p:cNvPr>
          <p:cNvSpPr txBox="1"/>
          <p:nvPr/>
        </p:nvSpPr>
        <p:spPr>
          <a:xfrm>
            <a:off x="4858428" y="822228"/>
            <a:ext cx="226594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  <a:latin typeface="Roboto" panose="02000000000000000000" pitchFamily="2" charset="0"/>
              </a:rPr>
              <a:t>Or2</a:t>
            </a:r>
            <a:endParaRPr lang="fr-FR" sz="2800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5DA91E8-4155-4CC8-89EF-3BF3E8A40636}"/>
              </a:ext>
            </a:extLst>
          </p:cNvPr>
          <p:cNvCxnSpPr>
            <a:cxnSpLocks/>
          </p:cNvCxnSpPr>
          <p:nvPr/>
        </p:nvCxnSpPr>
        <p:spPr>
          <a:xfrm>
            <a:off x="1866399" y="3170784"/>
            <a:ext cx="8455693" cy="17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DB1B7A8-56DE-471B-96B2-75F725B7ED3F}"/>
              </a:ext>
            </a:extLst>
          </p:cNvPr>
          <p:cNvSpPr txBox="1"/>
          <p:nvPr/>
        </p:nvSpPr>
        <p:spPr>
          <a:xfrm>
            <a:off x="3339028" y="3669324"/>
            <a:ext cx="8483885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Georgia" panose="02040502050405020303" pitchFamily="18" charset="0"/>
              </a:rPr>
              <a:t>On a réalisé un document texte dans l’ordinateur 2 et on veut l’imprimer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.</a:t>
            </a:r>
          </a:p>
          <a:p>
            <a:endParaRPr lang="fr-FR" sz="1800" b="0" i="0" u="none" strike="noStrike" dirty="0">
              <a:solidFill>
                <a:srgbClr val="000000"/>
              </a:solidFill>
              <a:effectLst/>
              <a:latin typeface="Constantia" panose="02030602050306030303" pitchFamily="18" charset="0"/>
            </a:endParaRPr>
          </a:p>
          <a:p>
            <a:endParaRPr lang="fr-FR" dirty="0">
              <a:solidFill>
                <a:srgbClr val="000000"/>
              </a:solidFill>
              <a:latin typeface="Constantia" panose="0203060205030603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Georgia" panose="02040502050405020303" pitchFamily="18" charset="0"/>
              </a:rPr>
              <a:t>Comment procéder dans ce cas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Georgia" panose="02040502050405020303" pitchFamily="18" charset="0"/>
              </a:rPr>
              <a:t>Comparer le coût dans les trois cas.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latin typeface="Georgia" panose="02040502050405020303" pitchFamily="18" charset="0"/>
              </a:rPr>
              <a:t>Quels sont les avantages d’un réseau  ?</a:t>
            </a:r>
          </a:p>
          <a:p>
            <a:endParaRPr lang="fr-FR" dirty="0">
              <a:solidFill>
                <a:srgbClr val="000000"/>
              </a:solidFill>
              <a:latin typeface="Constantia" panose="02030602050306030303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2172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0" y="188949"/>
            <a:ext cx="12379570" cy="3099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II Réseau informatique </a:t>
            </a:r>
          </a:p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fr-FR" sz="2800" dirty="0">
                <a:latin typeface="Georgia" panose="02040502050405020303" pitchFamily="18" charset="0"/>
              </a:rPr>
              <a:t>Un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réseau informatique </a:t>
            </a:r>
            <a:r>
              <a:rPr lang="fr-FR" sz="2800" dirty="0">
                <a:latin typeface="Georgia" panose="02040502050405020303" pitchFamily="18" charset="0"/>
              </a:rPr>
              <a:t>est l’ensemble des moyens matériels et logiciels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reliés entre eux </a:t>
            </a:r>
            <a:r>
              <a:rPr lang="fr-FR" sz="2800" dirty="0">
                <a:latin typeface="Georgia" panose="02040502050405020303" pitchFamily="18" charset="0"/>
              </a:rPr>
              <a:t>afin de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communiquer</a:t>
            </a:r>
            <a:r>
              <a:rPr lang="fr-FR" sz="2800" dirty="0">
                <a:latin typeface="Georgia" panose="02040502050405020303" pitchFamily="18" charset="0"/>
              </a:rPr>
              <a:t>,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échanger</a:t>
            </a:r>
            <a:r>
              <a:rPr lang="fr-FR" sz="2800" dirty="0">
                <a:latin typeface="Georgia" panose="02040502050405020303" pitchFamily="18" charset="0"/>
              </a:rPr>
              <a:t> des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informations</a:t>
            </a:r>
            <a:r>
              <a:rPr lang="fr-FR" sz="2800" dirty="0">
                <a:latin typeface="Georgia" panose="02040502050405020303" pitchFamily="18" charset="0"/>
              </a:rPr>
              <a:t> et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partager des ressources</a:t>
            </a:r>
            <a:r>
              <a:rPr lang="fr-FR" sz="2800" dirty="0"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FD3F6-6C72-48E9-A110-2A9FDCD23BA6}"/>
              </a:ext>
            </a:extLst>
          </p:cNvPr>
          <p:cNvSpPr txBox="1"/>
          <p:nvPr/>
        </p:nvSpPr>
        <p:spPr>
          <a:xfrm>
            <a:off x="0" y="3511322"/>
            <a:ext cx="8417169" cy="323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480"/>
              </a:spcBef>
              <a:spcAft>
                <a:spcPts val="0"/>
              </a:spcAft>
            </a:pPr>
            <a:r>
              <a:rPr lang="fr-FR" sz="2800" b="1" dirty="0">
                <a:solidFill>
                  <a:schemeClr val="accent2"/>
                </a:solidFill>
                <a:latin typeface="Georgia" panose="02040502050405020303" pitchFamily="18" charset="0"/>
              </a:rPr>
              <a:t>Un réseau informatique sert à:</a:t>
            </a:r>
            <a:endParaRPr lang="fr-FR" sz="2800" dirty="0">
              <a:latin typeface="Georgia" panose="02040502050405020303" pitchFamily="18" charset="0"/>
            </a:endParaRPr>
          </a:p>
          <a:p>
            <a:pPr marL="742950" lvl="1" indent="-285750" rtl="0" fontAlgn="base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b="1" dirty="0">
                <a:latin typeface="Georgia" panose="02040502050405020303" pitchFamily="18" charset="0"/>
              </a:rPr>
              <a:t>Partager  des ressources</a:t>
            </a:r>
            <a:r>
              <a:rPr lang="fr-FR" sz="2800" dirty="0">
                <a:latin typeface="Georgia" panose="02040502050405020303" pitchFamily="18" charset="0"/>
              </a:rPr>
              <a:t>.</a:t>
            </a:r>
          </a:p>
          <a:p>
            <a:pPr marL="742950" lvl="1" indent="-285750" rtl="0" fontAlgn="base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b="1" dirty="0">
                <a:latin typeface="Georgia" panose="02040502050405020303" pitchFamily="18" charset="0"/>
              </a:rPr>
              <a:t>Communiquer</a:t>
            </a:r>
            <a:r>
              <a:rPr lang="fr-FR" sz="2800" dirty="0">
                <a:latin typeface="Georgia" panose="02040502050405020303" pitchFamily="18" charset="0"/>
              </a:rPr>
              <a:t> entre les membres du réseau.</a:t>
            </a:r>
          </a:p>
          <a:p>
            <a:pPr marL="742950" lvl="1" indent="-285750" rtl="0" fontAlgn="base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b="1" dirty="0">
                <a:latin typeface="Georgia" panose="02040502050405020303" pitchFamily="18" charset="0"/>
              </a:rPr>
              <a:t>Gagner du temps.</a:t>
            </a:r>
          </a:p>
          <a:p>
            <a:pPr marL="742950" lvl="1" indent="-285750" rtl="0" fontAlgn="base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b="1" dirty="0">
                <a:latin typeface="Georgia" panose="02040502050405020303" pitchFamily="18" charset="0"/>
              </a:rPr>
              <a:t>Réduire le cout d’équipement </a:t>
            </a:r>
          </a:p>
        </p:txBody>
      </p:sp>
    </p:spTree>
    <p:extLst>
      <p:ext uri="{BB962C8B-B14F-4D97-AF65-F5344CB8AC3E}">
        <p14:creationId xmlns:p14="http://schemas.microsoft.com/office/powerpoint/2010/main" val="376024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DDA3DA-4280-4C43-8C71-E88485235CEC}"/>
              </a:ext>
            </a:extLst>
          </p:cNvPr>
          <p:cNvSpPr txBox="1"/>
          <p:nvPr/>
        </p:nvSpPr>
        <p:spPr>
          <a:xfrm>
            <a:off x="281352" y="187568"/>
            <a:ext cx="77606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800" b="1" i="0" u="none" strike="noStrike" dirty="0">
                <a:solidFill>
                  <a:schemeClr val="accent2"/>
                </a:solidFill>
                <a:effectLst/>
                <a:latin typeface="Constantia" panose="02030602050306030303" pitchFamily="18" charset="0"/>
              </a:rPr>
              <a:t>Organisation d’un réseau informatique :</a:t>
            </a:r>
            <a:endParaRPr lang="fr-FR" sz="28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F6048-8D9B-4BD0-9E3F-F03002EC3A3E}"/>
              </a:ext>
            </a:extLst>
          </p:cNvPr>
          <p:cNvSpPr txBox="1"/>
          <p:nvPr/>
        </p:nvSpPr>
        <p:spPr>
          <a:xfrm>
            <a:off x="468920" y="980273"/>
            <a:ext cx="5462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Réseau poste à poste : (</a:t>
            </a: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P2P)</a:t>
            </a:r>
            <a:endParaRPr lang="fr-FR" sz="3200" b="1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8869FE-4429-4FE0-AB91-E1D47FFA1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876" y="1556591"/>
            <a:ext cx="5561609" cy="3744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8D5F59-AC4F-4064-83BC-32B5D4B623D8}"/>
              </a:ext>
            </a:extLst>
          </p:cNvPr>
          <p:cNvSpPr txBox="1"/>
          <p:nvPr/>
        </p:nvSpPr>
        <p:spPr>
          <a:xfrm>
            <a:off x="492369" y="5522876"/>
            <a:ext cx="116761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dirty="0">
                <a:latin typeface="Georgia" panose="02040502050405020303" pitchFamily="18" charset="0"/>
              </a:rPr>
              <a:t> Tous les ordinateurs sont égaux. Chacun reste indépendant, tout en mettant ces ressources à la disposition des autres.</a:t>
            </a:r>
          </a:p>
        </p:txBody>
      </p:sp>
    </p:spTree>
    <p:extLst>
      <p:ext uri="{BB962C8B-B14F-4D97-AF65-F5344CB8AC3E}">
        <p14:creationId xmlns:p14="http://schemas.microsoft.com/office/powerpoint/2010/main" val="261819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DDA3DA-4280-4C43-8C71-E88485235CEC}"/>
              </a:ext>
            </a:extLst>
          </p:cNvPr>
          <p:cNvSpPr txBox="1"/>
          <p:nvPr/>
        </p:nvSpPr>
        <p:spPr>
          <a:xfrm>
            <a:off x="281352" y="187568"/>
            <a:ext cx="77606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800" b="1" i="0" u="none" strike="noStrike" dirty="0">
                <a:solidFill>
                  <a:schemeClr val="accent2"/>
                </a:solidFill>
                <a:effectLst/>
                <a:latin typeface="Constantia" panose="02030602050306030303" pitchFamily="18" charset="0"/>
              </a:rPr>
              <a:t>Organisation d’un réseau informatique :</a:t>
            </a:r>
            <a:endParaRPr lang="fr-FR" sz="28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F6048-8D9B-4BD0-9E3F-F03002EC3A3E}"/>
              </a:ext>
            </a:extLst>
          </p:cNvPr>
          <p:cNvSpPr txBox="1"/>
          <p:nvPr/>
        </p:nvSpPr>
        <p:spPr>
          <a:xfrm>
            <a:off x="468920" y="980273"/>
            <a:ext cx="5462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Réseau Client/serveur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D5F59-AC4F-4064-83BC-32B5D4B623D8}"/>
              </a:ext>
            </a:extLst>
          </p:cNvPr>
          <p:cNvSpPr txBox="1"/>
          <p:nvPr/>
        </p:nvSpPr>
        <p:spPr>
          <a:xfrm>
            <a:off x="71509" y="4611231"/>
            <a:ext cx="116761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fr-FR" sz="2800" dirty="0">
                <a:latin typeface="Georgia" panose="02040502050405020303" pitchFamily="18" charset="0"/>
              </a:rPr>
              <a:t>Ce type de réseau présente une hiérarchie à deux niveau le:</a:t>
            </a:r>
          </a:p>
          <a:p>
            <a:pPr marL="457200" indent="-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Serveur : </a:t>
            </a:r>
            <a:r>
              <a:rPr lang="fr-FR" sz="2800" dirty="0">
                <a:latin typeface="Georgia" panose="02040502050405020303" pitchFamily="18" charset="0"/>
              </a:rPr>
              <a:t>c’est un ordinateur qui centralise les ressources partagées entre les ordinateurs du réseau.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Client : </a:t>
            </a:r>
            <a:r>
              <a:rPr lang="fr-FR" sz="2800" dirty="0">
                <a:latin typeface="Georgia" panose="02040502050405020303" pitchFamily="18" charset="0"/>
              </a:rPr>
              <a:t>c’est tous ordinateurs de réseau qui exploitent les ressources mises à disposition par le serveur.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A484C5-E87F-4C8D-8728-9BFAE084E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421" y="0"/>
            <a:ext cx="4501659" cy="452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31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0" y="328246"/>
            <a:ext cx="11993880" cy="3899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II- Réseau informatique </a:t>
            </a:r>
          </a:p>
          <a:p>
            <a:endParaRPr lang="fr-FR" sz="3600" dirty="0">
              <a:solidFill>
                <a:srgbClr val="F44336"/>
              </a:solidFill>
              <a:latin typeface="Roboto" panose="02000000000000000000" pitchFamily="2" charset="0"/>
            </a:endParaRPr>
          </a:p>
          <a:p>
            <a:endParaRPr lang="fr-FR" sz="3600" dirty="0">
              <a:solidFill>
                <a:srgbClr val="F44336"/>
              </a:solidFill>
              <a:latin typeface="Roboto" panose="02000000000000000000" pitchFamily="2" charset="0"/>
            </a:endParaRPr>
          </a:p>
          <a:p>
            <a:endParaRPr lang="fr-FR" sz="3600" dirty="0">
              <a:solidFill>
                <a:srgbClr val="F44336"/>
              </a:solidFill>
              <a:latin typeface="Roboto" panose="02000000000000000000" pitchFamily="2" charset="0"/>
            </a:endParaRPr>
          </a:p>
          <a:p>
            <a:pPr marL="457200" indent="-457200">
              <a:lnSpc>
                <a:spcPct val="2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Les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réseaux informatiques </a:t>
            </a:r>
            <a:r>
              <a:rPr lang="fr-FR" sz="2800" dirty="0">
                <a:latin typeface="Georgia" panose="02040502050405020303" pitchFamily="18" charset="0"/>
              </a:rPr>
              <a:t>peuvent être organisé selon deux principes :  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poste à poste </a:t>
            </a:r>
            <a:r>
              <a:rPr lang="fr-FR" sz="2800" dirty="0">
                <a:latin typeface="Georgia" panose="02040502050405020303" pitchFamily="18" charset="0"/>
              </a:rPr>
              <a:t>ou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client/serveur</a:t>
            </a:r>
            <a:r>
              <a:rPr lang="fr-FR" sz="2800" dirty="0">
                <a:latin typeface="Georgia" panose="02040502050405020303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56952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184666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97102-DA54-41E0-A025-2951AF64F92E}"/>
              </a:ext>
            </a:extLst>
          </p:cNvPr>
          <p:cNvSpPr txBox="1"/>
          <p:nvPr/>
        </p:nvSpPr>
        <p:spPr>
          <a:xfrm>
            <a:off x="903369" y="1722771"/>
            <a:ext cx="9833811" cy="360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/>
              <a:t>Q1. Qu’est-ce qu’un réseau ?</a:t>
            </a:r>
          </a:p>
          <a:p>
            <a:endParaRPr lang="fr-FR" sz="3600" b="1" dirty="0"/>
          </a:p>
          <a:p>
            <a:pPr lvl="2">
              <a:lnSpc>
                <a:spcPct val="150000"/>
              </a:lnSpc>
            </a:pPr>
            <a:r>
              <a:rPr lang="fr-FR" sz="3600" dirty="0"/>
              <a:t>a) Un seul ordinateur qui fonctionne seul</a:t>
            </a:r>
            <a:br>
              <a:rPr lang="fr-FR" sz="3600" dirty="0"/>
            </a:br>
            <a:r>
              <a:rPr lang="fr-FR" sz="3600" dirty="0"/>
              <a:t>b) Un ensemble d’éléments reliés entre eux</a:t>
            </a:r>
            <a:br>
              <a:rPr lang="fr-FR" sz="3600" dirty="0"/>
            </a:br>
            <a:r>
              <a:rPr lang="fr-FR" sz="3600" dirty="0"/>
              <a:t>c) Un câble électrique</a:t>
            </a:r>
          </a:p>
        </p:txBody>
      </p:sp>
    </p:spTree>
    <p:extLst>
      <p:ext uri="{BB962C8B-B14F-4D97-AF65-F5344CB8AC3E}">
        <p14:creationId xmlns:p14="http://schemas.microsoft.com/office/powerpoint/2010/main" val="2946752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184666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97102-DA54-41E0-A025-2951AF64F92E}"/>
              </a:ext>
            </a:extLst>
          </p:cNvPr>
          <p:cNvSpPr txBox="1"/>
          <p:nvPr/>
        </p:nvSpPr>
        <p:spPr>
          <a:xfrm>
            <a:off x="903369" y="1722771"/>
            <a:ext cx="9833811" cy="360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/>
              <a:t>Q1. Qu’est-ce qu’un réseau ?</a:t>
            </a:r>
          </a:p>
          <a:p>
            <a:endParaRPr lang="fr-FR" sz="3600" b="1" dirty="0"/>
          </a:p>
          <a:p>
            <a:pPr lvl="2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a) Un seul ordinateur qui fonctionne seul</a:t>
            </a:r>
            <a:br>
              <a:rPr lang="fr-FR" sz="3600" dirty="0"/>
            </a:br>
            <a:r>
              <a:rPr lang="fr-FR" sz="3600" b="1" dirty="0">
                <a:solidFill>
                  <a:schemeClr val="accent6"/>
                </a:solidFill>
              </a:rPr>
              <a:t>b) Un ensemble d’éléments reliés entre eux</a:t>
            </a:r>
            <a:br>
              <a:rPr lang="fr-FR" sz="3600" dirty="0"/>
            </a:br>
            <a:r>
              <a:rPr lang="fr-FR" sz="3600" dirty="0">
                <a:solidFill>
                  <a:srgbClr val="FF0000"/>
                </a:solidFill>
              </a:rPr>
              <a:t>c) Un câble électrique</a:t>
            </a:r>
          </a:p>
        </p:txBody>
      </p:sp>
    </p:spTree>
    <p:extLst>
      <p:ext uri="{BB962C8B-B14F-4D97-AF65-F5344CB8AC3E}">
        <p14:creationId xmlns:p14="http://schemas.microsoft.com/office/powerpoint/2010/main" val="309471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183229" y="1308493"/>
            <a:ext cx="11825539" cy="443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/>
              <a:t>Q2. Qu’est-ce qu’un réseau informatique ?</a:t>
            </a:r>
          </a:p>
          <a:p>
            <a:endParaRPr lang="fr-FR" sz="3600" b="1" dirty="0"/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/>
              <a:t>Un groupe d’ordinateurs posés sur une table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/>
              <a:t>Des ordinateurs reliés entre eux pour communiquer et partager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/>
              <a:t>Une imprimante seule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184666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</p:spTree>
    <p:extLst>
      <p:ext uri="{BB962C8B-B14F-4D97-AF65-F5344CB8AC3E}">
        <p14:creationId xmlns:p14="http://schemas.microsoft.com/office/powerpoint/2010/main" val="3057785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183229" y="1308493"/>
            <a:ext cx="11825539" cy="443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/>
              <a:t>Q2. Qu’est-ce qu’un réseau informatique ?</a:t>
            </a:r>
          </a:p>
          <a:p>
            <a:endParaRPr lang="fr-FR" sz="3600" b="1" dirty="0"/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>
                <a:solidFill>
                  <a:srgbClr val="FF0000"/>
                </a:solidFill>
              </a:rPr>
              <a:t>Un groupe d’ordinateurs posés sur une table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b="1" dirty="0">
                <a:solidFill>
                  <a:schemeClr val="accent6"/>
                </a:solidFill>
              </a:rPr>
              <a:t>Des ordinateurs reliés entre eux pour communiquer et partager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>
                <a:solidFill>
                  <a:srgbClr val="FF0000"/>
                </a:solidFill>
              </a:rPr>
              <a:t>Une imprimante seule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184666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</p:spTree>
    <p:extLst>
      <p:ext uri="{BB962C8B-B14F-4D97-AF65-F5344CB8AC3E}">
        <p14:creationId xmlns:p14="http://schemas.microsoft.com/office/powerpoint/2010/main" val="2562567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88414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97102-DA54-41E0-A025-2951AF64F92E}"/>
              </a:ext>
            </a:extLst>
          </p:cNvPr>
          <p:cNvSpPr txBox="1"/>
          <p:nvPr/>
        </p:nvSpPr>
        <p:spPr>
          <a:xfrm>
            <a:off x="417595" y="1486769"/>
            <a:ext cx="11879179" cy="388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/>
              <a:t>Q3. Dans un réseau informatique, on peut partager :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/>
              <a:t>Une imprimante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/>
              <a:t>Des fichiers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/>
              <a:t>Une connexion internet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/>
              <a:t>Toutes les réponses ci-dessus</a:t>
            </a:r>
          </a:p>
        </p:txBody>
      </p:sp>
    </p:spTree>
    <p:extLst>
      <p:ext uri="{BB962C8B-B14F-4D97-AF65-F5344CB8AC3E}">
        <p14:creationId xmlns:p14="http://schemas.microsoft.com/office/powerpoint/2010/main" val="2906933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88414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97102-DA54-41E0-A025-2951AF64F92E}"/>
              </a:ext>
            </a:extLst>
          </p:cNvPr>
          <p:cNvSpPr txBox="1"/>
          <p:nvPr/>
        </p:nvSpPr>
        <p:spPr>
          <a:xfrm>
            <a:off x="417595" y="1486769"/>
            <a:ext cx="11879179" cy="388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/>
              <a:t>Q3. Dans un réseau informatique, on peut partager :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/>
              <a:t>Une imprimante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/>
              <a:t>Des fichiers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/>
              <a:t>Une connexion internet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b="1" dirty="0">
                <a:solidFill>
                  <a:schemeClr val="accent6"/>
                </a:solidFill>
              </a:rPr>
              <a:t>Toutes les réponses ci-dessus</a:t>
            </a:r>
          </a:p>
        </p:txBody>
      </p:sp>
    </p:spTree>
    <p:extLst>
      <p:ext uri="{BB962C8B-B14F-4D97-AF65-F5344CB8AC3E}">
        <p14:creationId xmlns:p14="http://schemas.microsoft.com/office/powerpoint/2010/main" val="2418042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744954" y="1348270"/>
            <a:ext cx="10702090" cy="41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/>
              <a:t>Q4. Comment appelle-t-on un réseau où tous les ordinateurs sont égaux ?</a:t>
            </a:r>
          </a:p>
          <a:p>
            <a:endParaRPr lang="fr-FR" sz="3600" b="1" dirty="0"/>
          </a:p>
          <a:p>
            <a:pPr marL="1657350" lvl="2" indent="-742950">
              <a:lnSpc>
                <a:spcPct val="150000"/>
              </a:lnSpc>
              <a:buFontTx/>
              <a:buAutoNum type="alphaLcParenR"/>
            </a:pPr>
            <a:r>
              <a:rPr lang="fr-FR" sz="3600" dirty="0">
                <a:solidFill>
                  <a:srgbClr val="303030"/>
                </a:solidFill>
              </a:rPr>
              <a:t>Réseau poste à poste (P2P)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>
                <a:solidFill>
                  <a:srgbClr val="303030"/>
                </a:solidFill>
              </a:rPr>
              <a:t>Réseau client/serveur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>
                <a:solidFill>
                  <a:srgbClr val="303030"/>
                </a:solidFill>
              </a:rPr>
              <a:t>Réseau téléphonique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88414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</p:spTree>
    <p:extLst>
      <p:ext uri="{BB962C8B-B14F-4D97-AF65-F5344CB8AC3E}">
        <p14:creationId xmlns:p14="http://schemas.microsoft.com/office/powerpoint/2010/main" val="2977035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744954" y="1348270"/>
            <a:ext cx="10702090" cy="41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/>
              <a:t>Q4. Comment appelle-t-on un réseau où tous les ordinateurs sont égaux ?</a:t>
            </a:r>
          </a:p>
          <a:p>
            <a:endParaRPr lang="fr-FR" sz="3600" b="1" dirty="0"/>
          </a:p>
          <a:p>
            <a:pPr marL="1657350" lvl="2" indent="-742950">
              <a:lnSpc>
                <a:spcPct val="150000"/>
              </a:lnSpc>
              <a:buFontTx/>
              <a:buAutoNum type="alphaLcParenR"/>
            </a:pPr>
            <a:r>
              <a:rPr lang="fr-FR" sz="3600" b="1" dirty="0">
                <a:solidFill>
                  <a:srgbClr val="00B050"/>
                </a:solidFill>
              </a:rPr>
              <a:t>Réseau poste à poste (P2P)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>
                <a:solidFill>
                  <a:srgbClr val="FF0000"/>
                </a:solidFill>
              </a:rPr>
              <a:t>Réseau client/serveur</a:t>
            </a:r>
          </a:p>
          <a:p>
            <a:pPr marL="1657350" lvl="2" indent="-742950">
              <a:lnSpc>
                <a:spcPct val="150000"/>
              </a:lnSpc>
              <a:buAutoNum type="alphaLcParenR"/>
            </a:pPr>
            <a:r>
              <a:rPr lang="fr-FR" sz="3600" dirty="0">
                <a:solidFill>
                  <a:srgbClr val="FF0000"/>
                </a:solidFill>
              </a:rPr>
              <a:t>Réseau téléphonique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88414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</p:spTree>
    <p:extLst>
      <p:ext uri="{BB962C8B-B14F-4D97-AF65-F5344CB8AC3E}">
        <p14:creationId xmlns:p14="http://schemas.microsoft.com/office/powerpoint/2010/main" val="749734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2039</TotalTime>
  <Words>769</Words>
  <Application>Microsoft Office PowerPoint</Application>
  <PresentationFormat>Widescreen</PresentationFormat>
  <Paragraphs>131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Abadi</vt:lpstr>
      <vt:lpstr>Aldhabi</vt:lpstr>
      <vt:lpstr>Arial</vt:lpstr>
      <vt:lpstr>Calibri</vt:lpstr>
      <vt:lpstr>Calibri Light</vt:lpstr>
      <vt:lpstr>Comic Sans MS</vt:lpstr>
      <vt:lpstr>Constantia</vt:lpstr>
      <vt:lpstr>Georgia</vt:lpstr>
      <vt:lpstr>Poppins 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33</cp:revision>
  <dcterms:created xsi:type="dcterms:W3CDTF">2025-09-27T13:59:56Z</dcterms:created>
  <dcterms:modified xsi:type="dcterms:W3CDTF">2025-12-11T18:07:07Z</dcterms:modified>
</cp:coreProperties>
</file>