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375" r:id="rId3"/>
    <p:sldId id="376" r:id="rId4"/>
    <p:sldId id="382" r:id="rId5"/>
    <p:sldId id="377" r:id="rId6"/>
    <p:sldId id="378" r:id="rId7"/>
    <p:sldId id="379" r:id="rId8"/>
    <p:sldId id="380" r:id="rId9"/>
    <p:sldId id="381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Style clair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96" autoAdjust="0"/>
    <p:restoredTop sz="94660"/>
  </p:normalViewPr>
  <p:slideViewPr>
    <p:cSldViewPr snapToGrid="0">
      <p:cViewPr varScale="1">
        <p:scale>
          <a:sx n="47" d="100"/>
          <a:sy n="47" d="100"/>
        </p:scale>
        <p:origin x="77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C2482-C93C-4244-AF51-3DB508796362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E62455-04AA-4E95-B9B2-A90818A1A9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5587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45CCB-5575-4915-8C1B-AF300811F6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432EEA-B0D2-4264-A6E4-C44C4A43DC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062AE-E14D-4433-B380-F589D315C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FBAF7-F900-409F-9016-3D451D0BE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A68C1-8BF4-4941-8CEE-3B0ADE6AF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9686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60F18-502D-4669-862E-E90B49DD9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728C3-7358-4E8D-AC56-6F6BD7CDE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98E5B-A711-4AD3-A667-E08BCDE7D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E0DEF-7F51-4272-9853-FE98CC154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EB580-22DA-4E05-9302-889D5D1CF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1123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E5524-7CD6-4630-8442-EB8EDDC1A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90A93-F76E-4C77-802B-138664B35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B49C3-B9AB-4187-9458-329B32628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9F963-DAD1-4AE9-A44B-383323CE6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DAE04-0442-4F76-A695-AE6023F58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4111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701EC-2E2B-4695-813B-32B3D6CD6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4735C-B0E2-493B-8F46-B5BEA34942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D5345F-7F6C-40AB-B348-B2C93E4840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130901-C072-4F27-86CC-E5A2D7927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9704C2-85FC-485B-9C44-93D8D2F89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7B511E-3467-4D5C-9D73-330BF58BC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2623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203F7-38B9-4630-8191-00C52A85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AFDB5-37BF-41EE-8895-86DCD39D1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954FAF-60F7-4ADE-950E-655A384BC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4D5613-8287-45C3-8192-B9C8A6D5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E248F4-3BAC-43EB-8833-4E478AAA94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788022-E433-4644-BA19-F503335B3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3B30F1-B97E-4281-A6E9-57B6EC24B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1EB42D-9117-4E54-A38D-DB45087D6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012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2B2A7-F18D-4C6B-BD8E-BF46EE88A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37EDCC-5123-4AE8-BF11-654F3BCC2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2A4A97-B130-4692-B03F-971E67717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64C76B-1E98-43A9-B1D5-B63034445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3071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82417-F527-448A-9794-6CF109DB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52EF4A-43DC-4613-AF20-0142A6F8B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E6C80-7E1A-468D-B62E-8987E4748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3999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98DFB-B2AC-45FC-91D2-A85659631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13A0A-9A79-4A39-88E1-9D77DF948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937A17-546A-4540-B1B4-F294A2DBF7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222786-8D2A-4428-8D97-65DE0B60F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B40274-EB53-4A70-A935-BDEBE37C4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50857-6AD1-493C-8A20-938154040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6499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1B580-956D-4F97-B962-8CECC1942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42436C-199C-4F1B-9565-7B2E47956F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DF96C8-D863-42E5-87EC-3BA1E8BA8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3964B9-12AB-4197-BDE8-E4E0A8941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7B79E2-42F5-4375-9D6C-48E7EA31F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1EC6AC-83D2-4919-8889-A360D2BA4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8409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6535E-F29E-42D5-8A79-8D09B709B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E4B4F6-106E-495D-9DC4-ADD4A2377E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F8F2D-0F6B-4090-A2C7-779AB956D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EED53-D1A7-4DF7-84F8-C36D8F588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CEE6D-6A65-4F0D-A30D-3CF6A384B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2980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C65AA1-7AFC-443B-BEBD-FC51E7D314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0735DB-FF04-4066-95B5-FF76AF2CA0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BA17F-0728-4926-84C9-99FDDC078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68E41-355C-4DFC-802E-14218C77C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34FBE-4628-4841-980D-ADCB478C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8352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6000">
              <a:schemeClr val="accent1">
                <a:lumMod val="5000"/>
                <a:lumOff val="95000"/>
              </a:schemeClr>
            </a:gs>
            <a:gs pos="66000">
              <a:schemeClr val="accent6">
                <a:lumMod val="40000"/>
                <a:lumOff val="60000"/>
              </a:schemeClr>
            </a:gs>
            <a:gs pos="88000">
              <a:srgbClr val="92D050"/>
            </a:gs>
            <a:gs pos="100000">
              <a:srgbClr val="00B050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E17AC2-28D4-491D-B056-18C068D7F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73BF4A-EE80-452F-BC60-232217112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3F9CD-CCB9-41F7-9239-54CC4E26D8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00F80-408F-4B84-B5F8-B495062EFBE8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E1026-DBB6-4C08-A762-B54BBD5503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DA5D9-6CAC-431F-A708-1F826FC63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5172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CF7BC0F-EFCF-4BB1-96CA-DD8FF908BF60}"/>
              </a:ext>
            </a:extLst>
          </p:cNvPr>
          <p:cNvGrpSpPr/>
          <p:nvPr/>
        </p:nvGrpSpPr>
        <p:grpSpPr>
          <a:xfrm>
            <a:off x="0" y="1846580"/>
            <a:ext cx="12192000" cy="966034"/>
            <a:chOff x="0" y="1300071"/>
            <a:chExt cx="12192000" cy="1194211"/>
          </a:xfrm>
          <a:solidFill>
            <a:schemeClr val="accent6">
              <a:lumMod val="40000"/>
              <a:lumOff val="60000"/>
            </a:schemeClr>
          </a:solidFill>
        </p:grpSpPr>
        <p:grpSp>
          <p:nvGrpSpPr>
            <p:cNvPr id="6" name="Group 2">
              <a:extLst>
                <a:ext uri="{FF2B5EF4-FFF2-40B4-BE49-F238E27FC236}">
                  <a16:creationId xmlns:a16="http://schemas.microsoft.com/office/drawing/2014/main" id="{ACDAF367-CC7A-4EB5-A3DB-DE06FD2A39F5}"/>
                </a:ext>
              </a:extLst>
            </p:cNvPr>
            <p:cNvGrpSpPr/>
            <p:nvPr/>
          </p:nvGrpSpPr>
          <p:grpSpPr>
            <a:xfrm>
              <a:off x="0" y="1700568"/>
              <a:ext cx="12192000" cy="783552"/>
              <a:chOff x="0" y="0"/>
              <a:chExt cx="4988065" cy="385799"/>
            </a:xfrm>
            <a:grpFill/>
          </p:grpSpPr>
          <p:sp>
            <p:nvSpPr>
              <p:cNvPr id="7" name="Freeform 3">
                <a:extLst>
                  <a:ext uri="{FF2B5EF4-FFF2-40B4-BE49-F238E27FC236}">
                    <a16:creationId xmlns:a16="http://schemas.microsoft.com/office/drawing/2014/main" id="{C9279D21-0EF3-4140-AEB6-6BE58791B678}"/>
                  </a:ext>
                </a:extLst>
              </p:cNvPr>
              <p:cNvSpPr/>
              <p:nvPr/>
            </p:nvSpPr>
            <p:spPr>
              <a:xfrm>
                <a:off x="0" y="0"/>
                <a:ext cx="4988065" cy="385799"/>
              </a:xfrm>
              <a:custGeom>
                <a:avLst/>
                <a:gdLst/>
                <a:ahLst/>
                <a:cxnLst/>
                <a:rect l="l" t="t" r="r" b="b"/>
                <a:pathLst>
                  <a:path w="4988065" h="385799">
                    <a:moveTo>
                      <a:pt x="0" y="0"/>
                    </a:moveTo>
                    <a:lnTo>
                      <a:pt x="4988065" y="0"/>
                    </a:lnTo>
                    <a:lnTo>
                      <a:pt x="4988065" y="385799"/>
                    </a:lnTo>
                    <a:lnTo>
                      <a:pt x="0" y="385799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8" name="TextBox 4">
                <a:extLst>
                  <a:ext uri="{FF2B5EF4-FFF2-40B4-BE49-F238E27FC236}">
                    <a16:creationId xmlns:a16="http://schemas.microsoft.com/office/drawing/2014/main" id="{81BF4A2C-89F2-4CD5-A915-8702FCB0702B}"/>
                  </a:ext>
                </a:extLst>
              </p:cNvPr>
              <p:cNvSpPr txBox="1"/>
              <p:nvPr/>
            </p:nvSpPr>
            <p:spPr>
              <a:xfrm>
                <a:off x="0" y="28575"/>
                <a:ext cx="4988065" cy="357224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1"/>
                  </a:lnSpc>
                </a:pPr>
                <a:endParaRPr dirty="0"/>
              </a:p>
            </p:txBody>
          </p:sp>
        </p:grpSp>
        <p:sp>
          <p:nvSpPr>
            <p:cNvPr id="12" name="TextBox 9">
              <a:extLst>
                <a:ext uri="{FF2B5EF4-FFF2-40B4-BE49-F238E27FC236}">
                  <a16:creationId xmlns:a16="http://schemas.microsoft.com/office/drawing/2014/main" id="{84B50431-556A-4CB1-9245-727D28A61EC4}"/>
                </a:ext>
              </a:extLst>
            </p:cNvPr>
            <p:cNvSpPr txBox="1"/>
            <p:nvPr/>
          </p:nvSpPr>
          <p:spPr>
            <a:xfrm>
              <a:off x="40640" y="1300071"/>
              <a:ext cx="3639820" cy="11942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8743"/>
                </a:lnSpc>
                <a:spcBef>
                  <a:spcPct val="0"/>
                </a:spcBef>
              </a:pPr>
              <a:r>
                <a:rPr lang="en-US" sz="3600" b="1" dirty="0">
                  <a:latin typeface="Poppins Bold"/>
                  <a:ea typeface="Poppins Bold"/>
                  <a:cs typeface="Poppins Bold"/>
                  <a:sym typeface="Poppins Bold"/>
                </a:rPr>
                <a:t>INFORMATIQUE</a:t>
              </a:r>
            </a:p>
          </p:txBody>
        </p:sp>
      </p:grpSp>
      <p:sp>
        <p:nvSpPr>
          <p:cNvPr id="14" name="TextBox 11">
            <a:extLst>
              <a:ext uri="{FF2B5EF4-FFF2-40B4-BE49-F238E27FC236}">
                <a16:creationId xmlns:a16="http://schemas.microsoft.com/office/drawing/2014/main" id="{132FBDB5-A7F1-455A-B3AF-B3B12B5B321A}"/>
              </a:ext>
            </a:extLst>
          </p:cNvPr>
          <p:cNvSpPr txBox="1"/>
          <p:nvPr/>
        </p:nvSpPr>
        <p:spPr>
          <a:xfrm>
            <a:off x="165120" y="6321828"/>
            <a:ext cx="3257324" cy="5361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06"/>
              </a:lnSpc>
            </a:pPr>
            <a:r>
              <a:rPr lang="en-US" sz="3600" b="1" i="1" dirty="0">
                <a:solidFill>
                  <a:srgbClr val="000000"/>
                </a:solidFill>
                <a:latin typeface="Aldhabi" panose="01000000000000000000" pitchFamily="2" charset="-78"/>
                <a:ea typeface="Open Sans Bold"/>
                <a:cs typeface="Aldhabi" panose="01000000000000000000" pitchFamily="2" charset="-78"/>
                <a:sym typeface="Open Sans Bold"/>
              </a:rPr>
              <a:t>Pr. AMAHROUCH Ayoub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CF1809D-6695-4FB7-BD39-1610A39BD9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796" y="38909"/>
            <a:ext cx="9347139" cy="1276655"/>
          </a:xfrm>
          <a:prstGeom prst="rect">
            <a:avLst/>
          </a:prstGeom>
        </p:spPr>
      </p:pic>
      <p:sp>
        <p:nvSpPr>
          <p:cNvPr id="17" name="TextBox 10">
            <a:extLst>
              <a:ext uri="{FF2B5EF4-FFF2-40B4-BE49-F238E27FC236}">
                <a16:creationId xmlns:a16="http://schemas.microsoft.com/office/drawing/2014/main" id="{E6361432-DCD2-44DD-81A0-A091E3E123B7}"/>
              </a:ext>
            </a:extLst>
          </p:cNvPr>
          <p:cNvSpPr txBox="1"/>
          <p:nvPr/>
        </p:nvSpPr>
        <p:spPr>
          <a:xfrm>
            <a:off x="1108669" y="3012972"/>
            <a:ext cx="9856328" cy="32229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544"/>
              </a:lnSpc>
              <a:spcBef>
                <a:spcPct val="0"/>
              </a:spcBef>
            </a:pPr>
            <a:r>
              <a:rPr lang="fr-FR" sz="4800" b="1" i="1" dirty="0">
                <a:solidFill>
                  <a:schemeClr val="accent6">
                    <a:lumMod val="50000"/>
                  </a:schemeClr>
                </a:solidFill>
                <a:latin typeface="Comic Sans MS" panose="030F0702030302020204" pitchFamily="66" charset="0"/>
                <a:ea typeface="Poppins Bold"/>
                <a:cs typeface="Poppins Bold"/>
                <a:sym typeface="Poppins Bold"/>
              </a:rPr>
              <a:t>Saisie des données</a:t>
            </a:r>
          </a:p>
          <a:p>
            <a:pPr algn="ctr">
              <a:lnSpc>
                <a:spcPts val="8544"/>
              </a:lnSpc>
              <a:spcBef>
                <a:spcPct val="0"/>
              </a:spcBef>
            </a:pPr>
            <a:r>
              <a:rPr lang="fr-FR" sz="4800" b="1" i="1" dirty="0">
                <a:solidFill>
                  <a:schemeClr val="accent6">
                    <a:lumMod val="50000"/>
                  </a:schemeClr>
                </a:solidFill>
                <a:latin typeface="Comic Sans MS" panose="030F0702030302020204" pitchFamily="66" charset="0"/>
                <a:ea typeface="Poppins Bold"/>
                <a:cs typeface="Poppins Bold"/>
                <a:sym typeface="Poppins Bold"/>
              </a:rPr>
              <a:t>Déplacement et sélection dans une feuille de calcul</a:t>
            </a:r>
            <a:endParaRPr lang="en-US" sz="4800" b="1" i="1" dirty="0">
              <a:solidFill>
                <a:schemeClr val="accent6">
                  <a:lumMod val="50000"/>
                </a:schemeClr>
              </a:solidFill>
              <a:latin typeface="Comic Sans MS" panose="030F0702030302020204" pitchFamily="66" charset="0"/>
              <a:ea typeface="Poppins Bold"/>
              <a:cs typeface="Poppins Bold"/>
              <a:sym typeface="Poppins Bold"/>
            </a:endParaRP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5536A886-117E-4348-86DA-6A7D00A50486}"/>
              </a:ext>
            </a:extLst>
          </p:cNvPr>
          <p:cNvSpPr txBox="1"/>
          <p:nvPr/>
        </p:nvSpPr>
        <p:spPr>
          <a:xfrm>
            <a:off x="10975841" y="6306124"/>
            <a:ext cx="1283559" cy="5361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06"/>
              </a:lnSpc>
            </a:pPr>
            <a:r>
              <a:rPr lang="en-US" sz="3600" b="1" dirty="0">
                <a:solidFill>
                  <a:srgbClr val="000000"/>
                </a:solidFill>
                <a:latin typeface="Aldhabi" panose="01000000000000000000" pitchFamily="2" charset="-78"/>
                <a:ea typeface="Open Sans Bold"/>
                <a:cs typeface="Aldhabi" panose="01000000000000000000" pitchFamily="2" charset="-78"/>
                <a:sym typeface="Open Sans Bold"/>
              </a:rPr>
              <a:t>2025/2026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3287DA-EBB1-4397-850B-2D3B184FFFFC}"/>
              </a:ext>
            </a:extLst>
          </p:cNvPr>
          <p:cNvSpPr txBox="1"/>
          <p:nvPr/>
        </p:nvSpPr>
        <p:spPr>
          <a:xfrm>
            <a:off x="2364926" y="1277766"/>
            <a:ext cx="728285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solidFill>
                  <a:srgbClr val="303030"/>
                </a:solidFill>
                <a:latin typeface="Abadi" panose="020B0604020104020204" pitchFamily="34" charset="0"/>
              </a:rPr>
              <a:t>Académie Régionale de l'Éducation et de la Formation de Béni Mellal-</a:t>
            </a:r>
            <a:r>
              <a:rPr lang="fr-FR" sz="1600" dirty="0" err="1">
                <a:solidFill>
                  <a:srgbClr val="303030"/>
                </a:solidFill>
                <a:latin typeface="Abadi" panose="020B0604020104020204" pitchFamily="34" charset="0"/>
              </a:rPr>
              <a:t>Khénifra</a:t>
            </a:r>
            <a:endParaRPr lang="fr-FR" sz="1600" dirty="0">
              <a:solidFill>
                <a:srgbClr val="303030"/>
              </a:solidFill>
              <a:latin typeface="Abadi" panose="020B0604020104020204" pitchFamily="34" charset="0"/>
            </a:endParaRPr>
          </a:p>
          <a:p>
            <a:pPr algn="ctr"/>
            <a:r>
              <a:rPr lang="fr-FR" sz="1600" dirty="0">
                <a:solidFill>
                  <a:srgbClr val="303030"/>
                </a:solidFill>
                <a:latin typeface="Abadi" panose="020B0604020104020204" pitchFamily="34" charset="0"/>
              </a:rPr>
              <a:t>Direction Provinciale Khouribga</a:t>
            </a:r>
          </a:p>
          <a:p>
            <a:pPr algn="ctr"/>
            <a:r>
              <a:rPr lang="fr-FR" sz="1600" dirty="0">
                <a:solidFill>
                  <a:srgbClr val="303030"/>
                </a:solidFill>
                <a:latin typeface="Abadi" panose="020B0604020104020204" pitchFamily="34" charset="0"/>
              </a:rPr>
              <a:t>Collège Aït Ammar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D0C943-CF19-41F3-994D-661BA6C9A0AA}"/>
              </a:ext>
            </a:extLst>
          </p:cNvPr>
          <p:cNvSpPr txBox="1"/>
          <p:nvPr/>
        </p:nvSpPr>
        <p:spPr>
          <a:xfrm>
            <a:off x="0" y="2898278"/>
            <a:ext cx="26263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1800" b="1" i="0" u="none" strike="noStrike" dirty="0">
                <a:solidFill>
                  <a:srgbClr val="00B050"/>
                </a:solidFill>
                <a:effectLst/>
                <a:latin typeface="Calibri" panose="020F0502020204030204" pitchFamily="34" charset="0"/>
              </a:rPr>
              <a:t>Unité 3 :  LE TABLEUR. </a:t>
            </a:r>
          </a:p>
          <a:p>
            <a:r>
              <a:rPr lang="fr-FR" b="1" dirty="0">
                <a:solidFill>
                  <a:srgbClr val="00B050"/>
                </a:solidFill>
                <a:latin typeface="Calibri" panose="020F0502020204030204" pitchFamily="34" charset="0"/>
              </a:rPr>
              <a:t>Séquence 1 : </a:t>
            </a:r>
            <a:r>
              <a:rPr lang="en-US" b="1" dirty="0">
                <a:solidFill>
                  <a:srgbClr val="00B050"/>
                </a:solidFill>
                <a:latin typeface="Calibri" panose="020F0502020204030204" pitchFamily="34" charset="0"/>
                <a:sym typeface="Poppins Bold"/>
              </a:rPr>
              <a:t>Le </a:t>
            </a:r>
            <a:r>
              <a:rPr lang="en-US" b="1" dirty="0" err="1">
                <a:solidFill>
                  <a:srgbClr val="00B050"/>
                </a:solidFill>
                <a:latin typeface="Calibri" panose="020F0502020204030204" pitchFamily="34" charset="0"/>
                <a:sym typeface="Poppins Bold"/>
              </a:rPr>
              <a:t>tableur</a:t>
            </a:r>
            <a:r>
              <a:rPr lang="fr-FR" b="1" dirty="0">
                <a:solidFill>
                  <a:srgbClr val="00B050"/>
                </a:solidFill>
                <a:latin typeface="Calibri" panose="020F0502020204030204" pitchFamily="34" charset="0"/>
              </a:rPr>
              <a:t>. </a:t>
            </a:r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F694E9F3-D746-47AD-9FB5-A655E469CF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0491" y="2265627"/>
            <a:ext cx="2179812" cy="2179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5052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49EA-5B67-4AAA-B86D-F1B0C798D823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7172" name="AutoShape 4" descr="http://www.gelgabon.net/_/rsrc/1243686138086/materiels-et-logiciels/le-wifi/liaison-wifi-entre-2-PC.jpg"/>
          <p:cNvSpPr>
            <a:spLocks noChangeAspect="1" noChangeArrowheads="1"/>
          </p:cNvSpPr>
          <p:nvPr/>
        </p:nvSpPr>
        <p:spPr bwMode="auto">
          <a:xfrm>
            <a:off x="207434" y="-1790700"/>
            <a:ext cx="7683500" cy="37433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9" name="Espace réservé du contenu 18"/>
          <p:cNvSpPr>
            <a:spLocks noGrp="1"/>
          </p:cNvSpPr>
          <p:nvPr>
            <p:ph idx="1"/>
          </p:nvPr>
        </p:nvSpPr>
        <p:spPr>
          <a:xfrm>
            <a:off x="838200" y="899413"/>
            <a:ext cx="10972800" cy="1145241"/>
          </a:xfrm>
        </p:spPr>
        <p:txBody>
          <a:bodyPr>
            <a:normAutofit fontScale="85000" lnSpcReduction="10000"/>
          </a:bodyPr>
          <a:lstStyle/>
          <a:p>
            <a:r>
              <a:rPr lang="fr-FR" sz="2400" dirty="0" err="1">
                <a:latin typeface="+mj-lt"/>
              </a:rPr>
              <a:t>Basma</a:t>
            </a:r>
            <a:r>
              <a:rPr lang="fr-FR" sz="2400" dirty="0">
                <a:latin typeface="+mj-lt"/>
              </a:rPr>
              <a:t> et ses camarades ont décidé de faire des économies pour acheter des livres.</a:t>
            </a:r>
          </a:p>
          <a:p>
            <a:r>
              <a:rPr lang="fr-FR" sz="2400" dirty="0">
                <a:latin typeface="+mj-lt"/>
              </a:rPr>
              <a:t>Chaque élève verse une somme d’argent chaque mois.</a:t>
            </a:r>
          </a:p>
          <a:p>
            <a:r>
              <a:rPr lang="fr-FR" sz="2400" dirty="0" err="1">
                <a:latin typeface="+mj-lt"/>
              </a:rPr>
              <a:t>Basma</a:t>
            </a:r>
            <a:r>
              <a:rPr lang="fr-FR" sz="2400" dirty="0">
                <a:latin typeface="+mj-lt"/>
              </a:rPr>
              <a:t> a essayé d’organiser ces informations sur l’ordinateur, mais elle rencontre des difficultés.</a:t>
            </a:r>
          </a:p>
        </p:txBody>
      </p: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188456" y="132578"/>
            <a:ext cx="10972800" cy="489790"/>
          </a:xfrm>
        </p:spPr>
        <p:txBody>
          <a:bodyPr>
            <a:noAutofit/>
          </a:bodyPr>
          <a:lstStyle/>
          <a:p>
            <a:r>
              <a:rPr lang="fr-FR" sz="4000" b="1" dirty="0">
                <a:solidFill>
                  <a:schemeClr val="accent6">
                    <a:lumMod val="75000"/>
                  </a:schemeClr>
                </a:solidFill>
              </a:rPr>
              <a:t>Activité 1: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223476" y="2232644"/>
            <a:ext cx="534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Basma</a:t>
            </a:r>
            <a:r>
              <a:rPr lang="fr-FR" dirty="0"/>
              <a:t> a </a:t>
            </a:r>
            <a:r>
              <a:rPr lang="fr-FR" b="1" dirty="0"/>
              <a:t>écrit les données </a:t>
            </a:r>
            <a:r>
              <a:rPr lang="fr-FR" dirty="0"/>
              <a:t>comme ceci (</a:t>
            </a:r>
            <a:r>
              <a:rPr lang="fr-FR" b="1" dirty="0"/>
              <a:t>mal organisé</a:t>
            </a:r>
            <a:r>
              <a:rPr lang="fr-FR" dirty="0"/>
              <a:t>) :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96A4096-0684-453F-AAAC-531618DA7D70}"/>
              </a:ext>
            </a:extLst>
          </p:cNvPr>
          <p:cNvSpPr txBox="1"/>
          <p:nvPr/>
        </p:nvSpPr>
        <p:spPr>
          <a:xfrm>
            <a:off x="5791200" y="2131331"/>
            <a:ext cx="3914274" cy="1754326"/>
          </a:xfrm>
          <a:prstGeom prst="rect">
            <a:avLst/>
          </a:prstGeom>
          <a:solidFill>
            <a:schemeClr val="bg1"/>
          </a:solidFill>
          <a:ln w="28575">
            <a:solidFill>
              <a:srgbClr val="303030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 err="1"/>
              <a:t>Basma</a:t>
            </a:r>
            <a:r>
              <a:rPr lang="fr-FR" dirty="0"/>
              <a:t> 01/03/2026 10</a:t>
            </a:r>
            <a:br>
              <a:rPr lang="fr-FR" dirty="0"/>
            </a:br>
            <a:r>
              <a:rPr lang="fr-FR" dirty="0"/>
              <a:t>Zakaria 02/03/2026 15</a:t>
            </a:r>
          </a:p>
          <a:p>
            <a:r>
              <a:rPr lang="fr-FR" dirty="0"/>
              <a:t>Badr 03/03/2026 15</a:t>
            </a:r>
            <a:br>
              <a:rPr lang="fr-FR" dirty="0"/>
            </a:br>
            <a:r>
              <a:rPr lang="fr-FR" dirty="0"/>
              <a:t>Yassine 04/03/2026 12</a:t>
            </a:r>
            <a:br>
              <a:rPr lang="fr-FR" dirty="0"/>
            </a:br>
            <a:r>
              <a:rPr lang="fr-FR" dirty="0"/>
              <a:t>Rachid 05/03/2026 7</a:t>
            </a:r>
            <a:br>
              <a:rPr lang="fr-FR" dirty="0"/>
            </a:br>
            <a:r>
              <a:rPr lang="fr-FR" dirty="0"/>
              <a:t>Laila 06/03/2026 10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0F1C4EF-CC86-4A98-A814-6D51DE24CFB5}"/>
              </a:ext>
            </a:extLst>
          </p:cNvPr>
          <p:cNvSpPr txBox="1"/>
          <p:nvPr/>
        </p:nvSpPr>
        <p:spPr>
          <a:xfrm>
            <a:off x="223477" y="3152005"/>
            <a:ext cx="720602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</a:rPr>
              <a:t>Problèmes observés :</a:t>
            </a:r>
          </a:p>
          <a:p>
            <a:endParaRPr lang="fr-FR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i="1" dirty="0"/>
              <a:t>Les données ne sont pas organisées en tableau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i="1" dirty="0"/>
              <a:t>Il est difficile de lire les informations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i="1" dirty="0"/>
              <a:t>On ne peut pas facilement modifier ou comparer les données 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15201F16-3B25-4E09-8685-87B9102C01E3}"/>
              </a:ext>
            </a:extLst>
          </p:cNvPr>
          <p:cNvSpPr txBox="1"/>
          <p:nvPr/>
        </p:nvSpPr>
        <p:spPr>
          <a:xfrm>
            <a:off x="872269" y="4989787"/>
            <a:ext cx="11666661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Pourquoi les données de </a:t>
            </a:r>
            <a:r>
              <a:rPr kumimoji="0" lang="fr-FR" altLang="fr-FR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Basma</a:t>
            </a:r>
            <a:r>
              <a:rPr kumimoji="0" lang="fr-FR" altLang="fr-F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sont-elles difficiles à lire ?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Comment </a:t>
            </a:r>
            <a:r>
              <a:rPr kumimoji="0" lang="fr-FR" altLang="fr-F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organiser</a:t>
            </a:r>
            <a:r>
              <a:rPr kumimoji="0" lang="fr-FR" altLang="fr-F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ces informations correctement dans </a:t>
            </a:r>
            <a:r>
              <a:rPr kumimoji="0" lang="fr-FR" altLang="fr-F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Excel</a:t>
            </a:r>
            <a:r>
              <a:rPr kumimoji="0" lang="fr-FR" altLang="fr-F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?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220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Comment </a:t>
            </a:r>
            <a:r>
              <a:rPr kumimoji="0" lang="fr-FR" altLang="fr-FR" sz="22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saisir</a:t>
            </a:r>
            <a:r>
              <a:rPr kumimoji="0" lang="fr-FR" altLang="fr-FR" sz="220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et </a:t>
            </a:r>
            <a:r>
              <a:rPr kumimoji="0" lang="fr-FR" altLang="fr-FR" sz="22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manipuler</a:t>
            </a:r>
            <a:r>
              <a:rPr kumimoji="0" lang="fr-FR" altLang="fr-FR" sz="220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les données dans </a:t>
            </a:r>
            <a:r>
              <a:rPr kumimoji="0" lang="fr-FR" altLang="fr-FR" sz="22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les cellules </a:t>
            </a:r>
            <a:r>
              <a:rPr kumimoji="0" lang="fr-FR" altLang="fr-FR" sz="220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fr-FR" altLang="fr-FR" sz="22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écrire</a:t>
            </a:r>
            <a:r>
              <a:rPr kumimoji="0" lang="fr-FR" altLang="fr-FR" sz="220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fr-FR" altLang="fr-FR" sz="22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se déplacer, sélectionner</a:t>
            </a:r>
            <a:r>
              <a:rPr kumimoji="0" lang="fr-FR" altLang="fr-FR" sz="220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) ? </a:t>
            </a:r>
          </a:p>
        </p:txBody>
      </p:sp>
    </p:spTree>
    <p:extLst>
      <p:ext uri="{BB962C8B-B14F-4D97-AF65-F5344CB8AC3E}">
        <p14:creationId xmlns:p14="http://schemas.microsoft.com/office/powerpoint/2010/main" val="37661803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/>
      <p:bldP spid="11" grpId="0"/>
      <p:bldP spid="2" grpId="0" animBg="1"/>
      <p:bldP spid="16" grpId="0"/>
      <p:bldP spid="16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49EA-5B67-4AAA-B86D-F1B0C798D823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7172" name="AutoShape 4" descr="http://www.gelgabon.net/_/rsrc/1243686138086/materiels-et-logiciels/le-wifi/liaison-wifi-entre-2-PC.jpg"/>
          <p:cNvSpPr>
            <a:spLocks noChangeAspect="1" noChangeArrowheads="1"/>
          </p:cNvSpPr>
          <p:nvPr/>
        </p:nvSpPr>
        <p:spPr bwMode="auto">
          <a:xfrm>
            <a:off x="207434" y="-1790700"/>
            <a:ext cx="7683500" cy="37433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9" name="Espace réservé du contenu 18"/>
          <p:cNvSpPr>
            <a:spLocks noGrp="1"/>
          </p:cNvSpPr>
          <p:nvPr>
            <p:ph idx="1"/>
          </p:nvPr>
        </p:nvSpPr>
        <p:spPr>
          <a:xfrm>
            <a:off x="476211" y="1428736"/>
            <a:ext cx="10972800" cy="1071570"/>
          </a:xfrm>
        </p:spPr>
        <p:txBody>
          <a:bodyPr>
            <a:normAutofit/>
          </a:bodyPr>
          <a:lstStyle/>
          <a:p>
            <a:r>
              <a:rPr lang="fr-FR" sz="2400" dirty="0"/>
              <a:t>Pour commencer </a:t>
            </a:r>
            <a:r>
              <a:rPr lang="fr-FR" sz="2400" b="1" dirty="0"/>
              <a:t>la saisie</a:t>
            </a:r>
            <a:r>
              <a:rPr lang="fr-FR" sz="2400" dirty="0"/>
              <a:t> de vos </a:t>
            </a:r>
            <a:r>
              <a:rPr lang="fr-FR" sz="2400" i="1" dirty="0">
                <a:solidFill>
                  <a:schemeClr val="accent2">
                    <a:lumMod val="75000"/>
                  </a:schemeClr>
                </a:solidFill>
              </a:rPr>
              <a:t>données</a:t>
            </a:r>
            <a:r>
              <a:rPr lang="fr-FR" sz="2400" dirty="0"/>
              <a:t>, il suffit de </a:t>
            </a:r>
            <a:r>
              <a:rPr lang="fr-FR" sz="2400" b="1" dirty="0">
                <a:solidFill>
                  <a:srgbClr val="7030A0"/>
                </a:solidFill>
              </a:rPr>
              <a:t>cliquer sur une cellule </a:t>
            </a:r>
            <a:r>
              <a:rPr lang="fr-FR" sz="2400" dirty="0"/>
              <a:t>pour la rendre </a:t>
            </a:r>
            <a:r>
              <a:rPr lang="fr-FR" sz="2400" b="1" dirty="0"/>
              <a:t>active</a:t>
            </a:r>
            <a:r>
              <a:rPr lang="fr-FR" sz="2400" dirty="0"/>
              <a:t>.</a:t>
            </a:r>
          </a:p>
        </p:txBody>
      </p: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476211" y="571480"/>
            <a:ext cx="10972800" cy="489790"/>
          </a:xfrm>
        </p:spPr>
        <p:txBody>
          <a:bodyPr>
            <a:no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fr-FR" sz="4000" b="1" dirty="0">
                <a:solidFill>
                  <a:schemeClr val="accent6">
                    <a:lumMod val="75000"/>
                  </a:schemeClr>
                </a:solidFill>
              </a:rPr>
              <a:t>Saisir des données:</a:t>
            </a:r>
          </a:p>
        </p:txBody>
      </p:sp>
      <p:pic>
        <p:nvPicPr>
          <p:cNvPr id="2050" name="Picture 2" descr="Excel 2010 - Notion de classeur, feuille et cellu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9230" y="2429512"/>
            <a:ext cx="6853539" cy="3856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Connecteur : en arc 2">
            <a:extLst>
              <a:ext uri="{FF2B5EF4-FFF2-40B4-BE49-F238E27FC236}">
                <a16:creationId xmlns:a16="http://schemas.microsoft.com/office/drawing/2014/main" id="{ACB0A286-6BC6-4784-BAB9-EF6623888F8C}"/>
              </a:ext>
            </a:extLst>
          </p:cNvPr>
          <p:cNvCxnSpPr>
            <a:cxnSpLocks/>
          </p:cNvCxnSpPr>
          <p:nvPr/>
        </p:nvCxnSpPr>
        <p:spPr>
          <a:xfrm flipV="1">
            <a:off x="5394960" y="839826"/>
            <a:ext cx="1510665" cy="636549"/>
          </a:xfrm>
          <a:prstGeom prst="curvedConnector3">
            <a:avLst>
              <a:gd name="adj1" fmla="val -2585"/>
            </a:avLst>
          </a:prstGeom>
          <a:ln w="12700">
            <a:solidFill>
              <a:schemeClr val="accent2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07B5BD46-30FD-49DB-B436-CF3930DD2EE6}"/>
              </a:ext>
            </a:extLst>
          </p:cNvPr>
          <p:cNvSpPr txBox="1"/>
          <p:nvPr/>
        </p:nvSpPr>
        <p:spPr>
          <a:xfrm>
            <a:off x="6984713" y="655160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zm-Arab-MA" dirty="0">
                <a:solidFill>
                  <a:schemeClr val="accent2">
                    <a:lumMod val="75000"/>
                  </a:schemeClr>
                </a:solidFill>
              </a:rPr>
              <a:t>المعطيات</a:t>
            </a:r>
            <a:endParaRPr lang="fr-FR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0422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49EA-5B67-4AAA-B86D-F1B0C798D823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7172" name="AutoShape 4" descr="http://www.gelgabon.net/_/rsrc/1243686138086/materiels-et-logiciels/le-wifi/liaison-wifi-entre-2-PC.jpg"/>
          <p:cNvSpPr>
            <a:spLocks noChangeAspect="1" noChangeArrowheads="1"/>
          </p:cNvSpPr>
          <p:nvPr/>
        </p:nvSpPr>
        <p:spPr bwMode="auto">
          <a:xfrm>
            <a:off x="207434" y="-1790700"/>
            <a:ext cx="7683500" cy="37433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380960" y="357166"/>
            <a:ext cx="10972800" cy="489790"/>
          </a:xfrm>
        </p:spPr>
        <p:txBody>
          <a:bodyPr>
            <a:noAutofit/>
          </a:bodyPr>
          <a:lstStyle/>
          <a:p>
            <a:r>
              <a:rPr lang="fr-FR" sz="4000" b="1" dirty="0">
                <a:solidFill>
                  <a:schemeClr val="accent6">
                    <a:lumMod val="75000"/>
                  </a:schemeClr>
                </a:solidFill>
              </a:rPr>
              <a:t>Activité 1:</a:t>
            </a:r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794569"/>
              </p:ext>
            </p:extLst>
          </p:nvPr>
        </p:nvGraphicFramePr>
        <p:xfrm>
          <a:off x="1104867" y="1206187"/>
          <a:ext cx="6429408" cy="2222813"/>
        </p:xfrm>
        <a:graphic>
          <a:graphicData uri="http://schemas.openxmlformats.org/drawingml/2006/table">
            <a:tbl>
              <a:tblPr/>
              <a:tblGrid>
                <a:gridCol w="1607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3256">
                  <a:extLst>
                    <a:ext uri="{9D8B030D-6E8A-4147-A177-3AD203B41FA5}">
                      <a16:colId xmlns:a16="http://schemas.microsoft.com/office/drawing/2014/main" val="381114504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9743"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dirty="0"/>
                        <a:t>Prénom</a:t>
                      </a:r>
                    </a:p>
                  </a:txBody>
                  <a:tcPr marL="12700" marR="12700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dirty="0"/>
                        <a:t>Date</a:t>
                      </a:r>
                    </a:p>
                  </a:txBody>
                  <a:tcPr marL="12700" marR="12700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dirty="0"/>
                        <a:t>Montant</a:t>
                      </a:r>
                    </a:p>
                  </a:txBody>
                  <a:tcPr marL="12700" marR="12700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b="1" i="0" u="none" strike="noStrike" dirty="0" err="1">
                          <a:latin typeface="Arial"/>
                        </a:rPr>
                        <a:t>Basma</a:t>
                      </a:r>
                      <a:endParaRPr lang="fr-FR" sz="1800" b="1" i="0" u="none" strike="noStrike" dirty="0">
                        <a:latin typeface="Arial"/>
                      </a:endParaRPr>
                    </a:p>
                  </a:txBody>
                  <a:tcPr marL="12700" marR="12700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b="1" dirty="0"/>
                        <a:t>01/03/2026</a:t>
                      </a:r>
                      <a:endParaRPr lang="fr-FR" sz="1800" b="1" i="0" u="none" strike="noStrike" dirty="0">
                        <a:latin typeface="Arial"/>
                      </a:endParaRPr>
                    </a:p>
                  </a:txBody>
                  <a:tcPr marL="12700" marR="12700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 dirty="0">
                          <a:latin typeface="Arial"/>
                        </a:rPr>
                        <a:t>10</a:t>
                      </a:r>
                    </a:p>
                  </a:txBody>
                  <a:tcPr marL="12700" marR="12700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676"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b="1" i="0" u="none" strike="noStrike" dirty="0">
                          <a:latin typeface="Arial"/>
                        </a:rPr>
                        <a:t>Zakaria</a:t>
                      </a:r>
                    </a:p>
                  </a:txBody>
                  <a:tcPr marL="12700" marR="12700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02/03/2026</a:t>
                      </a:r>
                      <a:endParaRPr kumimoji="0" lang="fr-F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12700" marR="12700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 dirty="0">
                          <a:latin typeface="Arial"/>
                        </a:rPr>
                        <a:t>15</a:t>
                      </a:r>
                    </a:p>
                  </a:txBody>
                  <a:tcPr marL="12700" marR="12700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676"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b="1" i="0" u="none" strike="noStrike" dirty="0">
                          <a:latin typeface="Arial"/>
                        </a:rPr>
                        <a:t>Badr</a:t>
                      </a:r>
                    </a:p>
                  </a:txBody>
                  <a:tcPr marL="12700" marR="12700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03/03/2026</a:t>
                      </a:r>
                      <a:endParaRPr kumimoji="0" lang="fr-F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12700" marR="12700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 dirty="0">
                          <a:latin typeface="Arial"/>
                        </a:rPr>
                        <a:t>15</a:t>
                      </a:r>
                    </a:p>
                  </a:txBody>
                  <a:tcPr marL="12700" marR="12700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676"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b="1" i="0" u="none" strike="noStrike" dirty="0">
                          <a:latin typeface="Arial"/>
                        </a:rPr>
                        <a:t>Yassin</a:t>
                      </a:r>
                    </a:p>
                  </a:txBody>
                  <a:tcPr marL="12700" marR="12700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04/03/2026</a:t>
                      </a:r>
                      <a:endParaRPr kumimoji="0" lang="fr-F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12700" marR="12700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 dirty="0">
                          <a:latin typeface="Arial"/>
                        </a:rPr>
                        <a:t>12</a:t>
                      </a:r>
                    </a:p>
                  </a:txBody>
                  <a:tcPr marL="12700" marR="12700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676"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b="1" i="0" u="none" strike="noStrike" dirty="0">
                          <a:latin typeface="Arial"/>
                        </a:rPr>
                        <a:t>Rachid</a:t>
                      </a:r>
                    </a:p>
                  </a:txBody>
                  <a:tcPr marL="12700" marR="12700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05/03/2026</a:t>
                      </a:r>
                      <a:endParaRPr kumimoji="0" lang="fr-F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12700" marR="12700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 dirty="0">
                          <a:latin typeface="Arial"/>
                        </a:rPr>
                        <a:t>7</a:t>
                      </a:r>
                    </a:p>
                  </a:txBody>
                  <a:tcPr marL="12700" marR="12700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676"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b="1" i="0" u="none" strike="noStrike" dirty="0">
                          <a:latin typeface="Arial"/>
                        </a:rPr>
                        <a:t>Laila </a:t>
                      </a:r>
                    </a:p>
                  </a:txBody>
                  <a:tcPr marL="12700" marR="12700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06/03/2026</a:t>
                      </a:r>
                      <a:endParaRPr kumimoji="0" lang="fr-F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12700" marR="12700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 dirty="0">
                          <a:latin typeface="Arial"/>
                        </a:rPr>
                        <a:t>10</a:t>
                      </a:r>
                    </a:p>
                  </a:txBody>
                  <a:tcPr marL="12700" marR="12700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ZoneTexte 10"/>
          <p:cNvSpPr txBox="1"/>
          <p:nvPr/>
        </p:nvSpPr>
        <p:spPr>
          <a:xfrm>
            <a:off x="942942" y="3676561"/>
            <a:ext cx="1014415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rgbClr val="FF0000"/>
                </a:solidFill>
              </a:rPr>
              <a:t>Remarquez</a:t>
            </a:r>
            <a:r>
              <a:rPr lang="fr-FR" sz="2800" dirty="0"/>
              <a:t> </a:t>
            </a:r>
            <a:r>
              <a:rPr lang="fr-FR" sz="2800" b="1" dirty="0"/>
              <a:t>l’alignement</a:t>
            </a:r>
            <a:r>
              <a:rPr lang="fr-FR" sz="2800" dirty="0"/>
              <a:t> lors de </a:t>
            </a:r>
            <a:r>
              <a:rPr lang="fr-FR" sz="2800" b="1" dirty="0"/>
              <a:t>la saisie </a:t>
            </a:r>
            <a:r>
              <a:rPr lang="fr-FR" sz="2800" dirty="0"/>
              <a:t>d’une donnée:</a:t>
            </a:r>
          </a:p>
          <a:p>
            <a:r>
              <a:rPr lang="fr-FR" sz="2800" dirty="0"/>
              <a:t>	texte.</a:t>
            </a:r>
          </a:p>
          <a:p>
            <a:r>
              <a:rPr lang="fr-FR" sz="2800" dirty="0"/>
              <a:t>	Nombre.</a:t>
            </a:r>
          </a:p>
          <a:p>
            <a:r>
              <a:rPr lang="fr-FR" sz="2800" dirty="0"/>
              <a:t>	Date.</a:t>
            </a:r>
          </a:p>
        </p:txBody>
      </p:sp>
    </p:spTree>
    <p:extLst>
      <p:ext uri="{BB962C8B-B14F-4D97-AF65-F5344CB8AC3E}">
        <p14:creationId xmlns:p14="http://schemas.microsoft.com/office/powerpoint/2010/main" val="18271991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49EA-5B67-4AAA-B86D-F1B0C798D823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7172" name="AutoShape 4" descr="http://www.gelgabon.net/_/rsrc/1243686138086/materiels-et-logiciels/le-wifi/liaison-wifi-entre-2-PC.jpg"/>
          <p:cNvSpPr>
            <a:spLocks noChangeAspect="1" noChangeArrowheads="1"/>
          </p:cNvSpPr>
          <p:nvPr/>
        </p:nvSpPr>
        <p:spPr bwMode="auto">
          <a:xfrm>
            <a:off x="207434" y="-1790700"/>
            <a:ext cx="7683500" cy="37433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9" name="Espace réservé du contenu 18"/>
          <p:cNvSpPr>
            <a:spLocks noGrp="1"/>
          </p:cNvSpPr>
          <p:nvPr>
            <p:ph idx="1"/>
          </p:nvPr>
        </p:nvSpPr>
        <p:spPr>
          <a:xfrm>
            <a:off x="476210" y="1340248"/>
            <a:ext cx="11508355" cy="2179700"/>
          </a:xfrm>
        </p:spPr>
        <p:txBody>
          <a:bodyPr>
            <a:normAutofit/>
          </a:bodyPr>
          <a:lstStyle/>
          <a:p>
            <a:r>
              <a:rPr lang="fr-FR" sz="2400" dirty="0"/>
              <a:t>Un </a:t>
            </a:r>
            <a:r>
              <a:rPr lang="fr-FR" sz="2400" b="1" dirty="0"/>
              <a:t>texte</a:t>
            </a:r>
            <a:r>
              <a:rPr lang="fr-FR" sz="2400" dirty="0"/>
              <a:t> est toujours aligné </a:t>
            </a:r>
            <a:r>
              <a:rPr lang="fr-FR" sz="2400" b="1" dirty="0">
                <a:solidFill>
                  <a:srgbClr val="7030A0"/>
                </a:solidFill>
              </a:rPr>
              <a:t>à gauche</a:t>
            </a:r>
            <a:r>
              <a:rPr lang="fr-FR" sz="2400" dirty="0">
                <a:solidFill>
                  <a:srgbClr val="7030A0"/>
                </a:solidFill>
              </a:rPr>
              <a:t> </a:t>
            </a:r>
            <a:r>
              <a:rPr lang="fr-FR" sz="2400" dirty="0"/>
              <a:t>de la cellule par défaut, lors de la saisie.</a:t>
            </a:r>
          </a:p>
          <a:p>
            <a:r>
              <a:rPr lang="fr-FR" sz="2400" dirty="0"/>
              <a:t>Les </a:t>
            </a:r>
            <a:r>
              <a:rPr lang="fr-FR" sz="2400" b="1" dirty="0"/>
              <a:t>nombres</a:t>
            </a:r>
            <a:r>
              <a:rPr lang="fr-FR" sz="2400" dirty="0"/>
              <a:t>, les </a:t>
            </a:r>
            <a:r>
              <a:rPr lang="fr-FR" sz="2400" b="1" dirty="0"/>
              <a:t>dates</a:t>
            </a:r>
            <a:r>
              <a:rPr lang="fr-FR" sz="2400" dirty="0"/>
              <a:t> et les </a:t>
            </a:r>
            <a:r>
              <a:rPr lang="fr-FR" sz="2400" b="1" dirty="0"/>
              <a:t>heures</a:t>
            </a:r>
            <a:r>
              <a:rPr lang="fr-FR" sz="2400" dirty="0"/>
              <a:t> sont alignés </a:t>
            </a:r>
            <a:r>
              <a:rPr lang="fr-FR" sz="2400" b="1" dirty="0">
                <a:solidFill>
                  <a:srgbClr val="7030A0"/>
                </a:solidFill>
              </a:rPr>
              <a:t>à droite </a:t>
            </a:r>
            <a:r>
              <a:rPr lang="fr-FR" sz="2400" dirty="0"/>
              <a:t>de la cellule.</a:t>
            </a:r>
          </a:p>
          <a:p>
            <a:r>
              <a:rPr lang="fr-FR" sz="2400" dirty="0"/>
              <a:t>Une </a:t>
            </a:r>
            <a:r>
              <a:rPr lang="fr-FR" sz="2400" b="1" dirty="0"/>
              <a:t>donnée alphanumérique</a:t>
            </a:r>
            <a:r>
              <a:rPr lang="fr-FR" sz="2400" dirty="0"/>
              <a:t>, est considérée comme texte et elle sera alignée </a:t>
            </a:r>
            <a:r>
              <a:rPr lang="fr-FR" sz="2400" b="1" dirty="0">
                <a:solidFill>
                  <a:srgbClr val="7030A0"/>
                </a:solidFill>
              </a:rPr>
              <a:t>à gauche</a:t>
            </a:r>
            <a:r>
              <a:rPr lang="fr-FR" sz="2400" dirty="0">
                <a:solidFill>
                  <a:srgbClr val="7030A0"/>
                </a:solidFill>
              </a:rPr>
              <a:t> </a:t>
            </a:r>
            <a:r>
              <a:rPr lang="fr-FR" sz="2400" dirty="0"/>
              <a:t>de la cellule.</a:t>
            </a:r>
          </a:p>
          <a:p>
            <a:r>
              <a:rPr lang="fr-FR" sz="2400" dirty="0"/>
              <a:t>Si le texte </a:t>
            </a:r>
            <a:r>
              <a:rPr lang="fr-FR" sz="2400" b="1" dirty="0"/>
              <a:t>dépasse la largeur</a:t>
            </a:r>
            <a:r>
              <a:rPr lang="fr-FR" sz="2400" dirty="0"/>
              <a:t> de la colonne, alors il sera étendu sur </a:t>
            </a:r>
            <a:r>
              <a:rPr lang="fr-FR" sz="2400" b="1" dirty="0">
                <a:solidFill>
                  <a:srgbClr val="7030A0"/>
                </a:solidFill>
              </a:rPr>
              <a:t>la cellule voisine.</a:t>
            </a:r>
          </a:p>
        </p:txBody>
      </p: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476211" y="571480"/>
            <a:ext cx="10972800" cy="489790"/>
          </a:xfrm>
        </p:spPr>
        <p:txBody>
          <a:bodyPr>
            <a:no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fr-FR" sz="4000" b="1" dirty="0">
                <a:solidFill>
                  <a:schemeClr val="accent6">
                    <a:lumMod val="75000"/>
                  </a:schemeClr>
                </a:solidFill>
              </a:rPr>
              <a:t>Alignement des données: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9E54A87-FEB3-4FBD-B8F6-CB98F7999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77" y="3754331"/>
            <a:ext cx="8180803" cy="2967144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76D1451-CEC2-4E21-BEA6-949D2286D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2589" y="3784810"/>
            <a:ext cx="2743200" cy="2967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573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49EA-5B67-4AAA-B86D-F1B0C798D823}" type="slidenum">
              <a:rPr lang="fr-FR" smtClean="0"/>
              <a:pPr/>
              <a:t>6</a:t>
            </a:fld>
            <a:endParaRPr lang="fr-FR"/>
          </a:p>
        </p:txBody>
      </p:sp>
      <p:sp>
        <p:nvSpPr>
          <p:cNvPr id="7172" name="AutoShape 4" descr="http://www.gelgabon.net/_/rsrc/1243686138086/materiels-et-logiciels/le-wifi/liaison-wifi-entre-2-PC.jpg"/>
          <p:cNvSpPr>
            <a:spLocks noChangeAspect="1" noChangeArrowheads="1"/>
          </p:cNvSpPr>
          <p:nvPr/>
        </p:nvSpPr>
        <p:spPr bwMode="auto">
          <a:xfrm>
            <a:off x="207434" y="-1790700"/>
            <a:ext cx="7683500" cy="37433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9" name="Espace réservé du contenu 18"/>
          <p:cNvSpPr>
            <a:spLocks noGrp="1"/>
          </p:cNvSpPr>
          <p:nvPr>
            <p:ph idx="1"/>
          </p:nvPr>
        </p:nvSpPr>
        <p:spPr>
          <a:xfrm>
            <a:off x="381000" y="745648"/>
            <a:ext cx="10972800" cy="476266"/>
          </a:xfrm>
        </p:spPr>
        <p:txBody>
          <a:bodyPr>
            <a:normAutofit/>
          </a:bodyPr>
          <a:lstStyle/>
          <a:p>
            <a:r>
              <a:rPr lang="fr-FR" sz="2400" dirty="0">
                <a:latin typeface="+mj-lt"/>
              </a:rPr>
              <a:t>Le déplacement dans une feuille  de calcul se résume dans le tableau suivant:</a:t>
            </a:r>
          </a:p>
          <a:p>
            <a:endParaRPr lang="fr-FR" sz="2400" dirty="0">
              <a:latin typeface="+mj-lt"/>
            </a:endParaRPr>
          </a:p>
          <a:p>
            <a:endParaRPr lang="fr-FR" sz="2400" dirty="0">
              <a:latin typeface="+mj-lt"/>
            </a:endParaRPr>
          </a:p>
          <a:p>
            <a:pPr marL="0" indent="0">
              <a:buNone/>
            </a:pPr>
            <a:endParaRPr lang="fr-FR" sz="2400" dirty="0">
              <a:latin typeface="+mj-lt"/>
            </a:endParaRPr>
          </a:p>
          <a:p>
            <a:endParaRPr lang="fr-FR" sz="2400" dirty="0">
              <a:latin typeface="+mj-lt"/>
            </a:endParaRPr>
          </a:p>
        </p:txBody>
      </p: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304771" y="80962"/>
            <a:ext cx="10972800" cy="489790"/>
          </a:xfrm>
        </p:spPr>
        <p:txBody>
          <a:bodyPr>
            <a:no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fr-FR" sz="4000" b="1" dirty="0">
                <a:solidFill>
                  <a:schemeClr val="accent6">
                    <a:lumMod val="75000"/>
                  </a:schemeClr>
                </a:solidFill>
              </a:rPr>
              <a:t>déplacement: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CD2BB69-DF9C-4318-9A28-5027891855DF}"/>
              </a:ext>
            </a:extLst>
          </p:cNvPr>
          <p:cNvSpPr txBox="1"/>
          <p:nvPr/>
        </p:nvSpPr>
        <p:spPr>
          <a:xfrm>
            <a:off x="467784" y="4889528"/>
            <a:ext cx="10800291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fr-FR" sz="2400" dirty="0">
                <a:latin typeface="+mj-lt"/>
              </a:rPr>
              <a:t>Pour atteindre une cellule dans la feuille de calcul, on utilise </a:t>
            </a:r>
            <a:r>
              <a:rPr lang="fr-FR" sz="2400" b="1" dirty="0">
                <a:solidFill>
                  <a:srgbClr val="7030A0"/>
                </a:solidFill>
                <a:latin typeface="+mj-lt"/>
              </a:rPr>
              <a:t>la zone de Référence</a:t>
            </a:r>
          </a:p>
        </p:txBody>
      </p:sp>
      <p:graphicFrame>
        <p:nvGraphicFramePr>
          <p:cNvPr id="3" name="Tableau 3">
            <a:extLst>
              <a:ext uri="{FF2B5EF4-FFF2-40B4-BE49-F238E27FC236}">
                <a16:creationId xmlns:a16="http://schemas.microsoft.com/office/drawing/2014/main" id="{0FC8C5EE-44D2-4889-A6F2-A4F197269E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482246"/>
              </p:ext>
            </p:extLst>
          </p:nvPr>
        </p:nvGraphicFramePr>
        <p:xfrm>
          <a:off x="553509" y="1255780"/>
          <a:ext cx="10724064" cy="3500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1016">
                  <a:extLst>
                    <a:ext uri="{9D8B030D-6E8A-4147-A177-3AD203B41FA5}">
                      <a16:colId xmlns:a16="http://schemas.microsoft.com/office/drawing/2014/main" val="3948253328"/>
                    </a:ext>
                  </a:extLst>
                </a:gridCol>
                <a:gridCol w="2681016">
                  <a:extLst>
                    <a:ext uri="{9D8B030D-6E8A-4147-A177-3AD203B41FA5}">
                      <a16:colId xmlns:a16="http://schemas.microsoft.com/office/drawing/2014/main" val="1951803650"/>
                    </a:ext>
                  </a:extLst>
                </a:gridCol>
                <a:gridCol w="2681016">
                  <a:extLst>
                    <a:ext uri="{9D8B030D-6E8A-4147-A177-3AD203B41FA5}">
                      <a16:colId xmlns:a16="http://schemas.microsoft.com/office/drawing/2014/main" val="4116420242"/>
                    </a:ext>
                  </a:extLst>
                </a:gridCol>
                <a:gridCol w="2681016">
                  <a:extLst>
                    <a:ext uri="{9D8B030D-6E8A-4147-A177-3AD203B41FA5}">
                      <a16:colId xmlns:a16="http://schemas.microsoft.com/office/drawing/2014/main" val="141981084"/>
                    </a:ext>
                  </a:extLst>
                </a:gridCol>
              </a:tblGrid>
              <a:tr h="4375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 b="1" dirty="0"/>
                        <a:t>Touche</a:t>
                      </a:r>
                      <a:endParaRPr lang="fr-FR" sz="12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 b="1" dirty="0"/>
                        <a:t>Effet</a:t>
                      </a:r>
                      <a:endParaRPr lang="fr-FR" sz="12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 b="1" dirty="0"/>
                        <a:t>Touche</a:t>
                      </a:r>
                      <a:endParaRPr lang="fr-FR" sz="12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 b="1" dirty="0"/>
                        <a:t>Effet</a:t>
                      </a:r>
                      <a:endParaRPr lang="fr-FR" sz="12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904789"/>
                  </a:ext>
                </a:extLst>
              </a:tr>
              <a:tr h="4375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100" b="1" dirty="0">
                          <a:sym typeface="Wingdings"/>
                        </a:rPr>
                        <a:t></a:t>
                      </a:r>
                      <a:endParaRPr lang="fr-FR" sz="11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T="0" marB="0" anchor="ctr"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 dirty="0"/>
                        <a:t>Une cellule vers la droite</a:t>
                      </a:r>
                      <a:endParaRPr lang="fr-FR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100" dirty="0"/>
                        <a:t>Ctrl + </a:t>
                      </a:r>
                      <a:r>
                        <a:rPr lang="fr-FR" sz="1100" dirty="0">
                          <a:sym typeface="Wingdings"/>
                        </a:rPr>
                        <a:t></a:t>
                      </a:r>
                      <a:endParaRPr lang="fr-FR" sz="11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T="0" marB="0" anchor="ctr"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 dirty="0"/>
                        <a:t>La première ligne</a:t>
                      </a:r>
                      <a:endParaRPr lang="fr-FR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499306214"/>
                  </a:ext>
                </a:extLst>
              </a:tr>
              <a:tr h="4375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100" b="1" dirty="0">
                          <a:sym typeface="Wingdings"/>
                        </a:rPr>
                        <a:t></a:t>
                      </a:r>
                      <a:r>
                        <a:rPr lang="fr-FR" sz="1100" b="1" dirty="0"/>
                        <a:t> </a:t>
                      </a:r>
                      <a:endParaRPr lang="fr-FR" sz="11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T="0" marB="0" anchor="ctr"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 dirty="0"/>
                        <a:t>Une cellule vers la gauche</a:t>
                      </a:r>
                      <a:endParaRPr lang="fr-FR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100" dirty="0"/>
                        <a:t>Ctrl + </a:t>
                      </a:r>
                      <a:r>
                        <a:rPr lang="fr-FR" sz="1100" dirty="0">
                          <a:sym typeface="Wingdings"/>
                        </a:rPr>
                        <a:t></a:t>
                      </a:r>
                      <a:endParaRPr lang="fr-FR" sz="11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T="0" marB="0" anchor="ctr"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 dirty="0"/>
                        <a:t>La dernière ligne</a:t>
                      </a:r>
                      <a:endParaRPr lang="fr-FR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89336993"/>
                  </a:ext>
                </a:extLst>
              </a:tr>
              <a:tr h="4375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100" dirty="0">
                          <a:sym typeface="Wingdings"/>
                        </a:rPr>
                        <a:t></a:t>
                      </a:r>
                      <a:endParaRPr lang="fr-FR" sz="11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T="0" marB="0" anchor="ctr"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 dirty="0"/>
                        <a:t>Une cellule vers le haut</a:t>
                      </a:r>
                      <a:endParaRPr lang="fr-FR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100" dirty="0" err="1"/>
                        <a:t>PgUp</a:t>
                      </a:r>
                      <a:r>
                        <a:rPr lang="fr-FR" sz="1100" dirty="0"/>
                        <a:t> ou Fn + ↑</a:t>
                      </a:r>
                      <a:endParaRPr lang="fr-FR" sz="11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T="0" marB="0" anchor="ctr"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 dirty="0"/>
                        <a:t>Une page écran vers le haut</a:t>
                      </a:r>
                      <a:endParaRPr lang="fr-FR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66242272"/>
                  </a:ext>
                </a:extLst>
              </a:tr>
              <a:tr h="4375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100" dirty="0">
                          <a:sym typeface="Wingdings"/>
                        </a:rPr>
                        <a:t></a:t>
                      </a:r>
                      <a:endParaRPr lang="fr-FR" sz="11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T="0" marB="0" anchor="ctr"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 dirty="0"/>
                        <a:t>Une cellule vers le bas</a:t>
                      </a:r>
                      <a:endParaRPr lang="fr-FR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100" dirty="0" err="1"/>
                        <a:t>PgDn</a:t>
                      </a:r>
                      <a:r>
                        <a:rPr lang="fr-FR" sz="1100" dirty="0"/>
                        <a:t> ou Fn + ↓</a:t>
                      </a:r>
                      <a:endParaRPr lang="fr-FR" sz="11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T="0" marB="0" anchor="ctr"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 dirty="0"/>
                        <a:t>Une page écran vers le bas</a:t>
                      </a:r>
                      <a:endParaRPr lang="fr-FR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769549702"/>
                  </a:ext>
                </a:extLst>
              </a:tr>
              <a:tr h="4375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100"/>
                        <a:t>Home (</a:t>
                      </a:r>
                      <a:r>
                        <a:rPr lang="fr-FR" sz="1100">
                          <a:sym typeface="Wingdings"/>
                        </a:rPr>
                        <a:t></a:t>
                      </a:r>
                      <a:r>
                        <a:rPr lang="fr-FR" sz="1100"/>
                        <a:t>)</a:t>
                      </a:r>
                      <a:endParaRPr lang="fr-FR" sz="11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T="0" marB="0" anchor="ctr"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 dirty="0"/>
                        <a:t>Début de la ligne</a:t>
                      </a:r>
                      <a:endParaRPr lang="fr-FR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100" dirty="0"/>
                        <a:t>Alt + </a:t>
                      </a:r>
                      <a:r>
                        <a:rPr lang="fr-FR" sz="1100" dirty="0" err="1"/>
                        <a:t>PgUp</a:t>
                      </a:r>
                      <a:endParaRPr lang="fr-FR" sz="11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T="0" marB="0" anchor="ctr"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 dirty="0"/>
                        <a:t>Une page écran vers la gauche</a:t>
                      </a:r>
                      <a:endParaRPr lang="fr-FR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637456224"/>
                  </a:ext>
                </a:extLst>
              </a:tr>
              <a:tr h="4375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100" dirty="0"/>
                        <a:t>Ctrl + </a:t>
                      </a:r>
                      <a:r>
                        <a:rPr lang="fr-FR" sz="1100" dirty="0">
                          <a:sym typeface="Wingdings"/>
                        </a:rPr>
                        <a:t></a:t>
                      </a:r>
                      <a:endParaRPr lang="fr-FR" sz="11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T="0" marB="0" anchor="ctr"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 dirty="0"/>
                        <a:t>La dernière colonne</a:t>
                      </a:r>
                      <a:endParaRPr lang="fr-FR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100" dirty="0"/>
                        <a:t>Alt + </a:t>
                      </a:r>
                      <a:r>
                        <a:rPr lang="fr-FR" sz="1100" dirty="0" err="1"/>
                        <a:t>PgDn</a:t>
                      </a:r>
                      <a:endParaRPr lang="fr-FR" sz="11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T="0" marB="0" anchor="ctr"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 dirty="0"/>
                        <a:t>Une page écran vers la droite</a:t>
                      </a:r>
                      <a:endParaRPr lang="fr-FR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938649250"/>
                  </a:ext>
                </a:extLst>
              </a:tr>
              <a:tr h="4375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100" dirty="0"/>
                        <a:t>Ctrl + </a:t>
                      </a:r>
                      <a:r>
                        <a:rPr lang="fr-FR" sz="1100" dirty="0">
                          <a:sym typeface="Wingdings"/>
                        </a:rPr>
                        <a:t></a:t>
                      </a:r>
                      <a:endParaRPr lang="fr-FR" sz="11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T="0" marB="0" anchor="ctr"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 dirty="0"/>
                        <a:t>La première colonne</a:t>
                      </a:r>
                      <a:endParaRPr lang="fr-FR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100" dirty="0"/>
                        <a:t>Ctrl + Home</a:t>
                      </a:r>
                      <a:endParaRPr lang="fr-FR" sz="11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T="0" marB="0" anchor="ctr"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 dirty="0"/>
                        <a:t>Début de la feuille</a:t>
                      </a:r>
                      <a:endParaRPr lang="fr-FR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84862065"/>
                  </a:ext>
                </a:extLst>
              </a:tr>
            </a:tbl>
          </a:graphicData>
        </a:graphic>
      </p:graphicFrame>
      <p:pic>
        <p:nvPicPr>
          <p:cNvPr id="5" name="Image 4">
            <a:extLst>
              <a:ext uri="{FF2B5EF4-FFF2-40B4-BE49-F238E27FC236}">
                <a16:creationId xmlns:a16="http://schemas.microsoft.com/office/drawing/2014/main" id="{15B127AA-6A6F-49AB-BBBF-D4EBD4FB7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077" y="5447608"/>
            <a:ext cx="5927846" cy="823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0195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49EA-5B67-4AAA-B86D-F1B0C798D823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7172" name="AutoShape 4" descr="http://www.gelgabon.net/_/rsrc/1243686138086/materiels-et-logiciels/le-wifi/liaison-wifi-entre-2-PC.jpg"/>
          <p:cNvSpPr>
            <a:spLocks noChangeAspect="1" noChangeArrowheads="1"/>
          </p:cNvSpPr>
          <p:nvPr/>
        </p:nvSpPr>
        <p:spPr bwMode="auto">
          <a:xfrm>
            <a:off x="207434" y="-1790700"/>
            <a:ext cx="7683500" cy="37433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9" name="Espace réservé du contenu 18"/>
          <p:cNvSpPr>
            <a:spLocks noGrp="1"/>
          </p:cNvSpPr>
          <p:nvPr>
            <p:ph idx="1"/>
          </p:nvPr>
        </p:nvSpPr>
        <p:spPr>
          <a:xfrm>
            <a:off x="476211" y="1428736"/>
            <a:ext cx="10972800" cy="492761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400" dirty="0"/>
              <a:t>D’abord</a:t>
            </a:r>
            <a:r>
              <a:rPr lang="fr-FR" sz="2400" b="1" dirty="0">
                <a:solidFill>
                  <a:srgbClr val="7030A0"/>
                </a:solidFill>
              </a:rPr>
              <a:t>, la sélection</a:t>
            </a:r>
            <a:r>
              <a:rPr lang="fr-FR" sz="2400" dirty="0"/>
              <a:t> est </a:t>
            </a:r>
            <a:r>
              <a:rPr lang="fr-FR" sz="2400" b="1" dirty="0"/>
              <a:t>obligatoire</a:t>
            </a:r>
            <a:r>
              <a:rPr lang="fr-FR" sz="2400" dirty="0"/>
              <a:t> pour agir sur une ou plusieurs cellules.</a:t>
            </a:r>
          </a:p>
          <a:p>
            <a:pPr marL="0" indent="0">
              <a:buNone/>
            </a:pPr>
            <a:endParaRPr lang="fr-FR" sz="2400" dirty="0"/>
          </a:p>
          <a:p>
            <a:r>
              <a:rPr lang="fr-FR" sz="2400" dirty="0"/>
              <a:t>Sélection </a:t>
            </a:r>
            <a:r>
              <a:rPr lang="fr-FR" sz="2400" b="1" dirty="0"/>
              <a:t>d’une colonne </a:t>
            </a:r>
            <a:r>
              <a:rPr lang="fr-FR" sz="2400" dirty="0"/>
              <a:t>entière: clique sur </a:t>
            </a:r>
            <a:r>
              <a:rPr lang="fr-FR" sz="2400" b="1" dirty="0">
                <a:solidFill>
                  <a:srgbClr val="7030A0"/>
                </a:solidFill>
              </a:rPr>
              <a:t>la lettre </a:t>
            </a:r>
            <a:r>
              <a:rPr lang="fr-FR" sz="2400" dirty="0"/>
              <a:t>de la colonne.</a:t>
            </a:r>
          </a:p>
          <a:p>
            <a:endParaRPr lang="fr-FR" sz="2400" dirty="0"/>
          </a:p>
          <a:p>
            <a:r>
              <a:rPr lang="fr-FR" sz="2400" dirty="0"/>
              <a:t>Sélection </a:t>
            </a:r>
            <a:r>
              <a:rPr lang="fr-FR" sz="2400" b="1" dirty="0"/>
              <a:t>d’une ligne </a:t>
            </a:r>
            <a:r>
              <a:rPr lang="fr-FR" sz="2400" dirty="0"/>
              <a:t>entière: clique sur </a:t>
            </a:r>
            <a:r>
              <a:rPr lang="fr-FR" sz="2400" b="1" dirty="0">
                <a:solidFill>
                  <a:srgbClr val="7030A0"/>
                </a:solidFill>
              </a:rPr>
              <a:t>le numéro </a:t>
            </a:r>
            <a:r>
              <a:rPr lang="fr-FR" sz="2400" dirty="0"/>
              <a:t>de la ligne</a:t>
            </a:r>
          </a:p>
          <a:p>
            <a:endParaRPr lang="fr-FR" sz="2400" dirty="0"/>
          </a:p>
          <a:p>
            <a:r>
              <a:rPr lang="fr-FR" sz="2400" dirty="0"/>
              <a:t>Sélection de </a:t>
            </a:r>
            <a:r>
              <a:rPr lang="fr-FR" sz="2400" b="1" dirty="0"/>
              <a:t>toute la feuille</a:t>
            </a:r>
            <a:r>
              <a:rPr lang="fr-FR" sz="2400" dirty="0"/>
              <a:t>: clique sur </a:t>
            </a:r>
            <a:r>
              <a:rPr lang="fr-FR" sz="2400" b="1" dirty="0"/>
              <a:t>le bouton </a:t>
            </a:r>
            <a:r>
              <a:rPr lang="fr-FR" sz="2400" dirty="0"/>
              <a:t>situé dans </a:t>
            </a:r>
            <a:r>
              <a:rPr lang="fr-FR" sz="2400" b="1" dirty="0">
                <a:solidFill>
                  <a:srgbClr val="7030A0"/>
                </a:solidFill>
              </a:rPr>
              <a:t>le coin haut gauche </a:t>
            </a:r>
            <a:r>
              <a:rPr lang="fr-FR" sz="2400" dirty="0"/>
              <a:t>de la feuille.</a:t>
            </a:r>
          </a:p>
          <a:p>
            <a:endParaRPr lang="fr-FR" sz="2400" dirty="0"/>
          </a:p>
          <a:p>
            <a:r>
              <a:rPr lang="fr-FR" sz="2400" dirty="0"/>
              <a:t>Sélection </a:t>
            </a:r>
            <a:r>
              <a:rPr lang="fr-FR" sz="2400" b="1" dirty="0"/>
              <a:t>continue de cellules</a:t>
            </a:r>
            <a:r>
              <a:rPr lang="fr-FR" sz="2400" dirty="0"/>
              <a:t>: </a:t>
            </a:r>
            <a:r>
              <a:rPr lang="fr-FR" sz="2400" b="1" dirty="0">
                <a:solidFill>
                  <a:srgbClr val="7030A0"/>
                </a:solidFill>
              </a:rPr>
              <a:t>un clic</a:t>
            </a:r>
            <a:r>
              <a:rPr lang="fr-FR" sz="2400" b="1" dirty="0"/>
              <a:t> </a:t>
            </a:r>
            <a:r>
              <a:rPr lang="fr-FR" sz="2400" dirty="0"/>
              <a:t>sur la première cellule </a:t>
            </a:r>
            <a:r>
              <a:rPr lang="fr-FR" sz="2400" b="1" dirty="0">
                <a:solidFill>
                  <a:srgbClr val="7030A0"/>
                </a:solidFill>
              </a:rPr>
              <a:t>sans relâcher </a:t>
            </a:r>
            <a:r>
              <a:rPr lang="fr-FR" sz="2400" dirty="0"/>
              <a:t>le bouton gauche de la souris dans la direction de la sélection.</a:t>
            </a:r>
          </a:p>
        </p:txBody>
      </p: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476211" y="571480"/>
            <a:ext cx="10972800" cy="489790"/>
          </a:xfrm>
        </p:spPr>
        <p:txBody>
          <a:bodyPr>
            <a:no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fr-FR" sz="4000" b="1" dirty="0">
                <a:solidFill>
                  <a:schemeClr val="accent6">
                    <a:lumMod val="75000"/>
                  </a:schemeClr>
                </a:solidFill>
              </a:rPr>
              <a:t>Sélectionner des cellules: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7C8227F-AE19-4438-9337-C62D57CBD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267" y="4557665"/>
            <a:ext cx="695422" cy="6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3381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49EA-5B67-4AAA-B86D-F1B0C798D823}" type="slidenum">
              <a:rPr lang="fr-FR" smtClean="0"/>
              <a:pPr/>
              <a:t>8</a:t>
            </a:fld>
            <a:endParaRPr lang="fr-FR"/>
          </a:p>
        </p:txBody>
      </p:sp>
      <p:sp>
        <p:nvSpPr>
          <p:cNvPr id="7172" name="AutoShape 4" descr="http://www.gelgabon.net/_/rsrc/1243686138086/materiels-et-logiciels/le-wifi/liaison-wifi-entre-2-PC.jpg"/>
          <p:cNvSpPr>
            <a:spLocks noChangeAspect="1" noChangeArrowheads="1"/>
          </p:cNvSpPr>
          <p:nvPr/>
        </p:nvSpPr>
        <p:spPr bwMode="auto">
          <a:xfrm>
            <a:off x="207434" y="-1790700"/>
            <a:ext cx="7683500" cy="37433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9" name="Espace réservé du contenu 18"/>
          <p:cNvSpPr>
            <a:spLocks noGrp="1"/>
          </p:cNvSpPr>
          <p:nvPr>
            <p:ph idx="1"/>
          </p:nvPr>
        </p:nvSpPr>
        <p:spPr>
          <a:xfrm>
            <a:off x="476211" y="1428736"/>
            <a:ext cx="6040201" cy="4357718"/>
          </a:xfrm>
        </p:spPr>
        <p:txBody>
          <a:bodyPr>
            <a:normAutofit/>
          </a:bodyPr>
          <a:lstStyle/>
          <a:p>
            <a:r>
              <a:rPr lang="fr-FR" sz="2200" dirty="0"/>
              <a:t>Pour modifier le contenu d’une cellule:</a:t>
            </a:r>
          </a:p>
          <a:p>
            <a:pPr lvl="1"/>
            <a:r>
              <a:rPr lang="fr-FR" sz="2200" b="1" dirty="0"/>
              <a:t>Sélectionne</a:t>
            </a:r>
            <a:r>
              <a:rPr lang="fr-FR" sz="2200" dirty="0"/>
              <a:t> la cellule</a:t>
            </a:r>
          </a:p>
          <a:p>
            <a:pPr lvl="1"/>
            <a:r>
              <a:rPr lang="fr-FR" sz="2200" dirty="0"/>
              <a:t>Modifier le contenu à partir de </a:t>
            </a:r>
            <a:r>
              <a:rPr lang="fr-FR" sz="2200" b="1" dirty="0">
                <a:solidFill>
                  <a:srgbClr val="7030A0"/>
                </a:solidFill>
              </a:rPr>
              <a:t>la barre de formules</a:t>
            </a:r>
            <a:r>
              <a:rPr lang="fr-FR" sz="2200" dirty="0"/>
              <a:t>,</a:t>
            </a:r>
          </a:p>
          <a:p>
            <a:pPr lvl="1"/>
            <a:r>
              <a:rPr lang="fr-FR" sz="2200" dirty="0"/>
              <a:t>Quitte la cellule</a:t>
            </a:r>
          </a:p>
          <a:p>
            <a:pPr lvl="1"/>
            <a:endParaRPr lang="fr-FR" sz="2200" dirty="0"/>
          </a:p>
          <a:p>
            <a:pPr lvl="1"/>
            <a:endParaRPr lang="fr-FR" sz="2200" dirty="0"/>
          </a:p>
          <a:p>
            <a:pPr marL="457200" lvl="1" indent="0">
              <a:buNone/>
            </a:pPr>
            <a:endParaRPr lang="fr-FR" sz="2200" dirty="0"/>
          </a:p>
          <a:p>
            <a:r>
              <a:rPr lang="fr-FR" sz="2200" dirty="0"/>
              <a:t>Ou bien</a:t>
            </a:r>
          </a:p>
          <a:p>
            <a:pPr lvl="1"/>
            <a:r>
              <a:rPr lang="fr-FR" sz="2200" dirty="0"/>
              <a:t>Clique </a:t>
            </a:r>
            <a:r>
              <a:rPr lang="fr-FR" sz="2200" b="1" dirty="0">
                <a:solidFill>
                  <a:srgbClr val="7030A0"/>
                </a:solidFill>
              </a:rPr>
              <a:t>deux fois sur la cellule </a:t>
            </a:r>
            <a:r>
              <a:rPr lang="fr-FR" sz="2200" dirty="0"/>
              <a:t>et fais les modifications.</a:t>
            </a:r>
          </a:p>
        </p:txBody>
      </p: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476211" y="571480"/>
            <a:ext cx="10972800" cy="489790"/>
          </a:xfrm>
        </p:spPr>
        <p:txBody>
          <a:bodyPr>
            <a:no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fr-FR" sz="4000" b="1" dirty="0">
                <a:solidFill>
                  <a:schemeClr val="accent6">
                    <a:lumMod val="75000"/>
                  </a:schemeClr>
                </a:solidFill>
              </a:rPr>
              <a:t>Modifier le contenu d’une cellule: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8F1FDD2-6829-473A-8B34-1517549C2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412" y="1260464"/>
            <a:ext cx="5132663" cy="1962424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D60008F7-B183-4826-A97D-39D3F64D8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611" y="4795613"/>
            <a:ext cx="5734850" cy="1629002"/>
          </a:xfrm>
          <a:prstGeom prst="rect">
            <a:avLst/>
          </a:prstGeom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39404246-3944-4EB0-AB77-BEBB33C2A65D}"/>
              </a:ext>
            </a:extLst>
          </p:cNvPr>
          <p:cNvCxnSpPr>
            <a:cxnSpLocks/>
          </p:cNvCxnSpPr>
          <p:nvPr/>
        </p:nvCxnSpPr>
        <p:spPr>
          <a:xfrm flipH="1">
            <a:off x="9716224" y="1421731"/>
            <a:ext cx="1076444" cy="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5A8084B5-BF87-4DB0-9105-3BFEBE3A7B8D}"/>
              </a:ext>
            </a:extLst>
          </p:cNvPr>
          <p:cNvCxnSpPr>
            <a:cxnSpLocks/>
          </p:cNvCxnSpPr>
          <p:nvPr/>
        </p:nvCxnSpPr>
        <p:spPr>
          <a:xfrm flipV="1">
            <a:off x="8830036" y="6025481"/>
            <a:ext cx="674762" cy="54353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74889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49EA-5B67-4AAA-B86D-F1B0C798D823}" type="slidenum">
              <a:rPr lang="fr-FR" smtClean="0"/>
              <a:pPr/>
              <a:t>9</a:t>
            </a:fld>
            <a:endParaRPr lang="fr-FR"/>
          </a:p>
        </p:txBody>
      </p:sp>
      <p:sp>
        <p:nvSpPr>
          <p:cNvPr id="6" name="ZoneTexte 5"/>
          <p:cNvSpPr txBox="1"/>
          <p:nvPr/>
        </p:nvSpPr>
        <p:spPr>
          <a:xfrm>
            <a:off x="337315" y="356202"/>
            <a:ext cx="10382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/>
            <a:r>
              <a:rPr lang="fr-FR" sz="3600" b="1" dirty="0">
                <a:solidFill>
                  <a:srgbClr val="FF0000"/>
                </a:solidFill>
              </a:rPr>
              <a:t>TP:</a:t>
            </a:r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381000" y="4649258"/>
            <a:ext cx="10972800" cy="1571636"/>
          </a:xfrm>
        </p:spPr>
        <p:txBody>
          <a:bodyPr>
            <a:noAutofit/>
          </a:bodyPr>
          <a:lstStyle/>
          <a:p>
            <a:r>
              <a:rPr lang="fr-FR" sz="2400" dirty="0"/>
              <a:t>Lance Excel, puis saisissez les données, comme illustre dans le tableau ci-dessus.</a:t>
            </a:r>
          </a:p>
          <a:p>
            <a:r>
              <a:rPr lang="fr-FR" sz="2400" dirty="0"/>
              <a:t>Renomme la feuille active « versement1 ».</a:t>
            </a:r>
          </a:p>
          <a:p>
            <a:r>
              <a:rPr lang="fr-FR" sz="2400" dirty="0"/>
              <a:t>Enregistrer ton classeur sous le nom « collaboration »</a:t>
            </a:r>
          </a:p>
          <a:p>
            <a:r>
              <a:rPr lang="fr-FR" sz="2400" dirty="0"/>
              <a:t>Quittez Excel.  </a:t>
            </a:r>
          </a:p>
        </p:txBody>
      </p:sp>
      <p:graphicFrame>
        <p:nvGraphicFramePr>
          <p:cNvPr id="8" name="Tableau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3112210"/>
              </p:ext>
            </p:extLst>
          </p:nvPr>
        </p:nvGraphicFramePr>
        <p:xfrm>
          <a:off x="2343501" y="1358511"/>
          <a:ext cx="7047798" cy="2934768"/>
        </p:xfrm>
        <a:graphic>
          <a:graphicData uri="http://schemas.openxmlformats.org/drawingml/2006/table">
            <a:tbl>
              <a:tblPr/>
              <a:tblGrid>
                <a:gridCol w="23492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92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92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6214"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dirty="0"/>
                        <a:t>N°</a:t>
                      </a:r>
                    </a:p>
                  </a:txBody>
                  <a:tcPr marL="12700" marR="12700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dirty="0"/>
                        <a:t>Prénom</a:t>
                      </a: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dirty="0"/>
                        <a:t>Montant</a:t>
                      </a: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759"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 dirty="0">
                          <a:latin typeface="Arial"/>
                        </a:rPr>
                        <a:t>1</a:t>
                      </a:r>
                    </a:p>
                  </a:txBody>
                  <a:tcPr marL="12700" marR="12700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b="1" i="0" u="none" strike="noStrike" dirty="0" err="1">
                          <a:latin typeface="Arial"/>
                        </a:rPr>
                        <a:t>basma</a:t>
                      </a:r>
                      <a:endParaRPr lang="fr-FR" sz="1800" b="1" i="0" u="none" strike="noStrike" dirty="0">
                        <a:latin typeface="Arial"/>
                      </a:endParaRP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>
                          <a:latin typeface="Arial"/>
                        </a:rPr>
                        <a:t>13</a:t>
                      </a: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759"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>
                          <a:latin typeface="Arial"/>
                        </a:rPr>
                        <a:t>2</a:t>
                      </a:r>
                    </a:p>
                  </a:txBody>
                  <a:tcPr marL="12700" marR="12700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b="1" i="0" u="none" strike="noStrike" dirty="0" err="1">
                          <a:latin typeface="Arial"/>
                        </a:rPr>
                        <a:t>zouhair</a:t>
                      </a:r>
                      <a:endParaRPr lang="fr-FR" sz="1800" b="1" i="0" u="none" strike="noStrike" dirty="0">
                        <a:latin typeface="Arial"/>
                      </a:endParaRP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 dirty="0">
                          <a:latin typeface="Arial"/>
                        </a:rPr>
                        <a:t>5</a:t>
                      </a: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759"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 dirty="0">
                          <a:latin typeface="Arial"/>
                        </a:rPr>
                        <a:t>3</a:t>
                      </a:r>
                    </a:p>
                  </a:txBody>
                  <a:tcPr marL="12700" marR="12700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b="1" i="0" u="none" strike="noStrike" dirty="0" err="1">
                          <a:latin typeface="Arial"/>
                        </a:rPr>
                        <a:t>yassine</a:t>
                      </a:r>
                      <a:endParaRPr lang="fr-FR" sz="1800" b="1" i="0" u="none" strike="noStrike" dirty="0">
                        <a:latin typeface="Arial"/>
                      </a:endParaRP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 dirty="0">
                          <a:latin typeface="Arial"/>
                        </a:rPr>
                        <a:t>20</a:t>
                      </a: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759"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>
                          <a:latin typeface="Arial"/>
                        </a:rPr>
                        <a:t>4</a:t>
                      </a:r>
                    </a:p>
                  </a:txBody>
                  <a:tcPr marL="12700" marR="12700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b="1" i="0" u="none" strike="noStrike" dirty="0" err="1">
                          <a:latin typeface="Arial"/>
                        </a:rPr>
                        <a:t>rachid</a:t>
                      </a:r>
                      <a:endParaRPr lang="fr-FR" sz="1800" b="1" i="0" u="none" strike="noStrike" dirty="0">
                        <a:latin typeface="Arial"/>
                      </a:endParaRP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759"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>
                          <a:latin typeface="Arial"/>
                        </a:rPr>
                        <a:t>5</a:t>
                      </a:r>
                    </a:p>
                  </a:txBody>
                  <a:tcPr marL="12700" marR="12700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b="1" i="0" u="none" strike="noStrike" dirty="0" err="1">
                          <a:latin typeface="Arial"/>
                        </a:rPr>
                        <a:t>morad</a:t>
                      </a:r>
                      <a:endParaRPr lang="fr-FR" sz="1800" b="1" i="0" u="none" strike="noStrike" dirty="0">
                        <a:latin typeface="Arial"/>
                      </a:endParaRP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 dirty="0">
                          <a:latin typeface="Arial"/>
                        </a:rPr>
                        <a:t>13</a:t>
                      </a: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759"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>
                          <a:latin typeface="Arial"/>
                        </a:rPr>
                        <a:t>6</a:t>
                      </a:r>
                    </a:p>
                  </a:txBody>
                  <a:tcPr marL="12700" marR="12700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b="1" i="0" u="none" strike="noStrike">
                          <a:latin typeface="Arial"/>
                        </a:rPr>
                        <a:t>ibtissam</a:t>
                      </a: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 dirty="0">
                          <a:latin typeface="Arial"/>
                        </a:rPr>
                        <a:t>17</a:t>
                      </a: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1770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3576</TotalTime>
  <Words>665</Words>
  <Application>Microsoft Office PowerPoint</Application>
  <PresentationFormat>Grand écran</PresentationFormat>
  <Paragraphs>151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8" baseType="lpstr">
      <vt:lpstr>Abadi</vt:lpstr>
      <vt:lpstr>Aldhabi</vt:lpstr>
      <vt:lpstr>Arial</vt:lpstr>
      <vt:lpstr>Calibri</vt:lpstr>
      <vt:lpstr>Calibri Light</vt:lpstr>
      <vt:lpstr>Comic Sans MS</vt:lpstr>
      <vt:lpstr>Poppins Bold</vt:lpstr>
      <vt:lpstr>Wingdings</vt:lpstr>
      <vt:lpstr>Office Theme</vt:lpstr>
      <vt:lpstr>Présentation PowerPoint</vt:lpstr>
      <vt:lpstr>Activité 1:</vt:lpstr>
      <vt:lpstr>Saisir des données:</vt:lpstr>
      <vt:lpstr>Activité 1:</vt:lpstr>
      <vt:lpstr>Alignement des données:</vt:lpstr>
      <vt:lpstr>déplacement:</vt:lpstr>
      <vt:lpstr>Sélectionner des cellules:</vt:lpstr>
      <vt:lpstr>Modifier le contenu d’une cellule: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118</cp:revision>
  <dcterms:created xsi:type="dcterms:W3CDTF">2025-09-27T13:59:56Z</dcterms:created>
  <dcterms:modified xsi:type="dcterms:W3CDTF">2026-04-07T19:31:30Z</dcterms:modified>
</cp:coreProperties>
</file>