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31" r:id="rId3"/>
    <p:sldId id="335" r:id="rId4"/>
    <p:sldId id="336" r:id="rId5"/>
    <p:sldId id="337" r:id="rId6"/>
    <p:sldId id="338" r:id="rId7"/>
    <p:sldId id="339" r:id="rId8"/>
    <p:sldId id="329" r:id="rId9"/>
    <p:sldId id="340" r:id="rId10"/>
    <p:sldId id="341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55" autoAdjust="0"/>
    <p:restoredTop sz="95153" autoAdjust="0"/>
  </p:normalViewPr>
  <p:slideViewPr>
    <p:cSldViewPr snapToGrid="0">
      <p:cViewPr varScale="1">
        <p:scale>
          <a:sx n="80" d="100"/>
          <a:sy n="80" d="100"/>
        </p:scale>
        <p:origin x="2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E09B5-6896-4D11-8FA7-55ACA35F7AB4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C201F-8126-43B5-9E39-38447D4B0B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89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58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055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7365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77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826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943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223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6551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46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3FEB-EE32-4154-9A6E-1D1559234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4D61C-6FF4-4EBC-B55F-B196E0C15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7E184-7BC2-4779-AB65-C95BC64C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76307-FA66-4732-9AD3-DCA3ABBF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DA3F-A270-43D9-8D9A-16D8B6D8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81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5EEB-A41E-47A2-BFCF-DC218669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3AA52-8CC5-48C6-AD43-117C6164E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1E7A8-A49D-466C-9831-D72C0558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33871-4D1B-428A-9248-3AF7E419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689F-E8EE-42A0-93F4-59D9B04E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57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D218-DA58-4A3E-97D6-9EC97D71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BD259-6463-4D7B-8B57-7C942894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372B8-C74B-463F-952B-A1E1572E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DA59-7301-4883-9D6D-4119107D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1A5B-54B9-4450-8E05-B2CA5A13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03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6A9D-6F31-4F79-A67E-E47EBF0D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B26B-4316-44EF-B62D-04D3FF20D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736F4-6C59-4437-B4B1-D60DEEC58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66A0B-D316-4BF8-AD6B-3148E43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974CB-762C-45DD-9B88-1FC48EAE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5EA80-BB76-4155-A649-BF3650BF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19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FBDE-A5A6-4B09-8E0F-AEEF0C2B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91344-AFD9-49DD-81BE-A9BD2E3C3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3C32B-4605-4CD7-BA19-2A8A77934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3A816-48DB-4865-85BE-D49DDDBC2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19BD4-9B8A-49A1-8815-BC67A4542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92CE3-0F0E-4CC2-BB94-2CDAF22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771A9-205F-4FA7-9813-4F2BEC2A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3B49B-7833-4CAA-8D06-5F7C6DF9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94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08FF-4F53-4D79-9E38-2D046490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AFDD5-63C6-4982-A08F-72A9CAF4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E595F-2A5A-44C2-9087-3F40C549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27727-9632-4099-AED0-DB09B36F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99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257B9-138C-4BF8-8641-C8F2D731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184AC-43F3-43A8-A42E-15362E4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FC04F-9331-4992-AD36-533C1149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5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4500-6B3D-4BBC-A786-DB1549BA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9D07-0B9F-4CD5-8F14-52D48F05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99A98-17C9-4992-ACDA-83C975C29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129D3-9BB0-4118-9A82-AB779447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764D8-83AC-4F0C-954C-89EF892F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FC138-A754-47CA-AC65-B91B2DE6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38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8BDC-89A2-41B8-B6A3-56D28C4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3CDE5-0CA6-4461-8AD3-4854DE460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BA00-4293-40E9-B8AC-280C612A8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F6E05-BA23-49D0-843A-1AAB2590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06534-8FFD-4EEE-8145-A8A3CE41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17DDE-B9E1-44E7-93D5-52B6B879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36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CB55-7CC8-4ACE-B697-84E3CFA6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E5AFA-E7D9-4BEE-AA1D-3737F8144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6F73-3831-4505-BCC2-C80CE1A8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21F3D-E77E-4B53-80C1-DAC85A27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465C-62FA-48F2-A889-395F0E35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98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788D9-97FE-4AA4-BFB3-10A79A1BF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F733B-3EE9-4642-87D4-932AAC8DE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2072-6B2F-4E34-AE95-ED464108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584-662C-4EDE-B525-94F15BCC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887BB-2677-4CC2-8EC6-9AF35308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31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2FFE7">
                <a:alpha val="100000"/>
              </a:srgbClr>
            </a:gs>
            <a:gs pos="100000">
              <a:srgbClr val="D2FCE7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018AA-DE76-4880-8155-4FC61DD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B00EE-FCE7-4115-B6C1-8E9526540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8FE22-E867-4F26-91CE-D3F0801AD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E4A35-7C5B-4D7C-B128-B940E2677F9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5DCD-4141-46B7-8EE4-6C4F65504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CC1A-C723-47B0-A4BA-F027B3C0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74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237419" y="2741815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2339572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0" y="53072"/>
            <a:ext cx="10814040" cy="1618000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623175" y="3812556"/>
            <a:ext cx="7205374" cy="213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système</a:t>
            </a:r>
            <a:r>
              <a:rPr lang="en-US" sz="7000" b="1" dirty="0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 </a:t>
            </a: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d’exploitation</a:t>
            </a:r>
            <a:endParaRPr lang="en-US" sz="7000" b="1" dirty="0">
              <a:solidFill>
                <a:srgbClr val="004AAD"/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30E712B-6AEB-4BF1-B6B9-3CBEEF5683F0}"/>
              </a:ext>
            </a:extLst>
          </p:cNvPr>
          <p:cNvSpPr/>
          <p:nvPr/>
        </p:nvSpPr>
        <p:spPr>
          <a:xfrm>
            <a:off x="9789187" y="1922421"/>
            <a:ext cx="3259773" cy="4587474"/>
          </a:xfrm>
          <a:custGeom>
            <a:avLst/>
            <a:gdLst/>
            <a:ahLst/>
            <a:cxnLst/>
            <a:rect l="l" t="t" r="r" b="b"/>
            <a:pathLst>
              <a:path w="6379233" h="8140553">
                <a:moveTo>
                  <a:pt x="0" y="0"/>
                </a:moveTo>
                <a:lnTo>
                  <a:pt x="6379233" y="0"/>
                </a:lnTo>
                <a:lnTo>
                  <a:pt x="6379233" y="8140553"/>
                </a:lnTo>
                <a:lnTo>
                  <a:pt x="0" y="81405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655872" y="1602954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b="1" dirty="0" err="1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Khénifra</a:t>
            </a:r>
            <a:endParaRPr lang="fr-FR" sz="1600" b="1" dirty="0">
              <a:solidFill>
                <a:schemeClr val="bg1">
                  <a:lumMod val="6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Collège Aït Ammar</a:t>
            </a:r>
          </a:p>
        </p:txBody>
      </p:sp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863D9EA5-9B4E-4BEE-AD9B-BB1F66139504}"/>
              </a:ext>
            </a:extLst>
          </p:cNvPr>
          <p:cNvSpPr/>
          <p:nvPr/>
        </p:nvSpPr>
        <p:spPr>
          <a:xfrm rot="20455144">
            <a:off x="-257076" y="2271567"/>
            <a:ext cx="2553554" cy="2044524"/>
          </a:xfrm>
          <a:custGeom>
            <a:avLst/>
            <a:gdLst/>
            <a:ahLst/>
            <a:cxnLst/>
            <a:rect l="l" t="t" r="r" b="b"/>
            <a:pathLst>
              <a:path w="6286500" h="41148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F9C37-F6FF-4D6A-A495-CACDB8A4F14D}"/>
              </a:ext>
            </a:extLst>
          </p:cNvPr>
          <p:cNvSpPr txBox="1"/>
          <p:nvPr/>
        </p:nvSpPr>
        <p:spPr>
          <a:xfrm>
            <a:off x="737419" y="681324"/>
            <a:ext cx="11098981" cy="549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544"/>
              </a:lnSpc>
              <a:spcBef>
                <a:spcPct val="0"/>
              </a:spcBef>
              <a:spcAft>
                <a:spcPts val="0"/>
              </a:spcAft>
            </a:pPr>
            <a:r>
              <a:rPr lang="fr-FR" sz="7000" b="1" dirty="0">
                <a:solidFill>
                  <a:srgbClr val="004AAD"/>
                </a:solidFill>
                <a:latin typeface="Comic Sans MS" panose="030F0702030302020204" pitchFamily="66" charset="0"/>
              </a:rPr>
              <a:t>L’utilisation de la souris dans Windows.</a:t>
            </a:r>
          </a:p>
          <a:p>
            <a:pPr algn="ctr">
              <a:lnSpc>
                <a:spcPts val="8544"/>
              </a:lnSpc>
              <a:spcBef>
                <a:spcPct val="0"/>
              </a:spcBef>
              <a:spcAft>
                <a:spcPts val="0"/>
              </a:spcAft>
            </a:pPr>
            <a:endParaRPr lang="fr-FR" sz="7000" b="1" dirty="0">
              <a:solidFill>
                <a:srgbClr val="004AAD"/>
              </a:solidFill>
              <a:latin typeface="Comic Sans MS" panose="030F0702030302020204" pitchFamily="66" charset="0"/>
            </a:endParaRPr>
          </a:p>
          <a:p>
            <a:pPr algn="ctr">
              <a:lnSpc>
                <a:spcPts val="8544"/>
              </a:lnSpc>
              <a:spcBef>
                <a:spcPct val="0"/>
              </a:spcBef>
              <a:spcAft>
                <a:spcPts val="0"/>
              </a:spcAft>
            </a:pPr>
            <a:r>
              <a:rPr lang="fr-FR" sz="7000" b="1" dirty="0">
                <a:solidFill>
                  <a:srgbClr val="004AAD"/>
                </a:solidFill>
                <a:latin typeface="Comic Sans MS" panose="030F0702030302020204" pitchFamily="66" charset="0"/>
              </a:rPr>
              <a:t>La manipulation des fenêtres dans Windows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FAAA5E33-4955-4632-A4EA-C3461FD70F8C}"/>
              </a:ext>
            </a:extLst>
          </p:cNvPr>
          <p:cNvSpPr/>
          <p:nvPr/>
        </p:nvSpPr>
        <p:spPr>
          <a:xfrm>
            <a:off x="10025948" y="2346022"/>
            <a:ext cx="1810452" cy="1738298"/>
          </a:xfrm>
          <a:custGeom>
            <a:avLst/>
            <a:gdLst/>
            <a:ahLst/>
            <a:cxnLst/>
            <a:rect l="l" t="t" r="r" b="b"/>
            <a:pathLst>
              <a:path w="5048655" h="4114800">
                <a:moveTo>
                  <a:pt x="0" y="0"/>
                </a:moveTo>
                <a:lnTo>
                  <a:pt x="5048656" y="0"/>
                </a:lnTo>
                <a:lnTo>
                  <a:pt x="5048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185ACDE-2A79-4A05-920D-2A345CBEAE64}"/>
              </a:ext>
            </a:extLst>
          </p:cNvPr>
          <p:cNvSpPr/>
          <p:nvPr/>
        </p:nvSpPr>
        <p:spPr>
          <a:xfrm>
            <a:off x="6492239" y="3101340"/>
            <a:ext cx="731521" cy="655320"/>
          </a:xfrm>
          <a:custGeom>
            <a:avLst/>
            <a:gdLst/>
            <a:ahLst/>
            <a:cxnLst/>
            <a:rect l="l" t="t" r="r" b="b"/>
            <a:pathLst>
              <a:path w="1942799" h="2412053">
                <a:moveTo>
                  <a:pt x="0" y="0"/>
                </a:moveTo>
                <a:lnTo>
                  <a:pt x="1942799" y="0"/>
                </a:lnTo>
                <a:lnTo>
                  <a:pt x="1942799" y="2412053"/>
                </a:lnTo>
                <a:lnTo>
                  <a:pt x="0" y="241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80549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C01DC2B-4651-4BC2-92A7-0C1B1A40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507" y="121630"/>
            <a:ext cx="8932985" cy="558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A5D48A-295F-4EE1-9EA4-4AE5CC5180BA}"/>
              </a:ext>
            </a:extLst>
          </p:cNvPr>
          <p:cNvSpPr/>
          <p:nvPr/>
        </p:nvSpPr>
        <p:spPr>
          <a:xfrm>
            <a:off x="2017542" y="427111"/>
            <a:ext cx="2254738" cy="2067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7ED395-77AE-44BB-80B9-E3007680CAF1}"/>
              </a:ext>
            </a:extLst>
          </p:cNvPr>
          <p:cNvSpPr txBox="1"/>
          <p:nvPr/>
        </p:nvSpPr>
        <p:spPr>
          <a:xfrm>
            <a:off x="228408" y="5751147"/>
            <a:ext cx="9587324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Décris l’interface de ce bureau.</a:t>
            </a:r>
          </a:p>
          <a:p>
            <a:pPr fontAlgn="base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Compare les cadres</a:t>
            </a:r>
          </a:p>
        </p:txBody>
      </p:sp>
    </p:spTree>
    <p:extLst>
      <p:ext uri="{BB962C8B-B14F-4D97-AF65-F5344CB8AC3E}">
        <p14:creationId xmlns:p14="http://schemas.microsoft.com/office/powerpoint/2010/main" val="3378093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C01DC2B-4651-4BC2-92A7-0C1B1A40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507" y="121630"/>
            <a:ext cx="8932985" cy="558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A5D48A-295F-4EE1-9EA4-4AE5CC5180BA}"/>
              </a:ext>
            </a:extLst>
          </p:cNvPr>
          <p:cNvSpPr/>
          <p:nvPr/>
        </p:nvSpPr>
        <p:spPr>
          <a:xfrm>
            <a:off x="1834662" y="3089031"/>
            <a:ext cx="3113258" cy="2244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7ED395-77AE-44BB-80B9-E3007680CAF1}"/>
              </a:ext>
            </a:extLst>
          </p:cNvPr>
          <p:cNvSpPr txBox="1"/>
          <p:nvPr/>
        </p:nvSpPr>
        <p:spPr>
          <a:xfrm>
            <a:off x="228408" y="5751147"/>
            <a:ext cx="9587324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Décris l’interface de ce bureau.</a:t>
            </a:r>
          </a:p>
          <a:p>
            <a:pPr fontAlgn="base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Compare les cadres</a:t>
            </a:r>
          </a:p>
        </p:txBody>
      </p:sp>
    </p:spTree>
    <p:extLst>
      <p:ext uri="{BB962C8B-B14F-4D97-AF65-F5344CB8AC3E}">
        <p14:creationId xmlns:p14="http://schemas.microsoft.com/office/powerpoint/2010/main" val="4191430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C01DC2B-4651-4BC2-92A7-0C1B1A40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507" y="121630"/>
            <a:ext cx="8932985" cy="558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A5D48A-295F-4EE1-9EA4-4AE5CC5180BA}"/>
              </a:ext>
            </a:extLst>
          </p:cNvPr>
          <p:cNvSpPr/>
          <p:nvPr/>
        </p:nvSpPr>
        <p:spPr>
          <a:xfrm>
            <a:off x="4297680" y="2509911"/>
            <a:ext cx="4155440" cy="3194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7ED395-77AE-44BB-80B9-E3007680CAF1}"/>
              </a:ext>
            </a:extLst>
          </p:cNvPr>
          <p:cNvSpPr txBox="1"/>
          <p:nvPr/>
        </p:nvSpPr>
        <p:spPr>
          <a:xfrm>
            <a:off x="228408" y="5751147"/>
            <a:ext cx="9587324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Décris l’interface de ce bureau.</a:t>
            </a:r>
          </a:p>
          <a:p>
            <a:pPr fontAlgn="base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Compare les cadres</a:t>
            </a:r>
          </a:p>
        </p:txBody>
      </p:sp>
    </p:spTree>
    <p:extLst>
      <p:ext uri="{BB962C8B-B14F-4D97-AF65-F5344CB8AC3E}">
        <p14:creationId xmlns:p14="http://schemas.microsoft.com/office/powerpoint/2010/main" val="3993156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A6BEAC-00CA-43C7-96FB-C9D2A87EC617}"/>
              </a:ext>
            </a:extLst>
          </p:cNvPr>
          <p:cNvSpPr txBox="1"/>
          <p:nvPr/>
        </p:nvSpPr>
        <p:spPr>
          <a:xfrm>
            <a:off x="85781" y="156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i="0" u="none" strike="noStrike" dirty="0">
                <a:solidFill>
                  <a:srgbClr val="04617B"/>
                </a:solidFill>
                <a:effectLst/>
                <a:latin typeface="Calibri" panose="020F0502020204030204" pitchFamily="34" charset="0"/>
              </a:rPr>
              <a:t>La manipulation des fenêtre dans Windows:</a:t>
            </a:r>
            <a:endParaRPr lang="fr-FR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99C6E-00BC-4406-A669-BCC1E0754840}"/>
              </a:ext>
            </a:extLst>
          </p:cNvPr>
          <p:cNvSpPr txBox="1"/>
          <p:nvPr/>
        </p:nvSpPr>
        <p:spPr>
          <a:xfrm>
            <a:off x="381964" y="392646"/>
            <a:ext cx="11921924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 L’interface Windows se base des cadres appelés _____ .</a:t>
            </a:r>
          </a:p>
          <a:p>
            <a:pPr rtl="0" fontAlgn="base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Une fenêtre </a:t>
            </a:r>
            <a:r>
              <a:rPr lang="fr-FR" sz="2800" dirty="0">
                <a:latin typeface="Georgia" panose="02040502050405020303" pitchFamily="18" charset="0"/>
              </a:rPr>
              <a:t>peut être </a:t>
            </a:r>
            <a:r>
              <a:rPr lang="fr-FR" sz="2800" b="1" dirty="0">
                <a:solidFill>
                  <a:srgbClr val="FF0000"/>
                </a:solidFill>
                <a:latin typeface="Georgia" panose="02040502050405020303" pitchFamily="18" charset="0"/>
              </a:rPr>
              <a:t>fermée</a:t>
            </a:r>
            <a:r>
              <a:rPr lang="fr-FR" sz="2800" dirty="0">
                <a:latin typeface="Georgia" panose="02040502050405020303" pitchFamily="18" charset="0"/>
              </a:rPr>
              <a:t>,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réduite</a:t>
            </a:r>
            <a:r>
              <a:rPr lang="fr-FR" sz="2800" dirty="0">
                <a:latin typeface="Georgia" panose="02040502050405020303" pitchFamily="18" charset="0"/>
              </a:rPr>
              <a:t>,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restaurée</a:t>
            </a:r>
            <a:r>
              <a:rPr lang="fr-FR" sz="2800" dirty="0">
                <a:latin typeface="Georgia" panose="02040502050405020303" pitchFamily="18" charset="0"/>
              </a:rPr>
              <a:t>,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agrandie</a:t>
            </a:r>
            <a:r>
              <a:rPr lang="fr-FR" sz="2800" dirty="0">
                <a:latin typeface="Georgia" panose="02040502050405020303" pitchFamily="18" charset="0"/>
              </a:rPr>
              <a:t> ou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redimensionnée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  <a:endParaRPr lang="fr-FR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EA1E1AB-002C-47BD-A1F8-AEAC2C2BB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371" y="1815062"/>
            <a:ext cx="7870785" cy="49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06CD1B-1275-449F-9515-15F95788CC4A}"/>
              </a:ext>
            </a:extLst>
          </p:cNvPr>
          <p:cNvSpPr txBox="1"/>
          <p:nvPr/>
        </p:nvSpPr>
        <p:spPr>
          <a:xfrm>
            <a:off x="8041514" y="377515"/>
            <a:ext cx="1843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latin typeface="Georgia" panose="02040502050405020303" pitchFamily="18" charset="0"/>
              </a:rPr>
              <a:t>fenêtres</a:t>
            </a:r>
            <a:endParaRPr lang="fr-FR" sz="36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221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A6BEAC-00CA-43C7-96FB-C9D2A87EC617}"/>
              </a:ext>
            </a:extLst>
          </p:cNvPr>
          <p:cNvSpPr txBox="1"/>
          <p:nvPr/>
        </p:nvSpPr>
        <p:spPr>
          <a:xfrm>
            <a:off x="85781" y="156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>
                <a:solidFill>
                  <a:srgbClr val="04617B"/>
                </a:solidFill>
                <a:latin typeface="Calibri" panose="020F0502020204030204" pitchFamily="34" charset="0"/>
              </a:rPr>
              <a:t>La manipulation de la souris dans Windows: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99C6E-00BC-4406-A669-BCC1E0754840}"/>
              </a:ext>
            </a:extLst>
          </p:cNvPr>
          <p:cNvSpPr txBox="1"/>
          <p:nvPr/>
        </p:nvSpPr>
        <p:spPr>
          <a:xfrm>
            <a:off x="381964" y="616166"/>
            <a:ext cx="11921924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La manipulation de ses fenêtres  nécessite l’utilisation de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la</a:t>
            </a:r>
            <a:r>
              <a:rPr lang="fr-FR" sz="2800" dirty="0">
                <a:latin typeface="Georgia" panose="02040502050405020303" pitchFamily="18" charset="0"/>
              </a:rPr>
              <a:t>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souris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La souris possède généralement </a:t>
            </a:r>
            <a:r>
              <a:rPr lang="fr-FR" sz="2800" b="1" dirty="0">
                <a:solidFill>
                  <a:srgbClr val="FF0000"/>
                </a:solidFill>
                <a:latin typeface="Georgia" panose="02040502050405020303" pitchFamily="18" charset="0"/>
              </a:rPr>
              <a:t>deux boutons</a:t>
            </a:r>
            <a:r>
              <a:rPr lang="fr-FR" sz="2800" dirty="0">
                <a:latin typeface="Georgia" panose="02040502050405020303" pitchFamily="18" charset="0"/>
              </a:rPr>
              <a:t>,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gauche</a:t>
            </a:r>
            <a:r>
              <a:rPr lang="fr-FR" sz="2800" dirty="0">
                <a:latin typeface="Georgia" panose="02040502050405020303" pitchFamily="18" charset="0"/>
              </a:rPr>
              <a:t> et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droit</a:t>
            </a:r>
            <a:r>
              <a:rPr lang="fr-FR" sz="2800" dirty="0">
                <a:latin typeface="Georgia" panose="02040502050405020303" pitchFamily="18" charset="0"/>
              </a:rPr>
              <a:t>, qui ont des fonctions </a:t>
            </a:r>
            <a:r>
              <a:rPr lang="fr-FR" sz="2800" b="1" dirty="0">
                <a:solidFill>
                  <a:srgbClr val="FF0000"/>
                </a:solidFill>
                <a:latin typeface="Georgia" panose="02040502050405020303" pitchFamily="18" charset="0"/>
              </a:rPr>
              <a:t>différentes</a:t>
            </a:r>
          </a:p>
        </p:txBody>
      </p:sp>
      <p:pic>
        <p:nvPicPr>
          <p:cNvPr id="3074" name="Picture 2" descr="souris">
            <a:extLst>
              <a:ext uri="{FF2B5EF4-FFF2-40B4-BE49-F238E27FC236}">
                <a16:creationId xmlns:a16="http://schemas.microsoft.com/office/drawing/2014/main" id="{C2468AA5-E564-4645-83C2-29225AC4D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52" y="2348000"/>
            <a:ext cx="11658007" cy="411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042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768032"/>
            <a:ext cx="10002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0" indent="-857250">
              <a:buAutoNum type="romanUcPeriod"/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système d’exploitation</a:t>
            </a: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 La manipulation des fenêtres dans Windows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577354" y="2274838"/>
            <a:ext cx="11582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atin typeface="Georgia" panose="02040502050405020303" pitchFamily="18" charset="0"/>
              </a:rPr>
              <a:t>L’interface Windows se base sur des cadres appelés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fenêtres</a:t>
            </a:r>
            <a:r>
              <a:rPr lang="fr-FR" sz="3600" dirty="0">
                <a:latin typeface="Georgia" panose="02040502050405020303" pitchFamily="18" charset="0"/>
              </a:rPr>
              <a:t>.</a:t>
            </a:r>
          </a:p>
          <a:p>
            <a:r>
              <a:rPr lang="fr-FR" sz="3600" dirty="0">
                <a:latin typeface="Georgia" panose="02040502050405020303" pitchFamily="18" charset="0"/>
              </a:rPr>
              <a:t>Une fenêtre peut être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fermée</a:t>
            </a:r>
            <a:r>
              <a:rPr lang="fr-FR" sz="3600" dirty="0">
                <a:latin typeface="Georgia" panose="02040502050405020303" pitchFamily="18" charset="0"/>
              </a:rPr>
              <a:t>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réduite</a:t>
            </a:r>
            <a:r>
              <a:rPr lang="fr-FR" sz="3600" dirty="0">
                <a:latin typeface="Georgia" panose="02040502050405020303" pitchFamily="18" charset="0"/>
              </a:rPr>
              <a:t>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restaurée</a:t>
            </a:r>
            <a:r>
              <a:rPr lang="fr-FR" sz="3600" dirty="0">
                <a:latin typeface="Georgia" panose="02040502050405020303" pitchFamily="18" charset="0"/>
              </a:rPr>
              <a:t>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agrandie</a:t>
            </a:r>
            <a:r>
              <a:rPr lang="fr-FR" sz="3600" dirty="0">
                <a:latin typeface="Georgia" panose="02040502050405020303" pitchFamily="18" charset="0"/>
              </a:rPr>
              <a:t> ou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redimensionnée</a:t>
            </a:r>
            <a:r>
              <a:rPr lang="fr-FR" sz="36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9098A-4C95-4F5F-A8D3-E2315487FF96}"/>
              </a:ext>
            </a:extLst>
          </p:cNvPr>
          <p:cNvSpPr txBox="1"/>
          <p:nvPr/>
        </p:nvSpPr>
        <p:spPr>
          <a:xfrm>
            <a:off x="2788920" y="39581"/>
            <a:ext cx="6187440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600" b="1" i="1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Système d’exploitation</a:t>
            </a:r>
            <a:endParaRPr lang="fr-FR" sz="24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617B37-9134-4B50-9D61-2DA337412FAE}"/>
              </a:ext>
            </a:extLst>
          </p:cNvPr>
          <p:cNvSpPr/>
          <p:nvPr/>
        </p:nvSpPr>
        <p:spPr>
          <a:xfrm>
            <a:off x="0" y="6570219"/>
            <a:ext cx="12192000" cy="287781"/>
          </a:xfrm>
          <a:prstGeom prst="round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5_minute_countdown">
            <a:hlinkClick r:id="" action="ppaction://media"/>
            <a:extLst>
              <a:ext uri="{FF2B5EF4-FFF2-40B4-BE49-F238E27FC236}">
                <a16:creationId xmlns:a16="http://schemas.microsoft.com/office/drawing/2014/main" id="{D135E34B-A349-47B8-9A8C-363E403333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05323" y="5717800"/>
            <a:ext cx="1581353" cy="85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5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00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768032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0" indent="-857250">
              <a:buAutoNum type="romanUcPeriod"/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système d’exploitation</a:t>
            </a: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 La manipulation de la souris dans Windows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528320" y="2517677"/>
            <a:ext cx="11582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atin typeface="Georgia" panose="02040502050405020303" pitchFamily="18" charset="0"/>
              </a:rPr>
              <a:t>La manipulation de ses fenêtres  nécessite l’utilisation de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la souris</a:t>
            </a:r>
            <a:r>
              <a:rPr lang="fr-FR" sz="3600" dirty="0">
                <a:latin typeface="Georgia" panose="02040502050405020303" pitchFamily="18" charset="0"/>
              </a:rPr>
              <a:t>.</a:t>
            </a:r>
          </a:p>
          <a:p>
            <a:r>
              <a:rPr lang="fr-FR" sz="3600" dirty="0">
                <a:latin typeface="Georgia" panose="02040502050405020303" pitchFamily="18" charset="0"/>
              </a:rPr>
              <a:t>La souris possède généralement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deux boutons</a:t>
            </a:r>
            <a:r>
              <a:rPr lang="fr-FR" sz="3600" dirty="0">
                <a:latin typeface="Georgia" panose="02040502050405020303" pitchFamily="18" charset="0"/>
              </a:rPr>
              <a:t>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gauche</a:t>
            </a:r>
            <a:r>
              <a:rPr lang="fr-FR" sz="3600" dirty="0">
                <a:latin typeface="Georgia" panose="02040502050405020303" pitchFamily="18" charset="0"/>
              </a:rPr>
              <a:t> et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droit</a:t>
            </a:r>
            <a:r>
              <a:rPr lang="fr-FR" sz="3600" dirty="0">
                <a:latin typeface="Georgia" panose="02040502050405020303" pitchFamily="18" charset="0"/>
              </a:rPr>
              <a:t>, qui ont des fonctions différentes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9098A-4C95-4F5F-A8D3-E2315487FF96}"/>
              </a:ext>
            </a:extLst>
          </p:cNvPr>
          <p:cNvSpPr txBox="1"/>
          <p:nvPr/>
        </p:nvSpPr>
        <p:spPr>
          <a:xfrm>
            <a:off x="2788920" y="39581"/>
            <a:ext cx="6187440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600" b="1" i="1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Système d’exploitation</a:t>
            </a:r>
            <a:endParaRPr lang="fr-FR" sz="24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CCE162-716F-4ACF-9D4E-512EC1351AC9}"/>
              </a:ext>
            </a:extLst>
          </p:cNvPr>
          <p:cNvSpPr/>
          <p:nvPr/>
        </p:nvSpPr>
        <p:spPr>
          <a:xfrm>
            <a:off x="0" y="6570219"/>
            <a:ext cx="12192000" cy="287781"/>
          </a:xfrm>
          <a:prstGeom prst="round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5_minute_countdown">
            <a:hlinkClick r:id="" action="ppaction://media"/>
            <a:extLst>
              <a:ext uri="{FF2B5EF4-FFF2-40B4-BE49-F238E27FC236}">
                <a16:creationId xmlns:a16="http://schemas.microsoft.com/office/drawing/2014/main" id="{095D692B-C9AB-4CA6-9976-239CF322A2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05323" y="5717800"/>
            <a:ext cx="1581353" cy="85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6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00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223520" y="18288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TP: manipulation des fenêtres dans Windows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528320" y="829211"/>
            <a:ext cx="11582400" cy="5996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Double-clique sur l’icône            «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Ordinateur ou Ce PC 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».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457200" indent="-457200" rtl="0" fontAlgn="base">
              <a:spcBef>
                <a:spcPts val="5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Clique sur le bouton       pour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réduire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la fenêtre.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457200" indent="-457200" rtl="0" fontAlgn="base">
              <a:spcBef>
                <a:spcPts val="5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Clique sur le bouton       pour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agrandir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la fenêtre.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457200" indent="-457200" rtl="0" fontAlgn="base">
              <a:spcBef>
                <a:spcPts val="5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Clique sur le bouton       pour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fermer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cette fenêtre.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457200" indent="-457200" rtl="0" fontAlgn="base">
              <a:spcBef>
                <a:spcPts val="5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Utilise maintenant le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menu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contextuel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avec la souris pour ouvrir la fenêtre « poste de travail ».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457200" indent="-457200" rtl="0" fontAlgn="base">
              <a:spcBef>
                <a:spcPts val="5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Clique- glisse l’une des bordures ou l’un des coins de la fenêtre pour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redimensionner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la fenêtre.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457200" indent="-457200" rtl="0" fontAlgn="base">
              <a:spcBef>
                <a:spcPts val="5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 arrête l’ordinateur en cliquant sur :</a:t>
            </a:r>
            <a:endParaRPr lang="fr-FR" sz="3200" b="0" i="0" u="none" strike="noStrike" dirty="0">
              <a:solidFill>
                <a:srgbClr val="0BD0D9"/>
              </a:solidFill>
              <a:effectLst/>
              <a:latin typeface="Noto Sans Symbols"/>
            </a:endParaRPr>
          </a:p>
          <a:p>
            <a:pPr marL="914400" lvl="1" indent="-457200" rtl="0" fontAlgn="base">
              <a:spcBef>
                <a:spcPts val="4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Le bouton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démarrer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,</a:t>
            </a:r>
          </a:p>
          <a:p>
            <a:pPr marL="914400" lvl="1" indent="-457200" fontAlgn="base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Puis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arrêter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 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l’ordinateur</a:t>
            </a:r>
            <a:endParaRPr lang="fr-FR" sz="3200" dirty="0">
              <a:latin typeface="Georgia" panose="020405020504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8EC3D2-3174-49AF-8D80-A9517BD7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811" y="783491"/>
            <a:ext cx="628377" cy="646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F2A01A-C7B9-483A-B103-0D6D35CB2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189" y="2647418"/>
            <a:ext cx="534087" cy="410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6D434-D64B-48BF-9E11-C4941E00A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273" y="2030531"/>
            <a:ext cx="491393" cy="4913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6B1414-7D97-47FF-9851-22E92317D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52" y="1475542"/>
            <a:ext cx="491393" cy="41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14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319</Words>
  <Application>Microsoft Office PowerPoint</Application>
  <PresentationFormat>Widescreen</PresentationFormat>
  <Paragraphs>52</Paragraphs>
  <Slides>10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Abadi</vt:lpstr>
      <vt:lpstr>Aldhabi</vt:lpstr>
      <vt:lpstr>Arial</vt:lpstr>
      <vt:lpstr>Calibri</vt:lpstr>
      <vt:lpstr>Calibri Light</vt:lpstr>
      <vt:lpstr>Comic Sans MS</vt:lpstr>
      <vt:lpstr>Constantia</vt:lpstr>
      <vt:lpstr>Georgia</vt:lpstr>
      <vt:lpstr>Noto Sans Symbols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62</cp:revision>
  <dcterms:created xsi:type="dcterms:W3CDTF">2025-09-27T14:04:33Z</dcterms:created>
  <dcterms:modified xsi:type="dcterms:W3CDTF">2025-11-04T17:21:01Z</dcterms:modified>
</cp:coreProperties>
</file>