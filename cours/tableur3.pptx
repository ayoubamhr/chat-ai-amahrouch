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7" r:id="rId2"/>
    <p:sldId id="375" r:id="rId3"/>
    <p:sldId id="376" r:id="rId4"/>
    <p:sldId id="383" r:id="rId5"/>
    <p:sldId id="384" r:id="rId6"/>
    <p:sldId id="385" r:id="rId7"/>
    <p:sldId id="386" r:id="rId8"/>
    <p:sldId id="387" r:id="rId9"/>
    <p:sldId id="388" r:id="rId10"/>
    <p:sldId id="389" r:id="rId11"/>
    <p:sldId id="382" r:id="rId12"/>
    <p:sldId id="390" r:id="rId13"/>
    <p:sldId id="364" r:id="rId14"/>
    <p:sldId id="381" r:id="rId1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BBFA"/>
    <a:srgbClr val="4472C4"/>
    <a:srgbClr val="00B294"/>
    <a:srgbClr val="30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Style clair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A488322-F2BA-4B5B-9748-0D474271808F}" styleName="Style moyen 3 - Accentuation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Style moyen 3 - Accentuation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AF606853-7671-496A-8E4F-DF71F8EC918B}" styleName="Style foncé 1 - Accentuation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6D9F66E-5EB9-4882-86FB-DCBF35E3C3E4}" styleName="Style moyen 4 - Accentuation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74C1A8A3-306A-4EB7-A6B1-4F7E0EB9C5D6}" styleName="Style moyen 3 - Accentuation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96" autoAdjust="0"/>
    <p:restoredTop sz="94660"/>
  </p:normalViewPr>
  <p:slideViewPr>
    <p:cSldViewPr snapToGrid="0">
      <p:cViewPr>
        <p:scale>
          <a:sx n="50" d="100"/>
          <a:sy n="50" d="100"/>
        </p:scale>
        <p:origin x="1392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7C2482-C93C-4244-AF51-3DB508796362}" type="datetimeFigureOut">
              <a:rPr lang="fr-FR" smtClean="0"/>
              <a:t>09/04/2026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E62455-04AA-4E95-B9B2-A90818A1A9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5587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45CCB-5575-4915-8C1B-AF300811F6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432EEA-B0D2-4264-A6E4-C44C4A43DC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A062AE-E14D-4433-B380-F589D315C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09/04/2026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0FBAF7-F900-409F-9016-3D451D0BE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1A68C1-8BF4-4941-8CEE-3B0ADE6AF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9686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60F18-502D-4669-862E-E90B49DD9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728C3-7358-4E8D-AC56-6F6BD7CDE8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98E5B-A711-4AD3-A667-E08BCDE7D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09/04/2026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EE0DEF-7F51-4272-9853-FE98CC154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8EB580-22DA-4E05-9302-889D5D1CF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1123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E5524-7CD6-4630-8442-EB8EDDC1A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A90A93-F76E-4C77-802B-138664B35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B49C3-B9AB-4187-9458-329B32628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09/04/2026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E9F963-DAD1-4AE9-A44B-383323CE6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6DAE04-0442-4F76-A695-AE6023F58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4111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701EC-2E2B-4695-813B-32B3D6CD6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4735C-B0E2-493B-8F46-B5BEA34942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D5345F-7F6C-40AB-B348-B2C93E4840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130901-C072-4F27-86CC-E5A2D7927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09/04/2026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9704C2-85FC-485B-9C44-93D8D2F89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7B511E-3467-4D5C-9D73-330BF58BC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2623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203F7-38B9-4630-8191-00C52A85C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CAFDB5-37BF-41EE-8895-86DCD39D16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954FAF-60F7-4ADE-950E-655A384BCC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4D5613-8287-45C3-8192-B9C8A6D55C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E248F4-3BAC-43EB-8833-4E478AAA94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788022-E433-4644-BA19-F503335B3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09/04/2026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3B30F1-B97E-4281-A6E9-57B6EC24B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1EB42D-9117-4E54-A38D-DB45087D6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012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2B2A7-F18D-4C6B-BD8E-BF46EE88A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37EDCC-5123-4AE8-BF11-654F3BCC2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09/04/2026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2A4A97-B130-4692-B03F-971E67717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64C76B-1E98-43A9-B1D5-B63034445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3071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D82417-F527-448A-9794-6CF109DBB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09/04/2026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52EF4A-43DC-4613-AF20-0142A6F8B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5E6C80-7E1A-468D-B62E-8987E4748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3999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98DFB-B2AC-45FC-91D2-A85659631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13A0A-9A79-4A39-88E1-9D77DF948D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937A17-546A-4540-B1B4-F294A2DBF7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222786-8D2A-4428-8D97-65DE0B60F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09/04/2026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B40274-EB53-4A70-A935-BDEBE37C4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750857-6AD1-493C-8A20-938154040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6499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1B580-956D-4F97-B962-8CECC1942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42436C-199C-4F1B-9565-7B2E47956F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DF96C8-D863-42E5-87EC-3BA1E8BA81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3964B9-12AB-4197-BDE8-E4E0A8941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09/04/2026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7B79E2-42F5-4375-9D6C-48E7EA31F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1EC6AC-83D2-4919-8889-A360D2BA4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8409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6535E-F29E-42D5-8A79-8D09B709B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E4B4F6-106E-495D-9DC4-ADD4A2377E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3F8F2D-0F6B-4090-A2C7-779AB956D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09/04/2026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EED53-D1A7-4DF7-84F8-C36D8F588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BCEE6D-6A65-4F0D-A30D-3CF6A384B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2980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C65AA1-7AFC-443B-BEBD-FC51E7D314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0735DB-FF04-4066-95B5-FF76AF2CA0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BA17F-0728-4926-84C9-99FDDC078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09/04/2026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68E41-355C-4DFC-802E-14218C77C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834FBE-4628-4841-980D-ADCB478C4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8352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6000">
              <a:schemeClr val="accent1">
                <a:lumMod val="5000"/>
                <a:lumOff val="95000"/>
              </a:schemeClr>
            </a:gs>
            <a:gs pos="66000">
              <a:schemeClr val="accent6">
                <a:lumMod val="40000"/>
                <a:lumOff val="60000"/>
              </a:schemeClr>
            </a:gs>
            <a:gs pos="88000">
              <a:srgbClr val="92D050"/>
            </a:gs>
            <a:gs pos="100000">
              <a:srgbClr val="00B050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E17AC2-28D4-491D-B056-18C068D7F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73BF4A-EE80-452F-BC60-232217112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53F9CD-CCB9-41F7-9239-54CC4E26D8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100F80-408F-4B84-B5F8-B495062EFBE8}" type="datetimeFigureOut">
              <a:rPr lang="fr-FR" smtClean="0"/>
              <a:t>09/04/2026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1E1026-DBB6-4C08-A762-B54BBD5503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7DA5D9-6CAC-431F-A708-1F826FC63B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66134C-E273-463E-BEED-E5806E145D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5172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3CF7BC0F-EFCF-4BB1-96CA-DD8FF908BF60}"/>
              </a:ext>
            </a:extLst>
          </p:cNvPr>
          <p:cNvGrpSpPr/>
          <p:nvPr/>
        </p:nvGrpSpPr>
        <p:grpSpPr>
          <a:xfrm>
            <a:off x="0" y="1846580"/>
            <a:ext cx="12192000" cy="966034"/>
            <a:chOff x="0" y="1300071"/>
            <a:chExt cx="12192000" cy="1194211"/>
          </a:xfrm>
          <a:solidFill>
            <a:schemeClr val="accent6">
              <a:lumMod val="40000"/>
              <a:lumOff val="60000"/>
            </a:schemeClr>
          </a:solidFill>
        </p:grpSpPr>
        <p:grpSp>
          <p:nvGrpSpPr>
            <p:cNvPr id="6" name="Group 2">
              <a:extLst>
                <a:ext uri="{FF2B5EF4-FFF2-40B4-BE49-F238E27FC236}">
                  <a16:creationId xmlns:a16="http://schemas.microsoft.com/office/drawing/2014/main" id="{ACDAF367-CC7A-4EB5-A3DB-DE06FD2A39F5}"/>
                </a:ext>
              </a:extLst>
            </p:cNvPr>
            <p:cNvGrpSpPr/>
            <p:nvPr/>
          </p:nvGrpSpPr>
          <p:grpSpPr>
            <a:xfrm>
              <a:off x="0" y="1700568"/>
              <a:ext cx="12192000" cy="783552"/>
              <a:chOff x="0" y="0"/>
              <a:chExt cx="4988065" cy="385799"/>
            </a:xfrm>
            <a:grpFill/>
          </p:grpSpPr>
          <p:sp>
            <p:nvSpPr>
              <p:cNvPr id="7" name="Freeform 3">
                <a:extLst>
                  <a:ext uri="{FF2B5EF4-FFF2-40B4-BE49-F238E27FC236}">
                    <a16:creationId xmlns:a16="http://schemas.microsoft.com/office/drawing/2014/main" id="{C9279D21-0EF3-4140-AEB6-6BE58791B678}"/>
                  </a:ext>
                </a:extLst>
              </p:cNvPr>
              <p:cNvSpPr/>
              <p:nvPr/>
            </p:nvSpPr>
            <p:spPr>
              <a:xfrm>
                <a:off x="0" y="0"/>
                <a:ext cx="4988065" cy="385799"/>
              </a:xfrm>
              <a:custGeom>
                <a:avLst/>
                <a:gdLst/>
                <a:ahLst/>
                <a:cxnLst/>
                <a:rect l="l" t="t" r="r" b="b"/>
                <a:pathLst>
                  <a:path w="4988065" h="385799">
                    <a:moveTo>
                      <a:pt x="0" y="0"/>
                    </a:moveTo>
                    <a:lnTo>
                      <a:pt x="4988065" y="0"/>
                    </a:lnTo>
                    <a:lnTo>
                      <a:pt x="4988065" y="385799"/>
                    </a:lnTo>
                    <a:lnTo>
                      <a:pt x="0" y="385799"/>
                    </a:lnTo>
                    <a:close/>
                  </a:path>
                </a:pathLst>
              </a:custGeom>
              <a:grpFill/>
            </p:spPr>
          </p:sp>
          <p:sp>
            <p:nvSpPr>
              <p:cNvPr id="8" name="TextBox 4">
                <a:extLst>
                  <a:ext uri="{FF2B5EF4-FFF2-40B4-BE49-F238E27FC236}">
                    <a16:creationId xmlns:a16="http://schemas.microsoft.com/office/drawing/2014/main" id="{81BF4A2C-89F2-4CD5-A915-8702FCB0702B}"/>
                  </a:ext>
                </a:extLst>
              </p:cNvPr>
              <p:cNvSpPr txBox="1"/>
              <p:nvPr/>
            </p:nvSpPr>
            <p:spPr>
              <a:xfrm>
                <a:off x="0" y="28575"/>
                <a:ext cx="4988065" cy="357224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1"/>
                  </a:lnSpc>
                </a:pPr>
                <a:endParaRPr dirty="0"/>
              </a:p>
            </p:txBody>
          </p:sp>
        </p:grpSp>
        <p:sp>
          <p:nvSpPr>
            <p:cNvPr id="12" name="TextBox 9">
              <a:extLst>
                <a:ext uri="{FF2B5EF4-FFF2-40B4-BE49-F238E27FC236}">
                  <a16:creationId xmlns:a16="http://schemas.microsoft.com/office/drawing/2014/main" id="{84B50431-556A-4CB1-9245-727D28A61EC4}"/>
                </a:ext>
              </a:extLst>
            </p:cNvPr>
            <p:cNvSpPr txBox="1"/>
            <p:nvPr/>
          </p:nvSpPr>
          <p:spPr>
            <a:xfrm>
              <a:off x="40640" y="1300071"/>
              <a:ext cx="3639820" cy="119421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8743"/>
                </a:lnSpc>
                <a:spcBef>
                  <a:spcPct val="0"/>
                </a:spcBef>
              </a:pPr>
              <a:r>
                <a:rPr lang="en-US" sz="3600" b="1" dirty="0">
                  <a:latin typeface="Poppins Bold"/>
                  <a:ea typeface="Poppins Bold"/>
                  <a:cs typeface="Poppins Bold"/>
                  <a:sym typeface="Poppins Bold"/>
                </a:rPr>
                <a:t>INFORMATIQUE</a:t>
              </a:r>
            </a:p>
          </p:txBody>
        </p:sp>
      </p:grpSp>
      <p:sp>
        <p:nvSpPr>
          <p:cNvPr id="14" name="TextBox 11">
            <a:extLst>
              <a:ext uri="{FF2B5EF4-FFF2-40B4-BE49-F238E27FC236}">
                <a16:creationId xmlns:a16="http://schemas.microsoft.com/office/drawing/2014/main" id="{132FBDB5-A7F1-455A-B3AF-B3B12B5B321A}"/>
              </a:ext>
            </a:extLst>
          </p:cNvPr>
          <p:cNvSpPr txBox="1"/>
          <p:nvPr/>
        </p:nvSpPr>
        <p:spPr>
          <a:xfrm>
            <a:off x="165120" y="6321828"/>
            <a:ext cx="3257324" cy="5361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06"/>
              </a:lnSpc>
            </a:pPr>
            <a:r>
              <a:rPr lang="en-US" sz="3600" b="1" i="1" dirty="0">
                <a:solidFill>
                  <a:srgbClr val="000000"/>
                </a:solidFill>
                <a:latin typeface="Aldhabi" panose="01000000000000000000" pitchFamily="2" charset="-78"/>
                <a:ea typeface="Open Sans Bold"/>
                <a:cs typeface="Aldhabi" panose="01000000000000000000" pitchFamily="2" charset="-78"/>
                <a:sym typeface="Open Sans Bold"/>
              </a:rPr>
              <a:t>Pr. AMAHROUCH Ayoub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CF1809D-6695-4FB7-BD39-1610A39BD9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7796" y="38909"/>
            <a:ext cx="9347139" cy="1276655"/>
          </a:xfrm>
          <a:prstGeom prst="rect">
            <a:avLst/>
          </a:prstGeom>
        </p:spPr>
      </p:pic>
      <p:sp>
        <p:nvSpPr>
          <p:cNvPr id="17" name="TextBox 10">
            <a:extLst>
              <a:ext uri="{FF2B5EF4-FFF2-40B4-BE49-F238E27FC236}">
                <a16:creationId xmlns:a16="http://schemas.microsoft.com/office/drawing/2014/main" id="{E6361432-DCD2-44DD-81A0-A091E3E123B7}"/>
              </a:ext>
            </a:extLst>
          </p:cNvPr>
          <p:cNvSpPr txBox="1"/>
          <p:nvPr/>
        </p:nvSpPr>
        <p:spPr>
          <a:xfrm>
            <a:off x="1302777" y="3667604"/>
            <a:ext cx="9856328" cy="2062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544"/>
              </a:lnSpc>
              <a:spcBef>
                <a:spcPct val="0"/>
              </a:spcBef>
            </a:pPr>
            <a:r>
              <a:rPr lang="fr-FR" sz="4800" b="1" i="1" dirty="0">
                <a:solidFill>
                  <a:schemeClr val="accent6">
                    <a:lumMod val="50000"/>
                  </a:schemeClr>
                </a:solidFill>
                <a:latin typeface="Comic Sans MS" panose="030F0702030302020204" pitchFamily="66" charset="0"/>
                <a:ea typeface="Poppins Bold"/>
                <a:cs typeface="Poppins Bold"/>
                <a:sym typeface="Poppins Bold"/>
              </a:rPr>
              <a:t>Mise en forme des cellules,</a:t>
            </a:r>
          </a:p>
          <a:p>
            <a:pPr algn="ctr">
              <a:lnSpc>
                <a:spcPts val="8544"/>
              </a:lnSpc>
              <a:spcBef>
                <a:spcPct val="0"/>
              </a:spcBef>
            </a:pPr>
            <a:r>
              <a:rPr lang="fr-FR" sz="4800" b="1" i="1" dirty="0">
                <a:solidFill>
                  <a:schemeClr val="accent6">
                    <a:lumMod val="50000"/>
                  </a:schemeClr>
                </a:solidFill>
                <a:latin typeface="Comic Sans MS" panose="030F0702030302020204" pitchFamily="66" charset="0"/>
                <a:ea typeface="Poppins Bold"/>
                <a:cs typeface="Poppins Bold"/>
                <a:sym typeface="Poppins Bold"/>
              </a:rPr>
              <a:t>La fonction somme automatique</a:t>
            </a:r>
          </a:p>
        </p:txBody>
      </p:sp>
      <p:sp>
        <p:nvSpPr>
          <p:cNvPr id="18" name="TextBox 11">
            <a:extLst>
              <a:ext uri="{FF2B5EF4-FFF2-40B4-BE49-F238E27FC236}">
                <a16:creationId xmlns:a16="http://schemas.microsoft.com/office/drawing/2014/main" id="{5536A886-117E-4348-86DA-6A7D00A50486}"/>
              </a:ext>
            </a:extLst>
          </p:cNvPr>
          <p:cNvSpPr txBox="1"/>
          <p:nvPr/>
        </p:nvSpPr>
        <p:spPr>
          <a:xfrm>
            <a:off x="10975841" y="6306124"/>
            <a:ext cx="1283559" cy="5361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06"/>
              </a:lnSpc>
            </a:pPr>
            <a:r>
              <a:rPr lang="en-US" sz="3600" b="1" dirty="0">
                <a:solidFill>
                  <a:srgbClr val="000000"/>
                </a:solidFill>
                <a:latin typeface="Aldhabi" panose="01000000000000000000" pitchFamily="2" charset="-78"/>
                <a:ea typeface="Open Sans Bold"/>
                <a:cs typeface="Aldhabi" panose="01000000000000000000" pitchFamily="2" charset="-78"/>
                <a:sym typeface="Open Sans Bold"/>
              </a:rPr>
              <a:t>2025/2026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93287DA-EBB1-4397-850B-2D3B184FFFFC}"/>
              </a:ext>
            </a:extLst>
          </p:cNvPr>
          <p:cNvSpPr txBox="1"/>
          <p:nvPr/>
        </p:nvSpPr>
        <p:spPr>
          <a:xfrm>
            <a:off x="2364926" y="1277766"/>
            <a:ext cx="728285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dirty="0">
                <a:solidFill>
                  <a:srgbClr val="303030"/>
                </a:solidFill>
                <a:latin typeface="Abadi" panose="020B0604020104020204" pitchFamily="34" charset="0"/>
              </a:rPr>
              <a:t>Académie Régionale de l'Éducation et de la Formation de Béni Mellal-</a:t>
            </a:r>
            <a:r>
              <a:rPr lang="fr-FR" sz="1600" dirty="0" err="1">
                <a:solidFill>
                  <a:srgbClr val="303030"/>
                </a:solidFill>
                <a:latin typeface="Abadi" panose="020B0604020104020204" pitchFamily="34" charset="0"/>
              </a:rPr>
              <a:t>Khénifra</a:t>
            </a:r>
            <a:endParaRPr lang="fr-FR" sz="1600" dirty="0">
              <a:solidFill>
                <a:srgbClr val="303030"/>
              </a:solidFill>
              <a:latin typeface="Abadi" panose="020B0604020104020204" pitchFamily="34" charset="0"/>
            </a:endParaRPr>
          </a:p>
          <a:p>
            <a:pPr algn="ctr"/>
            <a:r>
              <a:rPr lang="fr-FR" sz="1600" dirty="0">
                <a:solidFill>
                  <a:srgbClr val="303030"/>
                </a:solidFill>
                <a:latin typeface="Abadi" panose="020B0604020104020204" pitchFamily="34" charset="0"/>
              </a:rPr>
              <a:t>Direction Provinciale Khouribga</a:t>
            </a:r>
          </a:p>
          <a:p>
            <a:pPr algn="ctr"/>
            <a:r>
              <a:rPr lang="fr-FR" sz="1600" dirty="0">
                <a:solidFill>
                  <a:srgbClr val="303030"/>
                </a:solidFill>
                <a:latin typeface="Abadi" panose="020B0604020104020204" pitchFamily="34" charset="0"/>
              </a:rPr>
              <a:t>Collège Aït Ammar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9D0C943-CF19-41F3-994D-661BA6C9A0AA}"/>
              </a:ext>
            </a:extLst>
          </p:cNvPr>
          <p:cNvSpPr txBox="1"/>
          <p:nvPr/>
        </p:nvSpPr>
        <p:spPr>
          <a:xfrm>
            <a:off x="0" y="2898278"/>
            <a:ext cx="26263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fr-FR" sz="1800" b="1" i="0" u="none" strike="noStrike" dirty="0">
                <a:solidFill>
                  <a:srgbClr val="00B050"/>
                </a:solidFill>
                <a:effectLst/>
                <a:latin typeface="Calibri" panose="020F0502020204030204" pitchFamily="34" charset="0"/>
              </a:rPr>
              <a:t>Unité 3 :  LE TABLEUR. </a:t>
            </a:r>
          </a:p>
          <a:p>
            <a:r>
              <a:rPr lang="fr-FR" b="1" dirty="0">
                <a:solidFill>
                  <a:srgbClr val="00B050"/>
                </a:solidFill>
                <a:latin typeface="Calibri" panose="020F0502020204030204" pitchFamily="34" charset="0"/>
              </a:rPr>
              <a:t>Séquence 1 : </a:t>
            </a:r>
            <a:r>
              <a:rPr lang="en-US" b="1" dirty="0">
                <a:solidFill>
                  <a:srgbClr val="00B050"/>
                </a:solidFill>
                <a:latin typeface="Calibri" panose="020F0502020204030204" pitchFamily="34" charset="0"/>
                <a:sym typeface="Poppins Bold"/>
              </a:rPr>
              <a:t>Le </a:t>
            </a:r>
            <a:r>
              <a:rPr lang="en-US" b="1" dirty="0" err="1">
                <a:solidFill>
                  <a:srgbClr val="00B050"/>
                </a:solidFill>
                <a:latin typeface="Calibri" panose="020F0502020204030204" pitchFamily="34" charset="0"/>
                <a:sym typeface="Poppins Bold"/>
              </a:rPr>
              <a:t>tableur</a:t>
            </a:r>
            <a:r>
              <a:rPr lang="fr-FR" b="1" dirty="0">
                <a:solidFill>
                  <a:srgbClr val="00B050"/>
                </a:solidFill>
                <a:latin typeface="Calibri" panose="020F0502020204030204" pitchFamily="34" charset="0"/>
              </a:rPr>
              <a:t>. </a:t>
            </a:r>
          </a:p>
        </p:txBody>
      </p:sp>
      <p:pic>
        <p:nvPicPr>
          <p:cNvPr id="21" name="Picture 2">
            <a:extLst>
              <a:ext uri="{FF2B5EF4-FFF2-40B4-BE49-F238E27FC236}">
                <a16:creationId xmlns:a16="http://schemas.microsoft.com/office/drawing/2014/main" id="{F694E9F3-D746-47AD-9FB5-A655E469CF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0491" y="2265627"/>
            <a:ext cx="2179812" cy="2179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50528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2">
            <a:extLst>
              <a:ext uri="{FF2B5EF4-FFF2-40B4-BE49-F238E27FC236}">
                <a16:creationId xmlns:a16="http://schemas.microsoft.com/office/drawing/2014/main" id="{2BF94335-8457-474C-A6A8-8D53A3C5B643}"/>
              </a:ext>
            </a:extLst>
          </p:cNvPr>
          <p:cNvSpPr/>
          <p:nvPr/>
        </p:nvSpPr>
        <p:spPr>
          <a:xfrm>
            <a:off x="244286" y="810357"/>
            <a:ext cx="11814364" cy="2288231"/>
          </a:xfrm>
          <a:prstGeom prst="rect">
            <a:avLst/>
          </a:prstGeom>
          <a:solidFill>
            <a:srgbClr val="FEF9F0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13" name="Espace réservé du numéro de diapositive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D49EA-5B67-4AAA-B86D-F1B0C798D823}" type="slidenum">
              <a:rPr lang="fr-FR" smtClean="0"/>
              <a:pPr/>
              <a:t>2</a:t>
            </a:fld>
            <a:endParaRPr lang="fr-FR"/>
          </a:p>
        </p:txBody>
      </p:sp>
      <p:sp>
        <p:nvSpPr>
          <p:cNvPr id="7172" name="AutoShape 4" descr="http://www.gelgabon.net/_/rsrc/1243686138086/materiels-et-logiciels/le-wifi/liaison-wifi-entre-2-PC.jpg"/>
          <p:cNvSpPr>
            <a:spLocks noChangeAspect="1" noChangeArrowheads="1"/>
          </p:cNvSpPr>
          <p:nvPr/>
        </p:nvSpPr>
        <p:spPr bwMode="auto">
          <a:xfrm>
            <a:off x="207434" y="-1790700"/>
            <a:ext cx="7683500" cy="37433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9" name="Espace réservé du contenu 18"/>
          <p:cNvSpPr>
            <a:spLocks noGrp="1"/>
          </p:cNvSpPr>
          <p:nvPr>
            <p:ph idx="1"/>
          </p:nvPr>
        </p:nvSpPr>
        <p:spPr>
          <a:xfrm>
            <a:off x="491270" y="899413"/>
            <a:ext cx="11700730" cy="2387164"/>
          </a:xfrm>
        </p:spPr>
        <p:txBody>
          <a:bodyPr>
            <a:noAutofit/>
          </a:bodyPr>
          <a:lstStyle/>
          <a:p>
            <a:r>
              <a:rPr lang="fr-FR" sz="2400" dirty="0" err="1"/>
              <a:t>Basma</a:t>
            </a:r>
            <a:r>
              <a:rPr lang="fr-FR" sz="2400" dirty="0"/>
              <a:t> et ses camarades ont continué à faire des économies pour acheter des livres.</a:t>
            </a:r>
          </a:p>
          <a:p>
            <a:r>
              <a:rPr lang="fr-FR" sz="2400" dirty="0"/>
              <a:t>Ils ont effectué plusieurs versements d’argent.</a:t>
            </a:r>
          </a:p>
          <a:p>
            <a:r>
              <a:rPr lang="fr-FR" sz="2400" dirty="0" err="1"/>
              <a:t>Basma</a:t>
            </a:r>
            <a:r>
              <a:rPr lang="fr-FR" sz="2400" dirty="0"/>
              <a:t> a déjà saisi ces données dans un tableau Excel, mais :le tableau n’est pas bien présenté, et elle ne sait pas comment calculer automatiquement le total des versements.</a:t>
            </a:r>
            <a:endParaRPr lang="en-US" sz="2400" dirty="0">
              <a:solidFill>
                <a:srgbClr val="1C2833"/>
              </a:solidFill>
            </a:endParaRPr>
          </a:p>
          <a:p>
            <a:pPr marL="0" indent="0">
              <a:buNone/>
            </a:pPr>
            <a:r>
              <a:rPr lang="fr-FR" sz="2400" i="1" dirty="0"/>
              <a:t>Tu dois créer un tableau Excel bien présenté et calculer automatiquement le total.</a:t>
            </a:r>
          </a:p>
          <a:p>
            <a:pPr marL="0" indent="0">
              <a:buNone/>
            </a:pPr>
            <a:endParaRPr lang="en-US" sz="2400" dirty="0">
              <a:solidFill>
                <a:srgbClr val="1C2833"/>
              </a:solidFill>
            </a:endParaRPr>
          </a:p>
        </p:txBody>
      </p:sp>
      <p:sp>
        <p:nvSpPr>
          <p:cNvPr id="8" name="Titre 7"/>
          <p:cNvSpPr>
            <a:spLocks noGrp="1"/>
          </p:cNvSpPr>
          <p:nvPr>
            <p:ph type="title"/>
          </p:nvPr>
        </p:nvSpPr>
        <p:spPr>
          <a:xfrm>
            <a:off x="188456" y="132578"/>
            <a:ext cx="10972800" cy="489790"/>
          </a:xfrm>
        </p:spPr>
        <p:txBody>
          <a:bodyPr>
            <a:noAutofit/>
          </a:bodyPr>
          <a:lstStyle/>
          <a:p>
            <a:r>
              <a:rPr lang="fr-FR" sz="4000" b="1" dirty="0">
                <a:solidFill>
                  <a:schemeClr val="accent6">
                    <a:lumMod val="75000"/>
                  </a:schemeClr>
                </a:solidFill>
              </a:rPr>
              <a:t>Activité 1 :</a:t>
            </a:r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3D4A615E-C01A-4D55-AA28-77D9547D66D1}"/>
              </a:ext>
            </a:extLst>
          </p:cNvPr>
          <p:cNvSpPr/>
          <p:nvPr/>
        </p:nvSpPr>
        <p:spPr>
          <a:xfrm>
            <a:off x="188456" y="325138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</a:rPr>
              <a:t>Questions à résoudre :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7C66CB73-269B-4D9E-A915-CBBFAB7B5F42}"/>
              </a:ext>
            </a:extLst>
          </p:cNvPr>
          <p:cNvSpPr/>
          <p:nvPr/>
        </p:nvSpPr>
        <p:spPr>
          <a:xfrm>
            <a:off x="0" y="3678500"/>
            <a:ext cx="5749070" cy="31026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1C2833"/>
                </a:solidFill>
              </a:rPr>
              <a:t>Comment </a:t>
            </a:r>
            <a:r>
              <a:rPr lang="en-US" sz="2400" b="1" dirty="0">
                <a:solidFill>
                  <a:srgbClr val="1C2833"/>
                </a:solidFill>
              </a:rPr>
              <a:t>mettre en forme </a:t>
            </a:r>
            <a:r>
              <a:rPr lang="en-US" sz="2400" dirty="0">
                <a:solidFill>
                  <a:srgbClr val="1C2833"/>
                </a:solidFill>
              </a:rPr>
              <a:t>le contenu des cellules ?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1C2833"/>
                </a:solidFill>
              </a:rPr>
              <a:t>Comment </a:t>
            </a:r>
            <a:r>
              <a:rPr lang="en-US" sz="2400" dirty="0" err="1">
                <a:solidFill>
                  <a:srgbClr val="1C2833"/>
                </a:solidFill>
              </a:rPr>
              <a:t>choisir</a:t>
            </a:r>
            <a:r>
              <a:rPr lang="en-US" sz="2400" dirty="0">
                <a:solidFill>
                  <a:srgbClr val="1C2833"/>
                </a:solidFill>
              </a:rPr>
              <a:t> </a:t>
            </a:r>
            <a:r>
              <a:rPr lang="en-US" sz="2400" b="1" dirty="0">
                <a:solidFill>
                  <a:srgbClr val="1C2833"/>
                </a:solidFill>
              </a:rPr>
              <a:t>la police</a:t>
            </a:r>
            <a:r>
              <a:rPr lang="en-US" sz="2400" dirty="0">
                <a:solidFill>
                  <a:srgbClr val="1C2833"/>
                </a:solidFill>
              </a:rPr>
              <a:t>, </a:t>
            </a:r>
            <a:r>
              <a:rPr lang="en-US" sz="2400" b="1" dirty="0">
                <a:solidFill>
                  <a:srgbClr val="1C2833"/>
                </a:solidFill>
              </a:rPr>
              <a:t>la taille </a:t>
            </a:r>
            <a:r>
              <a:rPr lang="en-US" sz="2400" dirty="0">
                <a:solidFill>
                  <a:srgbClr val="1C2833"/>
                </a:solidFill>
              </a:rPr>
              <a:t>et </a:t>
            </a:r>
            <a:r>
              <a:rPr lang="en-US" sz="2400" b="1" dirty="0">
                <a:solidFill>
                  <a:srgbClr val="1C2833"/>
                </a:solidFill>
              </a:rPr>
              <a:t>la couleur </a:t>
            </a:r>
            <a:r>
              <a:rPr lang="en-US" sz="2400" dirty="0">
                <a:solidFill>
                  <a:srgbClr val="1C2833"/>
                </a:solidFill>
              </a:rPr>
              <a:t>du </a:t>
            </a:r>
            <a:r>
              <a:rPr lang="en-US" sz="2400" dirty="0" err="1">
                <a:solidFill>
                  <a:srgbClr val="1C2833"/>
                </a:solidFill>
              </a:rPr>
              <a:t>texte</a:t>
            </a:r>
            <a:r>
              <a:rPr lang="en-US" sz="2400" dirty="0">
                <a:solidFill>
                  <a:srgbClr val="1C2833"/>
                </a:solidFill>
              </a:rPr>
              <a:t> ?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1C2833"/>
                </a:solidFill>
              </a:rPr>
              <a:t>Comment appliquer </a:t>
            </a:r>
            <a:r>
              <a:rPr lang="en-US" sz="2400" b="1" dirty="0">
                <a:solidFill>
                  <a:srgbClr val="1C2833"/>
                </a:solidFill>
              </a:rPr>
              <a:t>des bordures </a:t>
            </a:r>
            <a:r>
              <a:rPr lang="en-US" sz="2400" dirty="0">
                <a:solidFill>
                  <a:srgbClr val="1C2833"/>
                </a:solidFill>
              </a:rPr>
              <a:t>à </a:t>
            </a:r>
            <a:r>
              <a:rPr lang="en-US" sz="2400" b="1" dirty="0">
                <a:solidFill>
                  <a:srgbClr val="1C2833"/>
                </a:solidFill>
              </a:rPr>
              <a:t>un tableau </a:t>
            </a:r>
            <a:r>
              <a:rPr lang="en-US" sz="2400" dirty="0">
                <a:solidFill>
                  <a:srgbClr val="1C2833"/>
                </a:solidFill>
              </a:rPr>
              <a:t>?</a:t>
            </a: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1C2833"/>
                </a:solidFill>
              </a:rPr>
              <a:t>Comment </a:t>
            </a:r>
            <a:r>
              <a:rPr lang="en-US" sz="2400" dirty="0" err="1">
                <a:solidFill>
                  <a:srgbClr val="1C2833"/>
                </a:solidFill>
              </a:rPr>
              <a:t>utiliser</a:t>
            </a:r>
            <a:r>
              <a:rPr lang="en-US" sz="2400" dirty="0">
                <a:solidFill>
                  <a:srgbClr val="1C2833"/>
                </a:solidFill>
              </a:rPr>
              <a:t> </a:t>
            </a:r>
            <a:r>
              <a:rPr lang="en-US" sz="2400" b="1" dirty="0">
                <a:solidFill>
                  <a:srgbClr val="1C2833"/>
                </a:solidFill>
              </a:rPr>
              <a:t>la </a:t>
            </a:r>
            <a:r>
              <a:rPr lang="en-US" sz="2400" b="1" dirty="0" err="1">
                <a:solidFill>
                  <a:srgbClr val="1C2833"/>
                </a:solidFill>
              </a:rPr>
              <a:t>fonction</a:t>
            </a:r>
            <a:r>
              <a:rPr lang="en-US" sz="2400" b="1" dirty="0">
                <a:solidFill>
                  <a:srgbClr val="1C2833"/>
                </a:solidFill>
              </a:rPr>
              <a:t> SOMME </a:t>
            </a:r>
            <a:r>
              <a:rPr lang="en-US" sz="2400" dirty="0">
                <a:solidFill>
                  <a:srgbClr val="1C2833"/>
                </a:solidFill>
              </a:rPr>
              <a:t>pour </a:t>
            </a:r>
            <a:r>
              <a:rPr lang="en-US" sz="2400" dirty="0" err="1">
                <a:solidFill>
                  <a:srgbClr val="1C2833"/>
                </a:solidFill>
              </a:rPr>
              <a:t>calculer</a:t>
            </a:r>
            <a:r>
              <a:rPr lang="en-US" sz="2400" dirty="0">
                <a:solidFill>
                  <a:srgbClr val="1C2833"/>
                </a:solidFill>
              </a:rPr>
              <a:t> </a:t>
            </a:r>
            <a:r>
              <a:rPr lang="en-US" sz="2400" b="1" dirty="0" err="1">
                <a:solidFill>
                  <a:srgbClr val="1C2833"/>
                </a:solidFill>
              </a:rPr>
              <a:t>automatiquement</a:t>
            </a:r>
            <a:r>
              <a:rPr lang="en-US" sz="2400" dirty="0">
                <a:solidFill>
                  <a:srgbClr val="1C2833"/>
                </a:solidFill>
              </a:rPr>
              <a:t> ?</a:t>
            </a:r>
            <a:endParaRPr lang="en-US" sz="2400" dirty="0"/>
          </a:p>
        </p:txBody>
      </p:sp>
      <p:sp>
        <p:nvSpPr>
          <p:cNvPr id="26" name="Text 14">
            <a:extLst>
              <a:ext uri="{FF2B5EF4-FFF2-40B4-BE49-F238E27FC236}">
                <a16:creationId xmlns:a16="http://schemas.microsoft.com/office/drawing/2014/main" id="{2EDF9424-F1C1-4012-968B-D600171E35A9}"/>
              </a:ext>
            </a:extLst>
          </p:cNvPr>
          <p:cNvSpPr/>
          <p:nvPr/>
        </p:nvSpPr>
        <p:spPr>
          <a:xfrm>
            <a:off x="491270" y="5277846"/>
            <a:ext cx="5257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29" name="Text 17">
            <a:extLst>
              <a:ext uri="{FF2B5EF4-FFF2-40B4-BE49-F238E27FC236}">
                <a16:creationId xmlns:a16="http://schemas.microsoft.com/office/drawing/2014/main" id="{B29A2373-45F0-4A04-9D0D-D23578E1C487}"/>
              </a:ext>
            </a:extLst>
          </p:cNvPr>
          <p:cNvSpPr/>
          <p:nvPr/>
        </p:nvSpPr>
        <p:spPr>
          <a:xfrm>
            <a:off x="838200" y="5625318"/>
            <a:ext cx="5410200" cy="13469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400" dirty="0"/>
          </a:p>
        </p:txBody>
      </p:sp>
      <p:graphicFrame>
        <p:nvGraphicFramePr>
          <p:cNvPr id="30" name="Tableau 29">
            <a:extLst>
              <a:ext uri="{FF2B5EF4-FFF2-40B4-BE49-F238E27FC236}">
                <a16:creationId xmlns:a16="http://schemas.microsoft.com/office/drawing/2014/main" id="{CDDDFED5-1611-425E-897A-792FDB72F3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3902285"/>
              </p:ext>
            </p:extLst>
          </p:nvPr>
        </p:nvGraphicFramePr>
        <p:xfrm>
          <a:off x="6341635" y="3870492"/>
          <a:ext cx="5528530" cy="2542236"/>
        </p:xfrm>
        <a:graphic>
          <a:graphicData uri="http://schemas.openxmlformats.org/drawingml/2006/table">
            <a:tbl>
              <a:tblPr/>
              <a:tblGrid>
                <a:gridCol w="6198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87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30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9526">
                  <a:extLst>
                    <a:ext uri="{9D8B030D-6E8A-4147-A177-3AD203B41FA5}">
                      <a16:colId xmlns:a16="http://schemas.microsoft.com/office/drawing/2014/main" val="1101355465"/>
                    </a:ext>
                  </a:extLst>
                </a:gridCol>
                <a:gridCol w="1547278">
                  <a:extLst>
                    <a:ext uri="{9D8B030D-6E8A-4147-A177-3AD203B41FA5}">
                      <a16:colId xmlns:a16="http://schemas.microsoft.com/office/drawing/2014/main" val="260686561"/>
                    </a:ext>
                  </a:extLst>
                </a:gridCol>
              </a:tblGrid>
              <a:tr h="444006">
                <a:tc>
                  <a:txBody>
                    <a:bodyPr/>
                    <a:lstStyle/>
                    <a:p>
                      <a:pPr algn="ctr" fontAlgn="b"/>
                      <a:r>
                        <a:rPr lang="fr-FR" sz="2000" dirty="0"/>
                        <a:t>N°</a:t>
                      </a:r>
                    </a:p>
                  </a:txBody>
                  <a:tcPr marL="12700" marR="12700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000" dirty="0"/>
                        <a:t>Prénom</a:t>
                      </a:r>
                    </a:p>
                  </a:txBody>
                  <a:tcPr marL="12700" marR="1270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000" dirty="0"/>
                        <a:t>Montant 1</a:t>
                      </a:r>
                    </a:p>
                  </a:txBody>
                  <a:tcPr marL="12700" marR="1270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 dirty="0"/>
                        <a:t>Montant 2</a:t>
                      </a:r>
                    </a:p>
                  </a:txBody>
                  <a:tcPr marL="12700" marR="1270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 dirty="0"/>
                        <a:t>Total</a:t>
                      </a:r>
                    </a:p>
                  </a:txBody>
                  <a:tcPr marL="12700" marR="1270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705"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b="1" i="0" u="none" strike="noStrike" dirty="0">
                          <a:latin typeface="Arial"/>
                        </a:rPr>
                        <a:t>1</a:t>
                      </a:r>
                    </a:p>
                  </a:txBody>
                  <a:tcPr marL="12700" marR="12700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800" b="1" i="0" u="none" strike="noStrike" dirty="0" err="1">
                          <a:latin typeface="Arial"/>
                        </a:rPr>
                        <a:t>basma</a:t>
                      </a:r>
                      <a:endParaRPr lang="fr-FR" sz="1800" b="1" i="0" u="none" strike="noStrike" dirty="0">
                        <a:latin typeface="Arial"/>
                      </a:endParaRPr>
                    </a:p>
                  </a:txBody>
                  <a:tcPr marL="12700" marR="1270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b="1" i="0" u="none" strike="noStrike">
                          <a:latin typeface="Arial"/>
                        </a:rPr>
                        <a:t>13</a:t>
                      </a:r>
                    </a:p>
                  </a:txBody>
                  <a:tcPr marL="12700" marR="1270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b="1" i="0" u="none" strike="noStrike" dirty="0">
                          <a:latin typeface="Arial"/>
                        </a:rPr>
                        <a:t>10</a:t>
                      </a:r>
                    </a:p>
                  </a:txBody>
                  <a:tcPr marL="12700" marR="1270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fr-FR" sz="1800" b="1" i="0" u="none" strike="noStrike" dirty="0">
                        <a:latin typeface="Arial"/>
                      </a:endParaRPr>
                    </a:p>
                  </a:txBody>
                  <a:tcPr marL="12700" marR="1270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705"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b="1" i="0" u="none" strike="noStrike">
                          <a:latin typeface="Arial"/>
                        </a:rPr>
                        <a:t>2</a:t>
                      </a:r>
                    </a:p>
                  </a:txBody>
                  <a:tcPr marL="12700" marR="12700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800" b="1" i="0" u="none" strike="noStrike" dirty="0" err="1">
                          <a:latin typeface="Arial"/>
                        </a:rPr>
                        <a:t>zouhair</a:t>
                      </a:r>
                      <a:endParaRPr lang="fr-FR" sz="1800" b="1" i="0" u="none" strike="noStrike" dirty="0">
                        <a:latin typeface="Arial"/>
                      </a:endParaRPr>
                    </a:p>
                  </a:txBody>
                  <a:tcPr marL="12700" marR="1270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b="1" i="0" u="none" strike="noStrike" dirty="0">
                          <a:latin typeface="Arial"/>
                        </a:rPr>
                        <a:t>5</a:t>
                      </a:r>
                    </a:p>
                  </a:txBody>
                  <a:tcPr marL="12700" marR="1270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b="1" i="0" u="none" strike="noStrike" dirty="0">
                          <a:latin typeface="Arial"/>
                        </a:rPr>
                        <a:t>11</a:t>
                      </a:r>
                    </a:p>
                  </a:txBody>
                  <a:tcPr marL="12700" marR="1270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fr-FR" sz="1800" b="1" i="0" u="none" strike="noStrike" dirty="0">
                        <a:latin typeface="Arial"/>
                      </a:endParaRPr>
                    </a:p>
                  </a:txBody>
                  <a:tcPr marL="12700" marR="1270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705"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b="1" i="0" u="none" strike="noStrike" dirty="0">
                          <a:latin typeface="Arial"/>
                        </a:rPr>
                        <a:t>3</a:t>
                      </a:r>
                    </a:p>
                  </a:txBody>
                  <a:tcPr marL="12700" marR="12700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800" b="1" i="0" u="none" strike="noStrike" dirty="0" err="1">
                          <a:latin typeface="Arial"/>
                        </a:rPr>
                        <a:t>yassine</a:t>
                      </a:r>
                      <a:endParaRPr lang="fr-FR" sz="1800" b="1" i="0" u="none" strike="noStrike" dirty="0">
                        <a:latin typeface="Arial"/>
                      </a:endParaRPr>
                    </a:p>
                  </a:txBody>
                  <a:tcPr marL="12700" marR="1270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b="1" i="0" u="none" strike="noStrike" dirty="0">
                          <a:latin typeface="Arial"/>
                        </a:rPr>
                        <a:t>20</a:t>
                      </a:r>
                    </a:p>
                  </a:txBody>
                  <a:tcPr marL="12700" marR="1270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b="1" i="0" u="none" strike="noStrike" dirty="0">
                          <a:latin typeface="Arial"/>
                        </a:rPr>
                        <a:t>10</a:t>
                      </a:r>
                    </a:p>
                  </a:txBody>
                  <a:tcPr marL="12700" marR="1270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fr-FR" sz="1800" b="1" i="0" u="none" strike="noStrike" dirty="0">
                        <a:latin typeface="Arial"/>
                      </a:endParaRPr>
                    </a:p>
                  </a:txBody>
                  <a:tcPr marL="12700" marR="1270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705"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b="1" i="0" u="none" strike="noStrike">
                          <a:latin typeface="Arial"/>
                        </a:rPr>
                        <a:t>4</a:t>
                      </a:r>
                    </a:p>
                  </a:txBody>
                  <a:tcPr marL="12700" marR="12700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800" b="1" i="0" u="none" strike="noStrike" dirty="0" err="1">
                          <a:latin typeface="Arial"/>
                        </a:rPr>
                        <a:t>rachid</a:t>
                      </a:r>
                      <a:endParaRPr lang="fr-FR" sz="1800" b="1" i="0" u="none" strike="noStrike" dirty="0">
                        <a:latin typeface="Arial"/>
                      </a:endParaRPr>
                    </a:p>
                  </a:txBody>
                  <a:tcPr marL="12700" marR="1270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b="1" i="0" u="none" strike="noStrike" dirty="0">
                          <a:latin typeface="Arial"/>
                        </a:rPr>
                        <a:t>0</a:t>
                      </a:r>
                    </a:p>
                  </a:txBody>
                  <a:tcPr marL="12700" marR="1270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b="1" i="0" u="none" strike="noStrike" dirty="0">
                          <a:latin typeface="Arial"/>
                        </a:rPr>
                        <a:t>16</a:t>
                      </a:r>
                    </a:p>
                  </a:txBody>
                  <a:tcPr marL="12700" marR="1270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fr-FR" sz="1800" b="1" i="0" u="none" strike="noStrike" dirty="0">
                        <a:latin typeface="Arial"/>
                      </a:endParaRPr>
                    </a:p>
                  </a:txBody>
                  <a:tcPr marL="12700" marR="1270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705"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b="1" i="0" u="none" strike="noStrike">
                          <a:latin typeface="Arial"/>
                        </a:rPr>
                        <a:t>5</a:t>
                      </a:r>
                    </a:p>
                  </a:txBody>
                  <a:tcPr marL="12700" marR="12700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800" b="1" i="0" u="none" strike="noStrike" dirty="0" err="1">
                          <a:latin typeface="Arial"/>
                        </a:rPr>
                        <a:t>morad</a:t>
                      </a:r>
                      <a:endParaRPr lang="fr-FR" sz="1800" b="1" i="0" u="none" strike="noStrike" dirty="0">
                        <a:latin typeface="Arial"/>
                      </a:endParaRPr>
                    </a:p>
                  </a:txBody>
                  <a:tcPr marL="12700" marR="1270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b="1" i="0" u="none" strike="noStrike" dirty="0">
                          <a:latin typeface="Arial"/>
                        </a:rPr>
                        <a:t>13</a:t>
                      </a:r>
                    </a:p>
                  </a:txBody>
                  <a:tcPr marL="12700" marR="1270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b="1" i="0" u="none" strike="noStrike" dirty="0">
                          <a:latin typeface="Arial"/>
                        </a:rPr>
                        <a:t>20</a:t>
                      </a:r>
                    </a:p>
                  </a:txBody>
                  <a:tcPr marL="12700" marR="1270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fr-FR" sz="1800" b="1" i="0" u="none" strike="noStrike" dirty="0">
                        <a:latin typeface="Arial"/>
                      </a:endParaRPr>
                    </a:p>
                  </a:txBody>
                  <a:tcPr marL="12700" marR="1270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705"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b="1" i="0" u="none" strike="noStrike">
                          <a:latin typeface="Arial"/>
                        </a:rPr>
                        <a:t>6</a:t>
                      </a:r>
                    </a:p>
                  </a:txBody>
                  <a:tcPr marL="12700" marR="12700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800" b="1" i="0" u="none" strike="noStrike">
                          <a:latin typeface="Arial"/>
                        </a:rPr>
                        <a:t>ibtissam</a:t>
                      </a:r>
                    </a:p>
                  </a:txBody>
                  <a:tcPr marL="12700" marR="1270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b="1" i="0" u="none" strike="noStrike" dirty="0">
                          <a:latin typeface="Arial"/>
                        </a:rPr>
                        <a:t>17</a:t>
                      </a:r>
                    </a:p>
                  </a:txBody>
                  <a:tcPr marL="12700" marR="1270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b="1" i="0" u="none" strike="noStrike" dirty="0">
                          <a:latin typeface="Arial"/>
                        </a:rPr>
                        <a:t>7</a:t>
                      </a:r>
                    </a:p>
                  </a:txBody>
                  <a:tcPr marL="12700" marR="1270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fr-FR" sz="1800" b="1" i="0" u="none" strike="noStrike" dirty="0">
                        <a:latin typeface="Arial"/>
                      </a:endParaRPr>
                    </a:p>
                  </a:txBody>
                  <a:tcPr marL="12700" marR="1270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61803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du numéro de diapositive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D49EA-5B67-4AAA-B86D-F1B0C798D823}" type="slidenum">
              <a:rPr lang="fr-FR" smtClean="0"/>
              <a:pPr/>
              <a:t>3</a:t>
            </a:fld>
            <a:endParaRPr lang="fr-FR"/>
          </a:p>
        </p:txBody>
      </p:sp>
      <p:sp>
        <p:nvSpPr>
          <p:cNvPr id="7172" name="AutoShape 4" descr="http://www.gelgabon.net/_/rsrc/1243686138086/materiels-et-logiciels/le-wifi/liaison-wifi-entre-2-PC.jpg"/>
          <p:cNvSpPr>
            <a:spLocks noChangeAspect="1" noChangeArrowheads="1"/>
          </p:cNvSpPr>
          <p:nvPr/>
        </p:nvSpPr>
        <p:spPr bwMode="auto">
          <a:xfrm>
            <a:off x="207434" y="-1790700"/>
            <a:ext cx="7683500" cy="232030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8" name="Titre 7"/>
          <p:cNvSpPr>
            <a:spLocks noGrp="1"/>
          </p:cNvSpPr>
          <p:nvPr>
            <p:ph type="title"/>
          </p:nvPr>
        </p:nvSpPr>
        <p:spPr>
          <a:xfrm>
            <a:off x="0" y="126699"/>
            <a:ext cx="10972800" cy="489790"/>
          </a:xfrm>
        </p:spPr>
        <p:txBody>
          <a:bodyPr>
            <a:no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fr-FR" sz="4000" b="1" dirty="0">
                <a:solidFill>
                  <a:schemeClr val="accent6">
                    <a:lumMod val="75000"/>
                  </a:schemeClr>
                </a:solidFill>
              </a:rPr>
              <a:t>La mise en forme des cellules :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46376772-93E1-4745-905D-A011A000BCC8}"/>
              </a:ext>
            </a:extLst>
          </p:cNvPr>
          <p:cNvSpPr txBox="1"/>
          <p:nvPr/>
        </p:nvSpPr>
        <p:spPr>
          <a:xfrm>
            <a:off x="207434" y="659492"/>
            <a:ext cx="11262672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2000" dirty="0">
                <a:latin typeface="+mj-lt"/>
              </a:rPr>
              <a:t>Après la saisie des données, il est préférable de changer l’apparence de la feuille pour mieux la présenter.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2000" dirty="0">
                <a:latin typeface="+mj-lt"/>
              </a:rPr>
              <a:t>Pour </a:t>
            </a:r>
            <a:r>
              <a:rPr lang="fr-FR" sz="2000" b="1" dirty="0">
                <a:latin typeface="+mj-lt"/>
              </a:rPr>
              <a:t>mettre en forme les cellules</a:t>
            </a:r>
            <a:r>
              <a:rPr lang="fr-FR" sz="2000" dirty="0">
                <a:latin typeface="+mj-lt"/>
              </a:rPr>
              <a:t>, on utilise les icônes de l’onglet </a:t>
            </a:r>
            <a:r>
              <a:rPr lang="fr-FR" sz="2000" b="1" dirty="0">
                <a:solidFill>
                  <a:srgbClr val="7030A0"/>
                </a:solidFill>
                <a:latin typeface="+mj-lt"/>
              </a:rPr>
              <a:t>« accueil. »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2000" dirty="0">
                <a:latin typeface="+mj-lt"/>
              </a:rPr>
              <a:t>Ou bien, la fenêtre </a:t>
            </a:r>
            <a:r>
              <a:rPr lang="fr-FR" sz="2000" b="1" dirty="0">
                <a:solidFill>
                  <a:srgbClr val="7030A0"/>
                </a:solidFill>
                <a:latin typeface="+mj-lt"/>
              </a:rPr>
              <a:t>« format de cellule»</a:t>
            </a:r>
            <a:r>
              <a:rPr lang="fr-FR" sz="2000" dirty="0">
                <a:latin typeface="+mj-lt"/>
              </a:rPr>
              <a:t>, à partir du </a:t>
            </a:r>
            <a:r>
              <a:rPr lang="fr-FR" sz="2000" b="1" dirty="0">
                <a:solidFill>
                  <a:srgbClr val="7030A0"/>
                </a:solidFill>
                <a:latin typeface="+mj-lt"/>
              </a:rPr>
              <a:t>bloc Police </a:t>
            </a:r>
            <a:r>
              <a:rPr lang="fr-FR" sz="2000" dirty="0">
                <a:latin typeface="+mj-lt"/>
              </a:rPr>
              <a:t>dans l’onglet </a:t>
            </a:r>
            <a:r>
              <a:rPr lang="fr-FR" sz="2000" b="1" dirty="0">
                <a:solidFill>
                  <a:srgbClr val="7030A0"/>
                </a:solidFill>
                <a:latin typeface="+mj-lt"/>
              </a:rPr>
              <a:t>accueil</a:t>
            </a:r>
            <a:r>
              <a:rPr lang="fr-FR" sz="2000" dirty="0">
                <a:latin typeface="+mj-lt"/>
              </a:rPr>
              <a:t>.</a:t>
            </a:r>
          </a:p>
          <a:p>
            <a:r>
              <a:rPr lang="fr-FR" sz="1800" b="1" dirty="0">
                <a:latin typeface="+mj-lt"/>
              </a:rPr>
              <a:t> </a:t>
            </a:r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0819D954-4501-40E4-9B24-48066E472185}"/>
              </a:ext>
            </a:extLst>
          </p:cNvPr>
          <p:cNvSpPr/>
          <p:nvPr/>
        </p:nvSpPr>
        <p:spPr>
          <a:xfrm>
            <a:off x="4557060" y="2821921"/>
            <a:ext cx="4301189" cy="44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algn="ctr">
              <a:buNone/>
            </a:pPr>
            <a:endParaRPr lang="en-US" sz="2400" dirty="0">
              <a:latin typeface="+mj-lt"/>
            </a:endParaRPr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81307FA9-6BDA-4950-B9BB-9A19978FC1FB}"/>
              </a:ext>
            </a:extLst>
          </p:cNvPr>
          <p:cNvSpPr/>
          <p:nvPr/>
        </p:nvSpPr>
        <p:spPr>
          <a:xfrm>
            <a:off x="4694221" y="3370561"/>
            <a:ext cx="4001106" cy="35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5680ED91-3996-4816-9217-D49B8455F4D1}"/>
              </a:ext>
            </a:extLst>
          </p:cNvPr>
          <p:cNvSpPr/>
          <p:nvPr/>
        </p:nvSpPr>
        <p:spPr>
          <a:xfrm>
            <a:off x="4694221" y="3763753"/>
            <a:ext cx="4001106" cy="35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EF791F12-37D9-4792-88D0-CE5B6DFAC130}"/>
              </a:ext>
            </a:extLst>
          </p:cNvPr>
          <p:cNvSpPr/>
          <p:nvPr/>
        </p:nvSpPr>
        <p:spPr>
          <a:xfrm>
            <a:off x="4694221" y="4156945"/>
            <a:ext cx="4001106" cy="35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661D390C-8327-4CE6-BF6B-E5CE4C790328}"/>
              </a:ext>
            </a:extLst>
          </p:cNvPr>
          <p:cNvSpPr/>
          <p:nvPr/>
        </p:nvSpPr>
        <p:spPr>
          <a:xfrm>
            <a:off x="4732321" y="4523427"/>
            <a:ext cx="4001106" cy="8909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628650" lvl="1" indent="-171450">
              <a:lnSpc>
                <a:spcPct val="200000"/>
              </a:lnSpc>
              <a:buFont typeface="Wingdings" panose="05000000000000000000" pitchFamily="2" charset="2"/>
              <a:buChar char="q"/>
            </a:pPr>
            <a:endParaRPr lang="en-US" sz="1600" dirty="0">
              <a:solidFill>
                <a:srgbClr val="1C2833"/>
              </a:solidFill>
            </a:endParaRPr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EBF7E302-448D-49FC-A69A-F951B5C44A93}"/>
              </a:ext>
            </a:extLst>
          </p:cNvPr>
          <p:cNvSpPr/>
          <p:nvPr/>
        </p:nvSpPr>
        <p:spPr>
          <a:xfrm>
            <a:off x="4694221" y="4943329"/>
            <a:ext cx="4001106" cy="35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CE86A2ED-FC67-498D-A67D-19D520AA4892}"/>
              </a:ext>
            </a:extLst>
          </p:cNvPr>
          <p:cNvSpPr/>
          <p:nvPr/>
        </p:nvSpPr>
        <p:spPr>
          <a:xfrm>
            <a:off x="4694221" y="5729713"/>
            <a:ext cx="4001106" cy="35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ADF52F7B-212D-42D5-AA1C-53068BF4E57D}"/>
              </a:ext>
            </a:extLst>
          </p:cNvPr>
          <p:cNvSpPr/>
          <p:nvPr/>
        </p:nvSpPr>
        <p:spPr>
          <a:xfrm>
            <a:off x="4732321" y="6040941"/>
            <a:ext cx="4001106" cy="35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628650" lvl="1" indent="-171450">
              <a:lnSpc>
                <a:spcPct val="200000"/>
              </a:lnSpc>
              <a:buFont typeface="Wingdings" panose="05000000000000000000" pitchFamily="2" charset="2"/>
              <a:buChar char="q"/>
            </a:pPr>
            <a:endParaRPr lang="en-US" sz="1600" dirty="0">
              <a:solidFill>
                <a:srgbClr val="1C2833"/>
              </a:solidFill>
            </a:endParaRPr>
          </a:p>
        </p:txBody>
      </p:sp>
      <p:sp>
        <p:nvSpPr>
          <p:cNvPr id="31" name="Text 15">
            <a:extLst>
              <a:ext uri="{FF2B5EF4-FFF2-40B4-BE49-F238E27FC236}">
                <a16:creationId xmlns:a16="http://schemas.microsoft.com/office/drawing/2014/main" id="{35E3EF9E-F134-4287-8D39-91E9573F27FF}"/>
              </a:ext>
            </a:extLst>
          </p:cNvPr>
          <p:cNvSpPr/>
          <p:nvPr/>
        </p:nvSpPr>
        <p:spPr>
          <a:xfrm>
            <a:off x="9159552" y="1292321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36" name="Text 20">
            <a:extLst>
              <a:ext uri="{FF2B5EF4-FFF2-40B4-BE49-F238E27FC236}">
                <a16:creationId xmlns:a16="http://schemas.microsoft.com/office/drawing/2014/main" id="{768A2672-D632-457E-9DDB-E2CD189500F6}"/>
              </a:ext>
            </a:extLst>
          </p:cNvPr>
          <p:cNvSpPr/>
          <p:nvPr/>
        </p:nvSpPr>
        <p:spPr>
          <a:xfrm>
            <a:off x="9296712" y="3413729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graphicFrame>
        <p:nvGraphicFramePr>
          <p:cNvPr id="7" name="Tableau 8">
            <a:extLst>
              <a:ext uri="{FF2B5EF4-FFF2-40B4-BE49-F238E27FC236}">
                <a16:creationId xmlns:a16="http://schemas.microsoft.com/office/drawing/2014/main" id="{B47C921D-B33C-4648-879A-2A25823AC0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1578721"/>
              </p:ext>
            </p:extLst>
          </p:nvPr>
        </p:nvGraphicFramePr>
        <p:xfrm>
          <a:off x="291114" y="2504213"/>
          <a:ext cx="3529019" cy="3699888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3529019">
                  <a:extLst>
                    <a:ext uri="{9D8B030D-6E8A-4147-A177-3AD203B41FA5}">
                      <a16:colId xmlns:a16="http://schemas.microsoft.com/office/drawing/2014/main" val="2405404368"/>
                    </a:ext>
                  </a:extLst>
                </a:gridCol>
              </a:tblGrid>
              <a:tr h="3627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 err="1">
                          <a:solidFill>
                            <a:schemeClr val="lt1"/>
                          </a:solidFill>
                        </a:rPr>
                        <a:t>Méthode</a:t>
                      </a:r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 1  —  </a:t>
                      </a:r>
                      <a:r>
                        <a:rPr lang="en-US" sz="1800" b="1" kern="1200" dirty="0" err="1">
                          <a:solidFill>
                            <a:schemeClr val="lt1"/>
                          </a:solidFill>
                        </a:rPr>
                        <a:t>Ruban</a:t>
                      </a:r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 </a:t>
                      </a:r>
                      <a:r>
                        <a:rPr lang="en-US" sz="1800" b="1" kern="1200" dirty="0" err="1">
                          <a:solidFill>
                            <a:schemeClr val="lt1"/>
                          </a:solidFill>
                        </a:rPr>
                        <a:t>Accueil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4145485"/>
                  </a:ext>
                </a:extLst>
              </a:tr>
              <a:tr h="33249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1C2833"/>
                          </a:solidFill>
                        </a:rPr>
                        <a:t>1. </a:t>
                      </a:r>
                      <a:r>
                        <a:rPr lang="en-US" sz="1600" dirty="0" err="1">
                          <a:solidFill>
                            <a:srgbClr val="1C2833"/>
                          </a:solidFill>
                        </a:rPr>
                        <a:t>Sélectionne</a:t>
                      </a:r>
                      <a:r>
                        <a:rPr lang="en-US" sz="1600" dirty="0">
                          <a:solidFill>
                            <a:srgbClr val="1C2833"/>
                          </a:solidFill>
                        </a:rPr>
                        <a:t> la cellule </a:t>
                      </a:r>
                      <a:r>
                        <a:rPr lang="en-US" sz="1600" dirty="0" err="1">
                          <a:solidFill>
                            <a:srgbClr val="1C2833"/>
                          </a:solidFill>
                        </a:rPr>
                        <a:t>ou</a:t>
                      </a:r>
                      <a:r>
                        <a:rPr lang="en-US" sz="1600" dirty="0">
                          <a:solidFill>
                            <a:srgbClr val="1C2833"/>
                          </a:solidFill>
                        </a:rPr>
                        <a:t> la </a:t>
                      </a:r>
                      <a:r>
                        <a:rPr lang="en-US" sz="1600" dirty="0" err="1">
                          <a:solidFill>
                            <a:srgbClr val="1C2833"/>
                          </a:solidFill>
                        </a:rPr>
                        <a:t>plage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5263378"/>
                  </a:ext>
                </a:extLst>
              </a:tr>
              <a:tr h="33249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1C2833"/>
                          </a:solidFill>
                        </a:rPr>
                        <a:t>2. Clique sur </a:t>
                      </a:r>
                      <a:r>
                        <a:rPr lang="en-US" sz="1600" dirty="0" err="1">
                          <a:solidFill>
                            <a:srgbClr val="1C2833"/>
                          </a:solidFill>
                        </a:rPr>
                        <a:t>l'onglet</a:t>
                      </a:r>
                      <a:r>
                        <a:rPr lang="en-US" sz="1600" dirty="0">
                          <a:solidFill>
                            <a:srgbClr val="1C2833"/>
                          </a:solidFill>
                        </a:rPr>
                        <a:t>  </a:t>
                      </a:r>
                      <a:r>
                        <a:rPr lang="en-US" sz="1600" dirty="0" err="1">
                          <a:solidFill>
                            <a:srgbClr val="1C2833"/>
                          </a:solidFill>
                        </a:rPr>
                        <a:t>Accueil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8470535"/>
                  </a:ext>
                </a:extLst>
              </a:tr>
              <a:tr h="17140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1C2833"/>
                          </a:solidFill>
                        </a:rPr>
                        <a:t>3. </a:t>
                      </a:r>
                      <a:r>
                        <a:rPr lang="en-US" sz="1600" dirty="0" err="1">
                          <a:solidFill>
                            <a:srgbClr val="1C2833"/>
                          </a:solidFill>
                        </a:rPr>
                        <a:t>Utilise</a:t>
                      </a:r>
                      <a:r>
                        <a:rPr lang="en-US" sz="1600" dirty="0">
                          <a:solidFill>
                            <a:srgbClr val="1C2833"/>
                          </a:solidFill>
                        </a:rPr>
                        <a:t> les boutons du </a:t>
                      </a:r>
                      <a:r>
                        <a:rPr lang="en-US" sz="1600" dirty="0" err="1">
                          <a:solidFill>
                            <a:srgbClr val="1C2833"/>
                          </a:solidFill>
                        </a:rPr>
                        <a:t>groupe</a:t>
                      </a:r>
                      <a:r>
                        <a:rPr lang="en-US" sz="1600" dirty="0">
                          <a:solidFill>
                            <a:srgbClr val="1C2833"/>
                          </a:solidFill>
                        </a:rPr>
                        <a:t>  Police</a:t>
                      </a:r>
                      <a:endParaRPr lang="en-US" sz="1600" dirty="0"/>
                    </a:p>
                    <a:p>
                      <a:pPr marL="628650" lvl="1" indent="-171450" algn="l">
                        <a:lnSpc>
                          <a:spcPct val="2000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en-US" sz="1600" dirty="0">
                          <a:solidFill>
                            <a:srgbClr val="1C2833"/>
                          </a:solidFill>
                        </a:rPr>
                        <a:t>Changer la police et la taille</a:t>
                      </a:r>
                    </a:p>
                    <a:p>
                      <a:pPr marL="628650" lvl="1" indent="-171450" algn="l">
                        <a:lnSpc>
                          <a:spcPct val="2000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en-US" sz="1600" dirty="0" err="1">
                          <a:solidFill>
                            <a:srgbClr val="1C2833"/>
                          </a:solidFill>
                        </a:rPr>
                        <a:t>Mettre</a:t>
                      </a:r>
                      <a:r>
                        <a:rPr lang="en-US" sz="1600" dirty="0">
                          <a:solidFill>
                            <a:srgbClr val="1C2833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1C2833"/>
                          </a:solidFill>
                        </a:rPr>
                        <a:t>en</a:t>
                      </a:r>
                      <a:r>
                        <a:rPr lang="en-US" sz="1600" dirty="0">
                          <a:solidFill>
                            <a:srgbClr val="1C2833"/>
                          </a:solidFill>
                        </a:rPr>
                        <a:t> Gras  G  /  </a:t>
                      </a:r>
                      <a:r>
                        <a:rPr lang="en-US" sz="1600" dirty="0" err="1">
                          <a:solidFill>
                            <a:srgbClr val="1C2833"/>
                          </a:solidFill>
                        </a:rPr>
                        <a:t>Italique</a:t>
                      </a:r>
                      <a:r>
                        <a:rPr lang="en-US" sz="1600" dirty="0">
                          <a:solidFill>
                            <a:srgbClr val="1C2833"/>
                          </a:solidFill>
                        </a:rPr>
                        <a:t>  I</a:t>
                      </a:r>
                    </a:p>
                    <a:p>
                      <a:pPr marL="628650" lvl="1" indent="-171450" algn="l">
                        <a:lnSpc>
                          <a:spcPct val="2000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en-US" sz="1600" dirty="0">
                          <a:solidFill>
                            <a:srgbClr val="1C2833"/>
                          </a:solidFill>
                        </a:rPr>
                        <a:t>Couleur de </a:t>
                      </a:r>
                      <a:r>
                        <a:rPr lang="en-US" sz="1600" dirty="0" err="1">
                          <a:solidFill>
                            <a:srgbClr val="1C2833"/>
                          </a:solidFill>
                        </a:rPr>
                        <a:t>remplissage</a:t>
                      </a:r>
                      <a:r>
                        <a:rPr lang="en-US" sz="1600" dirty="0">
                          <a:solidFill>
                            <a:srgbClr val="1C2833"/>
                          </a:solidFill>
                        </a:rPr>
                        <a:t>  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0629619"/>
                  </a:ext>
                </a:extLst>
              </a:tr>
              <a:tr h="93516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rgbClr val="1C2833"/>
                          </a:solidFill>
                          <a:latin typeface="+mn-lt"/>
                          <a:ea typeface="+mn-ea"/>
                          <a:cs typeface="+mn-cs"/>
                        </a:rPr>
                        <a:t>4. </a:t>
                      </a:r>
                      <a:r>
                        <a:rPr lang="en-US" sz="1600" kern="1200" dirty="0" err="1">
                          <a:solidFill>
                            <a:srgbClr val="1C2833"/>
                          </a:solidFill>
                          <a:latin typeface="+mn-lt"/>
                          <a:ea typeface="+mn-ea"/>
                          <a:cs typeface="+mn-cs"/>
                        </a:rPr>
                        <a:t>Utilise</a:t>
                      </a:r>
                      <a:r>
                        <a:rPr lang="en-US" sz="1600" kern="1200" dirty="0">
                          <a:solidFill>
                            <a:srgbClr val="1C2833"/>
                          </a:solidFill>
                          <a:latin typeface="+mn-lt"/>
                          <a:ea typeface="+mn-ea"/>
                          <a:cs typeface="+mn-cs"/>
                        </a:rPr>
                        <a:t> le </a:t>
                      </a:r>
                      <a:r>
                        <a:rPr lang="en-US" sz="1600" kern="1200" dirty="0" err="1">
                          <a:solidFill>
                            <a:srgbClr val="1C2833"/>
                          </a:solidFill>
                          <a:latin typeface="+mn-lt"/>
                          <a:ea typeface="+mn-ea"/>
                          <a:cs typeface="+mn-cs"/>
                        </a:rPr>
                        <a:t>groupe</a:t>
                      </a:r>
                      <a:r>
                        <a:rPr lang="en-US" sz="1600" kern="1200" dirty="0">
                          <a:solidFill>
                            <a:srgbClr val="1C2833"/>
                          </a:solidFill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sz="1600" kern="1200" dirty="0" err="1">
                          <a:solidFill>
                            <a:srgbClr val="1C2833"/>
                          </a:solidFill>
                          <a:latin typeface="+mn-lt"/>
                          <a:ea typeface="+mn-ea"/>
                          <a:cs typeface="+mn-cs"/>
                        </a:rPr>
                        <a:t>Alignement</a:t>
                      </a:r>
                      <a:endParaRPr lang="en-US" sz="1600" kern="1200" dirty="0">
                        <a:solidFill>
                          <a:srgbClr val="1C283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rgbClr val="1C2833"/>
                          </a:solidFill>
                          <a:latin typeface="+mn-lt"/>
                          <a:ea typeface="+mn-ea"/>
                          <a:cs typeface="+mn-cs"/>
                        </a:rPr>
                        <a:t>Gauche / Centre / Droite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7994018"/>
                  </a:ext>
                </a:extLst>
              </a:tr>
            </a:tbl>
          </a:graphicData>
        </a:graphic>
      </p:graphicFrame>
      <p:graphicFrame>
        <p:nvGraphicFramePr>
          <p:cNvPr id="40" name="Tableau 8">
            <a:extLst>
              <a:ext uri="{FF2B5EF4-FFF2-40B4-BE49-F238E27FC236}">
                <a16:creationId xmlns:a16="http://schemas.microsoft.com/office/drawing/2014/main" id="{E4CBD501-532D-476F-89C3-583D999A66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8828382"/>
              </p:ext>
            </p:extLst>
          </p:nvPr>
        </p:nvGraphicFramePr>
        <p:xfrm>
          <a:off x="3906905" y="2498620"/>
          <a:ext cx="3328744" cy="3699888"/>
        </p:xfrm>
        <a:graphic>
          <a:graphicData uri="http://schemas.openxmlformats.org/drawingml/2006/table">
            <a:tbl>
              <a:tblPr firstRow="1" bandRow="1">
                <a:tableStyleId>{74C1A8A3-306A-4EB7-A6B1-4F7E0EB9C5D6}</a:tableStyleId>
              </a:tblPr>
              <a:tblGrid>
                <a:gridCol w="3328744">
                  <a:extLst>
                    <a:ext uri="{9D8B030D-6E8A-4147-A177-3AD203B41FA5}">
                      <a16:colId xmlns:a16="http://schemas.microsoft.com/office/drawing/2014/main" val="2405404368"/>
                    </a:ext>
                  </a:extLst>
                </a:gridCol>
              </a:tblGrid>
              <a:tr h="3770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Méthode 2  —  Format de cellule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4145485"/>
                  </a:ext>
                </a:extLst>
              </a:tr>
              <a:tr h="3456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1C2833"/>
                          </a:solidFill>
                        </a:rPr>
                        <a:t>1. </a:t>
                      </a:r>
                      <a:r>
                        <a:rPr lang="en-US" sz="1600" dirty="0" err="1">
                          <a:solidFill>
                            <a:srgbClr val="1C2833"/>
                          </a:solidFill>
                        </a:rPr>
                        <a:t>Sélectionne</a:t>
                      </a:r>
                      <a:r>
                        <a:rPr lang="en-US" sz="1600" dirty="0">
                          <a:solidFill>
                            <a:srgbClr val="1C2833"/>
                          </a:solidFill>
                        </a:rPr>
                        <a:t> la cellule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5263378"/>
                  </a:ext>
                </a:extLst>
              </a:tr>
              <a:tr h="3456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1C2833"/>
                          </a:solidFill>
                        </a:rPr>
                        <a:t>2. </a:t>
                      </a:r>
                      <a:r>
                        <a:rPr lang="fr-FR" sz="1600" dirty="0">
                          <a:solidFill>
                            <a:srgbClr val="1C2833"/>
                          </a:solidFill>
                        </a:rPr>
                        <a:t>Clic droit de la souris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8470535"/>
                  </a:ext>
                </a:extLst>
              </a:tr>
              <a:tr h="3456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1C2833"/>
                          </a:solidFill>
                        </a:rPr>
                        <a:t>3. </a:t>
                      </a:r>
                      <a:r>
                        <a:rPr lang="en-US" sz="1600" dirty="0" err="1">
                          <a:solidFill>
                            <a:srgbClr val="1C2833"/>
                          </a:solidFill>
                        </a:rPr>
                        <a:t>Choisir</a:t>
                      </a:r>
                      <a:r>
                        <a:rPr lang="en-US" sz="1600" dirty="0">
                          <a:solidFill>
                            <a:srgbClr val="1C2833"/>
                          </a:solidFill>
                        </a:rPr>
                        <a:t>  «Format de cellule»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0629619"/>
                  </a:ext>
                </a:extLst>
              </a:tr>
              <a:tr h="228601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rgbClr val="1C2833"/>
                          </a:solidFill>
                        </a:rPr>
                        <a:t>4. </a:t>
                      </a:r>
                      <a:r>
                        <a:rPr lang="fr-FR" sz="1600" kern="1200" dirty="0">
                          <a:solidFill>
                            <a:srgbClr val="1C2833"/>
                          </a:solidFill>
                        </a:rPr>
                        <a:t>La boîte de dialogue s'ouvre</a:t>
                      </a: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1C2833"/>
                          </a:solidFill>
                        </a:rPr>
                        <a:t> Onglet  </a:t>
                      </a:r>
                      <a:r>
                        <a:rPr lang="en-US" sz="1600" dirty="0" err="1">
                          <a:solidFill>
                            <a:srgbClr val="1C2833"/>
                          </a:solidFill>
                        </a:rPr>
                        <a:t>Nombre</a:t>
                      </a:r>
                      <a:r>
                        <a:rPr lang="en-US" sz="1600" dirty="0">
                          <a:solidFill>
                            <a:srgbClr val="1C2833"/>
                          </a:solidFill>
                        </a:rPr>
                        <a:t>  → formats</a:t>
                      </a: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1C2833"/>
                          </a:solidFill>
                        </a:rPr>
                        <a:t>Onglet  </a:t>
                      </a:r>
                      <a:r>
                        <a:rPr lang="en-US" sz="1600" dirty="0" err="1">
                          <a:solidFill>
                            <a:srgbClr val="1C2833"/>
                          </a:solidFill>
                        </a:rPr>
                        <a:t>Alignement</a:t>
                      </a:r>
                      <a:endParaRPr lang="en-US" sz="1600" dirty="0">
                        <a:solidFill>
                          <a:srgbClr val="1C2833"/>
                        </a:solidFill>
                      </a:endParaRP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1C2833"/>
                          </a:solidFill>
                        </a:rPr>
                        <a:t>Onglet  Police</a:t>
                      </a: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rgbClr val="1C2833"/>
                          </a:solidFill>
                          <a:latin typeface="+mn-lt"/>
                          <a:ea typeface="+mn-ea"/>
                          <a:cs typeface="+mn-cs"/>
                        </a:rPr>
                        <a:t>Onglet  Bordure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7994018"/>
                  </a:ext>
                </a:extLst>
              </a:tr>
            </a:tbl>
          </a:graphicData>
        </a:graphic>
      </p:graphicFrame>
      <p:cxnSp>
        <p:nvCxnSpPr>
          <p:cNvPr id="41" name="Connecteur : en arc 40">
            <a:extLst>
              <a:ext uri="{FF2B5EF4-FFF2-40B4-BE49-F238E27FC236}">
                <a16:creationId xmlns:a16="http://schemas.microsoft.com/office/drawing/2014/main" id="{5D62EB76-9E37-49FD-BCA6-71ADB3D8FD4A}"/>
              </a:ext>
            </a:extLst>
          </p:cNvPr>
          <p:cNvCxnSpPr>
            <a:cxnSpLocks/>
            <a:stCxn id="15" idx="1"/>
            <a:endCxn id="7" idx="0"/>
          </p:cNvCxnSpPr>
          <p:nvPr/>
        </p:nvCxnSpPr>
        <p:spPr>
          <a:xfrm rot="10800000" flipH="1" flipV="1">
            <a:off x="207433" y="1305823"/>
            <a:ext cx="1848189" cy="1198390"/>
          </a:xfrm>
          <a:prstGeom prst="curvedConnector4">
            <a:avLst>
              <a:gd name="adj1" fmla="val -4638"/>
              <a:gd name="adj2" fmla="val 76967"/>
            </a:avLst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5" name="Connecteur : en arc 44">
            <a:extLst>
              <a:ext uri="{FF2B5EF4-FFF2-40B4-BE49-F238E27FC236}">
                <a16:creationId xmlns:a16="http://schemas.microsoft.com/office/drawing/2014/main" id="{E59B2627-F80F-4C35-BE05-122373FDF535}"/>
              </a:ext>
            </a:extLst>
          </p:cNvPr>
          <p:cNvCxnSpPr>
            <a:cxnSpLocks/>
            <a:endCxn id="40" idx="0"/>
          </p:cNvCxnSpPr>
          <p:nvPr/>
        </p:nvCxnSpPr>
        <p:spPr>
          <a:xfrm>
            <a:off x="3705225" y="1598710"/>
            <a:ext cx="1866052" cy="899910"/>
          </a:xfrm>
          <a:prstGeom prst="curved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71" name="Image 7170">
            <a:extLst>
              <a:ext uri="{FF2B5EF4-FFF2-40B4-BE49-F238E27FC236}">
                <a16:creationId xmlns:a16="http://schemas.microsoft.com/office/drawing/2014/main" id="{5A75D79E-C7A8-454D-B14A-E3A5D7ECD2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3111" y="1969121"/>
            <a:ext cx="4818889" cy="4752353"/>
          </a:xfrm>
          <a:prstGeom prst="rect">
            <a:avLst/>
          </a:prstGeom>
        </p:spPr>
      </p:pic>
      <p:sp>
        <p:nvSpPr>
          <p:cNvPr id="7173" name="Ellipse 7172">
            <a:extLst>
              <a:ext uri="{FF2B5EF4-FFF2-40B4-BE49-F238E27FC236}">
                <a16:creationId xmlns:a16="http://schemas.microsoft.com/office/drawing/2014/main" id="{20AC2FFF-367E-44F2-9ACA-C57C6C4D8A6A}"/>
              </a:ext>
            </a:extLst>
          </p:cNvPr>
          <p:cNvSpPr/>
          <p:nvPr/>
        </p:nvSpPr>
        <p:spPr>
          <a:xfrm>
            <a:off x="8523877" y="2455899"/>
            <a:ext cx="342900" cy="28690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1" name="Connecteur : en arc 70">
            <a:extLst>
              <a:ext uri="{FF2B5EF4-FFF2-40B4-BE49-F238E27FC236}">
                <a16:creationId xmlns:a16="http://schemas.microsoft.com/office/drawing/2014/main" id="{49B08D6E-B9E6-42BF-B5C6-B0B09FCB94AF}"/>
              </a:ext>
            </a:extLst>
          </p:cNvPr>
          <p:cNvCxnSpPr>
            <a:cxnSpLocks/>
            <a:endCxn id="7171" idx="0"/>
          </p:cNvCxnSpPr>
          <p:nvPr/>
        </p:nvCxnSpPr>
        <p:spPr>
          <a:xfrm>
            <a:off x="6432388" y="1695762"/>
            <a:ext cx="3350168" cy="273359"/>
          </a:xfrm>
          <a:prstGeom prst="curvedConnector2">
            <a:avLst/>
          </a:prstGeom>
          <a:ln w="28575">
            <a:solidFill>
              <a:srgbClr val="00B2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04225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FF0118CC-4038-46BD-8DD4-A299FD1B77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547" y="190745"/>
            <a:ext cx="11774905" cy="6489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1303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du numéro de diapositive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D49EA-5B67-4AAA-B86D-F1B0C798D823}" type="slidenum">
              <a:rPr lang="fr-FR" smtClean="0"/>
              <a:pPr/>
              <a:t>5</a:t>
            </a:fld>
            <a:endParaRPr lang="fr-FR"/>
          </a:p>
        </p:txBody>
      </p:sp>
      <p:sp>
        <p:nvSpPr>
          <p:cNvPr id="7172" name="AutoShape 4" descr="http://www.gelgabon.net/_/rsrc/1243686138086/materiels-et-logiciels/le-wifi/liaison-wifi-entre-2-PC.jpg"/>
          <p:cNvSpPr>
            <a:spLocks noChangeAspect="1" noChangeArrowheads="1"/>
          </p:cNvSpPr>
          <p:nvPr/>
        </p:nvSpPr>
        <p:spPr bwMode="auto">
          <a:xfrm>
            <a:off x="207434" y="-1790700"/>
            <a:ext cx="7683500" cy="232030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8" name="Titre 7"/>
          <p:cNvSpPr>
            <a:spLocks noGrp="1"/>
          </p:cNvSpPr>
          <p:nvPr>
            <p:ph type="title"/>
          </p:nvPr>
        </p:nvSpPr>
        <p:spPr>
          <a:xfrm>
            <a:off x="0" y="0"/>
            <a:ext cx="10972800" cy="489790"/>
          </a:xfrm>
        </p:spPr>
        <p:txBody>
          <a:bodyPr>
            <a:no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fr-FR" sz="4000" b="1" dirty="0">
                <a:solidFill>
                  <a:schemeClr val="accent6">
                    <a:lumMod val="75000"/>
                  </a:schemeClr>
                </a:solidFill>
              </a:rPr>
              <a:t>La mise en forme des cellules: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46376772-93E1-4745-905D-A011A000BCC8}"/>
              </a:ext>
            </a:extLst>
          </p:cNvPr>
          <p:cNvSpPr txBox="1"/>
          <p:nvPr/>
        </p:nvSpPr>
        <p:spPr>
          <a:xfrm>
            <a:off x="260244" y="1136122"/>
            <a:ext cx="112626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2000" dirty="0">
                <a:latin typeface="+mj-lt"/>
              </a:rPr>
              <a:t>Permet de choisir </a:t>
            </a:r>
            <a:r>
              <a:rPr lang="fr-FR" sz="2000" b="1" dirty="0">
                <a:solidFill>
                  <a:srgbClr val="7030A0"/>
                </a:solidFill>
                <a:latin typeface="+mj-lt"/>
              </a:rPr>
              <a:t>un format </a:t>
            </a:r>
            <a:r>
              <a:rPr lang="fr-FR" sz="2000" dirty="0">
                <a:latin typeface="+mj-lt"/>
              </a:rPr>
              <a:t>pour les valeurs </a:t>
            </a:r>
            <a:r>
              <a:rPr lang="fr-FR" sz="2000" b="1" dirty="0">
                <a:latin typeface="+mj-lt"/>
              </a:rPr>
              <a:t>Monétaire</a:t>
            </a:r>
            <a:r>
              <a:rPr lang="fr-FR" sz="2000" dirty="0">
                <a:latin typeface="+mj-lt"/>
              </a:rPr>
              <a:t>, </a:t>
            </a:r>
            <a:r>
              <a:rPr lang="fr-FR" sz="2000" b="1" dirty="0">
                <a:latin typeface="+mj-lt"/>
              </a:rPr>
              <a:t>Date</a:t>
            </a:r>
            <a:r>
              <a:rPr lang="fr-FR" sz="2000" dirty="0">
                <a:latin typeface="+mj-lt"/>
              </a:rPr>
              <a:t>, </a:t>
            </a:r>
            <a:r>
              <a:rPr lang="fr-FR" sz="2000" b="1" dirty="0">
                <a:latin typeface="+mj-lt"/>
              </a:rPr>
              <a:t>Pourcentage</a:t>
            </a:r>
            <a:r>
              <a:rPr lang="fr-FR" sz="2000" dirty="0">
                <a:latin typeface="+mj-lt"/>
              </a:rPr>
              <a:t>, Etc..</a:t>
            </a:r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0819D954-4501-40E4-9B24-48066E472185}"/>
              </a:ext>
            </a:extLst>
          </p:cNvPr>
          <p:cNvSpPr/>
          <p:nvPr/>
        </p:nvSpPr>
        <p:spPr>
          <a:xfrm>
            <a:off x="4557060" y="2821921"/>
            <a:ext cx="4301189" cy="44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algn="ctr">
              <a:buNone/>
            </a:pPr>
            <a:endParaRPr lang="en-US" sz="2400" dirty="0">
              <a:latin typeface="+mj-lt"/>
            </a:endParaRPr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81307FA9-6BDA-4950-B9BB-9A19978FC1FB}"/>
              </a:ext>
            </a:extLst>
          </p:cNvPr>
          <p:cNvSpPr/>
          <p:nvPr/>
        </p:nvSpPr>
        <p:spPr>
          <a:xfrm>
            <a:off x="4694221" y="3370561"/>
            <a:ext cx="4001106" cy="35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5680ED91-3996-4816-9217-D49B8455F4D1}"/>
              </a:ext>
            </a:extLst>
          </p:cNvPr>
          <p:cNvSpPr/>
          <p:nvPr/>
        </p:nvSpPr>
        <p:spPr>
          <a:xfrm>
            <a:off x="4694221" y="3763753"/>
            <a:ext cx="4001106" cy="35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EF791F12-37D9-4792-88D0-CE5B6DFAC130}"/>
              </a:ext>
            </a:extLst>
          </p:cNvPr>
          <p:cNvSpPr/>
          <p:nvPr/>
        </p:nvSpPr>
        <p:spPr>
          <a:xfrm>
            <a:off x="4694221" y="4156945"/>
            <a:ext cx="4001106" cy="35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661D390C-8327-4CE6-BF6B-E5CE4C790328}"/>
              </a:ext>
            </a:extLst>
          </p:cNvPr>
          <p:cNvSpPr/>
          <p:nvPr/>
        </p:nvSpPr>
        <p:spPr>
          <a:xfrm>
            <a:off x="4732321" y="4523427"/>
            <a:ext cx="4001106" cy="8909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628650" lvl="1" indent="-171450">
              <a:lnSpc>
                <a:spcPct val="200000"/>
              </a:lnSpc>
              <a:buFont typeface="Wingdings" panose="05000000000000000000" pitchFamily="2" charset="2"/>
              <a:buChar char="q"/>
            </a:pPr>
            <a:endParaRPr lang="en-US" sz="1600" dirty="0">
              <a:solidFill>
                <a:srgbClr val="1C2833"/>
              </a:solidFill>
            </a:endParaRPr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EBF7E302-448D-49FC-A69A-F951B5C44A93}"/>
              </a:ext>
            </a:extLst>
          </p:cNvPr>
          <p:cNvSpPr/>
          <p:nvPr/>
        </p:nvSpPr>
        <p:spPr>
          <a:xfrm>
            <a:off x="4694221" y="4943329"/>
            <a:ext cx="4001106" cy="35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CE86A2ED-FC67-498D-A67D-19D520AA4892}"/>
              </a:ext>
            </a:extLst>
          </p:cNvPr>
          <p:cNvSpPr/>
          <p:nvPr/>
        </p:nvSpPr>
        <p:spPr>
          <a:xfrm>
            <a:off x="4694221" y="5729713"/>
            <a:ext cx="4001106" cy="35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ADF52F7B-212D-42D5-AA1C-53068BF4E57D}"/>
              </a:ext>
            </a:extLst>
          </p:cNvPr>
          <p:cNvSpPr/>
          <p:nvPr/>
        </p:nvSpPr>
        <p:spPr>
          <a:xfrm>
            <a:off x="4732321" y="6040941"/>
            <a:ext cx="4001106" cy="35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628650" lvl="1" indent="-171450">
              <a:lnSpc>
                <a:spcPct val="200000"/>
              </a:lnSpc>
              <a:buFont typeface="Wingdings" panose="05000000000000000000" pitchFamily="2" charset="2"/>
              <a:buChar char="q"/>
            </a:pPr>
            <a:endParaRPr lang="en-US" sz="1600" dirty="0">
              <a:solidFill>
                <a:srgbClr val="1C2833"/>
              </a:solidFill>
            </a:endParaRPr>
          </a:p>
        </p:txBody>
      </p:sp>
      <p:sp>
        <p:nvSpPr>
          <p:cNvPr id="31" name="Text 15">
            <a:extLst>
              <a:ext uri="{FF2B5EF4-FFF2-40B4-BE49-F238E27FC236}">
                <a16:creationId xmlns:a16="http://schemas.microsoft.com/office/drawing/2014/main" id="{35E3EF9E-F134-4287-8D39-91E9573F27FF}"/>
              </a:ext>
            </a:extLst>
          </p:cNvPr>
          <p:cNvSpPr/>
          <p:nvPr/>
        </p:nvSpPr>
        <p:spPr>
          <a:xfrm>
            <a:off x="9159552" y="1292321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36" name="Text 20">
            <a:extLst>
              <a:ext uri="{FF2B5EF4-FFF2-40B4-BE49-F238E27FC236}">
                <a16:creationId xmlns:a16="http://schemas.microsoft.com/office/drawing/2014/main" id="{768A2672-D632-457E-9DDB-E2CD189500F6}"/>
              </a:ext>
            </a:extLst>
          </p:cNvPr>
          <p:cNvSpPr/>
          <p:nvPr/>
        </p:nvSpPr>
        <p:spPr>
          <a:xfrm>
            <a:off x="9296712" y="3413729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7D234344-92D6-4134-8A59-71AB4ECD9B9E}"/>
              </a:ext>
            </a:extLst>
          </p:cNvPr>
          <p:cNvSpPr txBox="1"/>
          <p:nvPr/>
        </p:nvSpPr>
        <p:spPr>
          <a:xfrm>
            <a:off x="1157932" y="524515"/>
            <a:ext cx="15852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solidFill>
                  <a:srgbClr val="FF0000"/>
                </a:solidFill>
              </a:rPr>
              <a:t>Nombre :</a:t>
            </a:r>
            <a:endParaRPr lang="fr-FR" sz="2400" dirty="0"/>
          </a:p>
        </p:txBody>
      </p:sp>
      <p:pic>
        <p:nvPicPr>
          <p:cNvPr id="29" name="Image 28">
            <a:extLst>
              <a:ext uri="{FF2B5EF4-FFF2-40B4-BE49-F238E27FC236}">
                <a16:creationId xmlns:a16="http://schemas.microsoft.com/office/drawing/2014/main" id="{123CEB66-92BF-4251-B7CF-7302FE14CC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044" y="1813924"/>
            <a:ext cx="7467911" cy="4613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8954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du numéro de diapositive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D49EA-5B67-4AAA-B86D-F1B0C798D823}" type="slidenum">
              <a:rPr lang="fr-FR" smtClean="0"/>
              <a:pPr/>
              <a:t>6</a:t>
            </a:fld>
            <a:endParaRPr lang="fr-FR"/>
          </a:p>
        </p:txBody>
      </p:sp>
      <p:sp>
        <p:nvSpPr>
          <p:cNvPr id="7172" name="AutoShape 4" descr="http://www.gelgabon.net/_/rsrc/1243686138086/materiels-et-logiciels/le-wifi/liaison-wifi-entre-2-PC.jpg"/>
          <p:cNvSpPr>
            <a:spLocks noChangeAspect="1" noChangeArrowheads="1"/>
          </p:cNvSpPr>
          <p:nvPr/>
        </p:nvSpPr>
        <p:spPr bwMode="auto">
          <a:xfrm>
            <a:off x="207434" y="-1790700"/>
            <a:ext cx="7683500" cy="232030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8" name="Titre 7"/>
          <p:cNvSpPr>
            <a:spLocks noGrp="1"/>
          </p:cNvSpPr>
          <p:nvPr>
            <p:ph type="title"/>
          </p:nvPr>
        </p:nvSpPr>
        <p:spPr>
          <a:xfrm>
            <a:off x="0" y="0"/>
            <a:ext cx="10972800" cy="489790"/>
          </a:xfrm>
        </p:spPr>
        <p:txBody>
          <a:bodyPr>
            <a:no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fr-FR" sz="4000" b="1" dirty="0">
                <a:solidFill>
                  <a:schemeClr val="accent6">
                    <a:lumMod val="75000"/>
                  </a:schemeClr>
                </a:solidFill>
              </a:rPr>
              <a:t>La mise en forme des cellules: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46376772-93E1-4745-905D-A011A000BCC8}"/>
              </a:ext>
            </a:extLst>
          </p:cNvPr>
          <p:cNvSpPr txBox="1"/>
          <p:nvPr/>
        </p:nvSpPr>
        <p:spPr>
          <a:xfrm>
            <a:off x="260244" y="1136122"/>
            <a:ext cx="112626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2000" dirty="0">
                <a:latin typeface="+mj-lt"/>
              </a:rPr>
              <a:t>Permet de choisir </a:t>
            </a:r>
            <a:r>
              <a:rPr lang="fr-FR" sz="2000" b="1" dirty="0">
                <a:solidFill>
                  <a:srgbClr val="7030A0"/>
                </a:solidFill>
                <a:latin typeface="+mj-lt"/>
              </a:rPr>
              <a:t>un format </a:t>
            </a:r>
            <a:r>
              <a:rPr lang="fr-FR" sz="2000" dirty="0">
                <a:latin typeface="+mj-lt"/>
              </a:rPr>
              <a:t>pour les valeurs </a:t>
            </a:r>
            <a:r>
              <a:rPr lang="fr-FR" sz="2000" b="1" dirty="0">
                <a:latin typeface="+mj-lt"/>
              </a:rPr>
              <a:t>Monétaire</a:t>
            </a:r>
            <a:r>
              <a:rPr lang="fr-FR" sz="2000" dirty="0">
                <a:latin typeface="+mj-lt"/>
              </a:rPr>
              <a:t>, </a:t>
            </a:r>
            <a:r>
              <a:rPr lang="fr-FR" sz="2000" b="1" dirty="0">
                <a:latin typeface="+mj-lt"/>
              </a:rPr>
              <a:t>Date</a:t>
            </a:r>
            <a:r>
              <a:rPr lang="fr-FR" sz="2000" dirty="0">
                <a:latin typeface="+mj-lt"/>
              </a:rPr>
              <a:t>, </a:t>
            </a:r>
            <a:r>
              <a:rPr lang="fr-FR" sz="2000" b="1" dirty="0">
                <a:latin typeface="+mj-lt"/>
              </a:rPr>
              <a:t>Pourcentage</a:t>
            </a:r>
            <a:r>
              <a:rPr lang="fr-FR" sz="2000" dirty="0">
                <a:latin typeface="+mj-lt"/>
              </a:rPr>
              <a:t>, Etc..</a:t>
            </a: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ADF52F7B-212D-42D5-AA1C-53068BF4E57D}"/>
              </a:ext>
            </a:extLst>
          </p:cNvPr>
          <p:cNvSpPr/>
          <p:nvPr/>
        </p:nvSpPr>
        <p:spPr>
          <a:xfrm>
            <a:off x="4732321" y="6040941"/>
            <a:ext cx="4001106" cy="35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628650" lvl="1" indent="-171450">
              <a:lnSpc>
                <a:spcPct val="200000"/>
              </a:lnSpc>
              <a:buFont typeface="Wingdings" panose="05000000000000000000" pitchFamily="2" charset="2"/>
              <a:buChar char="q"/>
            </a:pPr>
            <a:endParaRPr lang="en-US" sz="1600" dirty="0">
              <a:solidFill>
                <a:srgbClr val="1C2833"/>
              </a:solidFill>
            </a:endParaRPr>
          </a:p>
        </p:txBody>
      </p:sp>
      <p:sp>
        <p:nvSpPr>
          <p:cNvPr id="31" name="Text 15">
            <a:extLst>
              <a:ext uri="{FF2B5EF4-FFF2-40B4-BE49-F238E27FC236}">
                <a16:creationId xmlns:a16="http://schemas.microsoft.com/office/drawing/2014/main" id="{35E3EF9E-F134-4287-8D39-91E9573F27FF}"/>
              </a:ext>
            </a:extLst>
          </p:cNvPr>
          <p:cNvSpPr/>
          <p:nvPr/>
        </p:nvSpPr>
        <p:spPr>
          <a:xfrm>
            <a:off x="9159552" y="1292321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36" name="Text 20">
            <a:extLst>
              <a:ext uri="{FF2B5EF4-FFF2-40B4-BE49-F238E27FC236}">
                <a16:creationId xmlns:a16="http://schemas.microsoft.com/office/drawing/2014/main" id="{768A2672-D632-457E-9DDB-E2CD189500F6}"/>
              </a:ext>
            </a:extLst>
          </p:cNvPr>
          <p:cNvSpPr/>
          <p:nvPr/>
        </p:nvSpPr>
        <p:spPr>
          <a:xfrm>
            <a:off x="9296712" y="3413729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7D234344-92D6-4134-8A59-71AB4ECD9B9E}"/>
              </a:ext>
            </a:extLst>
          </p:cNvPr>
          <p:cNvSpPr txBox="1"/>
          <p:nvPr/>
        </p:nvSpPr>
        <p:spPr>
          <a:xfrm>
            <a:off x="1157931" y="524515"/>
            <a:ext cx="1677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solidFill>
                  <a:srgbClr val="FF0000"/>
                </a:solidFill>
              </a:rPr>
              <a:t>Nombre :</a:t>
            </a:r>
            <a:endParaRPr lang="fr-FR" sz="2400" dirty="0"/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BE46BB34-E362-465D-AB30-100A887750E9}"/>
              </a:ext>
            </a:extLst>
          </p:cNvPr>
          <p:cNvGrpSpPr/>
          <p:nvPr/>
        </p:nvGrpSpPr>
        <p:grpSpPr>
          <a:xfrm>
            <a:off x="767862" y="2142751"/>
            <a:ext cx="10789920" cy="4425417"/>
            <a:chOff x="1630680" y="2358362"/>
            <a:chExt cx="8686800" cy="3055981"/>
          </a:xfrm>
        </p:grpSpPr>
        <p:sp>
          <p:nvSpPr>
            <p:cNvPr id="20" name="Text 4">
              <a:extLst>
                <a:ext uri="{FF2B5EF4-FFF2-40B4-BE49-F238E27FC236}">
                  <a16:creationId xmlns:a16="http://schemas.microsoft.com/office/drawing/2014/main" id="{0819D954-4501-40E4-9B24-48066E472185}"/>
                </a:ext>
              </a:extLst>
            </p:cNvPr>
            <p:cNvSpPr/>
            <p:nvPr/>
          </p:nvSpPr>
          <p:spPr>
            <a:xfrm>
              <a:off x="5913420" y="3717243"/>
              <a:ext cx="4301189" cy="446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algn="ctr">
                <a:buNone/>
              </a:pPr>
              <a:endParaRPr lang="en-US" sz="2400" dirty="0">
                <a:latin typeface="+mj-lt"/>
              </a:endParaRPr>
            </a:p>
          </p:txBody>
        </p:sp>
        <p:sp>
          <p:nvSpPr>
            <p:cNvPr id="21" name="Text 5">
              <a:extLst>
                <a:ext uri="{FF2B5EF4-FFF2-40B4-BE49-F238E27FC236}">
                  <a16:creationId xmlns:a16="http://schemas.microsoft.com/office/drawing/2014/main" id="{81307FA9-6BDA-4950-B9BB-9A19978FC1FB}"/>
                </a:ext>
              </a:extLst>
            </p:cNvPr>
            <p:cNvSpPr/>
            <p:nvPr/>
          </p:nvSpPr>
          <p:spPr>
            <a:xfrm>
              <a:off x="6050581" y="4265883"/>
              <a:ext cx="4001106" cy="356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1600" dirty="0"/>
            </a:p>
          </p:txBody>
        </p:sp>
        <p:sp>
          <p:nvSpPr>
            <p:cNvPr id="22" name="Text 6">
              <a:extLst>
                <a:ext uri="{FF2B5EF4-FFF2-40B4-BE49-F238E27FC236}">
                  <a16:creationId xmlns:a16="http://schemas.microsoft.com/office/drawing/2014/main" id="{5680ED91-3996-4816-9217-D49B8455F4D1}"/>
                </a:ext>
              </a:extLst>
            </p:cNvPr>
            <p:cNvSpPr/>
            <p:nvPr/>
          </p:nvSpPr>
          <p:spPr>
            <a:xfrm>
              <a:off x="6050581" y="4659075"/>
              <a:ext cx="4001106" cy="356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1600" dirty="0"/>
            </a:p>
          </p:txBody>
        </p:sp>
        <p:sp>
          <p:nvSpPr>
            <p:cNvPr id="23" name="Text 7">
              <a:extLst>
                <a:ext uri="{FF2B5EF4-FFF2-40B4-BE49-F238E27FC236}">
                  <a16:creationId xmlns:a16="http://schemas.microsoft.com/office/drawing/2014/main" id="{EF791F12-37D9-4792-88D0-CE5B6DFAC130}"/>
                </a:ext>
              </a:extLst>
            </p:cNvPr>
            <p:cNvSpPr/>
            <p:nvPr/>
          </p:nvSpPr>
          <p:spPr>
            <a:xfrm>
              <a:off x="6050581" y="5052267"/>
              <a:ext cx="4001106" cy="356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1600" dirty="0"/>
            </a:p>
          </p:txBody>
        </p:sp>
        <p:sp>
          <p:nvSpPr>
            <p:cNvPr id="24" name="Text 8">
              <a:extLst>
                <a:ext uri="{FF2B5EF4-FFF2-40B4-BE49-F238E27FC236}">
                  <a16:creationId xmlns:a16="http://schemas.microsoft.com/office/drawing/2014/main" id="{661D390C-8327-4CE6-BF6B-E5CE4C790328}"/>
                </a:ext>
              </a:extLst>
            </p:cNvPr>
            <p:cNvSpPr/>
            <p:nvPr/>
          </p:nvSpPr>
          <p:spPr>
            <a:xfrm>
              <a:off x="4732321" y="4523427"/>
              <a:ext cx="4001106" cy="89091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628650" lvl="1" indent="-171450">
                <a:lnSpc>
                  <a:spcPct val="200000"/>
                </a:lnSpc>
                <a:buFont typeface="Wingdings" panose="05000000000000000000" pitchFamily="2" charset="2"/>
                <a:buChar char="q"/>
              </a:pPr>
              <a:endParaRPr lang="en-US" sz="1600" dirty="0">
                <a:solidFill>
                  <a:srgbClr val="1C2833"/>
                </a:solidFill>
              </a:endParaRPr>
            </a:p>
          </p:txBody>
        </p:sp>
        <p:sp>
          <p:nvSpPr>
            <p:cNvPr id="25" name="Text 9">
              <a:extLst>
                <a:ext uri="{FF2B5EF4-FFF2-40B4-BE49-F238E27FC236}">
                  <a16:creationId xmlns:a16="http://schemas.microsoft.com/office/drawing/2014/main" id="{EBF7E302-448D-49FC-A69A-F951B5C44A93}"/>
                </a:ext>
              </a:extLst>
            </p:cNvPr>
            <p:cNvSpPr/>
            <p:nvPr/>
          </p:nvSpPr>
          <p:spPr>
            <a:xfrm>
              <a:off x="4694221" y="4943329"/>
              <a:ext cx="4001106" cy="356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1600" dirty="0"/>
            </a:p>
          </p:txBody>
        </p:sp>
        <p:grpSp>
          <p:nvGrpSpPr>
            <p:cNvPr id="4" name="Groupe 3">
              <a:extLst>
                <a:ext uri="{FF2B5EF4-FFF2-40B4-BE49-F238E27FC236}">
                  <a16:creationId xmlns:a16="http://schemas.microsoft.com/office/drawing/2014/main" id="{49C792AF-9A28-4A97-A8CC-C04781E3D60E}"/>
                </a:ext>
              </a:extLst>
            </p:cNvPr>
            <p:cNvGrpSpPr/>
            <p:nvPr/>
          </p:nvGrpSpPr>
          <p:grpSpPr>
            <a:xfrm>
              <a:off x="1630680" y="2358362"/>
              <a:ext cx="4206240" cy="914400"/>
              <a:chOff x="1630680" y="2358362"/>
              <a:chExt cx="4206240" cy="914400"/>
            </a:xfrm>
          </p:grpSpPr>
          <p:sp>
            <p:nvSpPr>
              <p:cNvPr id="18" name="Shape 3">
                <a:extLst>
                  <a:ext uri="{FF2B5EF4-FFF2-40B4-BE49-F238E27FC236}">
                    <a16:creationId xmlns:a16="http://schemas.microsoft.com/office/drawing/2014/main" id="{2D9ECFE4-4A77-460A-B398-539CE863C1BD}"/>
                  </a:ext>
                </a:extLst>
              </p:cNvPr>
              <p:cNvSpPr/>
              <p:nvPr/>
            </p:nvSpPr>
            <p:spPr>
              <a:xfrm>
                <a:off x="1630680" y="2358362"/>
                <a:ext cx="4206240" cy="914400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7F8C8D"/>
                </a:solidFill>
                <a:prstDash val="solid"/>
              </a:ln>
            </p:spPr>
          </p:sp>
          <p:sp>
            <p:nvSpPr>
              <p:cNvPr id="19" name="Shape 4">
                <a:extLst>
                  <a:ext uri="{FF2B5EF4-FFF2-40B4-BE49-F238E27FC236}">
                    <a16:creationId xmlns:a16="http://schemas.microsoft.com/office/drawing/2014/main" id="{DB1FBC50-0FE0-4DAF-A92F-26172F37460C}"/>
                  </a:ext>
                </a:extLst>
              </p:cNvPr>
              <p:cNvSpPr/>
              <p:nvPr/>
            </p:nvSpPr>
            <p:spPr>
              <a:xfrm>
                <a:off x="1630680" y="2358362"/>
                <a:ext cx="4206240" cy="347472"/>
              </a:xfrm>
              <a:prstGeom prst="rect">
                <a:avLst/>
              </a:prstGeom>
              <a:solidFill>
                <a:srgbClr val="7F8C8D"/>
              </a:solidFill>
              <a:ln w="12700">
                <a:solidFill>
                  <a:srgbClr val="7F8C8D"/>
                </a:solidFill>
                <a:prstDash val="solid"/>
              </a:ln>
            </p:spPr>
          </p:sp>
        </p:grpSp>
        <p:sp>
          <p:nvSpPr>
            <p:cNvPr id="30" name="Text 5">
              <a:extLst>
                <a:ext uri="{FF2B5EF4-FFF2-40B4-BE49-F238E27FC236}">
                  <a16:creationId xmlns:a16="http://schemas.microsoft.com/office/drawing/2014/main" id="{0EBB6B61-69A5-472E-8A57-0D3D10FECF5E}"/>
                </a:ext>
              </a:extLst>
            </p:cNvPr>
            <p:cNvSpPr/>
            <p:nvPr/>
          </p:nvSpPr>
          <p:spPr>
            <a:xfrm>
              <a:off x="1630680" y="2358362"/>
              <a:ext cx="420624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Format Standard</a:t>
              </a:r>
              <a:endParaRPr lang="en-US" sz="1200" dirty="0"/>
            </a:p>
          </p:txBody>
        </p:sp>
        <p:sp>
          <p:nvSpPr>
            <p:cNvPr id="32" name="Text 6">
              <a:extLst>
                <a:ext uri="{FF2B5EF4-FFF2-40B4-BE49-F238E27FC236}">
                  <a16:creationId xmlns:a16="http://schemas.microsoft.com/office/drawing/2014/main" id="{6A8C0FA6-083E-4944-AAE6-7CD504EFF715}"/>
                </a:ext>
              </a:extLst>
            </p:cNvPr>
            <p:cNvSpPr/>
            <p:nvPr/>
          </p:nvSpPr>
          <p:spPr>
            <a:xfrm>
              <a:off x="1630680" y="2705834"/>
              <a:ext cx="4206240" cy="56692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7F8C8D"/>
                  </a:solidFill>
                </a:rPr>
                <a:t>15</a:t>
              </a:r>
              <a:endParaRPr lang="en-US" sz="2400" dirty="0"/>
            </a:p>
          </p:txBody>
        </p:sp>
        <p:sp>
          <p:nvSpPr>
            <p:cNvPr id="33" name="Shape 7">
              <a:extLst>
                <a:ext uri="{FF2B5EF4-FFF2-40B4-BE49-F238E27FC236}">
                  <a16:creationId xmlns:a16="http://schemas.microsoft.com/office/drawing/2014/main" id="{F0F6FBB9-24D7-4390-9065-82D9647B5B12}"/>
                </a:ext>
              </a:extLst>
            </p:cNvPr>
            <p:cNvSpPr/>
            <p:nvPr/>
          </p:nvSpPr>
          <p:spPr>
            <a:xfrm>
              <a:off x="1630680" y="3409922"/>
              <a:ext cx="4206240" cy="9144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2980B9"/>
              </a:solidFill>
              <a:prstDash val="solid"/>
            </a:ln>
          </p:spPr>
        </p:sp>
        <p:sp>
          <p:nvSpPr>
            <p:cNvPr id="34" name="Shape 8">
              <a:extLst>
                <a:ext uri="{FF2B5EF4-FFF2-40B4-BE49-F238E27FC236}">
                  <a16:creationId xmlns:a16="http://schemas.microsoft.com/office/drawing/2014/main" id="{8C4803F4-C131-40DC-B7FE-44C1EC60A5B4}"/>
                </a:ext>
              </a:extLst>
            </p:cNvPr>
            <p:cNvSpPr/>
            <p:nvPr/>
          </p:nvSpPr>
          <p:spPr>
            <a:xfrm>
              <a:off x="1630680" y="3409922"/>
              <a:ext cx="4206240" cy="347472"/>
            </a:xfrm>
            <a:prstGeom prst="rect">
              <a:avLst/>
            </a:prstGeom>
            <a:solidFill>
              <a:srgbClr val="2980B9"/>
            </a:solidFill>
            <a:ln w="12700">
              <a:solidFill>
                <a:srgbClr val="2980B9"/>
              </a:solidFill>
              <a:prstDash val="solid"/>
            </a:ln>
          </p:spPr>
        </p:sp>
        <p:sp>
          <p:nvSpPr>
            <p:cNvPr id="35" name="Text 9">
              <a:extLst>
                <a:ext uri="{FF2B5EF4-FFF2-40B4-BE49-F238E27FC236}">
                  <a16:creationId xmlns:a16="http://schemas.microsoft.com/office/drawing/2014/main" id="{CD07AD6A-AD40-4FC0-B694-952017CCC9D9}"/>
                </a:ext>
              </a:extLst>
            </p:cNvPr>
            <p:cNvSpPr/>
            <p:nvPr/>
          </p:nvSpPr>
          <p:spPr>
            <a:xfrm>
              <a:off x="1630680" y="3409922"/>
              <a:ext cx="420624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Format Nombre (2 décimales)</a:t>
              </a:r>
              <a:endParaRPr lang="en-US" sz="1200" dirty="0"/>
            </a:p>
          </p:txBody>
        </p:sp>
        <p:sp>
          <p:nvSpPr>
            <p:cNvPr id="37" name="Text 10">
              <a:extLst>
                <a:ext uri="{FF2B5EF4-FFF2-40B4-BE49-F238E27FC236}">
                  <a16:creationId xmlns:a16="http://schemas.microsoft.com/office/drawing/2014/main" id="{10AD16C4-DE3F-407B-AFDA-35EBA2006D4E}"/>
                </a:ext>
              </a:extLst>
            </p:cNvPr>
            <p:cNvSpPr/>
            <p:nvPr/>
          </p:nvSpPr>
          <p:spPr>
            <a:xfrm>
              <a:off x="1630680" y="3757394"/>
              <a:ext cx="4206240" cy="56692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2980B9"/>
                  </a:solidFill>
                </a:rPr>
                <a:t>15,00</a:t>
              </a:r>
              <a:endParaRPr lang="en-US" sz="2400" dirty="0"/>
            </a:p>
          </p:txBody>
        </p:sp>
        <p:sp>
          <p:nvSpPr>
            <p:cNvPr id="38" name="Shape 11">
              <a:extLst>
                <a:ext uri="{FF2B5EF4-FFF2-40B4-BE49-F238E27FC236}">
                  <a16:creationId xmlns:a16="http://schemas.microsoft.com/office/drawing/2014/main" id="{4EA64521-73EA-4922-B4D1-526B71231B93}"/>
                </a:ext>
              </a:extLst>
            </p:cNvPr>
            <p:cNvSpPr/>
            <p:nvPr/>
          </p:nvSpPr>
          <p:spPr>
            <a:xfrm>
              <a:off x="1630680" y="4461482"/>
              <a:ext cx="4206240" cy="9144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1A7A4A"/>
              </a:solidFill>
              <a:prstDash val="solid"/>
            </a:ln>
          </p:spPr>
        </p:sp>
        <p:sp>
          <p:nvSpPr>
            <p:cNvPr id="39" name="Shape 12">
              <a:extLst>
                <a:ext uri="{FF2B5EF4-FFF2-40B4-BE49-F238E27FC236}">
                  <a16:creationId xmlns:a16="http://schemas.microsoft.com/office/drawing/2014/main" id="{2F799096-A115-40ED-AB73-ECD9ADCFC86C}"/>
                </a:ext>
              </a:extLst>
            </p:cNvPr>
            <p:cNvSpPr/>
            <p:nvPr/>
          </p:nvSpPr>
          <p:spPr>
            <a:xfrm>
              <a:off x="1630680" y="4461482"/>
              <a:ext cx="4206240" cy="347472"/>
            </a:xfrm>
            <a:prstGeom prst="rect">
              <a:avLst/>
            </a:prstGeom>
            <a:solidFill>
              <a:srgbClr val="1A7A4A"/>
            </a:solidFill>
            <a:ln w="12700">
              <a:solidFill>
                <a:srgbClr val="1A7A4A"/>
              </a:solidFill>
              <a:prstDash val="solid"/>
            </a:ln>
          </p:spPr>
        </p:sp>
        <p:sp>
          <p:nvSpPr>
            <p:cNvPr id="40" name="Text 13">
              <a:extLst>
                <a:ext uri="{FF2B5EF4-FFF2-40B4-BE49-F238E27FC236}">
                  <a16:creationId xmlns:a16="http://schemas.microsoft.com/office/drawing/2014/main" id="{112FD1B5-7688-4DA0-96E8-AA7486E1000D}"/>
                </a:ext>
              </a:extLst>
            </p:cNvPr>
            <p:cNvSpPr/>
            <p:nvPr/>
          </p:nvSpPr>
          <p:spPr>
            <a:xfrm>
              <a:off x="1630680" y="4461482"/>
              <a:ext cx="420624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Format Monétaire</a:t>
              </a:r>
              <a:endParaRPr lang="en-US" sz="1200" dirty="0"/>
            </a:p>
          </p:txBody>
        </p:sp>
        <p:sp>
          <p:nvSpPr>
            <p:cNvPr id="41" name="Text 14">
              <a:extLst>
                <a:ext uri="{FF2B5EF4-FFF2-40B4-BE49-F238E27FC236}">
                  <a16:creationId xmlns:a16="http://schemas.microsoft.com/office/drawing/2014/main" id="{E4777ECA-A60E-46FD-8BFC-1C35AD7DE681}"/>
                </a:ext>
              </a:extLst>
            </p:cNvPr>
            <p:cNvSpPr/>
            <p:nvPr/>
          </p:nvSpPr>
          <p:spPr>
            <a:xfrm>
              <a:off x="1630680" y="4808954"/>
              <a:ext cx="4206240" cy="56692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1A7A4A"/>
                  </a:solidFill>
                </a:rPr>
                <a:t>15,00 DH</a:t>
              </a:r>
              <a:endParaRPr lang="en-US" sz="2400" dirty="0"/>
            </a:p>
          </p:txBody>
        </p:sp>
        <p:sp>
          <p:nvSpPr>
            <p:cNvPr id="42" name="Shape 15">
              <a:extLst>
                <a:ext uri="{FF2B5EF4-FFF2-40B4-BE49-F238E27FC236}">
                  <a16:creationId xmlns:a16="http://schemas.microsoft.com/office/drawing/2014/main" id="{125E3E94-4CB4-4DFF-81D9-43136D2B8F16}"/>
                </a:ext>
              </a:extLst>
            </p:cNvPr>
            <p:cNvSpPr/>
            <p:nvPr/>
          </p:nvSpPr>
          <p:spPr>
            <a:xfrm>
              <a:off x="6111240" y="2358362"/>
              <a:ext cx="4206240" cy="9144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E67E22"/>
              </a:solidFill>
              <a:prstDash val="solid"/>
            </a:ln>
          </p:spPr>
        </p:sp>
        <p:sp>
          <p:nvSpPr>
            <p:cNvPr id="43" name="Shape 16">
              <a:extLst>
                <a:ext uri="{FF2B5EF4-FFF2-40B4-BE49-F238E27FC236}">
                  <a16:creationId xmlns:a16="http://schemas.microsoft.com/office/drawing/2014/main" id="{4BA4160B-8B1D-40F5-9D2C-90A8AA1E9AFD}"/>
                </a:ext>
              </a:extLst>
            </p:cNvPr>
            <p:cNvSpPr/>
            <p:nvPr/>
          </p:nvSpPr>
          <p:spPr>
            <a:xfrm>
              <a:off x="6111240" y="2358362"/>
              <a:ext cx="4206240" cy="347472"/>
            </a:xfrm>
            <a:prstGeom prst="rect">
              <a:avLst/>
            </a:prstGeom>
            <a:solidFill>
              <a:srgbClr val="E67E22"/>
            </a:solidFill>
            <a:ln w="12700">
              <a:solidFill>
                <a:srgbClr val="E67E22"/>
              </a:solidFill>
              <a:prstDash val="solid"/>
            </a:ln>
          </p:spPr>
        </p:sp>
        <p:sp>
          <p:nvSpPr>
            <p:cNvPr id="44" name="Text 17">
              <a:extLst>
                <a:ext uri="{FF2B5EF4-FFF2-40B4-BE49-F238E27FC236}">
                  <a16:creationId xmlns:a16="http://schemas.microsoft.com/office/drawing/2014/main" id="{A4B11AF3-E352-47CA-943D-4357EF43CF18}"/>
                </a:ext>
              </a:extLst>
            </p:cNvPr>
            <p:cNvSpPr/>
            <p:nvPr/>
          </p:nvSpPr>
          <p:spPr>
            <a:xfrm>
              <a:off x="6111240" y="2358362"/>
              <a:ext cx="420624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Format Pourcentage</a:t>
              </a:r>
              <a:endParaRPr lang="en-US" sz="1200" dirty="0"/>
            </a:p>
          </p:txBody>
        </p:sp>
        <p:sp>
          <p:nvSpPr>
            <p:cNvPr id="45" name="Text 18">
              <a:extLst>
                <a:ext uri="{FF2B5EF4-FFF2-40B4-BE49-F238E27FC236}">
                  <a16:creationId xmlns:a16="http://schemas.microsoft.com/office/drawing/2014/main" id="{3239DD88-8A5A-4C0F-80CC-58D8FFDC3708}"/>
                </a:ext>
              </a:extLst>
            </p:cNvPr>
            <p:cNvSpPr/>
            <p:nvPr/>
          </p:nvSpPr>
          <p:spPr>
            <a:xfrm>
              <a:off x="6111240" y="2705834"/>
              <a:ext cx="4206240" cy="56692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E67E22"/>
                  </a:solidFill>
                </a:rPr>
                <a:t>15%</a:t>
              </a:r>
              <a:endParaRPr lang="en-US" sz="2400" dirty="0"/>
            </a:p>
          </p:txBody>
        </p:sp>
        <p:sp>
          <p:nvSpPr>
            <p:cNvPr id="46" name="Shape 19">
              <a:extLst>
                <a:ext uri="{FF2B5EF4-FFF2-40B4-BE49-F238E27FC236}">
                  <a16:creationId xmlns:a16="http://schemas.microsoft.com/office/drawing/2014/main" id="{ABC78A75-949E-46E5-B36C-CCB9E6DF0DCD}"/>
                </a:ext>
              </a:extLst>
            </p:cNvPr>
            <p:cNvSpPr/>
            <p:nvPr/>
          </p:nvSpPr>
          <p:spPr>
            <a:xfrm>
              <a:off x="6111240" y="3409922"/>
              <a:ext cx="4206240" cy="9144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8E44AD"/>
              </a:solidFill>
              <a:prstDash val="solid"/>
            </a:ln>
          </p:spPr>
        </p:sp>
        <p:sp>
          <p:nvSpPr>
            <p:cNvPr id="47" name="Shape 20">
              <a:extLst>
                <a:ext uri="{FF2B5EF4-FFF2-40B4-BE49-F238E27FC236}">
                  <a16:creationId xmlns:a16="http://schemas.microsoft.com/office/drawing/2014/main" id="{91D78F9A-0C15-4C64-BD4A-7CD0067187FB}"/>
                </a:ext>
              </a:extLst>
            </p:cNvPr>
            <p:cNvSpPr/>
            <p:nvPr/>
          </p:nvSpPr>
          <p:spPr>
            <a:xfrm>
              <a:off x="6111240" y="3409922"/>
              <a:ext cx="4206240" cy="347472"/>
            </a:xfrm>
            <a:prstGeom prst="rect">
              <a:avLst/>
            </a:prstGeom>
            <a:solidFill>
              <a:srgbClr val="8E44AD"/>
            </a:solidFill>
            <a:ln w="12700">
              <a:solidFill>
                <a:srgbClr val="8E44AD"/>
              </a:solidFill>
              <a:prstDash val="solid"/>
            </a:ln>
          </p:spPr>
        </p:sp>
        <p:sp>
          <p:nvSpPr>
            <p:cNvPr id="48" name="Text 21">
              <a:extLst>
                <a:ext uri="{FF2B5EF4-FFF2-40B4-BE49-F238E27FC236}">
                  <a16:creationId xmlns:a16="http://schemas.microsoft.com/office/drawing/2014/main" id="{E87FB092-3C67-4051-A8ED-08FDEFE3CB35}"/>
                </a:ext>
              </a:extLst>
            </p:cNvPr>
            <p:cNvSpPr/>
            <p:nvPr/>
          </p:nvSpPr>
          <p:spPr>
            <a:xfrm>
              <a:off x="6111240" y="3409922"/>
              <a:ext cx="420624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Format Date</a:t>
              </a:r>
              <a:endParaRPr lang="en-US" sz="1200" dirty="0"/>
            </a:p>
          </p:txBody>
        </p:sp>
        <p:sp>
          <p:nvSpPr>
            <p:cNvPr id="49" name="Text 22">
              <a:extLst>
                <a:ext uri="{FF2B5EF4-FFF2-40B4-BE49-F238E27FC236}">
                  <a16:creationId xmlns:a16="http://schemas.microsoft.com/office/drawing/2014/main" id="{DD2B087D-743F-4AA9-9561-D32615200A86}"/>
                </a:ext>
              </a:extLst>
            </p:cNvPr>
            <p:cNvSpPr/>
            <p:nvPr/>
          </p:nvSpPr>
          <p:spPr>
            <a:xfrm>
              <a:off x="6111240" y="3757394"/>
              <a:ext cx="4206240" cy="56692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8E44AD"/>
                  </a:solidFill>
                </a:rPr>
                <a:t>15/01/1960</a:t>
              </a:r>
              <a:endParaRPr lang="en-US" sz="2400" dirty="0"/>
            </a:p>
          </p:txBody>
        </p:sp>
        <p:sp>
          <p:nvSpPr>
            <p:cNvPr id="50" name="Shape 23">
              <a:extLst>
                <a:ext uri="{FF2B5EF4-FFF2-40B4-BE49-F238E27FC236}">
                  <a16:creationId xmlns:a16="http://schemas.microsoft.com/office/drawing/2014/main" id="{1F7AE882-59AF-4A68-BB68-0DD15FA72A16}"/>
                </a:ext>
              </a:extLst>
            </p:cNvPr>
            <p:cNvSpPr/>
            <p:nvPr/>
          </p:nvSpPr>
          <p:spPr>
            <a:xfrm>
              <a:off x="6111240" y="4461482"/>
              <a:ext cx="4206240" cy="9144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C0392B"/>
              </a:solidFill>
              <a:prstDash val="solid"/>
            </a:ln>
          </p:spPr>
        </p:sp>
        <p:sp>
          <p:nvSpPr>
            <p:cNvPr id="51" name="Shape 24">
              <a:extLst>
                <a:ext uri="{FF2B5EF4-FFF2-40B4-BE49-F238E27FC236}">
                  <a16:creationId xmlns:a16="http://schemas.microsoft.com/office/drawing/2014/main" id="{AFD2F9BE-7E8C-40A4-8658-556A5A93ACAA}"/>
                </a:ext>
              </a:extLst>
            </p:cNvPr>
            <p:cNvSpPr/>
            <p:nvPr/>
          </p:nvSpPr>
          <p:spPr>
            <a:xfrm>
              <a:off x="6111240" y="4461482"/>
              <a:ext cx="4206240" cy="347472"/>
            </a:xfrm>
            <a:prstGeom prst="rect">
              <a:avLst/>
            </a:prstGeom>
            <a:solidFill>
              <a:srgbClr val="C0392B"/>
            </a:solidFill>
            <a:ln w="12700">
              <a:solidFill>
                <a:srgbClr val="C0392B"/>
              </a:solidFill>
              <a:prstDash val="solid"/>
            </a:ln>
          </p:spPr>
        </p:sp>
        <p:sp>
          <p:nvSpPr>
            <p:cNvPr id="52" name="Text 25">
              <a:extLst>
                <a:ext uri="{FF2B5EF4-FFF2-40B4-BE49-F238E27FC236}">
                  <a16:creationId xmlns:a16="http://schemas.microsoft.com/office/drawing/2014/main" id="{C0206586-5585-46C9-8130-4E13ECA2FC3C}"/>
                </a:ext>
              </a:extLst>
            </p:cNvPr>
            <p:cNvSpPr/>
            <p:nvPr/>
          </p:nvSpPr>
          <p:spPr>
            <a:xfrm>
              <a:off x="6111240" y="4461482"/>
              <a:ext cx="420624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Format Heure</a:t>
              </a:r>
              <a:endParaRPr lang="en-US" sz="1200" dirty="0"/>
            </a:p>
          </p:txBody>
        </p:sp>
        <p:sp>
          <p:nvSpPr>
            <p:cNvPr id="53" name="Text 26">
              <a:extLst>
                <a:ext uri="{FF2B5EF4-FFF2-40B4-BE49-F238E27FC236}">
                  <a16:creationId xmlns:a16="http://schemas.microsoft.com/office/drawing/2014/main" id="{68B9C377-4F6E-4895-A85A-B489FF1C3E03}"/>
                </a:ext>
              </a:extLst>
            </p:cNvPr>
            <p:cNvSpPr/>
            <p:nvPr/>
          </p:nvSpPr>
          <p:spPr>
            <a:xfrm>
              <a:off x="6111240" y="4808954"/>
              <a:ext cx="4206240" cy="56692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C0392B"/>
                  </a:solidFill>
                </a:rPr>
                <a:t>0:00:00</a:t>
              </a:r>
              <a:endParaRPr 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1659042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du numéro de diapositive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D49EA-5B67-4AAA-B86D-F1B0C798D823}" type="slidenum">
              <a:rPr lang="fr-FR" smtClean="0"/>
              <a:pPr/>
              <a:t>7</a:t>
            </a:fld>
            <a:endParaRPr lang="fr-FR"/>
          </a:p>
        </p:txBody>
      </p:sp>
      <p:sp>
        <p:nvSpPr>
          <p:cNvPr id="7172" name="AutoShape 4" descr="http://www.gelgabon.net/_/rsrc/1243686138086/materiels-et-logiciels/le-wifi/liaison-wifi-entre-2-PC.jpg"/>
          <p:cNvSpPr>
            <a:spLocks noChangeAspect="1" noChangeArrowheads="1"/>
          </p:cNvSpPr>
          <p:nvPr/>
        </p:nvSpPr>
        <p:spPr bwMode="auto">
          <a:xfrm>
            <a:off x="207434" y="-1790700"/>
            <a:ext cx="7683500" cy="232030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8" name="Titre 7"/>
          <p:cNvSpPr>
            <a:spLocks noGrp="1"/>
          </p:cNvSpPr>
          <p:nvPr>
            <p:ph type="title"/>
          </p:nvPr>
        </p:nvSpPr>
        <p:spPr>
          <a:xfrm>
            <a:off x="0" y="0"/>
            <a:ext cx="10972800" cy="489790"/>
          </a:xfrm>
        </p:spPr>
        <p:txBody>
          <a:bodyPr>
            <a:no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fr-FR" sz="4000" b="1" dirty="0">
                <a:solidFill>
                  <a:schemeClr val="accent6">
                    <a:lumMod val="75000"/>
                  </a:schemeClr>
                </a:solidFill>
              </a:rPr>
              <a:t>La mise en forme des cellules: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46376772-93E1-4745-905D-A011A000BCC8}"/>
              </a:ext>
            </a:extLst>
          </p:cNvPr>
          <p:cNvSpPr txBox="1"/>
          <p:nvPr/>
        </p:nvSpPr>
        <p:spPr>
          <a:xfrm>
            <a:off x="410219" y="1230602"/>
            <a:ext cx="472264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2000" dirty="0">
                <a:latin typeface="+mj-lt"/>
              </a:rPr>
              <a:t>L’onglet Alignement permet: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fr-FR" sz="2000" b="1" dirty="0">
                <a:solidFill>
                  <a:srgbClr val="7030A0"/>
                </a:solidFill>
                <a:latin typeface="+mj-lt"/>
              </a:rPr>
              <a:t>Alignement du texte</a:t>
            </a:r>
            <a:r>
              <a:rPr lang="fr-FR" sz="2000" dirty="0">
                <a:latin typeface="+mj-lt"/>
              </a:rPr>
              <a:t> (horizontal ou vertical par rapport à la cellule)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fr-FR" sz="2000" b="1" dirty="0">
                <a:solidFill>
                  <a:srgbClr val="7030A0"/>
                </a:solidFill>
                <a:latin typeface="+mj-lt"/>
              </a:rPr>
              <a:t>Contrôle du texte </a:t>
            </a:r>
            <a:r>
              <a:rPr lang="fr-FR" sz="2000" dirty="0">
                <a:latin typeface="+mj-lt"/>
              </a:rPr>
              <a:t>(renvoyer à la ligne automatique, ajuster, fusionner)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fr-FR" sz="2000" b="1" dirty="0">
                <a:solidFill>
                  <a:srgbClr val="7030A0"/>
                </a:solidFill>
                <a:latin typeface="+mj-lt"/>
              </a:rPr>
              <a:t>Orientation du texte </a:t>
            </a:r>
            <a:r>
              <a:rPr lang="fr-FR" sz="2000" dirty="0">
                <a:latin typeface="+mj-lt"/>
              </a:rPr>
              <a:t>dans une ou ensemble de cellules.</a:t>
            </a:r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0819D954-4501-40E4-9B24-48066E472185}"/>
              </a:ext>
            </a:extLst>
          </p:cNvPr>
          <p:cNvSpPr/>
          <p:nvPr/>
        </p:nvSpPr>
        <p:spPr>
          <a:xfrm>
            <a:off x="4557060" y="2821921"/>
            <a:ext cx="4301189" cy="44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algn="ctr">
              <a:buNone/>
            </a:pPr>
            <a:endParaRPr lang="en-US" sz="2400" dirty="0">
              <a:latin typeface="+mj-lt"/>
            </a:endParaRPr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81307FA9-6BDA-4950-B9BB-9A19978FC1FB}"/>
              </a:ext>
            </a:extLst>
          </p:cNvPr>
          <p:cNvSpPr/>
          <p:nvPr/>
        </p:nvSpPr>
        <p:spPr>
          <a:xfrm>
            <a:off x="4694221" y="3370561"/>
            <a:ext cx="4001106" cy="35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5680ED91-3996-4816-9217-D49B8455F4D1}"/>
              </a:ext>
            </a:extLst>
          </p:cNvPr>
          <p:cNvSpPr/>
          <p:nvPr/>
        </p:nvSpPr>
        <p:spPr>
          <a:xfrm>
            <a:off x="4694221" y="3763753"/>
            <a:ext cx="4001106" cy="35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EF791F12-37D9-4792-88D0-CE5B6DFAC130}"/>
              </a:ext>
            </a:extLst>
          </p:cNvPr>
          <p:cNvSpPr/>
          <p:nvPr/>
        </p:nvSpPr>
        <p:spPr>
          <a:xfrm>
            <a:off x="4694221" y="4156945"/>
            <a:ext cx="4001106" cy="35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EBF7E302-448D-49FC-A69A-F951B5C44A93}"/>
              </a:ext>
            </a:extLst>
          </p:cNvPr>
          <p:cNvSpPr/>
          <p:nvPr/>
        </p:nvSpPr>
        <p:spPr>
          <a:xfrm>
            <a:off x="4694221" y="4943329"/>
            <a:ext cx="4001106" cy="35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CE86A2ED-FC67-498D-A67D-19D520AA4892}"/>
              </a:ext>
            </a:extLst>
          </p:cNvPr>
          <p:cNvSpPr/>
          <p:nvPr/>
        </p:nvSpPr>
        <p:spPr>
          <a:xfrm>
            <a:off x="4694221" y="5729713"/>
            <a:ext cx="4001106" cy="35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ADF52F7B-212D-42D5-AA1C-53068BF4E57D}"/>
              </a:ext>
            </a:extLst>
          </p:cNvPr>
          <p:cNvSpPr/>
          <p:nvPr/>
        </p:nvSpPr>
        <p:spPr>
          <a:xfrm>
            <a:off x="4732321" y="6040941"/>
            <a:ext cx="4001106" cy="35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628650" lvl="1" indent="-171450">
              <a:lnSpc>
                <a:spcPct val="200000"/>
              </a:lnSpc>
              <a:buFont typeface="Wingdings" panose="05000000000000000000" pitchFamily="2" charset="2"/>
              <a:buChar char="q"/>
            </a:pPr>
            <a:endParaRPr lang="en-US" sz="1600" dirty="0">
              <a:solidFill>
                <a:srgbClr val="1C2833"/>
              </a:solidFill>
            </a:endParaRPr>
          </a:p>
        </p:txBody>
      </p:sp>
      <p:sp>
        <p:nvSpPr>
          <p:cNvPr id="31" name="Text 15">
            <a:extLst>
              <a:ext uri="{FF2B5EF4-FFF2-40B4-BE49-F238E27FC236}">
                <a16:creationId xmlns:a16="http://schemas.microsoft.com/office/drawing/2014/main" id="{35E3EF9E-F134-4287-8D39-91E9573F27FF}"/>
              </a:ext>
            </a:extLst>
          </p:cNvPr>
          <p:cNvSpPr/>
          <p:nvPr/>
        </p:nvSpPr>
        <p:spPr>
          <a:xfrm>
            <a:off x="9159552" y="1292321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36" name="Text 20">
            <a:extLst>
              <a:ext uri="{FF2B5EF4-FFF2-40B4-BE49-F238E27FC236}">
                <a16:creationId xmlns:a16="http://schemas.microsoft.com/office/drawing/2014/main" id="{768A2672-D632-457E-9DDB-E2CD189500F6}"/>
              </a:ext>
            </a:extLst>
          </p:cNvPr>
          <p:cNvSpPr/>
          <p:nvPr/>
        </p:nvSpPr>
        <p:spPr>
          <a:xfrm>
            <a:off x="9296712" y="3413729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7D234344-92D6-4134-8A59-71AB4ECD9B9E}"/>
              </a:ext>
            </a:extLst>
          </p:cNvPr>
          <p:cNvSpPr txBox="1"/>
          <p:nvPr/>
        </p:nvSpPr>
        <p:spPr>
          <a:xfrm>
            <a:off x="1157931" y="524515"/>
            <a:ext cx="21408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solidFill>
                  <a:srgbClr val="FF0000"/>
                </a:solidFill>
              </a:rPr>
              <a:t>Alignement :</a:t>
            </a:r>
            <a:endParaRPr lang="fr-FR" sz="2400" dirty="0"/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C8678F3E-ABE7-472D-BB99-094781E93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4226" y="628368"/>
            <a:ext cx="6792516" cy="5979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3592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du numéro de diapositive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D49EA-5B67-4AAA-B86D-F1B0C798D823}" type="slidenum">
              <a:rPr lang="fr-FR" smtClean="0"/>
              <a:pPr/>
              <a:t>8</a:t>
            </a:fld>
            <a:endParaRPr lang="fr-FR"/>
          </a:p>
        </p:txBody>
      </p:sp>
      <p:sp>
        <p:nvSpPr>
          <p:cNvPr id="7172" name="AutoShape 4" descr="http://www.gelgabon.net/_/rsrc/1243686138086/materiels-et-logiciels/le-wifi/liaison-wifi-entre-2-PC.jpg"/>
          <p:cNvSpPr>
            <a:spLocks noChangeAspect="1" noChangeArrowheads="1"/>
          </p:cNvSpPr>
          <p:nvPr/>
        </p:nvSpPr>
        <p:spPr bwMode="auto">
          <a:xfrm>
            <a:off x="207434" y="-1790700"/>
            <a:ext cx="7683500" cy="232030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8" name="Titre 7"/>
          <p:cNvSpPr>
            <a:spLocks noGrp="1"/>
          </p:cNvSpPr>
          <p:nvPr>
            <p:ph type="title"/>
          </p:nvPr>
        </p:nvSpPr>
        <p:spPr>
          <a:xfrm>
            <a:off x="0" y="0"/>
            <a:ext cx="10972800" cy="489790"/>
          </a:xfrm>
        </p:spPr>
        <p:txBody>
          <a:bodyPr>
            <a:no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fr-FR" sz="4000" b="1" dirty="0">
                <a:solidFill>
                  <a:schemeClr val="accent6">
                    <a:lumMod val="75000"/>
                  </a:schemeClr>
                </a:solidFill>
              </a:rPr>
              <a:t>La mise en forme des cellules: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46376772-93E1-4745-905D-A011A000BCC8}"/>
              </a:ext>
            </a:extLst>
          </p:cNvPr>
          <p:cNvSpPr txBox="1"/>
          <p:nvPr/>
        </p:nvSpPr>
        <p:spPr>
          <a:xfrm>
            <a:off x="294471" y="1076749"/>
            <a:ext cx="1131493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2000" dirty="0">
                <a:latin typeface="+mj-lt"/>
              </a:rPr>
              <a:t>L’onglet Police est identique à celui de </a:t>
            </a:r>
            <a:r>
              <a:rPr lang="fr-FR" sz="2000" b="1" dirty="0">
                <a:solidFill>
                  <a:schemeClr val="accent5"/>
                </a:solidFill>
                <a:latin typeface="+mj-lt"/>
              </a:rPr>
              <a:t>Word</a:t>
            </a:r>
            <a:r>
              <a:rPr lang="fr-FR" sz="2000" dirty="0">
                <a:latin typeface="+mj-lt"/>
              </a:rPr>
              <a:t>. De la même manière on peut </a:t>
            </a:r>
            <a:r>
              <a:rPr lang="fr-FR" sz="2000" b="1" dirty="0">
                <a:solidFill>
                  <a:srgbClr val="7030A0"/>
                </a:solidFill>
                <a:latin typeface="+mj-lt"/>
              </a:rPr>
              <a:t>changer la police</a:t>
            </a:r>
            <a:r>
              <a:rPr lang="fr-FR" sz="2000" dirty="0">
                <a:latin typeface="+mj-lt"/>
              </a:rPr>
              <a:t>, </a:t>
            </a:r>
            <a:r>
              <a:rPr lang="fr-FR" sz="2000" b="1" dirty="0">
                <a:solidFill>
                  <a:srgbClr val="7030A0"/>
                </a:solidFill>
                <a:latin typeface="+mj-lt"/>
              </a:rPr>
              <a:t>le style</a:t>
            </a:r>
            <a:r>
              <a:rPr lang="fr-FR" sz="2000" dirty="0">
                <a:latin typeface="+mj-lt"/>
              </a:rPr>
              <a:t>, </a:t>
            </a:r>
            <a:r>
              <a:rPr lang="fr-FR" sz="2000" b="1" dirty="0">
                <a:solidFill>
                  <a:srgbClr val="7030A0"/>
                </a:solidFill>
                <a:latin typeface="+mj-lt"/>
              </a:rPr>
              <a:t>la taille </a:t>
            </a:r>
            <a:r>
              <a:rPr lang="fr-FR" sz="2000" dirty="0">
                <a:latin typeface="+mj-lt"/>
              </a:rPr>
              <a:t>et </a:t>
            </a:r>
            <a:r>
              <a:rPr lang="fr-FR" sz="2000" b="1" dirty="0">
                <a:solidFill>
                  <a:srgbClr val="7030A0"/>
                </a:solidFill>
                <a:latin typeface="+mj-lt"/>
              </a:rPr>
              <a:t>autres attributs</a:t>
            </a:r>
            <a:r>
              <a:rPr lang="fr-FR" sz="2000" dirty="0">
                <a:latin typeface="+mj-lt"/>
              </a:rPr>
              <a:t>.</a:t>
            </a:r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81307FA9-6BDA-4950-B9BB-9A19978FC1FB}"/>
              </a:ext>
            </a:extLst>
          </p:cNvPr>
          <p:cNvSpPr/>
          <p:nvPr/>
        </p:nvSpPr>
        <p:spPr>
          <a:xfrm>
            <a:off x="4694221" y="3370561"/>
            <a:ext cx="4001106" cy="35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5680ED91-3996-4816-9217-D49B8455F4D1}"/>
              </a:ext>
            </a:extLst>
          </p:cNvPr>
          <p:cNvSpPr/>
          <p:nvPr/>
        </p:nvSpPr>
        <p:spPr>
          <a:xfrm>
            <a:off x="4694221" y="3763753"/>
            <a:ext cx="4001106" cy="35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EBF7E302-448D-49FC-A69A-F951B5C44A93}"/>
              </a:ext>
            </a:extLst>
          </p:cNvPr>
          <p:cNvSpPr/>
          <p:nvPr/>
        </p:nvSpPr>
        <p:spPr>
          <a:xfrm>
            <a:off x="4694221" y="4943329"/>
            <a:ext cx="4001106" cy="35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CE86A2ED-FC67-498D-A67D-19D520AA4892}"/>
              </a:ext>
            </a:extLst>
          </p:cNvPr>
          <p:cNvSpPr/>
          <p:nvPr/>
        </p:nvSpPr>
        <p:spPr>
          <a:xfrm>
            <a:off x="4694221" y="5729713"/>
            <a:ext cx="4001106" cy="35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ADF52F7B-212D-42D5-AA1C-53068BF4E57D}"/>
              </a:ext>
            </a:extLst>
          </p:cNvPr>
          <p:cNvSpPr/>
          <p:nvPr/>
        </p:nvSpPr>
        <p:spPr>
          <a:xfrm>
            <a:off x="4732321" y="6040941"/>
            <a:ext cx="4001106" cy="35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628650" lvl="1" indent="-171450">
              <a:lnSpc>
                <a:spcPct val="200000"/>
              </a:lnSpc>
              <a:buFont typeface="Wingdings" panose="05000000000000000000" pitchFamily="2" charset="2"/>
              <a:buChar char="q"/>
            </a:pPr>
            <a:endParaRPr lang="en-US" sz="1600" dirty="0">
              <a:solidFill>
                <a:srgbClr val="1C2833"/>
              </a:solidFill>
            </a:endParaRPr>
          </a:p>
        </p:txBody>
      </p:sp>
      <p:sp>
        <p:nvSpPr>
          <p:cNvPr id="31" name="Text 15">
            <a:extLst>
              <a:ext uri="{FF2B5EF4-FFF2-40B4-BE49-F238E27FC236}">
                <a16:creationId xmlns:a16="http://schemas.microsoft.com/office/drawing/2014/main" id="{35E3EF9E-F134-4287-8D39-91E9573F27FF}"/>
              </a:ext>
            </a:extLst>
          </p:cNvPr>
          <p:cNvSpPr/>
          <p:nvPr/>
        </p:nvSpPr>
        <p:spPr>
          <a:xfrm>
            <a:off x="9159552" y="1292321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36" name="Text 20">
            <a:extLst>
              <a:ext uri="{FF2B5EF4-FFF2-40B4-BE49-F238E27FC236}">
                <a16:creationId xmlns:a16="http://schemas.microsoft.com/office/drawing/2014/main" id="{768A2672-D632-457E-9DDB-E2CD189500F6}"/>
              </a:ext>
            </a:extLst>
          </p:cNvPr>
          <p:cNvSpPr/>
          <p:nvPr/>
        </p:nvSpPr>
        <p:spPr>
          <a:xfrm>
            <a:off x="9296712" y="3413729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7D234344-92D6-4134-8A59-71AB4ECD9B9E}"/>
              </a:ext>
            </a:extLst>
          </p:cNvPr>
          <p:cNvSpPr txBox="1"/>
          <p:nvPr/>
        </p:nvSpPr>
        <p:spPr>
          <a:xfrm>
            <a:off x="1157931" y="524515"/>
            <a:ext cx="17728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solidFill>
                  <a:srgbClr val="FF0000"/>
                </a:solidFill>
              </a:rPr>
              <a:t>Police : </a:t>
            </a: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2EF52807-1192-4DE1-BB34-4B3BE3F757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7143" y="1846622"/>
            <a:ext cx="8129782" cy="4806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9582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du numéro de diapositive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D49EA-5B67-4AAA-B86D-F1B0C798D823}" type="slidenum">
              <a:rPr lang="fr-FR" smtClean="0"/>
              <a:pPr/>
              <a:t>9</a:t>
            </a:fld>
            <a:endParaRPr lang="fr-FR"/>
          </a:p>
        </p:txBody>
      </p:sp>
      <p:sp>
        <p:nvSpPr>
          <p:cNvPr id="7172" name="AutoShape 4" descr="http://www.gelgabon.net/_/rsrc/1243686138086/materiels-et-logiciels/le-wifi/liaison-wifi-entre-2-PC.jpg"/>
          <p:cNvSpPr>
            <a:spLocks noChangeAspect="1" noChangeArrowheads="1"/>
          </p:cNvSpPr>
          <p:nvPr/>
        </p:nvSpPr>
        <p:spPr bwMode="auto">
          <a:xfrm>
            <a:off x="207434" y="-1790700"/>
            <a:ext cx="7683500" cy="232030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8" name="Titre 7"/>
          <p:cNvSpPr>
            <a:spLocks noGrp="1"/>
          </p:cNvSpPr>
          <p:nvPr>
            <p:ph type="title"/>
          </p:nvPr>
        </p:nvSpPr>
        <p:spPr>
          <a:xfrm>
            <a:off x="0" y="0"/>
            <a:ext cx="10972800" cy="489790"/>
          </a:xfrm>
        </p:spPr>
        <p:txBody>
          <a:bodyPr>
            <a:no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fr-FR" sz="4000" b="1" dirty="0">
                <a:solidFill>
                  <a:schemeClr val="accent6">
                    <a:lumMod val="75000"/>
                  </a:schemeClr>
                </a:solidFill>
              </a:rPr>
              <a:t>La mise en forme des cellules: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46376772-93E1-4745-905D-A011A000BCC8}"/>
              </a:ext>
            </a:extLst>
          </p:cNvPr>
          <p:cNvSpPr txBox="1"/>
          <p:nvPr/>
        </p:nvSpPr>
        <p:spPr>
          <a:xfrm>
            <a:off x="294471" y="1076749"/>
            <a:ext cx="113149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2000" dirty="0">
                <a:latin typeface="+mj-lt"/>
              </a:rPr>
              <a:t>L’onglet Bordure présente de nombreux choix pour réaliser une bordure d’ une ou plusieurs cellules.</a:t>
            </a:r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81307FA9-6BDA-4950-B9BB-9A19978FC1FB}"/>
              </a:ext>
            </a:extLst>
          </p:cNvPr>
          <p:cNvSpPr/>
          <p:nvPr/>
        </p:nvSpPr>
        <p:spPr>
          <a:xfrm>
            <a:off x="4694221" y="3370561"/>
            <a:ext cx="4001106" cy="35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5680ED91-3996-4816-9217-D49B8455F4D1}"/>
              </a:ext>
            </a:extLst>
          </p:cNvPr>
          <p:cNvSpPr/>
          <p:nvPr/>
        </p:nvSpPr>
        <p:spPr>
          <a:xfrm>
            <a:off x="4694221" y="3763753"/>
            <a:ext cx="4001106" cy="35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EBF7E302-448D-49FC-A69A-F951B5C44A93}"/>
              </a:ext>
            </a:extLst>
          </p:cNvPr>
          <p:cNvSpPr/>
          <p:nvPr/>
        </p:nvSpPr>
        <p:spPr>
          <a:xfrm>
            <a:off x="4694221" y="4943329"/>
            <a:ext cx="4001106" cy="35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CE86A2ED-FC67-498D-A67D-19D520AA4892}"/>
              </a:ext>
            </a:extLst>
          </p:cNvPr>
          <p:cNvSpPr/>
          <p:nvPr/>
        </p:nvSpPr>
        <p:spPr>
          <a:xfrm>
            <a:off x="4694221" y="5729713"/>
            <a:ext cx="4001106" cy="35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ADF52F7B-212D-42D5-AA1C-53068BF4E57D}"/>
              </a:ext>
            </a:extLst>
          </p:cNvPr>
          <p:cNvSpPr/>
          <p:nvPr/>
        </p:nvSpPr>
        <p:spPr>
          <a:xfrm>
            <a:off x="4732321" y="6040941"/>
            <a:ext cx="4001106" cy="35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628650" lvl="1" indent="-171450">
              <a:lnSpc>
                <a:spcPct val="200000"/>
              </a:lnSpc>
              <a:buFont typeface="Wingdings" panose="05000000000000000000" pitchFamily="2" charset="2"/>
              <a:buChar char="q"/>
            </a:pPr>
            <a:endParaRPr lang="en-US" sz="1600" dirty="0">
              <a:solidFill>
                <a:srgbClr val="1C2833"/>
              </a:solidFill>
            </a:endParaRPr>
          </a:p>
        </p:txBody>
      </p:sp>
      <p:sp>
        <p:nvSpPr>
          <p:cNvPr id="36" name="Text 20">
            <a:extLst>
              <a:ext uri="{FF2B5EF4-FFF2-40B4-BE49-F238E27FC236}">
                <a16:creationId xmlns:a16="http://schemas.microsoft.com/office/drawing/2014/main" id="{768A2672-D632-457E-9DDB-E2CD189500F6}"/>
              </a:ext>
            </a:extLst>
          </p:cNvPr>
          <p:cNvSpPr/>
          <p:nvPr/>
        </p:nvSpPr>
        <p:spPr>
          <a:xfrm>
            <a:off x="9296712" y="3413729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7D234344-92D6-4134-8A59-71AB4ECD9B9E}"/>
              </a:ext>
            </a:extLst>
          </p:cNvPr>
          <p:cNvSpPr txBox="1"/>
          <p:nvPr/>
        </p:nvSpPr>
        <p:spPr>
          <a:xfrm>
            <a:off x="1157931" y="524515"/>
            <a:ext cx="17728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solidFill>
                  <a:srgbClr val="FF0000"/>
                </a:solidFill>
              </a:rPr>
              <a:t>Bordure : 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71C1EE79-DA95-491E-93BE-CCFE3C8486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7476" y="1746696"/>
            <a:ext cx="9545324" cy="484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7079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du numéro de diapositive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D49EA-5B67-4AAA-B86D-F1B0C798D823}" type="slidenum">
              <a:rPr lang="fr-FR" smtClean="0"/>
              <a:pPr/>
              <a:t>10</a:t>
            </a:fld>
            <a:endParaRPr lang="fr-FR"/>
          </a:p>
        </p:txBody>
      </p:sp>
      <p:sp>
        <p:nvSpPr>
          <p:cNvPr id="7172" name="AutoShape 4" descr="http://www.gelgabon.net/_/rsrc/1243686138086/materiels-et-logiciels/le-wifi/liaison-wifi-entre-2-PC.jpg"/>
          <p:cNvSpPr>
            <a:spLocks noChangeAspect="1" noChangeArrowheads="1"/>
          </p:cNvSpPr>
          <p:nvPr/>
        </p:nvSpPr>
        <p:spPr bwMode="auto">
          <a:xfrm>
            <a:off x="207434" y="-2461260"/>
            <a:ext cx="7683500" cy="232030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8" name="Titre 7"/>
          <p:cNvSpPr>
            <a:spLocks noGrp="1"/>
          </p:cNvSpPr>
          <p:nvPr>
            <p:ph type="title"/>
          </p:nvPr>
        </p:nvSpPr>
        <p:spPr>
          <a:xfrm>
            <a:off x="0" y="15240"/>
            <a:ext cx="10972800" cy="489790"/>
          </a:xfrm>
        </p:spPr>
        <p:txBody>
          <a:bodyPr>
            <a:no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fr-FR" sz="4000" b="1" dirty="0">
                <a:solidFill>
                  <a:schemeClr val="accent6">
                    <a:lumMod val="75000"/>
                  </a:schemeClr>
                </a:solidFill>
              </a:rPr>
              <a:t>La mise en forme des cellules: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46376772-93E1-4745-905D-A011A000BCC8}"/>
              </a:ext>
            </a:extLst>
          </p:cNvPr>
          <p:cNvSpPr txBox="1"/>
          <p:nvPr/>
        </p:nvSpPr>
        <p:spPr>
          <a:xfrm>
            <a:off x="294471" y="1076749"/>
            <a:ext cx="113149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2000" dirty="0">
                <a:latin typeface="+mj-lt"/>
              </a:rPr>
              <a:t>L’onglet Remplissage présente une variété de </a:t>
            </a:r>
            <a:r>
              <a:rPr lang="fr-FR" sz="2000" b="1" dirty="0">
                <a:solidFill>
                  <a:srgbClr val="7030A0"/>
                </a:solidFill>
                <a:latin typeface="+mj-lt"/>
              </a:rPr>
              <a:t>couleurs</a:t>
            </a:r>
            <a:r>
              <a:rPr lang="fr-FR" sz="2000" dirty="0">
                <a:latin typeface="+mj-lt"/>
              </a:rPr>
              <a:t> et de </a:t>
            </a:r>
            <a:r>
              <a:rPr lang="fr-FR" sz="2000" b="1" dirty="0">
                <a:solidFill>
                  <a:srgbClr val="7030A0"/>
                </a:solidFill>
                <a:latin typeface="+mj-lt"/>
              </a:rPr>
              <a:t>motifs</a:t>
            </a:r>
            <a:r>
              <a:rPr lang="fr-FR" sz="2000" dirty="0">
                <a:latin typeface="+mj-lt"/>
              </a:rPr>
              <a:t>. </a:t>
            </a:r>
            <a:r>
              <a:rPr lang="fr-FR" sz="2000" b="1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Motifs (styles + couleurs)</a:t>
            </a:r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81307FA9-6BDA-4950-B9BB-9A19978FC1FB}"/>
              </a:ext>
            </a:extLst>
          </p:cNvPr>
          <p:cNvSpPr/>
          <p:nvPr/>
        </p:nvSpPr>
        <p:spPr>
          <a:xfrm>
            <a:off x="4694221" y="3370561"/>
            <a:ext cx="4001106" cy="35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5680ED91-3996-4816-9217-D49B8455F4D1}"/>
              </a:ext>
            </a:extLst>
          </p:cNvPr>
          <p:cNvSpPr/>
          <p:nvPr/>
        </p:nvSpPr>
        <p:spPr>
          <a:xfrm>
            <a:off x="4694221" y="3763753"/>
            <a:ext cx="4001106" cy="35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EBF7E302-448D-49FC-A69A-F951B5C44A93}"/>
              </a:ext>
            </a:extLst>
          </p:cNvPr>
          <p:cNvSpPr/>
          <p:nvPr/>
        </p:nvSpPr>
        <p:spPr>
          <a:xfrm>
            <a:off x="4694221" y="4943329"/>
            <a:ext cx="4001106" cy="35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CE86A2ED-FC67-498D-A67D-19D520AA4892}"/>
              </a:ext>
            </a:extLst>
          </p:cNvPr>
          <p:cNvSpPr/>
          <p:nvPr/>
        </p:nvSpPr>
        <p:spPr>
          <a:xfrm>
            <a:off x="4694221" y="5729713"/>
            <a:ext cx="4001106" cy="35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ADF52F7B-212D-42D5-AA1C-53068BF4E57D}"/>
              </a:ext>
            </a:extLst>
          </p:cNvPr>
          <p:cNvSpPr/>
          <p:nvPr/>
        </p:nvSpPr>
        <p:spPr>
          <a:xfrm>
            <a:off x="4732321" y="6040941"/>
            <a:ext cx="4001106" cy="35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628650" lvl="1" indent="-171450">
              <a:lnSpc>
                <a:spcPct val="200000"/>
              </a:lnSpc>
              <a:buFont typeface="Wingdings" panose="05000000000000000000" pitchFamily="2" charset="2"/>
              <a:buChar char="q"/>
            </a:pPr>
            <a:endParaRPr lang="en-US" sz="1600" dirty="0">
              <a:solidFill>
                <a:srgbClr val="1C2833"/>
              </a:solidFill>
            </a:endParaRPr>
          </a:p>
        </p:txBody>
      </p:sp>
      <p:sp>
        <p:nvSpPr>
          <p:cNvPr id="36" name="Text 20">
            <a:extLst>
              <a:ext uri="{FF2B5EF4-FFF2-40B4-BE49-F238E27FC236}">
                <a16:creationId xmlns:a16="http://schemas.microsoft.com/office/drawing/2014/main" id="{768A2672-D632-457E-9DDB-E2CD189500F6}"/>
              </a:ext>
            </a:extLst>
          </p:cNvPr>
          <p:cNvSpPr/>
          <p:nvPr/>
        </p:nvSpPr>
        <p:spPr>
          <a:xfrm>
            <a:off x="9296712" y="3413729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7D234344-92D6-4134-8A59-71AB4ECD9B9E}"/>
              </a:ext>
            </a:extLst>
          </p:cNvPr>
          <p:cNvSpPr txBox="1"/>
          <p:nvPr/>
        </p:nvSpPr>
        <p:spPr>
          <a:xfrm>
            <a:off x="1157931" y="524515"/>
            <a:ext cx="23625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solidFill>
                  <a:srgbClr val="FF0000"/>
                </a:solidFill>
              </a:rPr>
              <a:t>Remplissage : 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4818977B-619E-43D0-AF2E-8063B3BA4B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918" y="1792268"/>
            <a:ext cx="7940040" cy="4653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029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du numéro de diapositive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D49EA-5B67-4AAA-B86D-F1B0C798D823}" type="slidenum">
              <a:rPr lang="fr-FR" smtClean="0"/>
              <a:pPr/>
              <a:t>11</a:t>
            </a:fld>
            <a:endParaRPr lang="fr-FR"/>
          </a:p>
        </p:txBody>
      </p:sp>
      <p:sp>
        <p:nvSpPr>
          <p:cNvPr id="7172" name="AutoShape 4" descr="http://www.gelgabon.net/_/rsrc/1243686138086/materiels-et-logiciels/le-wifi/liaison-wifi-entre-2-PC.jpg"/>
          <p:cNvSpPr>
            <a:spLocks noChangeAspect="1" noChangeArrowheads="1"/>
          </p:cNvSpPr>
          <p:nvPr/>
        </p:nvSpPr>
        <p:spPr bwMode="auto">
          <a:xfrm>
            <a:off x="207434" y="-1790700"/>
            <a:ext cx="7683500" cy="37433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8" name="Titre 7"/>
          <p:cNvSpPr>
            <a:spLocks noGrp="1"/>
          </p:cNvSpPr>
          <p:nvPr>
            <p:ph type="title"/>
          </p:nvPr>
        </p:nvSpPr>
        <p:spPr>
          <a:xfrm>
            <a:off x="268666" y="276956"/>
            <a:ext cx="7683500" cy="573276"/>
          </a:xfrm>
        </p:spPr>
        <p:txBody>
          <a:bodyPr>
            <a:noAutofit/>
          </a:bodyPr>
          <a:lstStyle/>
          <a:p>
            <a:r>
              <a:rPr lang="fr-FR" sz="4000" b="1" dirty="0">
                <a:solidFill>
                  <a:schemeClr val="accent6">
                    <a:lumMod val="75000"/>
                  </a:schemeClr>
                </a:solidFill>
              </a:rPr>
              <a:t>Les onglets de «Format de Cellule»</a:t>
            </a:r>
          </a:p>
        </p:txBody>
      </p:sp>
      <p:graphicFrame>
        <p:nvGraphicFramePr>
          <p:cNvPr id="2" name="Tableau 2">
            <a:extLst>
              <a:ext uri="{FF2B5EF4-FFF2-40B4-BE49-F238E27FC236}">
                <a16:creationId xmlns:a16="http://schemas.microsoft.com/office/drawing/2014/main" id="{0BC0EA9B-CB22-4F0A-8B82-0180347A65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1013075"/>
              </p:ext>
            </p:extLst>
          </p:nvPr>
        </p:nvGraphicFramePr>
        <p:xfrm>
          <a:off x="1" y="919757"/>
          <a:ext cx="12191999" cy="54365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4549">
                  <a:extLst>
                    <a:ext uri="{9D8B030D-6E8A-4147-A177-3AD203B41FA5}">
                      <a16:colId xmlns:a16="http://schemas.microsoft.com/office/drawing/2014/main" val="1671946902"/>
                    </a:ext>
                  </a:extLst>
                </a:gridCol>
                <a:gridCol w="3354587">
                  <a:extLst>
                    <a:ext uri="{9D8B030D-6E8A-4147-A177-3AD203B41FA5}">
                      <a16:colId xmlns:a16="http://schemas.microsoft.com/office/drawing/2014/main" val="17741814"/>
                    </a:ext>
                  </a:extLst>
                </a:gridCol>
                <a:gridCol w="3031959">
                  <a:extLst>
                    <a:ext uri="{9D8B030D-6E8A-4147-A177-3AD203B41FA5}">
                      <a16:colId xmlns:a16="http://schemas.microsoft.com/office/drawing/2014/main" val="2312562239"/>
                    </a:ext>
                  </a:extLst>
                </a:gridCol>
                <a:gridCol w="2630904">
                  <a:extLst>
                    <a:ext uri="{9D8B030D-6E8A-4147-A177-3AD203B41FA5}">
                      <a16:colId xmlns:a16="http://schemas.microsoft.com/office/drawing/2014/main" val="2862033003"/>
                    </a:ext>
                  </a:extLst>
                </a:gridCol>
              </a:tblGrid>
              <a:tr h="77445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Nombre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Alignement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Police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Bordure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0761603"/>
                  </a:ext>
                </a:extLst>
              </a:tr>
              <a:tr h="4662134">
                <a:tc>
                  <a:txBody>
                    <a:bodyPr/>
                    <a:lstStyle/>
                    <a:p>
                      <a:pPr marL="800100" lvl="1" indent="-342900" algn="l" defTabSz="914400" rtl="0" eaLnBrk="1" latinLnBrk="0" hangingPunct="1">
                        <a:lnSpc>
                          <a:spcPct val="2000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fr-FR" sz="1800" b="0" kern="1200" dirty="0">
                          <a:solidFill>
                            <a:srgbClr val="1C2833"/>
                          </a:solidFill>
                          <a:latin typeface="+mn-lt"/>
                          <a:ea typeface="+mn-ea"/>
                          <a:cs typeface="+mn-cs"/>
                        </a:rPr>
                        <a:t>Nombre standard</a:t>
                      </a:r>
                    </a:p>
                    <a:p>
                      <a:pPr marL="800100" lvl="1" indent="-342900" algn="l" defTabSz="914400" rtl="0" eaLnBrk="1" latinLnBrk="0" hangingPunct="1">
                        <a:lnSpc>
                          <a:spcPct val="2000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fr-FR" sz="1800" b="0" kern="1200" dirty="0">
                          <a:solidFill>
                            <a:srgbClr val="1C2833"/>
                          </a:solidFill>
                          <a:latin typeface="+mn-lt"/>
                          <a:ea typeface="+mn-ea"/>
                          <a:cs typeface="+mn-cs"/>
                        </a:rPr>
                        <a:t>Monétaire (15,00 DH)</a:t>
                      </a:r>
                    </a:p>
                    <a:p>
                      <a:pPr marL="800100" lvl="1" indent="-342900" algn="l" defTabSz="914400" rtl="0" eaLnBrk="1" latinLnBrk="0" hangingPunct="1">
                        <a:lnSpc>
                          <a:spcPct val="2000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fr-FR" sz="1800" b="0" kern="1200" dirty="0">
                          <a:solidFill>
                            <a:srgbClr val="1C2833"/>
                          </a:solidFill>
                          <a:latin typeface="+mn-lt"/>
                          <a:ea typeface="+mn-ea"/>
                          <a:cs typeface="+mn-cs"/>
                        </a:rPr>
                        <a:t>Date (15/01/1960)</a:t>
                      </a:r>
                    </a:p>
                    <a:p>
                      <a:pPr marL="800100" lvl="1" indent="-342900" algn="l" defTabSz="914400" rtl="0" eaLnBrk="1" latinLnBrk="0" hangingPunct="1">
                        <a:lnSpc>
                          <a:spcPct val="2000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fr-FR" sz="1800" b="0" kern="1200" dirty="0">
                          <a:solidFill>
                            <a:srgbClr val="1C2833"/>
                          </a:solidFill>
                          <a:latin typeface="+mn-lt"/>
                          <a:ea typeface="+mn-ea"/>
                          <a:cs typeface="+mn-cs"/>
                        </a:rPr>
                        <a:t>Pourcentage (15%)</a:t>
                      </a:r>
                    </a:p>
                    <a:p>
                      <a:pPr marL="800100" marR="0" lvl="1" indent="-342900" algn="l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1800" b="0" dirty="0" err="1">
                          <a:solidFill>
                            <a:srgbClr val="1C2833"/>
                          </a:solidFill>
                        </a:rPr>
                        <a:t>Heure</a:t>
                      </a:r>
                      <a:r>
                        <a:rPr lang="en-US" sz="1800" b="0" dirty="0">
                          <a:solidFill>
                            <a:srgbClr val="1C2833"/>
                          </a:solidFill>
                        </a:rPr>
                        <a:t> (0:15:00)</a:t>
                      </a:r>
                      <a:endParaRPr lang="en-US" sz="1800" b="0" dirty="0"/>
                    </a:p>
                    <a:p>
                      <a:pPr marL="800100" lvl="1" indent="-342900" algn="l" defTabSz="914400" rtl="0" eaLnBrk="1" latinLnBrk="0" hangingPunct="1">
                        <a:lnSpc>
                          <a:spcPct val="2000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fr-FR" sz="1800" b="0" kern="1200" dirty="0">
                          <a:solidFill>
                            <a:srgbClr val="1C2833"/>
                          </a:solidFill>
                          <a:latin typeface="+mn-lt"/>
                          <a:ea typeface="+mn-ea"/>
                          <a:cs typeface="+mn-cs"/>
                        </a:rPr>
                        <a:t>Texte </a:t>
                      </a:r>
                    </a:p>
                  </a:txBody>
                  <a:tcPr anchor="ctr">
                    <a:gradFill flip="none" rotWithShape="1">
                      <a:gsLst>
                        <a:gs pos="0">
                          <a:srgbClr val="4472C4">
                            <a:tint val="66000"/>
                            <a:satMod val="160000"/>
                          </a:srgbClr>
                        </a:gs>
                        <a:gs pos="50000">
                          <a:srgbClr val="4472C4">
                            <a:tint val="44500"/>
                            <a:satMod val="160000"/>
                          </a:srgbClr>
                        </a:gs>
                        <a:gs pos="100000">
                          <a:srgbClr val="4472C4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800100" marR="0" lvl="1" indent="-342900" algn="l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rgbClr val="1C2833"/>
                          </a:solidFill>
                          <a:latin typeface="+mn-lt"/>
                          <a:ea typeface="+mn-ea"/>
                          <a:cs typeface="+mn-cs"/>
                        </a:rPr>
                        <a:t>Horizontal: Gauche/Centre/Droite</a:t>
                      </a:r>
                    </a:p>
                    <a:p>
                      <a:pPr marL="800100" marR="0" lvl="1" indent="-342900" algn="l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rgbClr val="1C2833"/>
                          </a:solidFill>
                          <a:latin typeface="+mn-lt"/>
                          <a:ea typeface="+mn-ea"/>
                          <a:cs typeface="+mn-cs"/>
                        </a:rPr>
                        <a:t>Vertical: Haut/Milieu/Bas</a:t>
                      </a:r>
                    </a:p>
                    <a:p>
                      <a:pPr marL="800100" marR="0" lvl="1" indent="-342900" algn="l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1800" b="0" kern="1200" dirty="0" err="1">
                          <a:solidFill>
                            <a:srgbClr val="1C2833"/>
                          </a:solidFill>
                          <a:latin typeface="+mn-lt"/>
                          <a:ea typeface="+mn-ea"/>
                          <a:cs typeface="+mn-cs"/>
                        </a:rPr>
                        <a:t>Renvoyer</a:t>
                      </a:r>
                      <a:r>
                        <a:rPr lang="en-US" sz="1800" b="0" kern="1200" dirty="0">
                          <a:solidFill>
                            <a:srgbClr val="1C2833"/>
                          </a:solidFill>
                          <a:latin typeface="+mn-lt"/>
                          <a:ea typeface="+mn-ea"/>
                          <a:cs typeface="+mn-cs"/>
                        </a:rPr>
                        <a:t> à la </a:t>
                      </a:r>
                      <a:r>
                        <a:rPr lang="en-US" sz="1800" b="0" kern="1200" dirty="0" err="1">
                          <a:solidFill>
                            <a:srgbClr val="1C2833"/>
                          </a:solidFill>
                          <a:latin typeface="+mn-lt"/>
                          <a:ea typeface="+mn-ea"/>
                          <a:cs typeface="+mn-cs"/>
                        </a:rPr>
                        <a:t>ligne</a:t>
                      </a:r>
                      <a:endParaRPr lang="en-US" sz="1800" b="0" kern="1200" dirty="0">
                        <a:solidFill>
                          <a:srgbClr val="1C283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800100" marR="0" lvl="1" indent="-342900" algn="l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1800" b="0" kern="1200" dirty="0" err="1">
                          <a:solidFill>
                            <a:srgbClr val="1C2833"/>
                          </a:solidFill>
                          <a:latin typeface="+mn-lt"/>
                          <a:ea typeface="+mn-ea"/>
                          <a:cs typeface="+mn-cs"/>
                        </a:rPr>
                        <a:t>Fusionner</a:t>
                      </a:r>
                      <a:r>
                        <a:rPr lang="en-US" sz="1800" b="0" kern="1200" dirty="0">
                          <a:solidFill>
                            <a:srgbClr val="1C2833"/>
                          </a:solidFill>
                          <a:latin typeface="+mn-lt"/>
                          <a:ea typeface="+mn-ea"/>
                          <a:cs typeface="+mn-cs"/>
                        </a:rPr>
                        <a:t> les cellules</a:t>
                      </a:r>
                    </a:p>
                    <a:p>
                      <a:pPr marL="800100" marR="0" lvl="1" indent="-342900" algn="l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rgbClr val="1C2833"/>
                          </a:solidFill>
                          <a:latin typeface="+mn-lt"/>
                          <a:ea typeface="+mn-ea"/>
                          <a:cs typeface="+mn-cs"/>
                        </a:rPr>
                        <a:t>Orientation du </a:t>
                      </a:r>
                      <a:r>
                        <a:rPr lang="en-US" sz="1800" b="0" kern="1200" dirty="0" err="1">
                          <a:solidFill>
                            <a:srgbClr val="1C2833"/>
                          </a:solidFill>
                          <a:latin typeface="+mn-lt"/>
                          <a:ea typeface="+mn-ea"/>
                          <a:cs typeface="+mn-cs"/>
                        </a:rPr>
                        <a:t>texte</a:t>
                      </a:r>
                      <a:endParaRPr lang="en-US" sz="1800" b="0" kern="1200" dirty="0">
                        <a:solidFill>
                          <a:srgbClr val="1C283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gradFill flip="none" rotWithShape="1">
                      <a:gsLst>
                        <a:gs pos="0">
                          <a:srgbClr val="7030A0">
                            <a:tint val="66000"/>
                            <a:satMod val="160000"/>
                          </a:srgbClr>
                        </a:gs>
                        <a:gs pos="50000">
                          <a:srgbClr val="7030A0">
                            <a:tint val="44500"/>
                            <a:satMod val="160000"/>
                          </a:srgbClr>
                        </a:gs>
                        <a:gs pos="100000">
                          <a:srgbClr val="7030A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800100" marR="0" lvl="1" indent="-342900" algn="l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fr-FR" sz="1800" b="0" kern="1200" dirty="0">
                          <a:solidFill>
                            <a:srgbClr val="1C2833"/>
                          </a:solidFill>
                          <a:latin typeface="+mn-lt"/>
                          <a:ea typeface="+mn-ea"/>
                          <a:cs typeface="+mn-cs"/>
                        </a:rPr>
                        <a:t>Nom de la police</a:t>
                      </a:r>
                    </a:p>
                    <a:p>
                      <a:pPr marL="800100" marR="0" lvl="1" indent="-342900" algn="l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fr-FR" sz="1800" b="0" kern="1200" dirty="0">
                          <a:solidFill>
                            <a:srgbClr val="1C2833"/>
                          </a:solidFill>
                          <a:latin typeface="+mn-lt"/>
                          <a:ea typeface="+mn-ea"/>
                          <a:cs typeface="+mn-cs"/>
                        </a:rPr>
                        <a:t>Style: Normal/Gras/Italique</a:t>
                      </a:r>
                    </a:p>
                    <a:p>
                      <a:pPr marL="800100" marR="0" lvl="1" indent="-342900" algn="l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fr-FR" sz="1800" b="0" kern="1200" dirty="0">
                          <a:solidFill>
                            <a:srgbClr val="1C2833"/>
                          </a:solidFill>
                          <a:latin typeface="+mn-lt"/>
                          <a:ea typeface="+mn-ea"/>
                          <a:cs typeface="+mn-cs"/>
                        </a:rPr>
                        <a:t>Taille en points</a:t>
                      </a:r>
                    </a:p>
                    <a:p>
                      <a:pPr marL="800100" marR="0" lvl="1" indent="-342900" algn="l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fr-FR" sz="1800" b="0" kern="1200" dirty="0">
                          <a:solidFill>
                            <a:srgbClr val="1C2833"/>
                          </a:solidFill>
                          <a:latin typeface="+mn-lt"/>
                          <a:ea typeface="+mn-ea"/>
                          <a:cs typeface="+mn-cs"/>
                        </a:rPr>
                        <a:t>Couleur de la police</a:t>
                      </a:r>
                    </a:p>
                    <a:p>
                      <a:pPr marL="800100" marR="0" lvl="1" indent="-342900" algn="l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fr-FR" sz="1800" b="0" kern="1200" dirty="0">
                          <a:solidFill>
                            <a:srgbClr val="1C2833"/>
                          </a:solidFill>
                          <a:latin typeface="+mn-lt"/>
                          <a:ea typeface="+mn-ea"/>
                          <a:cs typeface="+mn-cs"/>
                        </a:rPr>
                        <a:t>Soulignement</a:t>
                      </a:r>
                    </a:p>
                  </a:txBody>
                  <a:tcPr anchor="ctr">
                    <a:gradFill flip="none" rotWithShape="1">
                      <a:gsLst>
                        <a:gs pos="0">
                          <a:schemeClr val="accent2">
                            <a:tint val="66000"/>
                            <a:satMod val="160000"/>
                          </a:schemeClr>
                        </a:gs>
                        <a:gs pos="50000">
                          <a:schemeClr val="accent2">
                            <a:tint val="44500"/>
                            <a:satMod val="160000"/>
                          </a:schemeClr>
                        </a:gs>
                        <a:gs pos="100000">
                          <a:schemeClr val="accent2">
                            <a:tint val="23500"/>
                            <a:satMod val="16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800100" marR="0" lvl="1" indent="-342900" algn="l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fr-FR" sz="1800" b="0" kern="1200" dirty="0">
                          <a:solidFill>
                            <a:srgbClr val="1C2833"/>
                          </a:solidFill>
                          <a:latin typeface="+mn-lt"/>
                          <a:ea typeface="+mn-ea"/>
                          <a:cs typeface="+mn-cs"/>
                        </a:rPr>
                        <a:t>Aucune bordure</a:t>
                      </a:r>
                    </a:p>
                    <a:p>
                      <a:pPr marL="800100" marR="0" lvl="1" indent="-342900" algn="l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fr-FR" sz="1800" b="0" kern="1200" dirty="0">
                          <a:solidFill>
                            <a:srgbClr val="1C2833"/>
                          </a:solidFill>
                          <a:latin typeface="+mn-lt"/>
                          <a:ea typeface="+mn-ea"/>
                          <a:cs typeface="+mn-cs"/>
                        </a:rPr>
                        <a:t>Contour seulement</a:t>
                      </a:r>
                    </a:p>
                    <a:p>
                      <a:pPr marL="800100" marR="0" lvl="1" indent="-342900" algn="l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fr-FR" sz="1800" b="0" kern="1200" dirty="0">
                          <a:solidFill>
                            <a:srgbClr val="1C2833"/>
                          </a:solidFill>
                          <a:latin typeface="+mn-lt"/>
                          <a:ea typeface="+mn-ea"/>
                          <a:cs typeface="+mn-cs"/>
                        </a:rPr>
                        <a:t>Toutes les bordures</a:t>
                      </a:r>
                    </a:p>
                    <a:p>
                      <a:pPr marL="800100" marR="0" lvl="1" indent="-342900" algn="l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fr-FR" sz="1800" b="0" kern="1200" dirty="0">
                          <a:solidFill>
                            <a:srgbClr val="1C2833"/>
                          </a:solidFill>
                          <a:latin typeface="+mn-lt"/>
                          <a:ea typeface="+mn-ea"/>
                          <a:cs typeface="+mn-cs"/>
                        </a:rPr>
                        <a:t>Choisir la couleur</a:t>
                      </a:r>
                    </a:p>
                  </a:txBody>
                  <a:tcPr anchor="ctr">
                    <a:gradFill flip="none" rotWithShape="1">
                      <a:gsLst>
                        <a:gs pos="0">
                          <a:schemeClr val="accent6">
                            <a:tint val="66000"/>
                            <a:satMod val="160000"/>
                          </a:schemeClr>
                        </a:gs>
                        <a:gs pos="50000">
                          <a:schemeClr val="accent6">
                            <a:tint val="44500"/>
                            <a:satMod val="160000"/>
                          </a:schemeClr>
                        </a:gs>
                        <a:gs pos="100000">
                          <a:schemeClr val="accent6">
                            <a:tint val="23500"/>
                            <a:satMod val="16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6655787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71991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du numéro de diapositive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D49EA-5B67-4AAA-B86D-F1B0C798D823}" type="slidenum">
              <a:rPr lang="fr-FR" smtClean="0"/>
              <a:pPr/>
              <a:t>12</a:t>
            </a:fld>
            <a:endParaRPr lang="fr-FR"/>
          </a:p>
        </p:txBody>
      </p:sp>
      <p:sp>
        <p:nvSpPr>
          <p:cNvPr id="7172" name="AutoShape 4" descr="http://www.gelgabon.net/_/rsrc/1243686138086/materiels-et-logiciels/le-wifi/liaison-wifi-entre-2-PC.jpg"/>
          <p:cNvSpPr>
            <a:spLocks noChangeAspect="1" noChangeArrowheads="1"/>
          </p:cNvSpPr>
          <p:nvPr/>
        </p:nvSpPr>
        <p:spPr bwMode="auto">
          <a:xfrm>
            <a:off x="207434" y="-2461260"/>
            <a:ext cx="7683500" cy="232030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8" name="Titre 7"/>
          <p:cNvSpPr>
            <a:spLocks noGrp="1"/>
          </p:cNvSpPr>
          <p:nvPr>
            <p:ph type="title"/>
          </p:nvPr>
        </p:nvSpPr>
        <p:spPr>
          <a:xfrm>
            <a:off x="0" y="15240"/>
            <a:ext cx="10972800" cy="489790"/>
          </a:xfrm>
        </p:spPr>
        <p:txBody>
          <a:bodyPr>
            <a:no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fr-FR" sz="4000" b="1" dirty="0">
                <a:solidFill>
                  <a:schemeClr val="accent6">
                    <a:lumMod val="75000"/>
                  </a:schemeClr>
                </a:solidFill>
              </a:rPr>
              <a:t>fonction somme automatique: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46376772-93E1-4745-905D-A011A000BCC8}"/>
              </a:ext>
            </a:extLst>
          </p:cNvPr>
          <p:cNvSpPr txBox="1"/>
          <p:nvPr/>
        </p:nvSpPr>
        <p:spPr>
          <a:xfrm>
            <a:off x="1239351" y="681819"/>
            <a:ext cx="1131493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2400" dirty="0">
                <a:latin typeface="+mj-lt"/>
              </a:rPr>
              <a:t>Pour calculer le total des versements, il suffit de:</a:t>
            </a:r>
          </a:p>
          <a:p>
            <a:endParaRPr lang="fr-FR" sz="2400" dirty="0">
              <a:latin typeface="+mj-lt"/>
            </a:endParaRPr>
          </a:p>
          <a:p>
            <a:pPr marL="1257300" lvl="2" indent="-342900">
              <a:buFont typeface="Wingdings" panose="05000000000000000000" pitchFamily="2" charset="2"/>
              <a:buChar char="ü"/>
            </a:pPr>
            <a:r>
              <a:rPr lang="fr-FR" sz="2400" dirty="0">
                <a:latin typeface="+mj-lt"/>
              </a:rPr>
              <a:t>Se positionner sur la cellule qui va recevoir le résultat de la somme;</a:t>
            </a:r>
          </a:p>
          <a:p>
            <a:pPr marL="1257300" lvl="2" indent="-342900">
              <a:buFont typeface="Wingdings" panose="05000000000000000000" pitchFamily="2" charset="2"/>
              <a:buChar char="ü"/>
            </a:pPr>
            <a:r>
              <a:rPr lang="fr-FR" sz="2400" dirty="0">
                <a:latin typeface="+mj-lt"/>
              </a:rPr>
              <a:t>Un simple clic sur </a:t>
            </a:r>
            <a:r>
              <a:rPr lang="fr-FR" sz="2400" b="1" dirty="0">
                <a:latin typeface="+mj-lt"/>
              </a:rPr>
              <a:t>l’icône </a:t>
            </a:r>
            <a:r>
              <a:rPr lang="fr-FR" sz="2400" b="1" dirty="0">
                <a:solidFill>
                  <a:srgbClr val="7030A0"/>
                </a:solidFill>
                <a:latin typeface="+mj-lt"/>
              </a:rPr>
              <a:t>Somme automatique</a:t>
            </a:r>
          </a:p>
          <a:p>
            <a:pPr marL="1257300" lvl="2" indent="-342900">
              <a:buFont typeface="Wingdings" panose="05000000000000000000" pitchFamily="2" charset="2"/>
              <a:buChar char="ü"/>
            </a:pPr>
            <a:r>
              <a:rPr lang="fr-FR" sz="2400" b="1" dirty="0">
                <a:solidFill>
                  <a:srgbClr val="7030A0"/>
                </a:solidFill>
                <a:latin typeface="+mj-lt"/>
              </a:rPr>
              <a:t>Sélectionner</a:t>
            </a:r>
            <a:r>
              <a:rPr lang="fr-FR" sz="2400" dirty="0">
                <a:latin typeface="+mj-lt"/>
              </a:rPr>
              <a:t> les cellules à calculer;</a:t>
            </a:r>
          </a:p>
          <a:p>
            <a:pPr marL="1257300" lvl="2" indent="-342900">
              <a:buFont typeface="Wingdings" panose="05000000000000000000" pitchFamily="2" charset="2"/>
              <a:buChar char="ü"/>
            </a:pPr>
            <a:r>
              <a:rPr lang="fr-FR" sz="2400" dirty="0">
                <a:latin typeface="+mj-lt"/>
              </a:rPr>
              <a:t>Valider par </a:t>
            </a:r>
            <a:r>
              <a:rPr lang="fr-FR" sz="2400" b="1" dirty="0">
                <a:solidFill>
                  <a:srgbClr val="7030A0"/>
                </a:solidFill>
                <a:latin typeface="+mj-lt"/>
              </a:rPr>
              <a:t>la touche Entrée</a:t>
            </a:r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81307FA9-6BDA-4950-B9BB-9A19978FC1FB}"/>
              </a:ext>
            </a:extLst>
          </p:cNvPr>
          <p:cNvSpPr/>
          <p:nvPr/>
        </p:nvSpPr>
        <p:spPr>
          <a:xfrm>
            <a:off x="4694221" y="3370561"/>
            <a:ext cx="4001106" cy="35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EBF7E302-448D-49FC-A69A-F951B5C44A93}"/>
              </a:ext>
            </a:extLst>
          </p:cNvPr>
          <p:cNvSpPr/>
          <p:nvPr/>
        </p:nvSpPr>
        <p:spPr>
          <a:xfrm>
            <a:off x="4694221" y="4943329"/>
            <a:ext cx="4001106" cy="35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CE86A2ED-FC67-498D-A67D-19D520AA4892}"/>
              </a:ext>
            </a:extLst>
          </p:cNvPr>
          <p:cNvSpPr/>
          <p:nvPr/>
        </p:nvSpPr>
        <p:spPr>
          <a:xfrm>
            <a:off x="4694221" y="5729713"/>
            <a:ext cx="4001106" cy="35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ADF52F7B-212D-42D5-AA1C-53068BF4E57D}"/>
              </a:ext>
            </a:extLst>
          </p:cNvPr>
          <p:cNvSpPr/>
          <p:nvPr/>
        </p:nvSpPr>
        <p:spPr>
          <a:xfrm>
            <a:off x="4732321" y="6040941"/>
            <a:ext cx="4001106" cy="35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628650" lvl="1" indent="-171450">
              <a:lnSpc>
                <a:spcPct val="200000"/>
              </a:lnSpc>
              <a:buFont typeface="Wingdings" panose="05000000000000000000" pitchFamily="2" charset="2"/>
              <a:buChar char="q"/>
            </a:pPr>
            <a:endParaRPr lang="en-US" sz="1600" dirty="0">
              <a:solidFill>
                <a:srgbClr val="1C2833"/>
              </a:solidFill>
            </a:endParaRPr>
          </a:p>
        </p:txBody>
      </p:sp>
      <p:graphicFrame>
        <p:nvGraphicFramePr>
          <p:cNvPr id="17" name="Tableau 16">
            <a:extLst>
              <a:ext uri="{FF2B5EF4-FFF2-40B4-BE49-F238E27FC236}">
                <a16:creationId xmlns:a16="http://schemas.microsoft.com/office/drawing/2014/main" id="{62BE23D6-8427-463B-A744-C08C62B003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5993844"/>
              </p:ext>
            </p:extLst>
          </p:nvPr>
        </p:nvGraphicFramePr>
        <p:xfrm>
          <a:off x="1713043" y="3268462"/>
          <a:ext cx="7546713" cy="3075393"/>
        </p:xfrm>
        <a:graphic>
          <a:graphicData uri="http://schemas.openxmlformats.org/drawingml/2006/table">
            <a:tbl>
              <a:tblPr/>
              <a:tblGrid>
                <a:gridCol w="793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29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2737">
                  <a:extLst>
                    <a:ext uri="{9D8B030D-6E8A-4147-A177-3AD203B41FA5}">
                      <a16:colId xmlns:a16="http://schemas.microsoft.com/office/drawing/2014/main" val="1101355465"/>
                    </a:ext>
                  </a:extLst>
                </a:gridCol>
                <a:gridCol w="2450230">
                  <a:extLst>
                    <a:ext uri="{9D8B030D-6E8A-4147-A177-3AD203B41FA5}">
                      <a16:colId xmlns:a16="http://schemas.microsoft.com/office/drawing/2014/main" val="260686561"/>
                    </a:ext>
                  </a:extLst>
                </a:gridCol>
              </a:tblGrid>
              <a:tr h="537123">
                <a:tc>
                  <a:txBody>
                    <a:bodyPr/>
                    <a:lstStyle/>
                    <a:p>
                      <a:pPr algn="ctr" fontAlgn="b"/>
                      <a:r>
                        <a:rPr lang="fr-FR" sz="2000" dirty="0"/>
                        <a:t>N°</a:t>
                      </a:r>
                    </a:p>
                  </a:txBody>
                  <a:tcPr marL="12700" marR="12700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000" dirty="0"/>
                        <a:t>Prénom</a:t>
                      </a:r>
                    </a:p>
                  </a:txBody>
                  <a:tcPr marL="12700" marR="1270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000" dirty="0"/>
                        <a:t>Montant 1</a:t>
                      </a:r>
                    </a:p>
                  </a:txBody>
                  <a:tcPr marL="12700" marR="1270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 dirty="0"/>
                        <a:t>Montant 2</a:t>
                      </a:r>
                    </a:p>
                  </a:txBody>
                  <a:tcPr marL="12700" marR="1270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 dirty="0"/>
                        <a:t>Total</a:t>
                      </a:r>
                    </a:p>
                  </a:txBody>
                  <a:tcPr marL="12700" marR="1270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045"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b="1" i="0" u="none" strike="noStrike" dirty="0">
                          <a:latin typeface="Arial"/>
                        </a:rPr>
                        <a:t>1</a:t>
                      </a:r>
                    </a:p>
                  </a:txBody>
                  <a:tcPr marL="12700" marR="12700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800" b="1" i="0" u="none" strike="noStrike" dirty="0" err="1">
                          <a:latin typeface="Arial"/>
                        </a:rPr>
                        <a:t>basma</a:t>
                      </a:r>
                      <a:endParaRPr lang="fr-FR" sz="1800" b="1" i="0" u="none" strike="noStrike" dirty="0">
                        <a:latin typeface="Arial"/>
                      </a:endParaRPr>
                    </a:p>
                  </a:txBody>
                  <a:tcPr marL="12700" marR="1270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b="1" i="0" u="none" strike="noStrike" dirty="0">
                          <a:latin typeface="Arial"/>
                        </a:rPr>
                        <a:t>13</a:t>
                      </a:r>
                    </a:p>
                  </a:txBody>
                  <a:tcPr marL="12700" marR="12700" marT="9525" marB="0" anchor="b">
                    <a:lnL w="76200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b="1" i="0" u="none" strike="noStrike" dirty="0">
                          <a:latin typeface="Arial"/>
                        </a:rPr>
                        <a:t>10</a:t>
                      </a:r>
                    </a:p>
                  </a:txBody>
                  <a:tcPr marL="12700" marR="12700" marT="9525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800" b="1" i="0" u="none" strike="noStrike" dirty="0">
                          <a:latin typeface="Arial"/>
                        </a:rPr>
                        <a:t>=SOMME(C2:D2)</a:t>
                      </a:r>
                    </a:p>
                  </a:txBody>
                  <a:tcPr marL="12700" marR="12700" marT="9525" marB="0" anchor="b">
                    <a:lnL w="76200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045"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b="1" i="0" u="none" strike="noStrike">
                          <a:latin typeface="Arial"/>
                        </a:rPr>
                        <a:t>2</a:t>
                      </a:r>
                    </a:p>
                  </a:txBody>
                  <a:tcPr marL="12700" marR="12700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800" b="1" i="0" u="none" strike="noStrike" dirty="0" err="1">
                          <a:latin typeface="Arial"/>
                        </a:rPr>
                        <a:t>zouhair</a:t>
                      </a:r>
                      <a:endParaRPr lang="fr-FR" sz="1800" b="1" i="0" u="none" strike="noStrike" dirty="0">
                        <a:latin typeface="Arial"/>
                      </a:endParaRPr>
                    </a:p>
                  </a:txBody>
                  <a:tcPr marL="12700" marR="1270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b="1" i="0" u="none" strike="noStrike" dirty="0">
                          <a:latin typeface="Arial"/>
                        </a:rPr>
                        <a:t>5</a:t>
                      </a:r>
                    </a:p>
                  </a:txBody>
                  <a:tcPr marL="12700" marR="1270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b="1" i="0" u="none" strike="noStrike" dirty="0">
                          <a:latin typeface="Arial"/>
                        </a:rPr>
                        <a:t>11</a:t>
                      </a:r>
                    </a:p>
                  </a:txBody>
                  <a:tcPr marL="12700" marR="1270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fr-FR" sz="1800" b="1" i="0" u="none" strike="noStrike" dirty="0">
                        <a:latin typeface="Arial"/>
                      </a:endParaRPr>
                    </a:p>
                  </a:txBody>
                  <a:tcPr marL="12700" marR="1270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045"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b="1" i="0" u="none" strike="noStrike" dirty="0">
                          <a:latin typeface="Arial"/>
                        </a:rPr>
                        <a:t>3</a:t>
                      </a:r>
                    </a:p>
                  </a:txBody>
                  <a:tcPr marL="12700" marR="12700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800" b="1" i="0" u="none" strike="noStrike" dirty="0" err="1">
                          <a:latin typeface="Arial"/>
                        </a:rPr>
                        <a:t>yassine</a:t>
                      </a:r>
                      <a:endParaRPr lang="fr-FR" sz="1800" b="1" i="0" u="none" strike="noStrike" dirty="0">
                        <a:latin typeface="Arial"/>
                      </a:endParaRPr>
                    </a:p>
                  </a:txBody>
                  <a:tcPr marL="12700" marR="1270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b="1" i="0" u="none" strike="noStrike" dirty="0">
                          <a:latin typeface="Arial"/>
                        </a:rPr>
                        <a:t>20</a:t>
                      </a:r>
                    </a:p>
                  </a:txBody>
                  <a:tcPr marL="12700" marR="1270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b="1" i="0" u="none" strike="noStrike" dirty="0">
                          <a:latin typeface="Arial"/>
                        </a:rPr>
                        <a:t>10</a:t>
                      </a:r>
                    </a:p>
                  </a:txBody>
                  <a:tcPr marL="12700" marR="1270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fr-FR" sz="1800" b="1" i="0" u="none" strike="noStrike" dirty="0">
                        <a:latin typeface="Arial"/>
                      </a:endParaRPr>
                    </a:p>
                  </a:txBody>
                  <a:tcPr marL="12700" marR="1270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3045"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b="1" i="0" u="none" strike="noStrike">
                          <a:latin typeface="Arial"/>
                        </a:rPr>
                        <a:t>4</a:t>
                      </a:r>
                    </a:p>
                  </a:txBody>
                  <a:tcPr marL="12700" marR="12700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800" b="1" i="0" u="none" strike="noStrike" dirty="0" err="1">
                          <a:latin typeface="Arial"/>
                        </a:rPr>
                        <a:t>rachid</a:t>
                      </a:r>
                      <a:endParaRPr lang="fr-FR" sz="1800" b="1" i="0" u="none" strike="noStrike" dirty="0">
                        <a:latin typeface="Arial"/>
                      </a:endParaRPr>
                    </a:p>
                  </a:txBody>
                  <a:tcPr marL="12700" marR="1270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b="1" i="0" u="none" strike="noStrike" dirty="0">
                          <a:latin typeface="Arial"/>
                        </a:rPr>
                        <a:t>0</a:t>
                      </a:r>
                    </a:p>
                  </a:txBody>
                  <a:tcPr marL="12700" marR="1270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b="1" i="0" u="none" strike="noStrike" dirty="0">
                          <a:latin typeface="Arial"/>
                        </a:rPr>
                        <a:t>16</a:t>
                      </a:r>
                    </a:p>
                  </a:txBody>
                  <a:tcPr marL="12700" marR="1270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fr-FR" sz="1800" b="1" i="0" u="none" strike="noStrike" dirty="0">
                        <a:latin typeface="Arial"/>
                      </a:endParaRPr>
                    </a:p>
                  </a:txBody>
                  <a:tcPr marL="12700" marR="1270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3045"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b="1" i="0" u="none" strike="noStrike">
                          <a:latin typeface="Arial"/>
                        </a:rPr>
                        <a:t>5</a:t>
                      </a:r>
                    </a:p>
                  </a:txBody>
                  <a:tcPr marL="12700" marR="12700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800" b="1" i="0" u="none" strike="noStrike" dirty="0" err="1">
                          <a:latin typeface="Arial"/>
                        </a:rPr>
                        <a:t>morad</a:t>
                      </a:r>
                      <a:endParaRPr lang="fr-FR" sz="1800" b="1" i="0" u="none" strike="noStrike" dirty="0">
                        <a:latin typeface="Arial"/>
                      </a:endParaRPr>
                    </a:p>
                  </a:txBody>
                  <a:tcPr marL="12700" marR="1270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b="1" i="0" u="none" strike="noStrike" dirty="0">
                          <a:latin typeface="Arial"/>
                        </a:rPr>
                        <a:t>13</a:t>
                      </a:r>
                    </a:p>
                  </a:txBody>
                  <a:tcPr marL="12700" marR="1270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b="1" i="0" u="none" strike="noStrike" dirty="0">
                          <a:latin typeface="Arial"/>
                        </a:rPr>
                        <a:t>20</a:t>
                      </a:r>
                    </a:p>
                  </a:txBody>
                  <a:tcPr marL="12700" marR="1270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fr-FR" sz="1800" b="1" i="0" u="none" strike="noStrike" dirty="0">
                        <a:latin typeface="Arial"/>
                      </a:endParaRPr>
                    </a:p>
                  </a:txBody>
                  <a:tcPr marL="12700" marR="1270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3045"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b="1" i="0" u="none" strike="noStrike">
                          <a:latin typeface="Arial"/>
                        </a:rPr>
                        <a:t>6</a:t>
                      </a:r>
                    </a:p>
                  </a:txBody>
                  <a:tcPr marL="12700" marR="12700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800" b="1" i="0" u="none" strike="noStrike">
                          <a:latin typeface="Arial"/>
                        </a:rPr>
                        <a:t>ibtissam</a:t>
                      </a:r>
                    </a:p>
                  </a:txBody>
                  <a:tcPr marL="12700" marR="1270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b="1" i="0" u="none" strike="noStrike" dirty="0">
                          <a:latin typeface="Arial"/>
                        </a:rPr>
                        <a:t>17</a:t>
                      </a:r>
                    </a:p>
                  </a:txBody>
                  <a:tcPr marL="12700" marR="1270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b="1" i="0" u="none" strike="noStrike" dirty="0">
                          <a:latin typeface="Arial"/>
                        </a:rPr>
                        <a:t>7</a:t>
                      </a:r>
                    </a:p>
                  </a:txBody>
                  <a:tcPr marL="12700" marR="1270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fr-FR" sz="1800" b="1" i="0" u="none" strike="noStrike" dirty="0">
                        <a:latin typeface="Arial"/>
                      </a:endParaRPr>
                    </a:p>
                  </a:txBody>
                  <a:tcPr marL="12700" marR="1270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8" name="Picture 3">
            <a:extLst>
              <a:ext uri="{FF2B5EF4-FFF2-40B4-BE49-F238E27FC236}">
                <a16:creationId xmlns:a16="http://schemas.microsoft.com/office/drawing/2014/main" id="{1F2B9884-195F-4025-BFB5-1B93BABB9F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19941" y="1851296"/>
            <a:ext cx="581318" cy="6065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6665254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D49EA-5B67-4AAA-B86D-F1B0C798D823}" type="slidenum">
              <a:rPr lang="fr-FR" smtClean="0"/>
              <a:pPr/>
              <a:t>13</a:t>
            </a:fld>
            <a:endParaRPr lang="fr-FR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93225" y="572336"/>
            <a:ext cx="12098775" cy="596657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b="1" u="sng" dirty="0">
                <a:solidFill>
                  <a:srgbClr val="00B050"/>
                </a:solidFill>
              </a:rPr>
              <a:t>4. La mise en forme des cellules : </a:t>
            </a:r>
          </a:p>
          <a:p>
            <a:pPr>
              <a:buNone/>
            </a:pPr>
            <a:endParaRPr lang="fr-FR" sz="2400" b="1" dirty="0">
              <a:solidFill>
                <a:srgbClr val="00B050"/>
              </a:solidFill>
              <a:latin typeface="+mj-lt"/>
              <a:cs typeface="Aharoni" pitchFamily="2" charset="-79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fr-FR" sz="3200" dirty="0"/>
              <a:t> Pour mettre en forme les cellules, il faut les </a:t>
            </a:r>
            <a:r>
              <a:rPr lang="fr-FR" sz="3200" b="1" dirty="0"/>
              <a:t>sélectionner</a:t>
            </a:r>
            <a:r>
              <a:rPr lang="fr-FR" sz="3200" dirty="0"/>
              <a:t> et utiliser  ensuite, une des méthodes suivantes :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fr-FR" sz="3200" dirty="0"/>
              <a:t>Les icônes de </a:t>
            </a:r>
            <a:r>
              <a:rPr lang="fr-FR" sz="3200" b="1" dirty="0">
                <a:solidFill>
                  <a:srgbClr val="7030A0"/>
                </a:solidFill>
              </a:rPr>
              <a:t>l’onglet « accueil. »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fr-FR" sz="3200" dirty="0"/>
              <a:t>Ou bien, la fenêtre </a:t>
            </a:r>
            <a:r>
              <a:rPr lang="fr-FR" sz="3200" b="1" i="1" dirty="0">
                <a:solidFill>
                  <a:srgbClr val="7030A0"/>
                </a:solidFill>
              </a:rPr>
              <a:t>« format de cellule», </a:t>
            </a:r>
            <a:r>
              <a:rPr lang="fr-FR" sz="3200" dirty="0"/>
              <a:t>à partir du </a:t>
            </a:r>
            <a:r>
              <a:rPr lang="fr-FR" sz="3200" b="1" dirty="0"/>
              <a:t>bloc Police </a:t>
            </a:r>
            <a:r>
              <a:rPr lang="fr-FR" sz="3200" dirty="0"/>
              <a:t>dans </a:t>
            </a:r>
            <a:r>
              <a:rPr lang="fr-FR" sz="3200" b="1" dirty="0">
                <a:solidFill>
                  <a:srgbClr val="7030A0"/>
                </a:solidFill>
              </a:rPr>
              <a:t>l’onglet « accueil »</a:t>
            </a:r>
          </a:p>
          <a:p>
            <a:pPr marL="0" indent="0">
              <a:buNone/>
            </a:pPr>
            <a:r>
              <a:rPr lang="fr-FR" sz="3200" b="1" u="sng" dirty="0">
                <a:solidFill>
                  <a:srgbClr val="00B050"/>
                </a:solidFill>
              </a:rPr>
              <a:t>5. La fonction somme automatique: </a:t>
            </a:r>
          </a:p>
          <a:p>
            <a:pPr marL="0" indent="0">
              <a:buNone/>
            </a:pPr>
            <a:endParaRPr lang="fr-FR" sz="3200" dirty="0"/>
          </a:p>
          <a:p>
            <a:pPr>
              <a:buFont typeface="Wingdings" panose="05000000000000000000" pitchFamily="2" charset="2"/>
              <a:buChar char="Ø"/>
            </a:pPr>
            <a:r>
              <a:rPr lang="fr-FR" sz="3200" dirty="0"/>
              <a:t> La somme de plages de cellules peut se faire par l’outil</a:t>
            </a:r>
          </a:p>
          <a:p>
            <a:pPr marL="0" indent="0">
              <a:buNone/>
            </a:pPr>
            <a:r>
              <a:rPr lang="fr-FR" sz="3200" dirty="0"/>
              <a:t> </a:t>
            </a:r>
            <a:r>
              <a:rPr lang="fr-FR" sz="3200" b="1" dirty="0">
                <a:solidFill>
                  <a:srgbClr val="7030A0"/>
                </a:solidFill>
              </a:rPr>
              <a:t>« Somme automatique »</a:t>
            </a:r>
          </a:p>
        </p:txBody>
      </p:sp>
    </p:spTree>
    <p:extLst>
      <p:ext uri="{BB962C8B-B14F-4D97-AF65-F5344CB8AC3E}">
        <p14:creationId xmlns:p14="http://schemas.microsoft.com/office/powerpoint/2010/main" val="34767702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D49EA-5B67-4AAA-B86D-F1B0C798D823}" type="slidenum">
              <a:rPr lang="fr-FR" smtClean="0"/>
              <a:pPr/>
              <a:t>14</a:t>
            </a:fld>
            <a:endParaRPr lang="fr-FR"/>
          </a:p>
        </p:txBody>
      </p:sp>
      <p:sp>
        <p:nvSpPr>
          <p:cNvPr id="6" name="ZoneTexte 5"/>
          <p:cNvSpPr txBox="1"/>
          <p:nvPr/>
        </p:nvSpPr>
        <p:spPr>
          <a:xfrm>
            <a:off x="213677" y="0"/>
            <a:ext cx="103823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0050" indent="-400050"/>
            <a:r>
              <a:rPr lang="fr-FR" sz="3600" b="1" dirty="0">
                <a:solidFill>
                  <a:srgbClr val="FF0000"/>
                </a:solidFill>
              </a:rPr>
              <a:t>TP:</a:t>
            </a:r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352926" y="3298049"/>
            <a:ext cx="13892463" cy="3429000"/>
          </a:xfrm>
        </p:spPr>
        <p:txBody>
          <a:bodyPr>
            <a:noAutofit/>
          </a:bodyPr>
          <a:lstStyle/>
          <a:p>
            <a:pPr marL="457200" indent="-457200">
              <a:buAutoNum type="arabicPeriod"/>
            </a:pPr>
            <a:r>
              <a:rPr lang="fr-FR" dirty="0"/>
              <a:t>Mets </a:t>
            </a:r>
            <a:r>
              <a:rPr lang="fr-FR" b="1" dirty="0">
                <a:solidFill>
                  <a:srgbClr val="FF0000"/>
                </a:solidFill>
              </a:rPr>
              <a:t>les en-têtes </a:t>
            </a:r>
            <a:r>
              <a:rPr lang="fr-FR" dirty="0"/>
              <a:t>en </a:t>
            </a:r>
            <a:r>
              <a:rPr lang="fr-FR" b="1" dirty="0"/>
              <a:t>couleur verte </a:t>
            </a:r>
            <a:r>
              <a:rPr lang="fr-FR" dirty="0"/>
              <a:t>avec </a:t>
            </a:r>
            <a:r>
              <a:rPr lang="fr-FR" b="1" dirty="0"/>
              <a:t>texte blanc</a:t>
            </a:r>
            <a:r>
              <a:rPr lang="fr-FR" dirty="0"/>
              <a:t> et </a:t>
            </a:r>
            <a:r>
              <a:rPr lang="fr-FR" b="1" dirty="0"/>
              <a:t>gras</a:t>
            </a:r>
          </a:p>
          <a:p>
            <a:pPr marL="457200" indent="-457200">
              <a:buAutoNum type="arabicPeriod"/>
            </a:pPr>
            <a:r>
              <a:rPr lang="fr-FR" dirty="0"/>
              <a:t>Applique </a:t>
            </a:r>
            <a:r>
              <a:rPr lang="fr-FR" b="1" dirty="0"/>
              <a:t>des bordures </a:t>
            </a:r>
            <a:r>
              <a:rPr lang="fr-FR" dirty="0"/>
              <a:t>à </a:t>
            </a:r>
            <a:r>
              <a:rPr lang="fr-FR" b="1" dirty="0">
                <a:solidFill>
                  <a:srgbClr val="FF0000"/>
                </a:solidFill>
              </a:rPr>
              <a:t>tout le tableau</a:t>
            </a:r>
          </a:p>
          <a:p>
            <a:pPr marL="457200" indent="-457200">
              <a:buAutoNum type="arabicPeriod"/>
            </a:pPr>
            <a:r>
              <a:rPr lang="fr-FR" b="1" dirty="0"/>
              <a:t>Centre</a:t>
            </a:r>
            <a:r>
              <a:rPr lang="fr-FR" dirty="0"/>
              <a:t> le texte dans </a:t>
            </a:r>
            <a:r>
              <a:rPr lang="fr-FR" b="1" dirty="0">
                <a:solidFill>
                  <a:srgbClr val="FF0000"/>
                </a:solidFill>
              </a:rPr>
              <a:t>toutes les cellules</a:t>
            </a:r>
          </a:p>
          <a:p>
            <a:pPr marL="457200" indent="-457200">
              <a:buAutoNum type="arabicPeriod"/>
            </a:pPr>
            <a:r>
              <a:rPr lang="fr-FR" dirty="0"/>
              <a:t>Calculer </a:t>
            </a:r>
            <a:r>
              <a:rPr lang="fr-FR" b="1" dirty="0">
                <a:solidFill>
                  <a:srgbClr val="FF0000"/>
                </a:solidFill>
              </a:rPr>
              <a:t>le total </a:t>
            </a:r>
            <a:r>
              <a:rPr lang="fr-FR" dirty="0"/>
              <a:t>de chaque élève en utilisant </a:t>
            </a:r>
            <a:r>
              <a:rPr lang="fr-FR" b="1" dirty="0"/>
              <a:t>la Somme automatique</a:t>
            </a:r>
          </a:p>
          <a:p>
            <a:pPr marL="457200" indent="-457200">
              <a:buAutoNum type="arabicPeriod"/>
            </a:pPr>
            <a:r>
              <a:rPr lang="fr-FR" dirty="0"/>
              <a:t>Mets </a:t>
            </a:r>
            <a:r>
              <a:rPr lang="fr-FR" b="1" dirty="0">
                <a:solidFill>
                  <a:srgbClr val="FF0000"/>
                </a:solidFill>
              </a:rPr>
              <a:t>la colonne Total </a:t>
            </a:r>
            <a:r>
              <a:rPr lang="fr-FR" dirty="0"/>
              <a:t>en </a:t>
            </a:r>
            <a:r>
              <a:rPr lang="fr-FR" b="1" dirty="0"/>
              <a:t>couleur jeune </a:t>
            </a:r>
            <a:r>
              <a:rPr lang="fr-FR" dirty="0"/>
              <a:t>avec </a:t>
            </a:r>
            <a:r>
              <a:rPr lang="fr-FR" b="1" dirty="0"/>
              <a:t>texte rouge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fr-FR" b="1" dirty="0"/>
              <a:t>Enregistrer</a:t>
            </a:r>
            <a:r>
              <a:rPr lang="fr-FR" dirty="0"/>
              <a:t> ton classeur sous le nom </a:t>
            </a:r>
            <a:r>
              <a:rPr lang="fr-FR" b="1" dirty="0">
                <a:solidFill>
                  <a:srgbClr val="FF0000"/>
                </a:solidFill>
              </a:rPr>
              <a:t>« TP mise en forme »</a:t>
            </a:r>
          </a:p>
          <a:p>
            <a:pPr marL="0" indent="0">
              <a:buNone/>
            </a:pPr>
            <a:r>
              <a:rPr lang="fr-FR" dirty="0"/>
              <a:t>Quittez Excel. </a:t>
            </a:r>
          </a:p>
          <a:p>
            <a:pPr marL="457200" indent="-457200">
              <a:buAutoNum type="arabicPeriod"/>
            </a:pPr>
            <a:endParaRPr lang="fr-FR" sz="2400" dirty="0"/>
          </a:p>
        </p:txBody>
      </p:sp>
      <p:graphicFrame>
        <p:nvGraphicFramePr>
          <p:cNvPr id="8" name="Tableau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1131113"/>
              </p:ext>
            </p:extLst>
          </p:nvPr>
        </p:nvGraphicFramePr>
        <p:xfrm>
          <a:off x="2013095" y="772967"/>
          <a:ext cx="9000000" cy="2160000"/>
        </p:xfrm>
        <a:graphic>
          <a:graphicData uri="http://schemas.openxmlformats.org/drawingml/2006/table">
            <a:tbl>
              <a:tblPr/>
              <a:tblGrid>
                <a:gridCol w="18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3099560461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4040600079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919032879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 fontAlgn="b"/>
                      <a:r>
                        <a:rPr lang="fr-FR" sz="2000" b="1" dirty="0">
                          <a:solidFill>
                            <a:schemeClr val="bg1"/>
                          </a:solidFill>
                        </a:rPr>
                        <a:t>Prénom</a:t>
                      </a:r>
                    </a:p>
                  </a:txBody>
                  <a:tcPr marL="12700" marR="127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000" b="1" dirty="0">
                          <a:solidFill>
                            <a:schemeClr val="bg1"/>
                          </a:solidFill>
                        </a:rPr>
                        <a:t>Versement 1</a:t>
                      </a:r>
                    </a:p>
                  </a:txBody>
                  <a:tcPr marL="12700" marR="127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 b="1" dirty="0">
                          <a:solidFill>
                            <a:schemeClr val="bg1"/>
                          </a:solidFill>
                        </a:rPr>
                        <a:t>Versement 2</a:t>
                      </a:r>
                    </a:p>
                  </a:txBody>
                  <a:tcPr marL="12700" marR="127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 b="1" dirty="0">
                          <a:solidFill>
                            <a:schemeClr val="bg1"/>
                          </a:solidFill>
                        </a:rPr>
                        <a:t>Versement 3</a:t>
                      </a:r>
                    </a:p>
                  </a:txBody>
                  <a:tcPr marL="12700" marR="127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000" b="1" dirty="0">
                          <a:solidFill>
                            <a:schemeClr val="bg1"/>
                          </a:solidFill>
                        </a:rPr>
                        <a:t>Total</a:t>
                      </a:r>
                    </a:p>
                  </a:txBody>
                  <a:tcPr marL="12700" marR="127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 fontAlgn="b"/>
                      <a:r>
                        <a:rPr lang="fr-FR" sz="1800" b="1" i="0" u="none" strike="noStrike" dirty="0" err="1">
                          <a:latin typeface="Arial"/>
                        </a:rPr>
                        <a:t>Basma</a:t>
                      </a:r>
                      <a:endParaRPr lang="fr-FR" sz="1800" b="1" i="0" u="none" strike="noStrike" dirty="0">
                        <a:latin typeface="Arial"/>
                      </a:endParaRPr>
                    </a:p>
                  </a:txBody>
                  <a:tcPr marL="12700" marR="127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800" b="1" i="0" u="none" strike="noStrike" dirty="0">
                          <a:latin typeface="Arial"/>
                        </a:rPr>
                        <a:t>13</a:t>
                      </a:r>
                    </a:p>
                  </a:txBody>
                  <a:tcPr marL="12700" marR="127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800" b="1" i="0" u="none" strike="noStrike" dirty="0">
                          <a:latin typeface="Arial"/>
                        </a:rPr>
                        <a:t>12</a:t>
                      </a:r>
                    </a:p>
                  </a:txBody>
                  <a:tcPr marL="12700" marR="127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800" b="1" i="0" u="none" strike="noStrike" dirty="0">
                          <a:latin typeface="Arial"/>
                        </a:rPr>
                        <a:t>6</a:t>
                      </a:r>
                    </a:p>
                  </a:txBody>
                  <a:tcPr marL="12700" marR="127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800" b="1" i="0" u="none" strike="noStrike" dirty="0">
                          <a:solidFill>
                            <a:srgbClr val="FF0000"/>
                          </a:solidFill>
                          <a:latin typeface="Arial"/>
                        </a:rPr>
                        <a:t>?</a:t>
                      </a:r>
                    </a:p>
                  </a:txBody>
                  <a:tcPr marL="12700" marR="127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 fontAlgn="b"/>
                      <a:r>
                        <a:rPr lang="fr-FR" sz="1800" b="1" i="0" u="none" strike="noStrike" dirty="0">
                          <a:latin typeface="Arial"/>
                        </a:rPr>
                        <a:t>Zouhair</a:t>
                      </a:r>
                    </a:p>
                  </a:txBody>
                  <a:tcPr marL="12700" marR="127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800" b="1" i="0" u="none" strike="noStrike" dirty="0">
                          <a:latin typeface="Arial"/>
                        </a:rPr>
                        <a:t>5</a:t>
                      </a:r>
                    </a:p>
                  </a:txBody>
                  <a:tcPr marL="12700" marR="127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800" b="1" i="0" u="none" strike="noStrike" dirty="0">
                          <a:latin typeface="Arial"/>
                        </a:rPr>
                        <a:t>17</a:t>
                      </a:r>
                    </a:p>
                  </a:txBody>
                  <a:tcPr marL="12700" marR="127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800" b="1" i="0" u="none" strike="noStrike" dirty="0">
                          <a:latin typeface="Arial"/>
                        </a:rPr>
                        <a:t>5</a:t>
                      </a:r>
                    </a:p>
                  </a:txBody>
                  <a:tcPr marL="12700" marR="127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1" i="0" u="none" strike="noStrike" dirty="0">
                          <a:solidFill>
                            <a:srgbClr val="FF0000"/>
                          </a:solidFill>
                          <a:latin typeface="Arial"/>
                        </a:rPr>
                        <a:t>?</a:t>
                      </a:r>
                    </a:p>
                  </a:txBody>
                  <a:tcPr marL="12700" marR="127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 fontAlgn="b"/>
                      <a:r>
                        <a:rPr lang="fr-FR" sz="1800" b="1" i="0" u="none" strike="noStrike" dirty="0">
                          <a:latin typeface="Arial"/>
                        </a:rPr>
                        <a:t>Yassine</a:t>
                      </a:r>
                    </a:p>
                  </a:txBody>
                  <a:tcPr marL="12700" marR="127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800" b="1" i="0" u="none" strike="noStrike" dirty="0">
                          <a:latin typeface="Arial"/>
                        </a:rPr>
                        <a:t>20</a:t>
                      </a:r>
                    </a:p>
                  </a:txBody>
                  <a:tcPr marL="12700" marR="127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800" b="1" i="0" u="none" strike="noStrike" dirty="0">
                          <a:latin typeface="Arial"/>
                        </a:rPr>
                        <a:t>6</a:t>
                      </a:r>
                    </a:p>
                  </a:txBody>
                  <a:tcPr marL="12700" marR="127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800" b="1" i="0" u="none" strike="noStrike" dirty="0">
                          <a:latin typeface="Arial"/>
                        </a:rPr>
                        <a:t>4</a:t>
                      </a:r>
                    </a:p>
                  </a:txBody>
                  <a:tcPr marL="12700" marR="127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1" i="0" u="none" strike="noStrike" dirty="0">
                          <a:solidFill>
                            <a:srgbClr val="FF0000"/>
                          </a:solidFill>
                          <a:latin typeface="Arial"/>
                        </a:rPr>
                        <a:t>?</a:t>
                      </a:r>
                    </a:p>
                  </a:txBody>
                  <a:tcPr marL="12700" marR="127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ZoneTexte 9">
            <a:extLst>
              <a:ext uri="{FF2B5EF4-FFF2-40B4-BE49-F238E27FC236}">
                <a16:creationId xmlns:a16="http://schemas.microsoft.com/office/drawing/2014/main" id="{F4E3F392-0CDB-4C56-B595-017F6025384A}"/>
              </a:ext>
            </a:extLst>
          </p:cNvPr>
          <p:cNvSpPr txBox="1"/>
          <p:nvPr/>
        </p:nvSpPr>
        <p:spPr>
          <a:xfrm>
            <a:off x="1188587" y="168609"/>
            <a:ext cx="9824507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fr-FR" sz="2400" dirty="0"/>
              <a:t>Saisir le tableau suivant dans Excel et applique la mise en forme :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26A98007-5614-41A3-A429-AF251364129E}"/>
              </a:ext>
            </a:extLst>
          </p:cNvPr>
          <p:cNvSpPr txBox="1"/>
          <p:nvPr/>
        </p:nvSpPr>
        <p:spPr>
          <a:xfrm>
            <a:off x="0" y="2783394"/>
            <a:ext cx="21536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i="1" dirty="0">
                <a:solidFill>
                  <a:srgbClr val="FF0000"/>
                </a:solidFill>
              </a:rPr>
              <a:t>Consignes :</a:t>
            </a:r>
          </a:p>
        </p:txBody>
      </p:sp>
      <p:sp>
        <p:nvSpPr>
          <p:cNvPr id="34" name="Forme libre : forme 33">
            <a:extLst>
              <a:ext uri="{FF2B5EF4-FFF2-40B4-BE49-F238E27FC236}">
                <a16:creationId xmlns:a16="http://schemas.microsoft.com/office/drawing/2014/main" id="{72D9B576-14E6-4C85-ACE0-B15CD7327D6F}"/>
              </a:ext>
            </a:extLst>
          </p:cNvPr>
          <p:cNvSpPr/>
          <p:nvPr/>
        </p:nvSpPr>
        <p:spPr>
          <a:xfrm>
            <a:off x="1076826" y="1118937"/>
            <a:ext cx="1556084" cy="2310063"/>
          </a:xfrm>
          <a:custGeom>
            <a:avLst/>
            <a:gdLst>
              <a:gd name="connsiteX0" fmla="*/ 938881 w 1420144"/>
              <a:gd name="connsiteY0" fmla="*/ 0 h 2310063"/>
              <a:gd name="connsiteX1" fmla="*/ 8439 w 1420144"/>
              <a:gd name="connsiteY1" fmla="*/ 1106905 h 2310063"/>
              <a:gd name="connsiteX2" fmla="*/ 1420144 w 1420144"/>
              <a:gd name="connsiteY2" fmla="*/ 2310063 h 2310063"/>
              <a:gd name="connsiteX3" fmla="*/ 1420144 w 1420144"/>
              <a:gd name="connsiteY3" fmla="*/ 2310063 h 23100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20144" h="2310063">
                <a:moveTo>
                  <a:pt x="938881" y="0"/>
                </a:moveTo>
                <a:cubicBezTo>
                  <a:pt x="433554" y="360947"/>
                  <a:pt x="-71772" y="721894"/>
                  <a:pt x="8439" y="1106905"/>
                </a:cubicBezTo>
                <a:cubicBezTo>
                  <a:pt x="88650" y="1491916"/>
                  <a:pt x="1420144" y="2310063"/>
                  <a:pt x="1420144" y="2310063"/>
                </a:cubicBezTo>
                <a:lnTo>
                  <a:pt x="1420144" y="2310063"/>
                </a:lnTo>
              </a:path>
            </a:pathLst>
          </a:cu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1770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3919</TotalTime>
  <Words>934</Words>
  <Application>Microsoft Office PowerPoint</Application>
  <PresentationFormat>Grand écran</PresentationFormat>
  <Paragraphs>218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23" baseType="lpstr">
      <vt:lpstr>Abadi</vt:lpstr>
      <vt:lpstr>Aldhabi</vt:lpstr>
      <vt:lpstr>Arial</vt:lpstr>
      <vt:lpstr>Calibri</vt:lpstr>
      <vt:lpstr>Calibri Light</vt:lpstr>
      <vt:lpstr>Comic Sans MS</vt:lpstr>
      <vt:lpstr>Poppins Bold</vt:lpstr>
      <vt:lpstr>Wingdings</vt:lpstr>
      <vt:lpstr>Office Theme</vt:lpstr>
      <vt:lpstr>Présentation PowerPoint</vt:lpstr>
      <vt:lpstr>Activité 1 :</vt:lpstr>
      <vt:lpstr>La mise en forme des cellules :</vt:lpstr>
      <vt:lpstr>Présentation PowerPoint</vt:lpstr>
      <vt:lpstr>La mise en forme des cellules:</vt:lpstr>
      <vt:lpstr>La mise en forme des cellules:</vt:lpstr>
      <vt:lpstr>La mise en forme des cellules:</vt:lpstr>
      <vt:lpstr>La mise en forme des cellules:</vt:lpstr>
      <vt:lpstr>La mise en forme des cellules:</vt:lpstr>
      <vt:lpstr>La mise en forme des cellules:</vt:lpstr>
      <vt:lpstr>Les onglets de «Format de Cellule»</vt:lpstr>
      <vt:lpstr>fonction somme automatique: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176</cp:revision>
  <dcterms:created xsi:type="dcterms:W3CDTF">2025-09-27T13:59:56Z</dcterms:created>
  <dcterms:modified xsi:type="dcterms:W3CDTF">2026-04-09T15:21:12Z</dcterms:modified>
</cp:coreProperties>
</file>