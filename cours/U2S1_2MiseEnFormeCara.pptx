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302" r:id="rId3"/>
    <p:sldId id="314" r:id="rId4"/>
    <p:sldId id="315" r:id="rId5"/>
    <p:sldId id="316" r:id="rId6"/>
    <p:sldId id="317" r:id="rId7"/>
    <p:sldId id="319" r:id="rId8"/>
    <p:sldId id="318" r:id="rId9"/>
    <p:sldId id="320" r:id="rId10"/>
    <p:sldId id="321" r:id="rId11"/>
    <p:sldId id="322" r:id="rId12"/>
    <p:sldId id="323" r:id="rId13"/>
    <p:sldId id="324" r:id="rId14"/>
    <p:sldId id="325" r:id="rId15"/>
    <p:sldId id="311" r:id="rId16"/>
    <p:sldId id="309" r:id="rId17"/>
    <p:sldId id="326" r:id="rId18"/>
    <p:sldId id="327" r:id="rId19"/>
    <p:sldId id="328" r:id="rId20"/>
    <p:sldId id="329" r:id="rId21"/>
    <p:sldId id="330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BAD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49" d="100"/>
          <a:sy n="49" d="100"/>
        </p:scale>
        <p:origin x="7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accent1">
                <a:lumMod val="5000"/>
                <a:lumOff val="95000"/>
              </a:schemeClr>
            </a:gs>
            <a:gs pos="7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9647781" y="2743200"/>
            <a:ext cx="7316569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7823413" y="5798923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59843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45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2211865" y="3911553"/>
            <a:ext cx="5860196" cy="2062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fr-FR" sz="4800" b="1" i="1" dirty="0">
                <a:solidFill>
                  <a:srgbClr val="002060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Mise en forme des caractères</a:t>
            </a:r>
            <a:endParaRPr lang="en-US" sz="4800" b="1" i="1" dirty="0">
              <a:solidFill>
                <a:srgbClr val="002060"/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1024848" y="6199211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36670" y="3109787"/>
            <a:ext cx="5494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Unité 2:  Utilitaires et fichiers &amp;&amp; Traitement de textes.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Séquence 2: 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Traitement de texte</a:t>
            </a: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.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 </a:t>
            </a:r>
            <a:endParaRPr lang="fr-FR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24" name="Picture 2" descr="D:\my el mehdi salhi\Word.jpg.png">
            <a:extLst>
              <a:ext uri="{FF2B5EF4-FFF2-40B4-BE49-F238E27FC236}">
                <a16:creationId xmlns:a16="http://schemas.microsoft.com/office/drawing/2014/main" id="{0A6CEB32-8F54-42CE-99D9-85F143DE8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379581" y="3462560"/>
            <a:ext cx="1928826" cy="1928826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D4EEDF-B3D4-4182-BF8D-0CD864315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08615">
            <a:off x="10533331" y="944801"/>
            <a:ext cx="136815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</a:t>
            </a:fld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E37C5C-6FB3-4F49-ACC1-EA788586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88" y="0"/>
            <a:ext cx="11436824" cy="291812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927AC63-4A82-41D7-9CFC-EF2D44952DC8}"/>
              </a:ext>
            </a:extLst>
          </p:cNvPr>
          <p:cNvSpPr txBox="1"/>
          <p:nvPr/>
        </p:nvSpPr>
        <p:spPr>
          <a:xfrm>
            <a:off x="0" y="3185672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Omar veut imprimer son document pour l’afficher dans la classe.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F60064-E9F0-4927-8764-9236B8712381}"/>
              </a:ext>
            </a:extLst>
          </p:cNvPr>
          <p:cNvSpPr txBox="1"/>
          <p:nvPr/>
        </p:nvSpPr>
        <p:spPr>
          <a:xfrm>
            <a:off x="191069" y="3847778"/>
            <a:ext cx="3408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Mais il remarque que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3331A6-E3F0-4C40-A6E5-5AB0B7931FCE}"/>
              </a:ext>
            </a:extLst>
          </p:cNvPr>
          <p:cNvSpPr txBox="1"/>
          <p:nvPr/>
        </p:nvSpPr>
        <p:spPr>
          <a:xfrm>
            <a:off x="715369" y="4536270"/>
            <a:ext cx="6067568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titre 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 se distingue pas du reste du texte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Tous les mots ont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même taille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Aucun mot important n’est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 en valeur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document n’est pas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attractif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3B54F81-2141-44F3-AF94-BB7A276C6350}"/>
              </a:ext>
            </a:extLst>
          </p:cNvPr>
          <p:cNvSpPr txBox="1"/>
          <p:nvPr/>
        </p:nvSpPr>
        <p:spPr>
          <a:xfrm>
            <a:off x="7152998" y="3875073"/>
            <a:ext cx="28964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>
                <a:latin typeface="Segoe UI" panose="020B0502040204020203" pitchFamily="34" charset="0"/>
                <a:cs typeface="Segoe UI" panose="020B0502040204020203" pitchFamily="34" charset="0"/>
              </a:rPr>
              <a:t>Omar se demande 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81C18DD-2341-4E7B-819B-9E133F56177C}"/>
              </a:ext>
            </a:extLst>
          </p:cNvPr>
          <p:cNvSpPr txBox="1"/>
          <p:nvPr/>
        </p:nvSpPr>
        <p:spPr>
          <a:xfrm>
            <a:off x="7284959" y="4746379"/>
            <a:ext cx="4383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fr-FR" altLang="fr-FR" sz="2400" dirty="0">
                <a:latin typeface="Arial" panose="020B0604020202020204" pitchFamily="34" charset="0"/>
              </a:rPr>
              <a:t>Comment rendre mon document plus </a:t>
            </a:r>
            <a:r>
              <a:rPr lang="fr-FR" altLang="fr-FR" sz="2400" b="1" dirty="0">
                <a:solidFill>
                  <a:srgbClr val="7030A0"/>
                </a:solidFill>
                <a:latin typeface="Arial" panose="020B0604020202020204" pitchFamily="34" charset="0"/>
              </a:rPr>
              <a:t>présentable</a:t>
            </a:r>
            <a:r>
              <a:rPr lang="fr-FR" altLang="fr-FR" sz="2400" dirty="0">
                <a:latin typeface="Arial" panose="020B0604020202020204" pitchFamily="34" charset="0"/>
              </a:rPr>
              <a:t> et </a:t>
            </a:r>
            <a:r>
              <a:rPr lang="fr-FR" altLang="fr-FR" sz="2400" b="1" dirty="0">
                <a:solidFill>
                  <a:srgbClr val="7030A0"/>
                </a:solidFill>
                <a:latin typeface="Arial" panose="020B0604020202020204" pitchFamily="34" charset="0"/>
              </a:rPr>
              <a:t>plus clair </a:t>
            </a:r>
            <a:r>
              <a:rPr lang="fr-FR" altLang="fr-FR" sz="2400" dirty="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F5DF63B-AD6B-44FD-842E-4F148C365CD2}"/>
              </a:ext>
            </a:extLst>
          </p:cNvPr>
          <p:cNvSpPr txBox="1"/>
          <p:nvPr/>
        </p:nvSpPr>
        <p:spPr>
          <a:xfrm>
            <a:off x="6747077" y="3882783"/>
            <a:ext cx="537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🤨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27AC63-4A82-41D7-9CFC-EF2D44952DC8}"/>
              </a:ext>
            </a:extLst>
          </p:cNvPr>
          <p:cNvSpPr txBox="1"/>
          <p:nvPr/>
        </p:nvSpPr>
        <p:spPr>
          <a:xfrm>
            <a:off x="1302872" y="439740"/>
            <a:ext cx="9586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Aider Omar à améliorer la présentation de son document en utilisant les outils de </a:t>
            </a:r>
            <a:r>
              <a:rPr lang="fr-FR" sz="28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forme des caractères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F60064-E9F0-4927-8764-9236B8712381}"/>
              </a:ext>
            </a:extLst>
          </p:cNvPr>
          <p:cNvSpPr txBox="1"/>
          <p:nvPr/>
        </p:nvSpPr>
        <p:spPr>
          <a:xfrm>
            <a:off x="372035" y="1606913"/>
            <a:ext cx="11250705" cy="5136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alt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Comment </a:t>
            </a:r>
            <a:r>
              <a:rPr lang="fr-FR" altLang="fr-FR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sélectionner</a:t>
            </a:r>
            <a:r>
              <a:rPr lang="fr-FR" alt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seulement un mot ou une phrase avant de la modifier ?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Comment changer </a:t>
            </a:r>
            <a:r>
              <a:rPr lang="fr-FR" sz="2800" dirty="0">
                <a:solidFill>
                  <a:srgbClr val="30303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</a:t>
            </a:r>
            <a:r>
              <a:rPr lang="fr-FR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type d’écriture (</a:t>
            </a:r>
            <a:r>
              <a:rPr lang="fr-FR" sz="2800" b="1" dirty="0">
                <a:solidFill>
                  <a:srgbClr val="FF0000"/>
                </a:solidFill>
                <a:latin typeface="Ink Free" panose="03080402000500000000" pitchFamily="66" charset="0"/>
                <a:cs typeface="Segoe UI" panose="020B0502040204020203" pitchFamily="34" charset="0"/>
              </a:rPr>
              <a:t>police</a:t>
            </a:r>
            <a:r>
              <a:rPr lang="fr-FR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d’un texte ?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Comment modifier la </a:t>
            </a:r>
            <a:r>
              <a:rPr lang="fr-FR" sz="5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taille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des caractères ?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Comment mettre un texte en </a:t>
            </a:r>
            <a:r>
              <a:rPr lang="fr-FR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gras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, en </a:t>
            </a:r>
            <a:r>
              <a:rPr lang="fr-FR" sz="28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italique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ou en </a:t>
            </a:r>
            <a:r>
              <a:rPr lang="fr-FR" sz="2800" u="sng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souligné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?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Comment changer la </a:t>
            </a:r>
            <a:r>
              <a:rPr lang="fr-FR" sz="2800" b="1" dirty="0">
                <a:gradFill>
                  <a:gsLst>
                    <a:gs pos="0">
                      <a:srgbClr val="FFFF00"/>
                    </a:gs>
                    <a:gs pos="22000">
                      <a:schemeClr val="accent2"/>
                    </a:gs>
                    <a:gs pos="63000">
                      <a:srgbClr val="FF0000"/>
                    </a:gs>
                    <a:gs pos="43000">
                      <a:srgbClr val="00B050"/>
                    </a:gs>
                    <a:gs pos="77000">
                      <a:srgbClr val="00B0F0"/>
                    </a:gs>
                    <a:gs pos="93000">
                      <a:srgbClr val="FFC000"/>
                    </a:gs>
                  </a:gsLst>
                  <a:lin ang="5400000" scaled="1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couleur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du texte ?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Comment reproduire la </a:t>
            </a:r>
            <a:r>
              <a:rPr lang="fr-FR" sz="2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même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mise en forme </a:t>
            </a:r>
            <a:r>
              <a:rPr lang="fr-FR" sz="2800" dirty="0">
                <a:latin typeface="Segoe UI" panose="020B0502040204020203" pitchFamily="34" charset="0"/>
                <a:cs typeface="Segoe UI" panose="020B0502040204020203" pitchFamily="34" charset="0"/>
              </a:rPr>
              <a:t>à d’autres caractères ?</a:t>
            </a:r>
          </a:p>
        </p:txBody>
      </p:sp>
    </p:spTree>
    <p:extLst>
      <p:ext uri="{BB962C8B-B14F-4D97-AF65-F5344CB8AC3E}">
        <p14:creationId xmlns:p14="http://schemas.microsoft.com/office/powerpoint/2010/main" val="206661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4650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sélection du texte: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FD51239-6BFF-4C9C-8580-2F38558B65CC}"/>
              </a:ext>
            </a:extLst>
          </p:cNvPr>
          <p:cNvSpPr txBox="1"/>
          <p:nvPr/>
        </p:nvSpPr>
        <p:spPr>
          <a:xfrm>
            <a:off x="330200" y="1239881"/>
            <a:ext cx="11861800" cy="511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la plupart des manipulations effectuées sur un texte, ou sur une partie de ce texte (caractère, mot, paragraphe, …), nécessite sa séle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fr-FR" sz="2800" b="0" i="0" u="none" strike="noStrike" dirty="0">
              <a:solidFill>
                <a:srgbClr val="21B2C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 texte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sélectionné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devient coloré pour montrer qu’il est choisi.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fr-FR" sz="2800" b="0" i="0" u="none" strike="noStrike" dirty="0">
              <a:solidFill>
                <a:srgbClr val="21B2C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2800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sélection peut se faire avec la souris, le clavier ou avec </a:t>
            </a:r>
            <a:r>
              <a:rPr lang="fr-FR" sz="2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les deux</a:t>
            </a:r>
            <a:r>
              <a:rPr lang="fr-FR" sz="4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✌️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2800" b="0" i="0" u="none" strike="noStrike" dirty="0">
              <a:solidFill>
                <a:srgbClr val="21B2C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79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4650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sélection du texte: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72D958-6066-4A06-8B8A-866056792740}"/>
              </a:ext>
            </a:extLst>
          </p:cNvPr>
          <p:cNvSpPr txBox="1"/>
          <p:nvPr/>
        </p:nvSpPr>
        <p:spPr>
          <a:xfrm>
            <a:off x="10772" y="733215"/>
            <a:ext cx="6250328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Pour sélectionner :</a:t>
            </a:r>
          </a:p>
        </p:txBody>
      </p:sp>
      <p:graphicFrame>
        <p:nvGraphicFramePr>
          <p:cNvPr id="3" name="Tableau 7">
            <a:extLst>
              <a:ext uri="{FF2B5EF4-FFF2-40B4-BE49-F238E27FC236}">
                <a16:creationId xmlns:a16="http://schemas.microsoft.com/office/drawing/2014/main" id="{87C7C999-819C-4204-9453-71EC95223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853389"/>
              </p:ext>
            </p:extLst>
          </p:nvPr>
        </p:nvGraphicFramePr>
        <p:xfrm>
          <a:off x="341354" y="1661132"/>
          <a:ext cx="11509292" cy="493016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54646">
                  <a:extLst>
                    <a:ext uri="{9D8B030D-6E8A-4147-A177-3AD203B41FA5}">
                      <a16:colId xmlns:a16="http://schemas.microsoft.com/office/drawing/2014/main" val="3637877453"/>
                    </a:ext>
                  </a:extLst>
                </a:gridCol>
                <a:gridCol w="5754646">
                  <a:extLst>
                    <a:ext uri="{9D8B030D-6E8A-4147-A177-3AD203B41FA5}">
                      <a16:colId xmlns:a16="http://schemas.microsoft.com/office/drawing/2014/main" val="3687146031"/>
                    </a:ext>
                  </a:extLst>
                </a:gridCol>
              </a:tblGrid>
              <a:tr h="690962">
                <a:tc>
                  <a:txBody>
                    <a:bodyPr/>
                    <a:lstStyle/>
                    <a:p>
                      <a:pPr algn="ctr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laywrite NZ Basic ExtraLight" pitchFamily="2" charset="0"/>
                          <a:cs typeface="Arial" panose="020B0604020202020204" pitchFamily="34" charset="0"/>
                        </a:rPr>
                        <a:t>Un mot </a:t>
                      </a:r>
                      <a:endParaRPr lang="fr-FR" sz="2000" b="1" dirty="0">
                        <a:latin typeface="Playwrite NZ Basic ExtraLigh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laywrite NZ Basic ExtraLight" pitchFamily="2" charset="0"/>
                          <a:ea typeface="+mn-ea"/>
                          <a:cs typeface="Arial" panose="020B0604020202020204" pitchFamily="34" charset="0"/>
                        </a:rPr>
                        <a:t>Double-cliquer sur le mot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663018"/>
                  </a:ext>
                </a:extLst>
              </a:tr>
              <a:tr h="122247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latin typeface="Playwrite NZ Basic ExtraLight" pitchFamily="2" charset="0"/>
                        </a:rPr>
                        <a:t>Une ligne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laywrite NZ Basic ExtraLight" pitchFamily="2" charset="0"/>
                          <a:ea typeface="+mn-ea"/>
                          <a:cs typeface="Arial" panose="020B0604020202020204" pitchFamily="34" charset="0"/>
                        </a:rPr>
                        <a:t>Cliquer dans la marge gauche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laywrite NZ Basic ExtraLight" pitchFamily="2" charset="0"/>
                          <a:ea typeface="+mn-ea"/>
                          <a:cs typeface="Arial" panose="020B0604020202020204" pitchFamily="34" charset="0"/>
                        </a:rPr>
                        <a:t> en face de la ligne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418859"/>
                  </a:ext>
                </a:extLst>
              </a:tr>
              <a:tr h="690962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latin typeface="Playwrite NZ Basic ExtraLight" pitchFamily="2" charset="0"/>
                        </a:rPr>
                        <a:t>Une phrase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latin typeface="Playwrite NZ Basic ExtraLight" pitchFamily="2" charset="0"/>
                        </a:rPr>
                        <a:t>Ctrl + clic sur la phrase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4619"/>
                  </a:ext>
                </a:extLst>
              </a:tr>
              <a:tr h="1222470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 paragraphe </a:t>
                      </a:r>
                      <a:endParaRPr lang="fr-FR" sz="2000" b="1" dirty="0">
                        <a:latin typeface="Playwrite NZ Basic ExtraLigh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latin typeface="Playwrite NZ Basic ExtraLight" pitchFamily="2" charset="0"/>
                        </a:rPr>
                        <a:t>Triple‑clic sur le paragraphe ou double‑clic dans la marge gauche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057041"/>
                  </a:ext>
                </a:extLst>
              </a:tr>
              <a:tr h="1103304">
                <a:tc>
                  <a:txBody>
                    <a:bodyPr/>
                    <a:lstStyle/>
                    <a:p>
                      <a:pPr algn="ctr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Playwrite NZ Basic ExtraLight" pitchFamily="2" charset="0"/>
                          <a:ea typeface="+mn-ea"/>
                          <a:cs typeface="+mn-cs"/>
                        </a:rPr>
                        <a:t>tout le document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Playwrite NZ Basic ExtraLight" pitchFamily="2" charset="0"/>
                          <a:ea typeface="+mn-ea"/>
                          <a:cs typeface="+mn-cs"/>
                        </a:rPr>
                        <a:t>Ctrl + A ou triple‑clic dans la marge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286350"/>
                  </a:ext>
                </a:extLst>
              </a:tr>
            </a:tbl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A3386098-7139-4ACF-8497-F09BDCF75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255" y="1893624"/>
            <a:ext cx="373408" cy="3734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E9FACC8-2795-415D-965C-27DB875DB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913" y="1872076"/>
            <a:ext cx="331499" cy="33149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3CAABE1-FB73-4C7E-B878-42AB52113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58" y="2689427"/>
            <a:ext cx="293697" cy="29369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6ABD120-C382-41C3-9A2E-D10D9B1F2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870" y="2605015"/>
            <a:ext cx="784741" cy="78474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15E2581-3071-47D3-A9FB-265270F4D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884" y="3454506"/>
            <a:ext cx="889674" cy="88967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A399A41-9C99-4C64-8E06-0C1955B0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458" y="3639432"/>
            <a:ext cx="443412" cy="44341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C5AFCEE-43CC-4DEC-97D6-D0F59261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20" y="5074222"/>
            <a:ext cx="312118" cy="31211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ACC1446-4515-4FC2-A483-D1CC484F6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898" y="4871387"/>
            <a:ext cx="312118" cy="31211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8C19A2D-DE30-47AA-8761-B22B41EE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458" y="4975162"/>
            <a:ext cx="235862" cy="23586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4675A8E-9C29-492E-AC56-4C52B0064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752" y="4918163"/>
            <a:ext cx="312118" cy="31211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9102C44-4987-45DD-BC87-9A225A97B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769" y="4974842"/>
            <a:ext cx="312118" cy="31211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018F173-E198-430D-839A-420084FEB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913" y="4918163"/>
            <a:ext cx="415573" cy="41557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5A701A2B-37F3-48F0-86BA-494F823D8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5965766"/>
            <a:ext cx="680699" cy="68069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72EF9DA-D521-47FB-9917-EE288E874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100" y="5600699"/>
            <a:ext cx="380485" cy="38048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E0BC07D-06BB-4C17-941F-31738FD2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86" y="6092779"/>
            <a:ext cx="415573" cy="41557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D7BE9365-266D-4878-A381-477B954EB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358" y="6299689"/>
            <a:ext cx="241568" cy="241568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64458C3F-D274-4140-B519-6BBF3BA04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945" y="6108573"/>
            <a:ext cx="241568" cy="24156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4E880AE6-6FAD-49A9-B7F9-F0F9977E4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8131" y="6204131"/>
            <a:ext cx="241568" cy="24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61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72D958-6066-4A06-8B8A-866056792740}"/>
              </a:ext>
            </a:extLst>
          </p:cNvPr>
          <p:cNvSpPr txBox="1"/>
          <p:nvPr/>
        </p:nvSpPr>
        <p:spPr>
          <a:xfrm>
            <a:off x="10772" y="1577274"/>
            <a:ext cx="12181228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mise en forme d’un document représente habituellement la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dernière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étape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travail.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FBF188-5671-4D37-912F-B09C1A5292A3}"/>
              </a:ext>
            </a:extLst>
          </p:cNvPr>
          <p:cNvSpPr txBox="1"/>
          <p:nvPr/>
        </p:nvSpPr>
        <p:spPr>
          <a:xfrm>
            <a:off x="10772" y="3726498"/>
            <a:ext cx="12181228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mise en forme d’un caractère, c’est rendre un </a:t>
            </a:r>
            <a:r>
              <a:rPr lang="fr-F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texte spécial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lui appliquant des effets comme le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gras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l’</a:t>
            </a:r>
            <a:r>
              <a:rPr lang="fr-FR" sz="28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italique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 le </a:t>
            </a:r>
            <a:r>
              <a:rPr lang="fr-FR" sz="28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soulignement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1306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72D958-6066-4A06-8B8A-866056792740}"/>
              </a:ext>
            </a:extLst>
          </p:cNvPr>
          <p:cNvSpPr txBox="1"/>
          <p:nvPr/>
        </p:nvSpPr>
        <p:spPr>
          <a:xfrm>
            <a:off x="0" y="848964"/>
            <a:ext cx="12181228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base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Onglet: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accueil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bloc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police</a:t>
            </a:r>
            <a:endParaRPr lang="fr-FR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0A9E12-46F9-4DA5-83F1-B8D0D847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1" y="2474371"/>
            <a:ext cx="11018746" cy="2360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FB44AE-191D-47EF-814E-E81A36EDF4CF}"/>
              </a:ext>
            </a:extLst>
          </p:cNvPr>
          <p:cNvSpPr/>
          <p:nvPr/>
        </p:nvSpPr>
        <p:spPr>
          <a:xfrm>
            <a:off x="4922520" y="2922623"/>
            <a:ext cx="5394960" cy="20303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FAB78581-B0CF-4A66-8CF5-97ADA643BCA4}"/>
              </a:ext>
            </a:extLst>
          </p:cNvPr>
          <p:cNvCxnSpPr>
            <a:cxnSpLocks/>
          </p:cNvCxnSpPr>
          <p:nvPr/>
        </p:nvCxnSpPr>
        <p:spPr>
          <a:xfrm>
            <a:off x="2802401" y="3075254"/>
            <a:ext cx="1874520" cy="7074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91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C9E43-1B0D-4276-B75B-A45E101E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7" y="950371"/>
            <a:ext cx="11018746" cy="23601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6B8DDF-353A-4F02-9ABE-CA8DE6CEEFE2}"/>
              </a:ext>
            </a:extLst>
          </p:cNvPr>
          <p:cNvSpPr/>
          <p:nvPr/>
        </p:nvSpPr>
        <p:spPr>
          <a:xfrm>
            <a:off x="4843812" y="1678699"/>
            <a:ext cx="1874520" cy="4043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3421A9-0A48-46E6-81B7-3A4068C5E755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604803" y="2134916"/>
            <a:ext cx="993968" cy="1580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758B8-D17A-4F06-90AD-698FAE1E200B}"/>
              </a:ext>
            </a:extLst>
          </p:cNvPr>
          <p:cNvSpPr txBox="1"/>
          <p:nvPr/>
        </p:nvSpPr>
        <p:spPr>
          <a:xfrm>
            <a:off x="6096000" y="3715162"/>
            <a:ext cx="1005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74638" rtl="0">
              <a:spcBef>
                <a:spcPts val="0"/>
              </a:spcBef>
              <a:spcAft>
                <a:spcPts val="0"/>
              </a:spcAft>
            </a:pPr>
            <a:r>
              <a:rPr lang="fr-FR" sz="2400" b="0" dirty="0">
                <a:effectLst/>
              </a:rPr>
              <a:t>police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6CCE44-09DE-4448-B8C6-0FE9DAAB9D80}"/>
              </a:ext>
            </a:extLst>
          </p:cNvPr>
          <p:cNvSpPr txBox="1"/>
          <p:nvPr/>
        </p:nvSpPr>
        <p:spPr>
          <a:xfrm>
            <a:off x="654564" y="4704171"/>
            <a:ext cx="49502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Exemple :</a:t>
            </a:r>
          </a:p>
          <a:p>
            <a:pPr lvl="2"/>
            <a:r>
              <a:rPr lang="fr-FR" sz="2400" dirty="0"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2400" dirty="0">
                <a:latin typeface="Brush Script MT" panose="03060802040406070304" pitchFamily="66" charset="0"/>
              </a:rPr>
              <a:t>-ceci est un texte</a:t>
            </a:r>
          </a:p>
          <a:p>
            <a:pPr lvl="2"/>
            <a:r>
              <a:rPr lang="fr-FR" sz="2400" dirty="0">
                <a:latin typeface="Lucida Console" panose="020B0609040504020204" pitchFamily="49" charset="0"/>
                <a:ea typeface="PMingLiU-ExtB" panose="02020500000000000000" pitchFamily="18" charset="-120"/>
                <a:cs typeface="Tahoma" panose="020B0604030504040204" pitchFamily="34" charset="0"/>
              </a:rPr>
              <a:t>-ceci est un texte</a:t>
            </a:r>
          </a:p>
          <a:p>
            <a:pPr lvl="2"/>
            <a:r>
              <a:rPr lang="fr-FR" sz="2400" dirty="0">
                <a:latin typeface="Algerian" panose="04020705040A02060702" pitchFamily="82" charset="0"/>
              </a:rPr>
              <a:t>-ceci est un texte</a:t>
            </a:r>
          </a:p>
        </p:txBody>
      </p:sp>
    </p:spTree>
    <p:extLst>
      <p:ext uri="{BB962C8B-B14F-4D97-AF65-F5344CB8AC3E}">
        <p14:creationId xmlns:p14="http://schemas.microsoft.com/office/powerpoint/2010/main" val="4057645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C9E43-1B0D-4276-B75B-A45E101E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7" y="950371"/>
            <a:ext cx="11018746" cy="23601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6B8DDF-353A-4F02-9ABE-CA8DE6CEEFE2}"/>
              </a:ext>
            </a:extLst>
          </p:cNvPr>
          <p:cNvSpPr/>
          <p:nvPr/>
        </p:nvSpPr>
        <p:spPr>
          <a:xfrm>
            <a:off x="6670040" y="1625600"/>
            <a:ext cx="2108200" cy="4896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3421A9-0A48-46E6-81B7-3A4068C5E755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7275226" y="2115244"/>
            <a:ext cx="448914" cy="15999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758B8-D17A-4F06-90AD-698FAE1E200B}"/>
              </a:ext>
            </a:extLst>
          </p:cNvPr>
          <p:cNvSpPr txBox="1"/>
          <p:nvPr/>
        </p:nvSpPr>
        <p:spPr>
          <a:xfrm>
            <a:off x="6096000" y="3715162"/>
            <a:ext cx="2358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74638" rtl="0">
              <a:spcBef>
                <a:spcPts val="0"/>
              </a:spcBef>
              <a:spcAft>
                <a:spcPts val="0"/>
              </a:spcAft>
            </a:pPr>
            <a:r>
              <a:rPr lang="fr-FR" sz="2400" b="0" dirty="0">
                <a:effectLst/>
              </a:rPr>
              <a:t>Taille de la police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6CCE44-09DE-4448-B8C6-0FE9DAAB9D80}"/>
              </a:ext>
            </a:extLst>
          </p:cNvPr>
          <p:cNvSpPr txBox="1"/>
          <p:nvPr/>
        </p:nvSpPr>
        <p:spPr>
          <a:xfrm>
            <a:off x="654564" y="4704171"/>
            <a:ext cx="630182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Exemple :</a:t>
            </a:r>
          </a:p>
          <a:p>
            <a:pPr lvl="2"/>
            <a:r>
              <a:rPr lang="fr-FR" sz="2400" dirty="0"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4400" dirty="0">
                <a:latin typeface="Playwrite NZ Basic ExtraLight" pitchFamily="2" charset="0"/>
              </a:rPr>
              <a:t>-ceci est un texte</a:t>
            </a:r>
          </a:p>
        </p:txBody>
      </p:sp>
    </p:spTree>
    <p:extLst>
      <p:ext uri="{BB962C8B-B14F-4D97-AF65-F5344CB8AC3E}">
        <p14:creationId xmlns:p14="http://schemas.microsoft.com/office/powerpoint/2010/main" val="3747886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C9E43-1B0D-4276-B75B-A45E101E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7" y="950371"/>
            <a:ext cx="11018746" cy="23601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6B8DDF-353A-4F02-9ABE-CA8DE6CEEFE2}"/>
              </a:ext>
            </a:extLst>
          </p:cNvPr>
          <p:cNvSpPr/>
          <p:nvPr/>
        </p:nvSpPr>
        <p:spPr>
          <a:xfrm>
            <a:off x="4956986" y="2196339"/>
            <a:ext cx="575713" cy="4896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3421A9-0A48-46E6-81B7-3A4068C5E755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5244843" y="2685983"/>
            <a:ext cx="1281350" cy="10291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758B8-D17A-4F06-90AD-698FAE1E200B}"/>
              </a:ext>
            </a:extLst>
          </p:cNvPr>
          <p:cNvSpPr txBox="1"/>
          <p:nvPr/>
        </p:nvSpPr>
        <p:spPr>
          <a:xfrm>
            <a:off x="6096000" y="3715162"/>
            <a:ext cx="860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74638" rtl="0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effectLst/>
              </a:rPr>
              <a:t>Gras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6CCE44-09DE-4448-B8C6-0FE9DAAB9D80}"/>
              </a:ext>
            </a:extLst>
          </p:cNvPr>
          <p:cNvSpPr txBox="1"/>
          <p:nvPr/>
        </p:nvSpPr>
        <p:spPr>
          <a:xfrm>
            <a:off x="654564" y="4704171"/>
            <a:ext cx="6301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Exemple :</a:t>
            </a:r>
          </a:p>
          <a:p>
            <a:pPr lvl="2"/>
            <a:r>
              <a:rPr lang="fr-FR" sz="2400" dirty="0"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2400" b="1" dirty="0">
                <a:latin typeface="Playwrite NZ Basic ExtraLight" pitchFamily="2" charset="0"/>
              </a:rPr>
              <a:t>-ceci est un texte</a:t>
            </a:r>
          </a:p>
        </p:txBody>
      </p:sp>
    </p:spTree>
    <p:extLst>
      <p:ext uri="{BB962C8B-B14F-4D97-AF65-F5344CB8AC3E}">
        <p14:creationId xmlns:p14="http://schemas.microsoft.com/office/powerpoint/2010/main" val="3319214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C9E43-1B0D-4276-B75B-A45E101E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7" y="950371"/>
            <a:ext cx="11018746" cy="23601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6B8DDF-353A-4F02-9ABE-CA8DE6CEEFE2}"/>
              </a:ext>
            </a:extLst>
          </p:cNvPr>
          <p:cNvSpPr/>
          <p:nvPr/>
        </p:nvSpPr>
        <p:spPr>
          <a:xfrm>
            <a:off x="5373675" y="2219488"/>
            <a:ext cx="575713" cy="4896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3421A9-0A48-46E6-81B7-3A4068C5E755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5661532" y="2709132"/>
            <a:ext cx="1009344" cy="10060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758B8-D17A-4F06-90AD-698FAE1E200B}"/>
              </a:ext>
            </a:extLst>
          </p:cNvPr>
          <p:cNvSpPr txBox="1"/>
          <p:nvPr/>
        </p:nvSpPr>
        <p:spPr>
          <a:xfrm>
            <a:off x="6096000" y="3715162"/>
            <a:ext cx="1149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74638" rtl="0">
              <a:spcBef>
                <a:spcPts val="0"/>
              </a:spcBef>
              <a:spcAft>
                <a:spcPts val="0"/>
              </a:spcAft>
            </a:pPr>
            <a:r>
              <a:rPr lang="fr-FR" sz="2400" i="1" dirty="0">
                <a:effectLst/>
              </a:rPr>
              <a:t>Italique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6CCE44-09DE-4448-B8C6-0FE9DAAB9D80}"/>
              </a:ext>
            </a:extLst>
          </p:cNvPr>
          <p:cNvSpPr txBox="1"/>
          <p:nvPr/>
        </p:nvSpPr>
        <p:spPr>
          <a:xfrm>
            <a:off x="654564" y="4704171"/>
            <a:ext cx="6301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Exemple :</a:t>
            </a:r>
          </a:p>
          <a:p>
            <a:pPr lvl="2"/>
            <a:r>
              <a:rPr lang="fr-FR" sz="2400" dirty="0"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2400" i="1" dirty="0">
                <a:latin typeface="Playwrite NZ Basic ExtraLight" pitchFamily="2" charset="0"/>
              </a:rPr>
              <a:t>-ceci est un texte</a:t>
            </a:r>
          </a:p>
        </p:txBody>
      </p:sp>
    </p:spTree>
    <p:extLst>
      <p:ext uri="{BB962C8B-B14F-4D97-AF65-F5344CB8AC3E}">
        <p14:creationId xmlns:p14="http://schemas.microsoft.com/office/powerpoint/2010/main" val="3139237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C9E43-1B0D-4276-B75B-A45E101E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7" y="900310"/>
            <a:ext cx="11018746" cy="23601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6B8DDF-353A-4F02-9ABE-CA8DE6CEEFE2}"/>
              </a:ext>
            </a:extLst>
          </p:cNvPr>
          <p:cNvSpPr/>
          <p:nvPr/>
        </p:nvSpPr>
        <p:spPr>
          <a:xfrm>
            <a:off x="9419444" y="2138248"/>
            <a:ext cx="673680" cy="6156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3421A9-0A48-46E6-81B7-3A4068C5E755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7284334" y="2753902"/>
            <a:ext cx="2471950" cy="9612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758B8-D17A-4F06-90AD-698FAE1E200B}"/>
              </a:ext>
            </a:extLst>
          </p:cNvPr>
          <p:cNvSpPr txBox="1"/>
          <p:nvPr/>
        </p:nvSpPr>
        <p:spPr>
          <a:xfrm>
            <a:off x="6096000" y="3715162"/>
            <a:ext cx="2376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74638" rtl="0">
              <a:spcBef>
                <a:spcPts val="0"/>
              </a:spcBef>
              <a:spcAft>
                <a:spcPts val="0"/>
              </a:spcAft>
            </a:pPr>
            <a:r>
              <a:rPr lang="fr-FR" sz="2400" dirty="0">
                <a:effectLst/>
              </a:rPr>
              <a:t>Couleur de police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6CCE44-09DE-4448-B8C6-0FE9DAAB9D80}"/>
              </a:ext>
            </a:extLst>
          </p:cNvPr>
          <p:cNvSpPr txBox="1"/>
          <p:nvPr/>
        </p:nvSpPr>
        <p:spPr>
          <a:xfrm>
            <a:off x="654564" y="4704171"/>
            <a:ext cx="63018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Exemple :</a:t>
            </a:r>
          </a:p>
          <a:p>
            <a:pPr lvl="2"/>
            <a:r>
              <a:rPr lang="fr-FR" sz="2400" dirty="0"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2400" dirty="0">
                <a:solidFill>
                  <a:srgbClr val="FF0000"/>
                </a:solidFill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2400" dirty="0">
                <a:solidFill>
                  <a:srgbClr val="7030A0"/>
                </a:solidFill>
                <a:latin typeface="Playwrite NZ Basic ExtraLight" pitchFamily="2" charset="0"/>
              </a:rPr>
              <a:t>-ceci est un texte</a:t>
            </a:r>
          </a:p>
          <a:p>
            <a:pPr lvl="2"/>
            <a:r>
              <a:rPr lang="fr-FR" sz="2400" dirty="0">
                <a:solidFill>
                  <a:srgbClr val="FFFF00"/>
                </a:solidFill>
                <a:latin typeface="Playwrite NZ Basic ExtraLight" pitchFamily="2" charset="0"/>
              </a:rPr>
              <a:t>-ceci est un texte</a:t>
            </a:r>
          </a:p>
          <a:p>
            <a:pPr lvl="2"/>
            <a:endParaRPr lang="fr-FR" sz="2400" dirty="0">
              <a:latin typeface="Playwrite NZ Basic Extra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77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7479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C9E43-1B0D-4276-B75B-A45E101E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7" y="950371"/>
            <a:ext cx="11018746" cy="23601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6B8DDF-353A-4F02-9ABE-CA8DE6CEEFE2}"/>
              </a:ext>
            </a:extLst>
          </p:cNvPr>
          <p:cNvSpPr/>
          <p:nvPr/>
        </p:nvSpPr>
        <p:spPr>
          <a:xfrm>
            <a:off x="8646288" y="2187614"/>
            <a:ext cx="671333" cy="5562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A3421A9-0A48-46E6-81B7-3A4068C5E755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6873433" y="2743855"/>
            <a:ext cx="2108522" cy="9713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00E758B8-D17A-4F06-90AD-698FAE1E200B}"/>
              </a:ext>
            </a:extLst>
          </p:cNvPr>
          <p:cNvSpPr txBox="1"/>
          <p:nvPr/>
        </p:nvSpPr>
        <p:spPr>
          <a:xfrm>
            <a:off x="6095999" y="3715162"/>
            <a:ext cx="1554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74638" rtl="0">
              <a:spcBef>
                <a:spcPts val="0"/>
              </a:spcBef>
              <a:spcAft>
                <a:spcPts val="0"/>
              </a:spcAft>
            </a:pPr>
            <a:r>
              <a:rPr lang="fr-FR" sz="2400" i="1" dirty="0">
                <a:effectLst/>
              </a:rPr>
              <a:t>surlignage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76CCE44-09DE-4448-B8C6-0FE9DAAB9D80}"/>
              </a:ext>
            </a:extLst>
          </p:cNvPr>
          <p:cNvSpPr txBox="1"/>
          <p:nvPr/>
        </p:nvSpPr>
        <p:spPr>
          <a:xfrm>
            <a:off x="334107" y="3547504"/>
            <a:ext cx="63018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Exemple :</a:t>
            </a:r>
          </a:p>
          <a:p>
            <a:pPr lvl="2"/>
            <a:r>
              <a:rPr lang="fr-FR" sz="2400" dirty="0">
                <a:latin typeface="Playwrite NZ Basic ExtraLight" pitchFamily="2" charset="0"/>
              </a:rPr>
              <a:t>-ceci est un texte</a:t>
            </a:r>
          </a:p>
          <a:p>
            <a:pPr lvl="2"/>
            <a:endParaRPr lang="fr-FR" sz="2400" dirty="0">
              <a:latin typeface="Playwrite NZ Basic ExtraLight" pitchFamily="2" charset="0"/>
            </a:endParaRPr>
          </a:p>
          <a:p>
            <a:pPr lvl="2"/>
            <a:r>
              <a:rPr lang="fr-FR" sz="2400" dirty="0">
                <a:highlight>
                  <a:srgbClr val="FFFF00"/>
                </a:highlight>
                <a:latin typeface="Playwrite NZ Basic ExtraLight" pitchFamily="2" charset="0"/>
              </a:rPr>
              <a:t>-ceci est un texte</a:t>
            </a:r>
          </a:p>
          <a:p>
            <a:pPr lvl="2"/>
            <a:endParaRPr lang="fr-FR" sz="2400" dirty="0">
              <a:highlight>
                <a:srgbClr val="FFFF00"/>
              </a:highlight>
              <a:latin typeface="Playwrite NZ Basic ExtraLight" pitchFamily="2" charset="0"/>
            </a:endParaRPr>
          </a:p>
          <a:p>
            <a:pPr lvl="2"/>
            <a:r>
              <a:rPr lang="fr-FR" sz="2400" dirty="0">
                <a:highlight>
                  <a:srgbClr val="00FF00"/>
                </a:highlight>
                <a:latin typeface="Playwrite NZ Basic ExtraLight" pitchFamily="2" charset="0"/>
              </a:rPr>
              <a:t>-ceci est un texte</a:t>
            </a:r>
          </a:p>
          <a:p>
            <a:pPr lvl="2"/>
            <a:endParaRPr lang="fr-FR" sz="2400" dirty="0">
              <a:highlight>
                <a:srgbClr val="00FF00"/>
              </a:highlight>
              <a:latin typeface="Playwrite NZ Basic ExtraLight" pitchFamily="2" charset="0"/>
            </a:endParaRPr>
          </a:p>
          <a:p>
            <a:pPr lvl="2"/>
            <a:r>
              <a:rPr lang="fr-FR" sz="2400" dirty="0">
                <a:highlight>
                  <a:srgbClr val="C0C0C0"/>
                </a:highlight>
                <a:latin typeface="Playwrite NZ Basic ExtraLight" pitchFamily="2" charset="0"/>
              </a:rPr>
              <a:t>-ceci est un texte</a:t>
            </a:r>
          </a:p>
        </p:txBody>
      </p:sp>
    </p:spTree>
    <p:extLst>
      <p:ext uri="{BB962C8B-B14F-4D97-AF65-F5344CB8AC3E}">
        <p14:creationId xmlns:p14="http://schemas.microsoft.com/office/powerpoint/2010/main" val="617229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86884"/>
            <a:ext cx="91902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+mj-ea"/>
                <a:cs typeface="+mj-cs"/>
              </a:rPr>
              <a:t>La mise en forme des caractères: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28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Annuler, Rétablir, Répéter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FFA92D6-EF62-4135-8E4F-962CC9D1FAA5}"/>
              </a:ext>
            </a:extLst>
          </p:cNvPr>
          <p:cNvSpPr txBox="1"/>
          <p:nvPr/>
        </p:nvSpPr>
        <p:spPr>
          <a:xfrm>
            <a:off x="1090913" y="2000392"/>
            <a:ext cx="797206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68325" rtl="0">
              <a:spcBef>
                <a:spcPts val="0"/>
              </a:spcBef>
              <a:spcAft>
                <a:spcPts val="0"/>
              </a:spcAft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</a:rPr>
              <a:t> Zone de lancement rapide</a:t>
            </a:r>
            <a:r>
              <a:rPr lang="fr-FR" sz="2800" b="1" i="1" u="none" strike="noStrike" dirty="0">
                <a:solidFill>
                  <a:srgbClr val="FF0000"/>
                </a:solidFill>
                <a:effectLst/>
              </a:rPr>
              <a:t>, Annuler</a:t>
            </a:r>
            <a:endParaRPr lang="fr-FR" sz="2800" b="0" dirty="0">
              <a:effectLst/>
            </a:endParaRPr>
          </a:p>
          <a:p>
            <a:pPr indent="-568325" rtl="0">
              <a:spcBef>
                <a:spcPts val="600"/>
              </a:spcBef>
              <a:spcAft>
                <a:spcPts val="0"/>
              </a:spcAft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</a:rPr>
              <a:t>Annule la (les) dernière (s)  opération (s)</a:t>
            </a:r>
            <a:endParaRPr lang="fr-FR" sz="2800" b="0" dirty="0">
              <a:effectLst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313A4C-B6EE-471B-8695-335694F536BE}"/>
              </a:ext>
            </a:extLst>
          </p:cNvPr>
          <p:cNvSpPr txBox="1"/>
          <p:nvPr/>
        </p:nvSpPr>
        <p:spPr>
          <a:xfrm>
            <a:off x="1023397" y="3429000"/>
            <a:ext cx="797206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68325" rtl="0">
              <a:spcBef>
                <a:spcPts val="0"/>
              </a:spcBef>
              <a:spcAft>
                <a:spcPts val="0"/>
              </a:spcAft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</a:rPr>
              <a:t> Zone de lancement rapide</a:t>
            </a:r>
            <a:r>
              <a:rPr lang="fr-FR" sz="2800" b="1" i="1" u="none" strike="noStrike" dirty="0">
                <a:solidFill>
                  <a:srgbClr val="FF0000"/>
                </a:solidFill>
                <a:effectLst/>
              </a:rPr>
              <a:t>, Rétablir</a:t>
            </a:r>
            <a:endParaRPr lang="fr-FR" sz="2800" b="0" dirty="0">
              <a:effectLst/>
            </a:endParaRPr>
          </a:p>
          <a:p>
            <a:pPr indent="-568325" rtl="0">
              <a:spcBef>
                <a:spcPts val="600"/>
              </a:spcBef>
              <a:spcAft>
                <a:spcPts val="0"/>
              </a:spcAft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</a:rPr>
              <a:t>Annule l’action de la commande </a:t>
            </a:r>
            <a:r>
              <a:rPr lang="fr-FR" sz="2800" b="1" i="0" u="none" strike="noStrike" dirty="0">
                <a:solidFill>
                  <a:srgbClr val="000000"/>
                </a:solidFill>
                <a:effectLst/>
              </a:rPr>
              <a:t>Annuler</a:t>
            </a:r>
            <a:endParaRPr lang="fr-FR" sz="2800" b="1" dirty="0">
              <a:effectLst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1C39487-F3E4-40AF-95E2-CCAC08F4B89F}"/>
              </a:ext>
            </a:extLst>
          </p:cNvPr>
          <p:cNvSpPr txBox="1"/>
          <p:nvPr/>
        </p:nvSpPr>
        <p:spPr>
          <a:xfrm>
            <a:off x="1090913" y="5039810"/>
            <a:ext cx="797206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68325" rtl="0">
              <a:spcBef>
                <a:spcPts val="600"/>
              </a:spcBef>
              <a:spcAft>
                <a:spcPts val="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Constantia" panose="02030602050306030303" pitchFamily="18" charset="0"/>
              </a:rPr>
              <a:t> </a:t>
            </a:r>
            <a:r>
              <a:rPr lang="fr-FR" sz="2800" dirty="0">
                <a:solidFill>
                  <a:srgbClr val="000000"/>
                </a:solidFill>
              </a:rPr>
              <a:t>Le bouton          (reproduire la mise en forme)</a:t>
            </a:r>
          </a:p>
          <a:p>
            <a:pPr indent="-568325" rtl="0">
              <a:spcBef>
                <a:spcPts val="600"/>
              </a:spcBef>
              <a:spcAft>
                <a:spcPts val="0"/>
              </a:spcAft>
            </a:pPr>
            <a:r>
              <a:rPr lang="fr-FR" sz="2800" dirty="0">
                <a:solidFill>
                  <a:srgbClr val="000000"/>
                </a:solidFill>
              </a:rPr>
              <a:t>permet de </a:t>
            </a:r>
            <a:r>
              <a:rPr lang="fr-FR" sz="2800" b="1" i="1" dirty="0">
                <a:solidFill>
                  <a:srgbClr val="FF0000"/>
                </a:solidFill>
              </a:rPr>
              <a:t>répéter</a:t>
            </a:r>
            <a:r>
              <a:rPr lang="fr-FR" sz="2800" dirty="0">
                <a:solidFill>
                  <a:srgbClr val="000000"/>
                </a:solidFill>
              </a:rPr>
              <a:t>  la mise en forme précédente.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45BC383-5E87-47A8-B848-59AEB79EB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462" y="5065190"/>
            <a:ext cx="617219" cy="49014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1115BEC-19FA-435D-89FD-C014B4D7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480" y="1742228"/>
            <a:ext cx="890915" cy="77368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06E58E8-ED90-4B63-8053-7CC5BBA72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485" y="3172469"/>
            <a:ext cx="969910" cy="71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1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0"/>
            <a:ext cx="12310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I. traitement de textes </a:t>
            </a:r>
            <a:endParaRPr lang="fr-FR" sz="3600" b="0" i="0" dirty="0">
              <a:solidFill>
                <a:srgbClr val="F44336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B2E46D-5CC4-4909-BAB7-4492B45B29C2}"/>
              </a:ext>
            </a:extLst>
          </p:cNvPr>
          <p:cNvSpPr txBox="1"/>
          <p:nvPr/>
        </p:nvSpPr>
        <p:spPr>
          <a:xfrm>
            <a:off x="477529" y="646331"/>
            <a:ext cx="6273478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8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fr-FR" sz="28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La sélection du texte :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1443E91-1BCF-4BC0-B0DF-4DF72796AA5C}"/>
              </a:ext>
            </a:extLst>
          </p:cNvPr>
          <p:cNvSpPr txBox="1"/>
          <p:nvPr/>
        </p:nvSpPr>
        <p:spPr>
          <a:xfrm>
            <a:off x="601884" y="1225534"/>
            <a:ext cx="9086126" cy="196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800" dirty="0">
                <a:latin typeface="Georgia" panose="02040502050405020303" pitchFamily="18" charset="0"/>
              </a:rPr>
              <a:t>La sélection des caractères est obligatoire pour leurs mises en forme, elle se fait avec la souris, le clavier ou les deux.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4336042-9DEE-453F-9EF3-762A48318C41}"/>
              </a:ext>
            </a:extLst>
          </p:cNvPr>
          <p:cNvSpPr txBox="1"/>
          <p:nvPr/>
        </p:nvSpPr>
        <p:spPr>
          <a:xfrm>
            <a:off x="477529" y="3404003"/>
            <a:ext cx="6273478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8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fr-FR" sz="28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La mise en forme des caractères: :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25A0261-8B8B-4B9E-A3B8-238A5576368B}"/>
              </a:ext>
            </a:extLst>
          </p:cNvPr>
          <p:cNvSpPr txBox="1"/>
          <p:nvPr/>
        </p:nvSpPr>
        <p:spPr>
          <a:xfrm>
            <a:off x="601884" y="4258762"/>
            <a:ext cx="10232020" cy="195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latin typeface="Georgia" panose="02040502050405020303" pitchFamily="18" charset="0"/>
              </a:rPr>
              <a:t>La mise en forme des caractères: c’est changer la taille, la couleur, la police, l’espacement des caractères à l’aide des options de l’onglet accueil.</a:t>
            </a:r>
          </a:p>
        </p:txBody>
      </p:sp>
    </p:spTree>
    <p:extLst>
      <p:ext uri="{BB962C8B-B14F-4D97-AF65-F5344CB8AC3E}">
        <p14:creationId xmlns:p14="http://schemas.microsoft.com/office/powerpoint/2010/main" val="54789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297781" y="229124"/>
            <a:ext cx="98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: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975B46-F339-456C-8093-688B4F0C70FE}"/>
              </a:ext>
            </a:extLst>
          </p:cNvPr>
          <p:cNvSpPr txBox="1"/>
          <p:nvPr/>
        </p:nvSpPr>
        <p:spPr>
          <a:xfrm>
            <a:off x="1283371" y="352235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Mise en forme du titre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A4C029-E083-4C4E-A014-60480F5C3527}"/>
              </a:ext>
            </a:extLst>
          </p:cNvPr>
          <p:cNvSpPr txBox="1"/>
          <p:nvPr/>
        </p:nvSpPr>
        <p:spPr>
          <a:xfrm>
            <a:off x="1133061" y="2221635"/>
            <a:ext cx="10176533" cy="342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Ajouter un titre :</a:t>
            </a:r>
          </a:p>
          <a:p>
            <a:pPr>
              <a:lnSpc>
                <a:spcPct val="150000"/>
              </a:lnSpc>
            </a:pPr>
            <a:r>
              <a:rPr lang="fr-FR" sz="3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Utilisation responsable des réseaux sociaux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le titre en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Augmenter la taille à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Changer la couleur du titre</a:t>
            </a:r>
          </a:p>
        </p:txBody>
      </p:sp>
    </p:spTree>
    <p:extLst>
      <p:ext uri="{BB962C8B-B14F-4D97-AF65-F5344CB8AC3E}">
        <p14:creationId xmlns:p14="http://schemas.microsoft.com/office/powerpoint/2010/main" val="2505162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297781" y="229124"/>
            <a:ext cx="98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: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975B46-F339-456C-8093-688B4F0C70FE}"/>
              </a:ext>
            </a:extLst>
          </p:cNvPr>
          <p:cNvSpPr txBox="1"/>
          <p:nvPr/>
        </p:nvSpPr>
        <p:spPr>
          <a:xfrm>
            <a:off x="1638901" y="281619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Mise en forme du texte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A4C029-E083-4C4E-A014-60480F5C3527}"/>
              </a:ext>
            </a:extLst>
          </p:cNvPr>
          <p:cNvSpPr txBox="1"/>
          <p:nvPr/>
        </p:nvSpPr>
        <p:spPr>
          <a:xfrm>
            <a:off x="297781" y="1231559"/>
            <a:ext cx="9470866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en gras les expressions suivantes 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informations personnelles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respecter les autres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réfléchir</a:t>
            </a:r>
          </a:p>
          <a:p>
            <a:pPr lvl="3">
              <a:lnSpc>
                <a:spcPct val="150000"/>
              </a:lnSpc>
            </a:pPr>
            <a:endParaRPr lang="fr-FR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en italique 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pas partager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pas publier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1569A0-96B4-4DD3-A43B-576512B4F9A7}"/>
              </a:ext>
            </a:extLst>
          </p:cNvPr>
          <p:cNvSpPr txBox="1"/>
          <p:nvPr/>
        </p:nvSpPr>
        <p:spPr>
          <a:xfrm>
            <a:off x="6096000" y="4472202"/>
            <a:ext cx="6096000" cy="19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Souligner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adresse</a:t>
            </a:r>
          </a:p>
          <a:p>
            <a:pPr marL="1828800" lvl="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numéro de téléphone</a:t>
            </a:r>
          </a:p>
        </p:txBody>
      </p:sp>
    </p:spTree>
    <p:extLst>
      <p:ext uri="{BB962C8B-B14F-4D97-AF65-F5344CB8AC3E}">
        <p14:creationId xmlns:p14="http://schemas.microsoft.com/office/powerpoint/2010/main" val="403096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297781" y="229124"/>
            <a:ext cx="98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: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975B46-F339-456C-8093-688B4F0C70FE}"/>
              </a:ext>
            </a:extLst>
          </p:cNvPr>
          <p:cNvSpPr txBox="1"/>
          <p:nvPr/>
        </p:nvSpPr>
        <p:spPr>
          <a:xfrm>
            <a:off x="1638901" y="281619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Modifier la police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A4C029-E083-4C4E-A014-60480F5C3527}"/>
              </a:ext>
            </a:extLst>
          </p:cNvPr>
          <p:cNvSpPr txBox="1"/>
          <p:nvPr/>
        </p:nvSpPr>
        <p:spPr>
          <a:xfrm>
            <a:off x="297781" y="1231559"/>
            <a:ext cx="9470866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Changer la police du texte (Arial)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la taille du texte à </a:t>
            </a:r>
            <a:r>
              <a:rPr lang="fr-FR" sz="2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endParaRPr lang="fr-FR" sz="2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1569A0-96B4-4DD3-A43B-576512B4F9A7}"/>
              </a:ext>
            </a:extLst>
          </p:cNvPr>
          <p:cNvSpPr txBox="1"/>
          <p:nvPr/>
        </p:nvSpPr>
        <p:spPr>
          <a:xfrm>
            <a:off x="313021" y="4152162"/>
            <a:ext cx="11147459" cy="19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Appliquer la même mise en forme du mot "informations personnelles" à un autre mot en utilisant l’outil Reproduire la mise en forme.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302980D-2F8E-43D8-B5B6-6CEDA93834AA}"/>
              </a:ext>
            </a:extLst>
          </p:cNvPr>
          <p:cNvSpPr txBox="1"/>
          <p:nvPr/>
        </p:nvSpPr>
        <p:spPr>
          <a:xfrm>
            <a:off x="1638901" y="3167390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Reproduire la mise en forme</a:t>
            </a:r>
          </a:p>
        </p:txBody>
      </p:sp>
    </p:spTree>
    <p:extLst>
      <p:ext uri="{BB962C8B-B14F-4D97-AF65-F5344CB8AC3E}">
        <p14:creationId xmlns:p14="http://schemas.microsoft.com/office/powerpoint/2010/main" val="2430020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297781" y="229124"/>
            <a:ext cx="98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: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7DA5ED-20DB-40AC-BE2C-6BC98F8B0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22" y="1685526"/>
            <a:ext cx="11548355" cy="348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96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0"/>
            <a:ext cx="1672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2: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125D26-B249-44C4-A135-829577DAC8F3}"/>
              </a:ext>
            </a:extLst>
          </p:cNvPr>
          <p:cNvSpPr txBox="1"/>
          <p:nvPr/>
        </p:nvSpPr>
        <p:spPr>
          <a:xfrm>
            <a:off x="-1" y="646331"/>
            <a:ext cx="12375931" cy="604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Travail demandé (Mise en forme),texte </a:t>
            </a:r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:’Calibri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de taille :14</a:t>
            </a:r>
          </a:p>
          <a:p>
            <a:endParaRPr lang="fr-FR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titre 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gras, taille 18, couleur violette + police : ‘Algerian’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mars 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gras et couleur rouge.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droits des femmes 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italique.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Souligner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réalisations sociales, économiques, culturelles et politiques des femmes.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activités, conférences et événements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gras.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Mettre </a:t>
            </a:r>
            <a:r>
              <a:rPr lang="fr-F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égalité entre les femmes et les hommes</a:t>
            </a:r>
            <a:r>
              <a:rPr lang="fr-F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italique et couleur bleue.</a:t>
            </a:r>
          </a:p>
        </p:txBody>
      </p:sp>
    </p:spTree>
    <p:extLst>
      <p:ext uri="{BB962C8B-B14F-4D97-AF65-F5344CB8AC3E}">
        <p14:creationId xmlns:p14="http://schemas.microsoft.com/office/powerpoint/2010/main" val="191907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F0C3C-4932-4B71-9166-A7AA60F14B01}"/>
              </a:ext>
            </a:extLst>
          </p:cNvPr>
          <p:cNvSpPr txBox="1"/>
          <p:nvPr/>
        </p:nvSpPr>
        <p:spPr>
          <a:xfrm>
            <a:off x="0" y="0"/>
            <a:ext cx="1672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3600" i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+mj-cs"/>
              </a:rPr>
              <a:t>TP 2: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8CC6B1-2AF1-48A1-9821-A18F34790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" y="709395"/>
            <a:ext cx="12192000" cy="59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90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900</Words>
  <Application>Microsoft Office PowerPoint</Application>
  <PresentationFormat>Grand écran</PresentationFormat>
  <Paragraphs>140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40" baseType="lpstr">
      <vt:lpstr>Abadi</vt:lpstr>
      <vt:lpstr>Aldhabi</vt:lpstr>
      <vt:lpstr>Algerian</vt:lpstr>
      <vt:lpstr>Arial</vt:lpstr>
      <vt:lpstr>Brush Script MT</vt:lpstr>
      <vt:lpstr>Calibri</vt:lpstr>
      <vt:lpstr>Calibri Light</vt:lpstr>
      <vt:lpstr>Comic Sans MS</vt:lpstr>
      <vt:lpstr>Constantia</vt:lpstr>
      <vt:lpstr>Courier New</vt:lpstr>
      <vt:lpstr>Georgia</vt:lpstr>
      <vt:lpstr>Ink Free</vt:lpstr>
      <vt:lpstr>Lucida Console</vt:lpstr>
      <vt:lpstr>Playwrite NZ Basic ExtraLight</vt:lpstr>
      <vt:lpstr>Poppins Bold</vt:lpstr>
      <vt:lpstr>Roboto</vt:lpstr>
      <vt:lpstr>Segoe UI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133</cp:revision>
  <dcterms:created xsi:type="dcterms:W3CDTF">2025-09-27T13:59:56Z</dcterms:created>
  <dcterms:modified xsi:type="dcterms:W3CDTF">2026-03-09T11:52:42Z</dcterms:modified>
</cp:coreProperties>
</file>