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256" r:id="rId2"/>
    <p:sldId id="276" r:id="rId3"/>
    <p:sldId id="279" r:id="rId4"/>
    <p:sldId id="280" r:id="rId5"/>
    <p:sldId id="324" r:id="rId6"/>
    <p:sldId id="297" r:id="rId7"/>
    <p:sldId id="298" r:id="rId8"/>
    <p:sldId id="294" r:id="rId9"/>
    <p:sldId id="299" r:id="rId10"/>
    <p:sldId id="282" r:id="rId11"/>
    <p:sldId id="285" r:id="rId12"/>
    <p:sldId id="284" r:id="rId13"/>
    <p:sldId id="283" r:id="rId14"/>
    <p:sldId id="286" r:id="rId15"/>
    <p:sldId id="300" r:id="rId16"/>
    <p:sldId id="287" r:id="rId17"/>
    <p:sldId id="288" r:id="rId18"/>
    <p:sldId id="289" r:id="rId19"/>
    <p:sldId id="290" r:id="rId20"/>
    <p:sldId id="301" r:id="rId21"/>
    <p:sldId id="291" r:id="rId22"/>
    <p:sldId id="296" r:id="rId23"/>
    <p:sldId id="295" r:id="rId24"/>
    <p:sldId id="281" r:id="rId25"/>
    <p:sldId id="302" r:id="rId26"/>
    <p:sldId id="277" r:id="rId27"/>
    <p:sldId id="303" r:id="rId28"/>
    <p:sldId id="323" r:id="rId29"/>
    <p:sldId id="322" r:id="rId30"/>
    <p:sldId id="326" r:id="rId31"/>
    <p:sldId id="325" r:id="rId32"/>
    <p:sldId id="327" r:id="rId33"/>
    <p:sldId id="328" r:id="rId34"/>
    <p:sldId id="329" r:id="rId35"/>
    <p:sldId id="333" r:id="rId36"/>
    <p:sldId id="330" r:id="rId37"/>
    <p:sldId id="331" r:id="rId38"/>
    <p:sldId id="332" r:id="rId39"/>
    <p:sldId id="334" r:id="rId40"/>
    <p:sldId id="338" r:id="rId41"/>
    <p:sldId id="336" r:id="rId42"/>
    <p:sldId id="337" r:id="rId43"/>
    <p:sldId id="339" r:id="rId4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8" autoAdjust="0"/>
    <p:restoredTop sz="94660"/>
  </p:normalViewPr>
  <p:slideViewPr>
    <p:cSldViewPr snapToGrid="0">
      <p:cViewPr>
        <p:scale>
          <a:sx n="33" d="100"/>
          <a:sy n="33" d="100"/>
        </p:scale>
        <p:origin x="523" y="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3B79AEA-2C70-4D7C-B38A-8C730C7FB6C0}" type="doc">
      <dgm:prSet loTypeId="urn:microsoft.com/office/officeart/2005/8/layout/hierarchy3" loCatId="hierarchy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fr-FR"/>
        </a:p>
      </dgm:t>
    </dgm:pt>
    <dgm:pt modelId="{0CDBE17D-EACE-4148-9CCD-0BFE20A7AC56}">
      <dgm:prSet phldrT="[Text]" custT="1"/>
      <dgm:spPr/>
      <dgm:t>
        <a:bodyPr/>
        <a:lstStyle/>
        <a:p>
          <a:r>
            <a:rPr lang="fr-FR" sz="4000" b="1" i="1" dirty="0"/>
            <a:t>SYSTÈME INFORMATIQUE</a:t>
          </a:r>
          <a:endParaRPr lang="fr-FR" sz="4000" i="1" dirty="0"/>
        </a:p>
      </dgm:t>
    </dgm:pt>
    <dgm:pt modelId="{135730DB-DBB5-4ABD-B5DC-CB97F0680F2D}" type="parTrans" cxnId="{59C1F111-367D-476D-9FDA-84A05B6034D9}">
      <dgm:prSet/>
      <dgm:spPr/>
      <dgm:t>
        <a:bodyPr/>
        <a:lstStyle/>
        <a:p>
          <a:endParaRPr lang="fr-FR"/>
        </a:p>
      </dgm:t>
    </dgm:pt>
    <dgm:pt modelId="{FD6526D2-2367-4603-8F07-4957A4051C97}" type="sibTrans" cxnId="{59C1F111-367D-476D-9FDA-84A05B6034D9}">
      <dgm:prSet/>
      <dgm:spPr/>
      <dgm:t>
        <a:bodyPr/>
        <a:lstStyle/>
        <a:p>
          <a:endParaRPr lang="fr-FR"/>
        </a:p>
      </dgm:t>
    </dgm:pt>
    <dgm:pt modelId="{07C02CB4-4917-42EF-8349-B0EDAA77C1AF}">
      <dgm:prSet phldrT="[Text]"/>
      <dgm:spPr/>
      <dgm:t>
        <a:bodyPr/>
        <a:lstStyle/>
        <a:p>
          <a:r>
            <a:rPr lang="fr-FR" dirty="0"/>
            <a:t>………………………</a:t>
          </a:r>
        </a:p>
      </dgm:t>
    </dgm:pt>
    <dgm:pt modelId="{6A49E033-A4A7-445C-8F55-3823AFBEC80B}" type="parTrans" cxnId="{DF80BF47-7018-4F22-BB81-40B57EF21258}">
      <dgm:prSet/>
      <dgm:spPr/>
      <dgm:t>
        <a:bodyPr/>
        <a:lstStyle/>
        <a:p>
          <a:endParaRPr lang="fr-FR"/>
        </a:p>
      </dgm:t>
    </dgm:pt>
    <dgm:pt modelId="{D55AD706-EE88-4E10-9D2F-E3C9E001B724}" type="sibTrans" cxnId="{DF80BF47-7018-4F22-BB81-40B57EF21258}">
      <dgm:prSet/>
      <dgm:spPr/>
      <dgm:t>
        <a:bodyPr/>
        <a:lstStyle/>
        <a:p>
          <a:endParaRPr lang="fr-FR"/>
        </a:p>
      </dgm:t>
    </dgm:pt>
    <dgm:pt modelId="{54A4825B-BC55-4FF3-8C8A-51BD086CF312}">
      <dgm:prSet phldrT="[Text]"/>
      <dgm:spPr/>
      <dgm:t>
        <a:bodyPr/>
        <a:lstStyle/>
        <a:p>
          <a:r>
            <a:rPr lang="fr-FR" dirty="0"/>
            <a:t>……………………...</a:t>
          </a:r>
        </a:p>
      </dgm:t>
    </dgm:pt>
    <dgm:pt modelId="{1F39FAFC-587F-4107-B05E-A0F2D515AB7A}" type="parTrans" cxnId="{C934374B-982D-4D8C-809B-66C17A770852}">
      <dgm:prSet/>
      <dgm:spPr/>
      <dgm:t>
        <a:bodyPr/>
        <a:lstStyle/>
        <a:p>
          <a:endParaRPr lang="fr-FR"/>
        </a:p>
      </dgm:t>
    </dgm:pt>
    <dgm:pt modelId="{2C332BFD-F849-4E0F-980B-206B9D949D07}" type="sibTrans" cxnId="{C934374B-982D-4D8C-809B-66C17A770852}">
      <dgm:prSet/>
      <dgm:spPr/>
      <dgm:t>
        <a:bodyPr/>
        <a:lstStyle/>
        <a:p>
          <a:endParaRPr lang="fr-FR"/>
        </a:p>
      </dgm:t>
    </dgm:pt>
    <dgm:pt modelId="{AD27C8C9-EB97-4BAF-8D21-9579AC0B0F70}" type="pres">
      <dgm:prSet presAssocID="{C3B79AEA-2C70-4D7C-B38A-8C730C7FB6C0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2C80A72-D7B4-4E8F-ADE0-8B2E0EC0A237}" type="pres">
      <dgm:prSet presAssocID="{0CDBE17D-EACE-4148-9CCD-0BFE20A7AC56}" presName="root" presStyleCnt="0"/>
      <dgm:spPr/>
    </dgm:pt>
    <dgm:pt modelId="{28596AF3-93DB-456A-A8E2-B2981657AB3E}" type="pres">
      <dgm:prSet presAssocID="{0CDBE17D-EACE-4148-9CCD-0BFE20A7AC56}" presName="rootComposite" presStyleCnt="0"/>
      <dgm:spPr/>
    </dgm:pt>
    <dgm:pt modelId="{7408DA10-3CE2-4AE8-8CB3-4F7C9E492C35}" type="pres">
      <dgm:prSet presAssocID="{0CDBE17D-EACE-4148-9CCD-0BFE20A7AC56}" presName="rootText" presStyleLbl="node1" presStyleIdx="0" presStyleCnt="1" custScaleX="159597" custScaleY="46907" custLinFactNeighborX="7214" custLinFactNeighborY="1328"/>
      <dgm:spPr/>
    </dgm:pt>
    <dgm:pt modelId="{F053E667-B7BE-4CE1-9673-811E3F7B58C4}" type="pres">
      <dgm:prSet presAssocID="{0CDBE17D-EACE-4148-9CCD-0BFE20A7AC56}" presName="rootConnector" presStyleLbl="node1" presStyleIdx="0" presStyleCnt="1"/>
      <dgm:spPr/>
    </dgm:pt>
    <dgm:pt modelId="{D5368892-118E-4A57-BF82-1C64A88796AE}" type="pres">
      <dgm:prSet presAssocID="{0CDBE17D-EACE-4148-9CCD-0BFE20A7AC56}" presName="childShape" presStyleCnt="0"/>
      <dgm:spPr/>
    </dgm:pt>
    <dgm:pt modelId="{7B8C8372-1D1E-4F4B-8095-63C997234AA9}" type="pres">
      <dgm:prSet presAssocID="{6A49E033-A4A7-445C-8F55-3823AFBEC80B}" presName="Name13" presStyleLbl="parChTrans1D2" presStyleIdx="0" presStyleCnt="2"/>
      <dgm:spPr/>
    </dgm:pt>
    <dgm:pt modelId="{3E2D67A5-246B-4E88-AC3F-86FB2C887D14}" type="pres">
      <dgm:prSet presAssocID="{07C02CB4-4917-42EF-8349-B0EDAA77C1AF}" presName="childText" presStyleLbl="bgAcc1" presStyleIdx="0" presStyleCnt="2" custScaleX="133625" custScaleY="44027">
        <dgm:presLayoutVars>
          <dgm:bulletEnabled val="1"/>
        </dgm:presLayoutVars>
      </dgm:prSet>
      <dgm:spPr/>
    </dgm:pt>
    <dgm:pt modelId="{706B6467-F41A-41D3-A823-601B26261B65}" type="pres">
      <dgm:prSet presAssocID="{1F39FAFC-587F-4107-B05E-A0F2D515AB7A}" presName="Name13" presStyleLbl="parChTrans1D2" presStyleIdx="1" presStyleCnt="2"/>
      <dgm:spPr/>
    </dgm:pt>
    <dgm:pt modelId="{61F1A829-4567-4987-86CD-47380779DB8C}" type="pres">
      <dgm:prSet presAssocID="{54A4825B-BC55-4FF3-8C8A-51BD086CF312}" presName="childText" presStyleLbl="bgAcc1" presStyleIdx="1" presStyleCnt="2" custScaleX="133698" custScaleY="47359">
        <dgm:presLayoutVars>
          <dgm:bulletEnabled val="1"/>
        </dgm:presLayoutVars>
      </dgm:prSet>
      <dgm:spPr/>
    </dgm:pt>
  </dgm:ptLst>
  <dgm:cxnLst>
    <dgm:cxn modelId="{59C1F111-367D-476D-9FDA-84A05B6034D9}" srcId="{C3B79AEA-2C70-4D7C-B38A-8C730C7FB6C0}" destId="{0CDBE17D-EACE-4148-9CCD-0BFE20A7AC56}" srcOrd="0" destOrd="0" parTransId="{135730DB-DBB5-4ABD-B5DC-CB97F0680F2D}" sibTransId="{FD6526D2-2367-4603-8F07-4957A4051C97}"/>
    <dgm:cxn modelId="{FBFC052F-1DC8-4063-A686-BB42A1212FEA}" type="presOf" srcId="{C3B79AEA-2C70-4D7C-B38A-8C730C7FB6C0}" destId="{AD27C8C9-EB97-4BAF-8D21-9579AC0B0F70}" srcOrd="0" destOrd="0" presId="urn:microsoft.com/office/officeart/2005/8/layout/hierarchy3"/>
    <dgm:cxn modelId="{DF80BF47-7018-4F22-BB81-40B57EF21258}" srcId="{0CDBE17D-EACE-4148-9CCD-0BFE20A7AC56}" destId="{07C02CB4-4917-42EF-8349-B0EDAA77C1AF}" srcOrd="0" destOrd="0" parTransId="{6A49E033-A4A7-445C-8F55-3823AFBEC80B}" sibTransId="{D55AD706-EE88-4E10-9D2F-E3C9E001B724}"/>
    <dgm:cxn modelId="{70B3DA47-9BB9-4547-9FD7-3B5CC7EB6B95}" type="presOf" srcId="{1F39FAFC-587F-4107-B05E-A0F2D515AB7A}" destId="{706B6467-F41A-41D3-A823-601B26261B65}" srcOrd="0" destOrd="0" presId="urn:microsoft.com/office/officeart/2005/8/layout/hierarchy3"/>
    <dgm:cxn modelId="{C934374B-982D-4D8C-809B-66C17A770852}" srcId="{0CDBE17D-EACE-4148-9CCD-0BFE20A7AC56}" destId="{54A4825B-BC55-4FF3-8C8A-51BD086CF312}" srcOrd="1" destOrd="0" parTransId="{1F39FAFC-587F-4107-B05E-A0F2D515AB7A}" sibTransId="{2C332BFD-F849-4E0F-980B-206B9D949D07}"/>
    <dgm:cxn modelId="{E7D2CC7F-3680-4A47-9412-3B7CAC55E44F}" type="presOf" srcId="{54A4825B-BC55-4FF3-8C8A-51BD086CF312}" destId="{61F1A829-4567-4987-86CD-47380779DB8C}" srcOrd="0" destOrd="0" presId="urn:microsoft.com/office/officeart/2005/8/layout/hierarchy3"/>
    <dgm:cxn modelId="{B6C5418E-B650-4033-9725-A9DE9BEAD3E1}" type="presOf" srcId="{07C02CB4-4917-42EF-8349-B0EDAA77C1AF}" destId="{3E2D67A5-246B-4E88-AC3F-86FB2C887D14}" srcOrd="0" destOrd="0" presId="urn:microsoft.com/office/officeart/2005/8/layout/hierarchy3"/>
    <dgm:cxn modelId="{D4B97BD9-ECFA-44F5-BE39-81A60C54553B}" type="presOf" srcId="{0CDBE17D-EACE-4148-9CCD-0BFE20A7AC56}" destId="{7408DA10-3CE2-4AE8-8CB3-4F7C9E492C35}" srcOrd="0" destOrd="0" presId="urn:microsoft.com/office/officeart/2005/8/layout/hierarchy3"/>
    <dgm:cxn modelId="{79B0E2DB-50DB-4D77-B80F-4C72F14428B4}" type="presOf" srcId="{6A49E033-A4A7-445C-8F55-3823AFBEC80B}" destId="{7B8C8372-1D1E-4F4B-8095-63C997234AA9}" srcOrd="0" destOrd="0" presId="urn:microsoft.com/office/officeart/2005/8/layout/hierarchy3"/>
    <dgm:cxn modelId="{049F8FFD-9902-45DF-B720-D82CADF576E3}" type="presOf" srcId="{0CDBE17D-EACE-4148-9CCD-0BFE20A7AC56}" destId="{F053E667-B7BE-4CE1-9673-811E3F7B58C4}" srcOrd="1" destOrd="0" presId="urn:microsoft.com/office/officeart/2005/8/layout/hierarchy3"/>
    <dgm:cxn modelId="{E3954334-058C-44AF-8B97-4BCE2CD46C8E}" type="presParOf" srcId="{AD27C8C9-EB97-4BAF-8D21-9579AC0B0F70}" destId="{A2C80A72-D7B4-4E8F-ADE0-8B2E0EC0A237}" srcOrd="0" destOrd="0" presId="urn:microsoft.com/office/officeart/2005/8/layout/hierarchy3"/>
    <dgm:cxn modelId="{245B22EB-D332-4534-AEFE-4CF163B0F202}" type="presParOf" srcId="{A2C80A72-D7B4-4E8F-ADE0-8B2E0EC0A237}" destId="{28596AF3-93DB-456A-A8E2-B2981657AB3E}" srcOrd="0" destOrd="0" presId="urn:microsoft.com/office/officeart/2005/8/layout/hierarchy3"/>
    <dgm:cxn modelId="{FD656DE1-4CC6-486C-B4ED-920A132FE8A7}" type="presParOf" srcId="{28596AF3-93DB-456A-A8E2-B2981657AB3E}" destId="{7408DA10-3CE2-4AE8-8CB3-4F7C9E492C35}" srcOrd="0" destOrd="0" presId="urn:microsoft.com/office/officeart/2005/8/layout/hierarchy3"/>
    <dgm:cxn modelId="{EC47B4A3-079A-4700-97A3-1E147B862EC8}" type="presParOf" srcId="{28596AF3-93DB-456A-A8E2-B2981657AB3E}" destId="{F053E667-B7BE-4CE1-9673-811E3F7B58C4}" srcOrd="1" destOrd="0" presId="urn:microsoft.com/office/officeart/2005/8/layout/hierarchy3"/>
    <dgm:cxn modelId="{7FE01AB4-3B97-43FC-AFFC-742F7737F3DC}" type="presParOf" srcId="{A2C80A72-D7B4-4E8F-ADE0-8B2E0EC0A237}" destId="{D5368892-118E-4A57-BF82-1C64A88796AE}" srcOrd="1" destOrd="0" presId="urn:microsoft.com/office/officeart/2005/8/layout/hierarchy3"/>
    <dgm:cxn modelId="{1BF87DBF-3BE9-495B-ADCB-D5ADEFFBFBC9}" type="presParOf" srcId="{D5368892-118E-4A57-BF82-1C64A88796AE}" destId="{7B8C8372-1D1E-4F4B-8095-63C997234AA9}" srcOrd="0" destOrd="0" presId="urn:microsoft.com/office/officeart/2005/8/layout/hierarchy3"/>
    <dgm:cxn modelId="{19823BEF-EAC5-4ED2-B993-98B4223F606D}" type="presParOf" srcId="{D5368892-118E-4A57-BF82-1C64A88796AE}" destId="{3E2D67A5-246B-4E88-AC3F-86FB2C887D14}" srcOrd="1" destOrd="0" presId="urn:microsoft.com/office/officeart/2005/8/layout/hierarchy3"/>
    <dgm:cxn modelId="{FF7C0874-108F-472B-8437-9EE57DCB365D}" type="presParOf" srcId="{D5368892-118E-4A57-BF82-1C64A88796AE}" destId="{706B6467-F41A-41D3-A823-601B26261B65}" srcOrd="2" destOrd="0" presId="urn:microsoft.com/office/officeart/2005/8/layout/hierarchy3"/>
    <dgm:cxn modelId="{5B4F9F40-8DAD-4197-AAA6-DE15B25DCEAA}" type="presParOf" srcId="{D5368892-118E-4A57-BF82-1C64A88796AE}" destId="{61F1A829-4567-4987-86CD-47380779DB8C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08DA10-3CE2-4AE8-8CB3-4F7C9E492C35}">
      <dsp:nvSpPr>
        <dsp:cNvPr id="0" name=""/>
        <dsp:cNvSpPr/>
      </dsp:nvSpPr>
      <dsp:spPr>
        <a:xfrm>
          <a:off x="1545973" y="28104"/>
          <a:ext cx="6293254" cy="92482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50800" rIns="76200" bIns="508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000" b="1" i="1" kern="1200" dirty="0"/>
            <a:t>SYSTÈME INFORMATIQUE</a:t>
          </a:r>
          <a:endParaRPr lang="fr-FR" sz="4000" i="1" kern="1200" dirty="0"/>
        </a:p>
      </dsp:txBody>
      <dsp:txXfrm>
        <a:off x="1573060" y="55191"/>
        <a:ext cx="6239080" cy="870648"/>
      </dsp:txXfrm>
    </dsp:sp>
    <dsp:sp modelId="{7B8C8372-1D1E-4F4B-8095-63C997234AA9}">
      <dsp:nvSpPr>
        <dsp:cNvPr id="0" name=""/>
        <dsp:cNvSpPr/>
      </dsp:nvSpPr>
      <dsp:spPr>
        <a:xfrm>
          <a:off x="2175298" y="952926"/>
          <a:ext cx="344861" cy="9007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00739"/>
              </a:lnTo>
              <a:lnTo>
                <a:pt x="344861" y="900739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2D67A5-246B-4E88-AC3F-86FB2C887D14}">
      <dsp:nvSpPr>
        <dsp:cNvPr id="0" name=""/>
        <dsp:cNvSpPr/>
      </dsp:nvSpPr>
      <dsp:spPr>
        <a:xfrm>
          <a:off x="2520160" y="1419645"/>
          <a:ext cx="4215298" cy="86803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345" tIns="62230" rIns="93345" bIns="62230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900" kern="1200" dirty="0"/>
            <a:t>………………………</a:t>
          </a:r>
        </a:p>
      </dsp:txBody>
      <dsp:txXfrm>
        <a:off x="2545584" y="1445069"/>
        <a:ext cx="4164450" cy="817191"/>
      </dsp:txXfrm>
    </dsp:sp>
    <dsp:sp modelId="{706B6467-F41A-41D3-A823-601B26261B65}">
      <dsp:nvSpPr>
        <dsp:cNvPr id="0" name=""/>
        <dsp:cNvSpPr/>
      </dsp:nvSpPr>
      <dsp:spPr>
        <a:xfrm>
          <a:off x="2175298" y="952926"/>
          <a:ext cx="344861" cy="22945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94527"/>
              </a:lnTo>
              <a:lnTo>
                <a:pt x="344861" y="2294527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1F1A829-4567-4987-86CD-47380779DB8C}">
      <dsp:nvSpPr>
        <dsp:cNvPr id="0" name=""/>
        <dsp:cNvSpPr/>
      </dsp:nvSpPr>
      <dsp:spPr>
        <a:xfrm>
          <a:off x="2520160" y="2780587"/>
          <a:ext cx="4217601" cy="9337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345" tIns="62230" rIns="93345" bIns="62230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900" kern="1200" dirty="0"/>
            <a:t>……………………...</a:t>
          </a:r>
        </a:p>
      </dsp:txBody>
      <dsp:txXfrm>
        <a:off x="2547508" y="2807935"/>
        <a:ext cx="4162905" cy="8790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5E09B5-6896-4D11-8FA7-55ACA35F7AB4}" type="datetimeFigureOut">
              <a:rPr lang="fr-FR" smtClean="0"/>
              <a:t>23/10/2025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2C201F-8126-43B5-9E39-38447D4B0BC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0890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A744E-4AB2-46DF-8390-35CEC3B4EEDA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75655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🛑 STOP 🛑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2C201F-8126-43B5-9E39-38447D4B0BC0}" type="slidenum">
              <a:rPr lang="fr-FR" smtClean="0"/>
              <a:t>34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42230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800" spc="10" dirty="0">
                <a:solidFill>
                  <a:srgbClr val="5D6566"/>
                </a:solidFill>
                <a:effectLst/>
                <a:latin typeface="Roboto" panose="02000000000000000000" pitchFamily="2" charset="0"/>
                <a:ea typeface="Times New Roman" panose="02020603050405020304" pitchFamily="18" charset="0"/>
              </a:rPr>
              <a:t>Le </a:t>
            </a:r>
            <a:r>
              <a:rPr lang="fr-FR" sz="1800" b="1" spc="10" dirty="0">
                <a:solidFill>
                  <a:srgbClr val="5D6566"/>
                </a:solidFill>
                <a:effectLst/>
                <a:latin typeface="Roboto" panose="02000000000000000000" pitchFamily="2" charset="0"/>
                <a:ea typeface="Times New Roman" panose="02020603050405020304" pitchFamily="18" charset="0"/>
              </a:rPr>
              <a:t>matériel</a:t>
            </a:r>
            <a:r>
              <a:rPr lang="fr-FR" sz="1800" spc="10" dirty="0">
                <a:solidFill>
                  <a:srgbClr val="5D6566"/>
                </a:solidFill>
                <a:effectLst/>
                <a:latin typeface="Roboto" panose="02000000000000000000" pitchFamily="2" charset="0"/>
                <a:ea typeface="Times New Roman" panose="02020603050405020304" pitchFamily="18" charset="0"/>
              </a:rPr>
              <a:t> sans logiciel ne peut rien faire</a:t>
            </a:r>
            <a:endParaRPr lang="fr-FR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fr-FR" sz="1800" spc="10" dirty="0">
                <a:solidFill>
                  <a:srgbClr val="5D6566"/>
                </a:solidFill>
                <a:effectLst/>
                <a:latin typeface="Roboto" panose="02000000000000000000" pitchFamily="2" charset="0"/>
                <a:ea typeface="Times New Roman" panose="02020603050405020304" pitchFamily="18" charset="0"/>
              </a:rPr>
              <a:t>Les </a:t>
            </a:r>
            <a:r>
              <a:rPr lang="fr-FR" sz="1800" b="1" spc="10" dirty="0">
                <a:solidFill>
                  <a:srgbClr val="5D6566"/>
                </a:solidFill>
                <a:effectLst/>
                <a:latin typeface="Roboto" panose="02000000000000000000" pitchFamily="2" charset="0"/>
                <a:ea typeface="Times New Roman" panose="02020603050405020304" pitchFamily="18" charset="0"/>
              </a:rPr>
              <a:t>logiciels</a:t>
            </a:r>
            <a:r>
              <a:rPr lang="fr-FR" sz="1800" spc="10" dirty="0">
                <a:solidFill>
                  <a:srgbClr val="5D6566"/>
                </a:solidFill>
                <a:effectLst/>
                <a:latin typeface="Roboto" panose="02000000000000000000" pitchFamily="2" charset="0"/>
                <a:ea typeface="Times New Roman" panose="02020603050405020304" pitchFamily="18" charset="0"/>
              </a:rPr>
              <a:t> sans matériel ne peuvent pas fonctionner</a:t>
            </a:r>
            <a:endParaRPr lang="fr-FR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A744E-4AB2-46DF-8390-35CEC3B4EEDA}" type="slidenum">
              <a:rPr lang="fr-FR" smtClean="0"/>
              <a:t>37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94843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F3FEB-EE32-4154-9A6E-1D15592340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64D61C-6FF4-4EBC-B55F-B196E0C15A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7E184-7BC2-4779-AB65-C95BC64CC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E4A35-7C5B-4D7C-B128-B940E2677F9B}" type="datetimeFigureOut">
              <a:rPr lang="fr-FR" smtClean="0"/>
              <a:t>23/10/2025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76307-FA66-4732-9AD3-DCA3ABBF6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9DA3F-A270-43D9-8D9A-16D8B6D8C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AA8FF-754A-4101-BA7E-B07F68633AE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5812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F5EEB-A41E-47A2-BFCF-DC2186691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3AA52-8CC5-48C6-AD43-117C6164E0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1E7A8-A49D-466C-9831-D72C0558E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E4A35-7C5B-4D7C-B128-B940E2677F9B}" type="datetimeFigureOut">
              <a:rPr lang="fr-FR" smtClean="0"/>
              <a:t>23/10/2025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33871-4D1B-428A-9248-3AF7E419C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B5689F-E8EE-42A0-93F4-59D9B04E3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AA8FF-754A-4101-BA7E-B07F68633AE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1577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AD218-DA58-4A3E-97D6-9EC97D714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8BD259-6463-4D7B-8B57-7C94289472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372B8-C74B-463F-952B-A1E1572EF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E4A35-7C5B-4D7C-B128-B940E2677F9B}" type="datetimeFigureOut">
              <a:rPr lang="fr-FR" smtClean="0"/>
              <a:t>23/10/2025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C3DA59-7301-4883-9D6D-4119107D1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EC1A5B-54B9-4450-8E05-B2CA5A132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AA8FF-754A-4101-BA7E-B07F68633AE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1035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16A9D-6F31-4F79-A67E-E47EBF0DA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EB26B-4316-44EF-B62D-04D3FF20D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0736F4-6C59-4437-B4B1-D60DEEC58E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E66A0B-D316-4BF8-AD6B-3148E4362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E4A35-7C5B-4D7C-B128-B940E2677F9B}" type="datetimeFigureOut">
              <a:rPr lang="fr-FR" smtClean="0"/>
              <a:t>23/10/2025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E974CB-762C-45DD-9B88-1FC48EAEA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15EA80-BB76-4155-A649-BF3650BF3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AA8FF-754A-4101-BA7E-B07F68633AE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5193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2FBDE-A5A6-4B09-8E0F-AEEF0C2BD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091344-AFD9-49DD-81BE-A9BD2E3C30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03C32B-4605-4CD7-BA19-2A8A77934F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03A816-48DB-4865-85BE-D49DDDBC21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C19BD4-9B8A-49A1-8815-BC67A45427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792CE3-0F0E-4CC2-BB94-2CDAF2246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E4A35-7C5B-4D7C-B128-B940E2677F9B}" type="datetimeFigureOut">
              <a:rPr lang="fr-FR" smtClean="0"/>
              <a:t>23/10/2025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2771A9-205F-4FA7-9813-4F2BEC2AA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33B49B-7833-4CAA-8D06-5F7C6DF93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AA8FF-754A-4101-BA7E-B07F68633AE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2942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308FF-4F53-4D79-9E38-2D0464905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EAFDD5-63C6-4982-A08F-72A9CAF4E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E4A35-7C5B-4D7C-B128-B940E2677F9B}" type="datetimeFigureOut">
              <a:rPr lang="fr-FR" smtClean="0"/>
              <a:t>23/10/2025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FE595F-2A5A-44C2-9087-3F40C549F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327727-9632-4099-AED0-DB09B36F6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AA8FF-754A-4101-BA7E-B07F68633AE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0997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4257B9-138C-4BF8-8641-C8F2D7312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E4A35-7C5B-4D7C-B128-B940E2677F9B}" type="datetimeFigureOut">
              <a:rPr lang="fr-FR" smtClean="0"/>
              <a:t>23/10/2025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6184AC-43F3-43A8-A42E-15362E40D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0FC04F-9331-4992-AD36-533C11492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AA8FF-754A-4101-BA7E-B07F68633AE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3514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04500-6B3D-4BBC-A786-DB1549BA3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89D07-0B9F-4CD5-8F14-52D48F0569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199A98-17C9-4992-ACDA-83C975C29E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4129D3-9BB0-4118-9A82-AB779447E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E4A35-7C5B-4D7C-B128-B940E2677F9B}" type="datetimeFigureOut">
              <a:rPr lang="fr-FR" smtClean="0"/>
              <a:t>23/10/2025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A764D8-83AC-4F0C-954C-89EF892F4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7FC138-A754-47CA-AC65-B91B2DE66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AA8FF-754A-4101-BA7E-B07F68633AE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9381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A8BDC-89A2-41B8-B6A3-56D28C4AC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83CDE5-0CA6-4461-8AD3-4854DE460F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5FBA00-4293-40E9-B8AC-280C612A88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6F6E05-BA23-49D0-843A-1AAB25906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E4A35-7C5B-4D7C-B128-B940E2677F9B}" type="datetimeFigureOut">
              <a:rPr lang="fr-FR" smtClean="0"/>
              <a:t>23/10/2025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B06534-8FFD-4EEE-8145-A8A3CE41A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317DDE-B9E1-44E7-93D5-52B6B8794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AA8FF-754A-4101-BA7E-B07F68633AE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2362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DCB55-7CC8-4ACE-B697-84E3CFA64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EE5AFA-E7D9-4BEE-AA1D-3737F81447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626F73-3831-4505-BCC2-C80CE1A8B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E4A35-7C5B-4D7C-B128-B940E2677F9B}" type="datetimeFigureOut">
              <a:rPr lang="fr-FR" smtClean="0"/>
              <a:t>23/10/2025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421F3D-E77E-4B53-80C1-DAC85A278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11465C-62FA-48F2-A889-395F0E352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AA8FF-754A-4101-BA7E-B07F68633AE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3981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7788D9-97FE-4AA4-BFB3-10A79A1BF8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9F733B-3EE9-4642-87D4-932AAC8DEC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92072-6B2F-4E34-AE95-ED4641086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E4A35-7C5B-4D7C-B128-B940E2677F9B}" type="datetimeFigureOut">
              <a:rPr lang="fr-FR" smtClean="0"/>
              <a:t>23/10/2025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C7584-662C-4EDE-B525-94F15BCC6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887BB-2677-4CC2-8EC6-9AF35308E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AA8FF-754A-4101-BA7E-B07F68633AE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2318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F018AA-DE76-4880-8155-4FC61DD9F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4B00EE-FCE7-4115-B6C1-8E9526540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58FE22-E867-4F26-91CE-D3F0801AD9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BE4A35-7C5B-4D7C-B128-B940E2677F9B}" type="datetimeFigureOut">
              <a:rPr lang="fr-FR" smtClean="0"/>
              <a:t>23/10/2025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95DCD-4141-46B7-8EE4-6C4F655047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0CC1A-C723-47B0-A4BA-F027B3C0DE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3AA8FF-754A-4101-BA7E-B07F68633AE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6742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25.jp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jpeg"/><Relationship Id="rId3" Type="http://schemas.openxmlformats.org/officeDocument/2006/relationships/image" Target="../media/image26.png"/><Relationship Id="rId7" Type="http://schemas.openxmlformats.org/officeDocument/2006/relationships/image" Target="../media/image3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10" Type="http://schemas.openxmlformats.org/officeDocument/2006/relationships/image" Target="../media/image33.jpeg"/><Relationship Id="rId4" Type="http://schemas.openxmlformats.org/officeDocument/2006/relationships/image" Target="../media/image27.png"/><Relationship Id="rId9" Type="http://schemas.openxmlformats.org/officeDocument/2006/relationships/image" Target="../media/image32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../PDF/X002.pdf" TargetMode="Externa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DELL\Desktop\WORK\PDF\exercice\EXERCICES_SYS_INFO.pdf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>
            <a:extLst>
              <a:ext uri="{FF2B5EF4-FFF2-40B4-BE49-F238E27FC236}">
                <a16:creationId xmlns:a16="http://schemas.microsoft.com/office/drawing/2014/main" id="{AC609EC0-00A1-4587-80D6-D873FE5DE4E0}"/>
              </a:ext>
            </a:extLst>
          </p:cNvPr>
          <p:cNvSpPr/>
          <p:nvPr/>
        </p:nvSpPr>
        <p:spPr>
          <a:xfrm flipH="1" flipV="1">
            <a:off x="10237419" y="2741815"/>
            <a:ext cx="6775868" cy="4114800"/>
          </a:xfrm>
          <a:custGeom>
            <a:avLst/>
            <a:gdLst/>
            <a:ahLst/>
            <a:cxnLst/>
            <a:rect l="l" t="t" r="r" b="b"/>
            <a:pathLst>
              <a:path w="6775868" h="4114800">
                <a:moveTo>
                  <a:pt x="6775869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775869" y="0"/>
                </a:lnTo>
                <a:lnTo>
                  <a:pt x="6775869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8259818F-130E-495F-8AE3-0F1CA0BB95AD}"/>
              </a:ext>
            </a:extLst>
          </p:cNvPr>
          <p:cNvSpPr/>
          <p:nvPr/>
        </p:nvSpPr>
        <p:spPr>
          <a:xfrm rot="10800000">
            <a:off x="8568229" y="5951579"/>
            <a:ext cx="2556168" cy="1533045"/>
          </a:xfrm>
          <a:custGeom>
            <a:avLst/>
            <a:gdLst/>
            <a:ahLst/>
            <a:cxnLst/>
            <a:rect l="l" t="t" r="r" b="b"/>
            <a:pathLst>
              <a:path w="6775868" h="4114800">
                <a:moveTo>
                  <a:pt x="0" y="0"/>
                </a:moveTo>
                <a:lnTo>
                  <a:pt x="6775868" y="0"/>
                </a:lnTo>
                <a:lnTo>
                  <a:pt x="67758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CF7BC0F-EFCF-4BB1-96CA-DD8FF908BF60}"/>
              </a:ext>
            </a:extLst>
          </p:cNvPr>
          <p:cNvGrpSpPr/>
          <p:nvPr/>
        </p:nvGrpSpPr>
        <p:grpSpPr>
          <a:xfrm>
            <a:off x="0" y="2339572"/>
            <a:ext cx="12192000" cy="944550"/>
            <a:chOff x="0" y="1316467"/>
            <a:chExt cx="12192000" cy="1167653"/>
          </a:xfrm>
        </p:grpSpPr>
        <p:grpSp>
          <p:nvGrpSpPr>
            <p:cNvPr id="6" name="Group 2">
              <a:extLst>
                <a:ext uri="{FF2B5EF4-FFF2-40B4-BE49-F238E27FC236}">
                  <a16:creationId xmlns:a16="http://schemas.microsoft.com/office/drawing/2014/main" id="{ACDAF367-CC7A-4EB5-A3DB-DE06FD2A39F5}"/>
                </a:ext>
              </a:extLst>
            </p:cNvPr>
            <p:cNvGrpSpPr/>
            <p:nvPr/>
          </p:nvGrpSpPr>
          <p:grpSpPr>
            <a:xfrm>
              <a:off x="0" y="1700568"/>
              <a:ext cx="12192000" cy="783552"/>
              <a:chOff x="0" y="0"/>
              <a:chExt cx="4988065" cy="385799"/>
            </a:xfrm>
          </p:grpSpPr>
          <p:sp>
            <p:nvSpPr>
              <p:cNvPr id="7" name="Freeform 3">
                <a:extLst>
                  <a:ext uri="{FF2B5EF4-FFF2-40B4-BE49-F238E27FC236}">
                    <a16:creationId xmlns:a16="http://schemas.microsoft.com/office/drawing/2014/main" id="{C9279D21-0EF3-4140-AEB6-6BE58791B678}"/>
                  </a:ext>
                </a:extLst>
              </p:cNvPr>
              <p:cNvSpPr/>
              <p:nvPr/>
            </p:nvSpPr>
            <p:spPr>
              <a:xfrm>
                <a:off x="0" y="0"/>
                <a:ext cx="4988065" cy="385799"/>
              </a:xfrm>
              <a:custGeom>
                <a:avLst/>
                <a:gdLst/>
                <a:ahLst/>
                <a:cxnLst/>
                <a:rect l="l" t="t" r="r" b="b"/>
                <a:pathLst>
                  <a:path w="4988065" h="385799">
                    <a:moveTo>
                      <a:pt x="0" y="0"/>
                    </a:moveTo>
                    <a:lnTo>
                      <a:pt x="4988065" y="0"/>
                    </a:lnTo>
                    <a:lnTo>
                      <a:pt x="4988065" y="385799"/>
                    </a:lnTo>
                    <a:lnTo>
                      <a:pt x="0" y="385799"/>
                    </a:lnTo>
                    <a:close/>
                  </a:path>
                </a:pathLst>
              </a:custGeom>
              <a:solidFill>
                <a:srgbClr val="2B59C3">
                  <a:alpha val="71765"/>
                </a:srgbClr>
              </a:solidFill>
            </p:spPr>
          </p:sp>
          <p:sp>
            <p:nvSpPr>
              <p:cNvPr id="8" name="TextBox 4">
                <a:extLst>
                  <a:ext uri="{FF2B5EF4-FFF2-40B4-BE49-F238E27FC236}">
                    <a16:creationId xmlns:a16="http://schemas.microsoft.com/office/drawing/2014/main" id="{81BF4A2C-89F2-4CD5-A915-8702FCB0702B}"/>
                  </a:ext>
                </a:extLst>
              </p:cNvPr>
              <p:cNvSpPr txBox="1"/>
              <p:nvPr/>
            </p:nvSpPr>
            <p:spPr>
              <a:xfrm>
                <a:off x="0" y="28575"/>
                <a:ext cx="4988065" cy="3572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1"/>
                  </a:lnSpc>
                </a:pPr>
                <a:endParaRPr/>
              </a:p>
            </p:txBody>
          </p:sp>
        </p:grpSp>
        <p:sp>
          <p:nvSpPr>
            <p:cNvPr id="12" name="TextBox 9">
              <a:extLst>
                <a:ext uri="{FF2B5EF4-FFF2-40B4-BE49-F238E27FC236}">
                  <a16:creationId xmlns:a16="http://schemas.microsoft.com/office/drawing/2014/main" id="{84B50431-556A-4CB1-9245-727D28A61EC4}"/>
                </a:ext>
              </a:extLst>
            </p:cNvPr>
            <p:cNvSpPr txBox="1"/>
            <p:nvPr/>
          </p:nvSpPr>
          <p:spPr>
            <a:xfrm>
              <a:off x="93784" y="1316467"/>
              <a:ext cx="4542284" cy="99450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8743"/>
                </a:lnSpc>
                <a:spcBef>
                  <a:spcPct val="0"/>
                </a:spcBef>
              </a:pPr>
              <a:r>
                <a:rPr lang="en-US" sz="4400" b="1" dirty="0">
                  <a:solidFill>
                    <a:srgbClr val="F4F4F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INFORMATIQUE</a:t>
              </a:r>
            </a:p>
          </p:txBody>
        </p:sp>
      </p:grpSp>
      <p:sp>
        <p:nvSpPr>
          <p:cNvPr id="14" name="TextBox 11">
            <a:extLst>
              <a:ext uri="{FF2B5EF4-FFF2-40B4-BE49-F238E27FC236}">
                <a16:creationId xmlns:a16="http://schemas.microsoft.com/office/drawing/2014/main" id="{132FBDB5-A7F1-455A-B3AF-B3B12B5B321A}"/>
              </a:ext>
            </a:extLst>
          </p:cNvPr>
          <p:cNvSpPr txBox="1"/>
          <p:nvPr/>
        </p:nvSpPr>
        <p:spPr>
          <a:xfrm>
            <a:off x="165120" y="6321828"/>
            <a:ext cx="3257324" cy="5361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06"/>
              </a:lnSpc>
            </a:pPr>
            <a:r>
              <a:rPr lang="en-US" sz="3600" b="1" dirty="0">
                <a:solidFill>
                  <a:srgbClr val="000000"/>
                </a:solidFill>
                <a:latin typeface="Aldhabi" panose="01000000000000000000" pitchFamily="2" charset="-78"/>
                <a:ea typeface="Open Sans Bold"/>
                <a:cs typeface="Aldhabi" panose="01000000000000000000" pitchFamily="2" charset="-78"/>
                <a:sym typeface="Open Sans Bold"/>
              </a:rPr>
              <a:t>Pr. AMAHROUCH Ayoub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CF1809D-6695-4FB7-BD39-1610A39BD9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280" y="53072"/>
            <a:ext cx="10814040" cy="1618000"/>
          </a:xfrm>
          <a:prstGeom prst="rect">
            <a:avLst/>
          </a:prstGeom>
        </p:spPr>
      </p:pic>
      <p:sp>
        <p:nvSpPr>
          <p:cNvPr id="17" name="TextBox 10">
            <a:extLst>
              <a:ext uri="{FF2B5EF4-FFF2-40B4-BE49-F238E27FC236}">
                <a16:creationId xmlns:a16="http://schemas.microsoft.com/office/drawing/2014/main" id="{E6361432-DCD2-44DD-81A0-A091E3E123B7}"/>
              </a:ext>
            </a:extLst>
          </p:cNvPr>
          <p:cNvSpPr txBox="1"/>
          <p:nvPr/>
        </p:nvSpPr>
        <p:spPr>
          <a:xfrm>
            <a:off x="623175" y="3812556"/>
            <a:ext cx="7205374" cy="21328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544"/>
              </a:lnSpc>
              <a:spcBef>
                <a:spcPct val="0"/>
              </a:spcBef>
            </a:pPr>
            <a:r>
              <a:rPr lang="en-US" sz="7000" b="1" dirty="0" err="1">
                <a:solidFill>
                  <a:srgbClr val="004AAD"/>
                </a:solidFill>
                <a:latin typeface="Comic Sans MS" panose="030F0702030302020204" pitchFamily="66" charset="0"/>
                <a:ea typeface="Poppins Bold"/>
                <a:cs typeface="Poppins Bold"/>
                <a:sym typeface="Poppins Bold"/>
              </a:rPr>
              <a:t>Système</a:t>
            </a:r>
            <a:r>
              <a:rPr lang="en-US" sz="7000" b="1" dirty="0">
                <a:solidFill>
                  <a:srgbClr val="004AAD"/>
                </a:solidFill>
                <a:latin typeface="Comic Sans MS" panose="030F0702030302020204" pitchFamily="66" charset="0"/>
                <a:ea typeface="Poppins Bold"/>
                <a:cs typeface="Poppins Bold"/>
                <a:sym typeface="Poppins Bold"/>
              </a:rPr>
              <a:t> </a:t>
            </a:r>
            <a:r>
              <a:rPr lang="en-US" sz="7000" b="1" dirty="0" err="1">
                <a:solidFill>
                  <a:srgbClr val="004AAD"/>
                </a:solidFill>
                <a:latin typeface="Comic Sans MS" panose="030F0702030302020204" pitchFamily="66" charset="0"/>
                <a:ea typeface="Poppins Bold"/>
                <a:cs typeface="Poppins Bold"/>
                <a:sym typeface="Poppins Bold"/>
              </a:rPr>
              <a:t>informatique</a:t>
            </a:r>
            <a:endParaRPr lang="en-US" sz="7000" b="1" dirty="0">
              <a:solidFill>
                <a:srgbClr val="004AAD"/>
              </a:solidFill>
              <a:latin typeface="Comic Sans MS" panose="030F0702030302020204" pitchFamily="66" charset="0"/>
              <a:ea typeface="Poppins Bold"/>
              <a:cs typeface="Poppins Bold"/>
              <a:sym typeface="Poppins Bold"/>
            </a:endParaRPr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5536A886-117E-4348-86DA-6A7D00A50486}"/>
              </a:ext>
            </a:extLst>
          </p:cNvPr>
          <p:cNvSpPr txBox="1"/>
          <p:nvPr/>
        </p:nvSpPr>
        <p:spPr>
          <a:xfrm>
            <a:off x="10622917" y="6306124"/>
            <a:ext cx="1283559" cy="5361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06"/>
              </a:lnSpc>
            </a:pPr>
            <a:r>
              <a:rPr lang="en-US" sz="3600" b="1" dirty="0">
                <a:solidFill>
                  <a:srgbClr val="000000"/>
                </a:solidFill>
                <a:latin typeface="Aldhabi" panose="01000000000000000000" pitchFamily="2" charset="-78"/>
                <a:ea typeface="Open Sans Bold"/>
                <a:cs typeface="Aldhabi" panose="01000000000000000000" pitchFamily="2" charset="-78"/>
                <a:sym typeface="Open Sans Bold"/>
              </a:rPr>
              <a:t>2025/2026</a:t>
            </a:r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230E712B-6AEB-4BF1-B6B9-3CBEEF5683F0}"/>
              </a:ext>
            </a:extLst>
          </p:cNvPr>
          <p:cNvSpPr/>
          <p:nvPr/>
        </p:nvSpPr>
        <p:spPr>
          <a:xfrm>
            <a:off x="9789187" y="1922421"/>
            <a:ext cx="3259773" cy="4587474"/>
          </a:xfrm>
          <a:custGeom>
            <a:avLst/>
            <a:gdLst/>
            <a:ahLst/>
            <a:cxnLst/>
            <a:rect l="l" t="t" r="r" b="b"/>
            <a:pathLst>
              <a:path w="6379233" h="8140553">
                <a:moveTo>
                  <a:pt x="0" y="0"/>
                </a:moveTo>
                <a:lnTo>
                  <a:pt x="6379233" y="0"/>
                </a:lnTo>
                <a:lnTo>
                  <a:pt x="6379233" y="8140553"/>
                </a:lnTo>
                <a:lnTo>
                  <a:pt x="0" y="81405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93287DA-EBB1-4397-850B-2D3B184FFFFC}"/>
              </a:ext>
            </a:extLst>
          </p:cNvPr>
          <p:cNvSpPr txBox="1"/>
          <p:nvPr/>
        </p:nvSpPr>
        <p:spPr>
          <a:xfrm>
            <a:off x="2655872" y="1602954"/>
            <a:ext cx="728285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b="1" dirty="0">
                <a:solidFill>
                  <a:schemeClr val="bg1">
                    <a:lumMod val="65000"/>
                  </a:schemeClr>
                </a:solidFill>
                <a:latin typeface="Abadi" panose="020B0604020104020204" pitchFamily="34" charset="0"/>
              </a:rPr>
              <a:t>Académie Régionale de l'Éducation et de la Formation de Béni Mellal-</a:t>
            </a:r>
            <a:r>
              <a:rPr lang="fr-FR" sz="1600" b="1" dirty="0" err="1">
                <a:solidFill>
                  <a:schemeClr val="bg1">
                    <a:lumMod val="65000"/>
                  </a:schemeClr>
                </a:solidFill>
                <a:latin typeface="Abadi" panose="020B0604020104020204" pitchFamily="34" charset="0"/>
              </a:rPr>
              <a:t>Khénifra</a:t>
            </a:r>
            <a:endParaRPr lang="fr-FR" sz="1600" b="1" dirty="0">
              <a:solidFill>
                <a:schemeClr val="bg1">
                  <a:lumMod val="65000"/>
                </a:schemeClr>
              </a:solidFill>
              <a:latin typeface="Abadi" panose="020B0604020104020204" pitchFamily="34" charset="0"/>
            </a:endParaRPr>
          </a:p>
          <a:p>
            <a:pPr algn="ctr"/>
            <a:r>
              <a:rPr lang="fr-FR" sz="1600" b="1" dirty="0">
                <a:solidFill>
                  <a:schemeClr val="bg1">
                    <a:lumMod val="65000"/>
                  </a:schemeClr>
                </a:solidFill>
                <a:latin typeface="Abadi" panose="020B0604020104020204" pitchFamily="34" charset="0"/>
              </a:rPr>
              <a:t>Direction Provinciale de l'Éducation Nationale et de la Formation — Khouribga</a:t>
            </a:r>
          </a:p>
          <a:p>
            <a:pPr algn="ctr"/>
            <a:r>
              <a:rPr lang="fr-FR" sz="1600" b="1" dirty="0">
                <a:solidFill>
                  <a:schemeClr val="bg1">
                    <a:lumMod val="65000"/>
                  </a:schemeClr>
                </a:solidFill>
                <a:latin typeface="Abadi" panose="020B0604020104020204" pitchFamily="34" charset="0"/>
              </a:rPr>
              <a:t>Collège Aït Ammar</a:t>
            </a:r>
          </a:p>
        </p:txBody>
      </p:sp>
    </p:spTree>
    <p:extLst>
      <p:ext uri="{BB962C8B-B14F-4D97-AF65-F5344CB8AC3E}">
        <p14:creationId xmlns:p14="http://schemas.microsoft.com/office/powerpoint/2010/main" val="3915052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27788C-6A8D-4993-83FA-3557F9F0EF45}"/>
              </a:ext>
            </a:extLst>
          </p:cNvPr>
          <p:cNvSpPr txBox="1"/>
          <p:nvPr/>
        </p:nvSpPr>
        <p:spPr>
          <a:xfrm>
            <a:off x="248816" y="1386069"/>
            <a:ext cx="11943184" cy="4085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fr-FR" sz="3600" i="1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III.   L’ordinateur et les périphériques</a:t>
            </a:r>
            <a:endParaRPr lang="fr-FR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  <a:spcAft>
                <a:spcPts val="800"/>
              </a:spcAft>
            </a:pPr>
            <a:r>
              <a:rPr lang="fr-FR" sz="3600" i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1.	Définition de l'ordinateur</a:t>
            </a:r>
          </a:p>
          <a:p>
            <a:pPr marL="1080000" lvl="1">
              <a:lnSpc>
                <a:spcPct val="150000"/>
              </a:lnSpc>
              <a:spcAft>
                <a:spcPts val="800"/>
              </a:spcAft>
            </a:pPr>
            <a:r>
              <a:rPr lang="fr-FR" sz="3200" dirty="0">
                <a:latin typeface="Georgia" panose="02040502050405020303" pitchFamily="18" charset="0"/>
              </a:rPr>
              <a:t>Un ordinateur est une </a:t>
            </a:r>
            <a:r>
              <a:rPr lang="fr-FR" sz="3200" b="1" dirty="0">
                <a:solidFill>
                  <a:srgbClr val="7030A0"/>
                </a:solidFill>
                <a:latin typeface="Georgia" panose="02040502050405020303" pitchFamily="18" charset="0"/>
              </a:rPr>
              <a:t>machine électronique </a:t>
            </a:r>
            <a:r>
              <a:rPr lang="fr-FR" sz="3200" dirty="0">
                <a:latin typeface="Georgia" panose="02040502050405020303" pitchFamily="18" charset="0"/>
              </a:rPr>
              <a:t>capable </a:t>
            </a:r>
          </a:p>
          <a:p>
            <a:pPr marL="1080000" lvl="1">
              <a:lnSpc>
                <a:spcPct val="150000"/>
              </a:lnSpc>
              <a:spcAft>
                <a:spcPts val="800"/>
              </a:spcAft>
            </a:pPr>
            <a:r>
              <a:rPr lang="fr-FR" sz="3200" dirty="0">
                <a:latin typeface="Georgia" panose="02040502050405020303" pitchFamily="18" charset="0"/>
              </a:rPr>
              <a:t>d’effectuer des </a:t>
            </a:r>
            <a:r>
              <a:rPr lang="fr-FR" sz="3200" b="1" dirty="0">
                <a:solidFill>
                  <a:srgbClr val="7030A0"/>
                </a:solidFill>
                <a:latin typeface="Georgia" panose="02040502050405020303" pitchFamily="18" charset="0"/>
              </a:rPr>
              <a:t>traitements automatiques </a:t>
            </a:r>
            <a:r>
              <a:rPr lang="fr-FR" sz="3200" dirty="0">
                <a:latin typeface="Georgia" panose="02040502050405020303" pitchFamily="18" charset="0"/>
              </a:rPr>
              <a:t>de </a:t>
            </a:r>
            <a:r>
              <a:rPr lang="fr-FR" sz="3200" b="1" dirty="0">
                <a:solidFill>
                  <a:srgbClr val="7030A0"/>
                </a:solidFill>
                <a:latin typeface="Georgia" panose="02040502050405020303" pitchFamily="18" charset="0"/>
              </a:rPr>
              <a:t>l'information</a:t>
            </a:r>
            <a:r>
              <a:rPr lang="fr-FR" sz="3200" dirty="0">
                <a:latin typeface="Georgia" panose="02040502050405020303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169321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5CCE9CF1-5223-43A9-B8F4-CDB9D6C493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492944" cy="5085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4DA477D4-E286-450F-A09D-61E1F3B941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8635" y="292017"/>
            <a:ext cx="4793365" cy="4793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1073BC6-1510-474C-BED9-46A1ED5F5333}"/>
              </a:ext>
            </a:extLst>
          </p:cNvPr>
          <p:cNvSpPr txBox="1"/>
          <p:nvPr/>
        </p:nvSpPr>
        <p:spPr>
          <a:xfrm>
            <a:off x="2541406" y="5656074"/>
            <a:ext cx="849524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2800" dirty="0">
                <a:latin typeface="Georgia" panose="02040502050405020303" pitchFamily="18" charset="0"/>
              </a:rPr>
              <a:t>Que représente chaque figure ?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2800" dirty="0">
                <a:latin typeface="Georgia" panose="02040502050405020303" pitchFamily="18" charset="0"/>
              </a:rPr>
              <a:t>Décris les composants de cet ordinateur.</a:t>
            </a:r>
          </a:p>
        </p:txBody>
      </p:sp>
    </p:spTree>
    <p:extLst>
      <p:ext uri="{BB962C8B-B14F-4D97-AF65-F5344CB8AC3E}">
        <p14:creationId xmlns:p14="http://schemas.microsoft.com/office/powerpoint/2010/main" val="7926460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4DCCDBDD-B931-474C-8282-26BA3086D4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816" y="348052"/>
            <a:ext cx="11694368" cy="6240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16285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A1C68F9-EB2B-4CA1-B5E0-DEBA3928E721}"/>
              </a:ext>
            </a:extLst>
          </p:cNvPr>
          <p:cNvSpPr/>
          <p:nvPr/>
        </p:nvSpPr>
        <p:spPr>
          <a:xfrm>
            <a:off x="666751" y="-942975"/>
            <a:ext cx="10553700" cy="3267075"/>
          </a:xfrm>
          <a:prstGeom prst="roundRect">
            <a:avLst>
              <a:gd name="adj" fmla="val 1056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600" b="1" dirty="0">
                <a:solidFill>
                  <a:srgbClr val="CCFF66"/>
                </a:solidFill>
              </a:rPr>
              <a:t>Activité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0E63E2-41F1-405E-9FDB-F94338EA37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1983" y="2482516"/>
            <a:ext cx="5803236" cy="386731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429807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8C1D3A2-2197-45B5-9B58-660B9C44881B}"/>
              </a:ext>
            </a:extLst>
          </p:cNvPr>
          <p:cNvSpPr txBox="1"/>
          <p:nvPr/>
        </p:nvSpPr>
        <p:spPr>
          <a:xfrm>
            <a:off x="0" y="0"/>
            <a:ext cx="67056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dirty="0">
                <a:latin typeface="Georgia" panose="02040502050405020303" pitchFamily="18" charset="0"/>
              </a:rPr>
              <a:t>Un ordinateur est composé de :</a:t>
            </a:r>
          </a:p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fr-FR" sz="3200" dirty="0">
                <a:latin typeface="Georgia" panose="02040502050405020303" pitchFamily="18" charset="0"/>
              </a:rPr>
              <a:t>  Unité centrale.  			</a:t>
            </a:r>
          </a:p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fr-FR" sz="3200" dirty="0">
                <a:latin typeface="Georgia" panose="02040502050405020303" pitchFamily="18" charset="0"/>
              </a:rPr>
              <a:t>  Périphérique d’entrée. 	</a:t>
            </a:r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6F4A3CA7-91AE-452C-8500-D383B4D4CF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1532" y="1569660"/>
            <a:ext cx="7928936" cy="5288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DE1B331-D831-43E4-8078-ADC99FC1B19D}"/>
              </a:ext>
            </a:extLst>
          </p:cNvPr>
          <p:cNvSpPr txBox="1"/>
          <p:nvPr/>
        </p:nvSpPr>
        <p:spPr>
          <a:xfrm>
            <a:off x="5863389" y="0"/>
            <a:ext cx="6328611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buFont typeface="Wingdings" panose="05000000000000000000" pitchFamily="2" charset="2"/>
              <a:buChar char="q"/>
            </a:pPr>
            <a:endParaRPr lang="fr-FR" sz="3200" dirty="0">
              <a:latin typeface="Georgia" panose="02040502050405020303" pitchFamily="18" charset="0"/>
            </a:endParaRPr>
          </a:p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fr-FR" sz="3200" dirty="0">
                <a:latin typeface="Georgia" panose="02040502050405020303" pitchFamily="18" charset="0"/>
              </a:rPr>
              <a:t>Périphérique de sortie.</a:t>
            </a:r>
          </a:p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fr-FR" sz="3200" dirty="0">
                <a:latin typeface="Georgia" panose="02040502050405020303" pitchFamily="18" charset="0"/>
              </a:rPr>
              <a:t>Périphérique d’entrée/sortie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621383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7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A1C68F9-EB2B-4CA1-B5E0-DEBA3928E721}"/>
              </a:ext>
            </a:extLst>
          </p:cNvPr>
          <p:cNvSpPr/>
          <p:nvPr/>
        </p:nvSpPr>
        <p:spPr>
          <a:xfrm>
            <a:off x="-232744" y="0"/>
            <a:ext cx="12964006" cy="6858000"/>
          </a:xfrm>
          <a:prstGeom prst="roundRect">
            <a:avLst>
              <a:gd name="adj" fmla="val 1056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600" b="1" dirty="0">
                <a:solidFill>
                  <a:srgbClr val="CCFF66"/>
                </a:solidFill>
              </a:rPr>
              <a:t>Unité centrale </a:t>
            </a:r>
          </a:p>
        </p:txBody>
      </p:sp>
    </p:spTree>
    <p:extLst>
      <p:ext uri="{BB962C8B-B14F-4D97-AF65-F5344CB8AC3E}">
        <p14:creationId xmlns:p14="http://schemas.microsoft.com/office/powerpoint/2010/main" val="1274606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6C53783-E6B5-44D5-8B7B-9D6649365FAD}"/>
              </a:ext>
            </a:extLst>
          </p:cNvPr>
          <p:cNvSpPr txBox="1"/>
          <p:nvPr/>
        </p:nvSpPr>
        <p:spPr>
          <a:xfrm>
            <a:off x="2795919" y="4511040"/>
            <a:ext cx="6970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6000" b="1" dirty="0">
                <a:solidFill>
                  <a:srgbClr val="0070C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Unité centrale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AC6963-E636-4015-BF18-D14EAB6E6892}"/>
              </a:ext>
            </a:extLst>
          </p:cNvPr>
          <p:cNvSpPr txBox="1"/>
          <p:nvPr/>
        </p:nvSpPr>
        <p:spPr>
          <a:xfrm>
            <a:off x="1627587" y="5665896"/>
            <a:ext cx="9307620" cy="1109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3200" dirty="0">
                <a:latin typeface="Georgia" panose="02040502050405020303" pitchFamily="18" charset="0"/>
              </a:rPr>
              <a:t>traiter, stocker et gérer toutes les informations et commandes.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83990D4-B13F-45F6-BECB-F602C27BDAD2}"/>
              </a:ext>
            </a:extLst>
          </p:cNvPr>
          <p:cNvSpPr/>
          <p:nvPr/>
        </p:nvSpPr>
        <p:spPr>
          <a:xfrm>
            <a:off x="-232744" y="0"/>
            <a:ext cx="3434080" cy="1946985"/>
          </a:xfrm>
          <a:prstGeom prst="roundRect">
            <a:avLst>
              <a:gd name="adj" fmla="val 1056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000" b="1" dirty="0">
                <a:solidFill>
                  <a:srgbClr val="CCFF66"/>
                </a:solidFill>
              </a:rPr>
              <a:t>Unité centrale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5E86D4-AB31-4990-81CA-2956D03A40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8057" y="-200229"/>
            <a:ext cx="5364480" cy="536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3305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3F1CFDE-0EA2-4015-8390-1B492B39D2FD}"/>
              </a:ext>
            </a:extLst>
          </p:cNvPr>
          <p:cNvSpPr/>
          <p:nvPr/>
        </p:nvSpPr>
        <p:spPr>
          <a:xfrm>
            <a:off x="-198121" y="0"/>
            <a:ext cx="12859043" cy="6858000"/>
          </a:xfrm>
          <a:prstGeom prst="roundRect">
            <a:avLst>
              <a:gd name="adj" fmla="val 1056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800" b="1" dirty="0">
                <a:solidFill>
                  <a:srgbClr val="CCFF66"/>
                </a:solidFill>
              </a:rPr>
              <a:t>Périphériques</a:t>
            </a:r>
            <a:r>
              <a:rPr lang="fr-FR" sz="8000" b="1" dirty="0">
                <a:solidFill>
                  <a:srgbClr val="CCFF66"/>
                </a:solidFill>
              </a:rPr>
              <a:t> d’entrée</a:t>
            </a:r>
          </a:p>
        </p:txBody>
      </p:sp>
    </p:spTree>
    <p:extLst>
      <p:ext uri="{BB962C8B-B14F-4D97-AF65-F5344CB8AC3E}">
        <p14:creationId xmlns:p14="http://schemas.microsoft.com/office/powerpoint/2010/main" val="4232674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1D04FF-87B6-4BB5-BEB5-CA17C613261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7637" y="464033"/>
            <a:ext cx="6101135" cy="432196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C53783-E6B5-44D5-8B7B-9D6649365FAD}"/>
              </a:ext>
            </a:extLst>
          </p:cNvPr>
          <p:cNvSpPr txBox="1"/>
          <p:nvPr/>
        </p:nvSpPr>
        <p:spPr>
          <a:xfrm>
            <a:off x="4334607" y="4785997"/>
            <a:ext cx="352278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6000" b="1" dirty="0">
                <a:solidFill>
                  <a:srgbClr val="0070C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Clavier</a:t>
            </a:r>
            <a:endParaRPr lang="fr-FR" sz="6000" dirty="0">
              <a:solidFill>
                <a:srgbClr val="0070C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AC6963-E636-4015-BF18-D14EAB6E6892}"/>
              </a:ext>
            </a:extLst>
          </p:cNvPr>
          <p:cNvSpPr txBox="1"/>
          <p:nvPr/>
        </p:nvSpPr>
        <p:spPr>
          <a:xfrm>
            <a:off x="2995973" y="6126964"/>
            <a:ext cx="6365240" cy="582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3200" dirty="0">
                <a:latin typeface="Georgia" panose="02040502050405020303" pitchFamily="18" charset="0"/>
              </a:rPr>
              <a:t>Pour écrire des textes, des</a:t>
            </a:r>
            <a:r>
              <a:rPr lang="fr-FR" sz="1800" kern="1200" dirty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rPr>
              <a:t> </a:t>
            </a:r>
            <a:r>
              <a:rPr lang="fr-FR" sz="3200" dirty="0">
                <a:latin typeface="Georgia" panose="02040502050405020303" pitchFamily="18" charset="0"/>
              </a:rPr>
              <a:t>chiffres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1F0D0F2-F358-4263-A789-D9C880E2ED1D}"/>
              </a:ext>
            </a:extLst>
          </p:cNvPr>
          <p:cNvSpPr/>
          <p:nvPr/>
        </p:nvSpPr>
        <p:spPr>
          <a:xfrm>
            <a:off x="-198120" y="0"/>
            <a:ext cx="3434080" cy="1946985"/>
          </a:xfrm>
          <a:prstGeom prst="roundRect">
            <a:avLst>
              <a:gd name="adj" fmla="val 1056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000" b="1" dirty="0">
                <a:solidFill>
                  <a:srgbClr val="CCFF66"/>
                </a:solidFill>
              </a:rPr>
              <a:t>Périphériques d’entrée</a:t>
            </a:r>
          </a:p>
        </p:txBody>
      </p:sp>
    </p:spTree>
    <p:extLst>
      <p:ext uri="{BB962C8B-B14F-4D97-AF65-F5344CB8AC3E}">
        <p14:creationId xmlns:p14="http://schemas.microsoft.com/office/powerpoint/2010/main" val="20658225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6C53783-E6B5-44D5-8B7B-9D6649365FAD}"/>
              </a:ext>
            </a:extLst>
          </p:cNvPr>
          <p:cNvSpPr txBox="1"/>
          <p:nvPr/>
        </p:nvSpPr>
        <p:spPr>
          <a:xfrm>
            <a:off x="4334607" y="4785997"/>
            <a:ext cx="352278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6000" b="1" dirty="0">
                <a:solidFill>
                  <a:srgbClr val="0070C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Souris</a:t>
            </a:r>
            <a:endParaRPr lang="fr-FR" sz="6000" dirty="0">
              <a:solidFill>
                <a:srgbClr val="0070C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AC6963-E636-4015-BF18-D14EAB6E6892}"/>
              </a:ext>
            </a:extLst>
          </p:cNvPr>
          <p:cNvSpPr txBox="1"/>
          <p:nvPr/>
        </p:nvSpPr>
        <p:spPr>
          <a:xfrm>
            <a:off x="3019419" y="6126964"/>
            <a:ext cx="6365240" cy="582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3200" dirty="0">
                <a:latin typeface="Georgia" panose="02040502050405020303" pitchFamily="18" charset="0"/>
              </a:rPr>
              <a:t>Pour déplacer la flèche et cliquer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7FB89D-D6B4-46F8-B2EB-6D5E8BB5DB2E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055156">
            <a:off x="3821299" y="172365"/>
            <a:ext cx="4252474" cy="501039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30164BE-1024-4F68-BD37-8B71293F086F}"/>
              </a:ext>
            </a:extLst>
          </p:cNvPr>
          <p:cNvSpPr/>
          <p:nvPr/>
        </p:nvSpPr>
        <p:spPr>
          <a:xfrm>
            <a:off x="-198120" y="0"/>
            <a:ext cx="3434080" cy="1946985"/>
          </a:xfrm>
          <a:prstGeom prst="roundRect">
            <a:avLst>
              <a:gd name="adj" fmla="val 1056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000" b="1" dirty="0">
                <a:solidFill>
                  <a:srgbClr val="CCFF66"/>
                </a:solidFill>
              </a:rPr>
              <a:t>Périphériques d’entrée</a:t>
            </a:r>
          </a:p>
        </p:txBody>
      </p:sp>
    </p:spTree>
    <p:extLst>
      <p:ext uri="{BB962C8B-B14F-4D97-AF65-F5344CB8AC3E}">
        <p14:creationId xmlns:p14="http://schemas.microsoft.com/office/powerpoint/2010/main" val="17613930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6C53783-E6B5-44D5-8B7B-9D6649365FAD}"/>
              </a:ext>
            </a:extLst>
          </p:cNvPr>
          <p:cNvSpPr txBox="1"/>
          <p:nvPr/>
        </p:nvSpPr>
        <p:spPr>
          <a:xfrm>
            <a:off x="4334607" y="4785997"/>
            <a:ext cx="352278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6000" b="1" dirty="0">
                <a:solidFill>
                  <a:srgbClr val="0070C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Scanner</a:t>
            </a:r>
            <a:endParaRPr lang="fr-FR" sz="6000" dirty="0">
              <a:solidFill>
                <a:srgbClr val="0070C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AC6963-E636-4015-BF18-D14EAB6E6892}"/>
              </a:ext>
            </a:extLst>
          </p:cNvPr>
          <p:cNvSpPr txBox="1"/>
          <p:nvPr/>
        </p:nvSpPr>
        <p:spPr>
          <a:xfrm>
            <a:off x="1685554" y="5748465"/>
            <a:ext cx="8820889" cy="1109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3200" dirty="0">
                <a:latin typeface="Georgia" panose="02040502050405020303" pitchFamily="18" charset="0"/>
              </a:rPr>
              <a:t>Pour transformer une photo ou un document papier en image dans l’ordinateur.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0E1233-218D-42AE-A84E-174EA62834F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9927" y="0"/>
            <a:ext cx="6624223" cy="4460693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6B5DBA9-0B4C-4F59-ABA7-D10626C00822}"/>
              </a:ext>
            </a:extLst>
          </p:cNvPr>
          <p:cNvSpPr/>
          <p:nvPr/>
        </p:nvSpPr>
        <p:spPr>
          <a:xfrm>
            <a:off x="-198120" y="0"/>
            <a:ext cx="3434080" cy="1946985"/>
          </a:xfrm>
          <a:prstGeom prst="roundRect">
            <a:avLst>
              <a:gd name="adj" fmla="val 1056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000" b="1" dirty="0">
                <a:solidFill>
                  <a:srgbClr val="CCFF66"/>
                </a:solidFill>
              </a:rPr>
              <a:t>Périphériques d’entrée</a:t>
            </a:r>
          </a:p>
        </p:txBody>
      </p:sp>
    </p:spTree>
    <p:extLst>
      <p:ext uri="{BB962C8B-B14F-4D97-AF65-F5344CB8AC3E}">
        <p14:creationId xmlns:p14="http://schemas.microsoft.com/office/powerpoint/2010/main" val="4241000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6C53783-E6B5-44D5-8B7B-9D6649365FAD}"/>
              </a:ext>
            </a:extLst>
          </p:cNvPr>
          <p:cNvSpPr txBox="1"/>
          <p:nvPr/>
        </p:nvSpPr>
        <p:spPr>
          <a:xfrm>
            <a:off x="3019419" y="4785997"/>
            <a:ext cx="537210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6000" b="1" dirty="0">
                <a:solidFill>
                  <a:srgbClr val="0070C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Microphone</a:t>
            </a:r>
            <a:endParaRPr lang="fr-FR" sz="6000" dirty="0">
              <a:solidFill>
                <a:srgbClr val="0070C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AC6963-E636-4015-BF18-D14EAB6E6892}"/>
              </a:ext>
            </a:extLst>
          </p:cNvPr>
          <p:cNvSpPr txBox="1"/>
          <p:nvPr/>
        </p:nvSpPr>
        <p:spPr>
          <a:xfrm>
            <a:off x="3019419" y="6126964"/>
            <a:ext cx="6365240" cy="582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3200" dirty="0">
                <a:latin typeface="Georgia" panose="02040502050405020303" pitchFamily="18" charset="0"/>
              </a:rPr>
              <a:t>Pour parler et enregistrer la voix.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497103-08EC-4872-B11D-73DC948240D0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5420" y="731036"/>
            <a:ext cx="4081157" cy="3729657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7B3E15D-667A-422C-AAA3-05FD310028C7}"/>
              </a:ext>
            </a:extLst>
          </p:cNvPr>
          <p:cNvSpPr/>
          <p:nvPr/>
        </p:nvSpPr>
        <p:spPr>
          <a:xfrm>
            <a:off x="-198120" y="0"/>
            <a:ext cx="3434080" cy="1946985"/>
          </a:xfrm>
          <a:prstGeom prst="roundRect">
            <a:avLst>
              <a:gd name="adj" fmla="val 1056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000" b="1" dirty="0">
                <a:solidFill>
                  <a:srgbClr val="CCFF66"/>
                </a:solidFill>
              </a:rPr>
              <a:t>Périphériques d’entrée</a:t>
            </a:r>
          </a:p>
        </p:txBody>
      </p:sp>
    </p:spTree>
    <p:extLst>
      <p:ext uri="{BB962C8B-B14F-4D97-AF65-F5344CB8AC3E}">
        <p14:creationId xmlns:p14="http://schemas.microsoft.com/office/powerpoint/2010/main" val="33391448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6C53783-E6B5-44D5-8B7B-9D6649365FAD}"/>
              </a:ext>
            </a:extLst>
          </p:cNvPr>
          <p:cNvSpPr txBox="1"/>
          <p:nvPr/>
        </p:nvSpPr>
        <p:spPr>
          <a:xfrm>
            <a:off x="4334607" y="4785997"/>
            <a:ext cx="352278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6000" b="1" dirty="0">
                <a:solidFill>
                  <a:srgbClr val="0070C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Webcam</a:t>
            </a:r>
            <a:endParaRPr lang="fr-FR" sz="6000" dirty="0">
              <a:solidFill>
                <a:srgbClr val="0070C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AC6963-E636-4015-BF18-D14EAB6E6892}"/>
              </a:ext>
            </a:extLst>
          </p:cNvPr>
          <p:cNvSpPr txBox="1"/>
          <p:nvPr/>
        </p:nvSpPr>
        <p:spPr>
          <a:xfrm>
            <a:off x="1442189" y="6126964"/>
            <a:ext cx="9307620" cy="582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3200" dirty="0">
                <a:latin typeface="Georgia" panose="02040502050405020303" pitchFamily="18" charset="0"/>
              </a:rPr>
              <a:t>Pour prendre des photos ou faire des appels vidéo.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ADF9BE-923F-4BB5-8481-CC3DBBCDF7A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0003" y="491159"/>
            <a:ext cx="5024071" cy="396953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83990D4-B13F-45F6-BECB-F602C27BDAD2}"/>
              </a:ext>
            </a:extLst>
          </p:cNvPr>
          <p:cNvSpPr/>
          <p:nvPr/>
        </p:nvSpPr>
        <p:spPr>
          <a:xfrm>
            <a:off x="-198120" y="0"/>
            <a:ext cx="3434080" cy="1946985"/>
          </a:xfrm>
          <a:prstGeom prst="roundRect">
            <a:avLst>
              <a:gd name="adj" fmla="val 1056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000" b="1" dirty="0">
                <a:solidFill>
                  <a:srgbClr val="CCFF66"/>
                </a:solidFill>
              </a:rPr>
              <a:t>Périphériques d’entrée</a:t>
            </a:r>
          </a:p>
        </p:txBody>
      </p:sp>
    </p:spTree>
    <p:extLst>
      <p:ext uri="{BB962C8B-B14F-4D97-AF65-F5344CB8AC3E}">
        <p14:creationId xmlns:p14="http://schemas.microsoft.com/office/powerpoint/2010/main" val="16898206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AFCC3DE-FC44-4054-A8C2-367A8DF8D321}"/>
              </a:ext>
            </a:extLst>
          </p:cNvPr>
          <p:cNvSpPr/>
          <p:nvPr/>
        </p:nvSpPr>
        <p:spPr>
          <a:xfrm>
            <a:off x="-198120" y="0"/>
            <a:ext cx="12741812" cy="7104185"/>
          </a:xfrm>
          <a:prstGeom prst="roundRect">
            <a:avLst>
              <a:gd name="adj" fmla="val 1056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800" b="1" dirty="0">
                <a:solidFill>
                  <a:srgbClr val="CCFF66"/>
                </a:solidFill>
              </a:rPr>
              <a:t>Périphériques de sortie</a:t>
            </a:r>
          </a:p>
        </p:txBody>
      </p:sp>
    </p:spTree>
    <p:extLst>
      <p:ext uri="{BB962C8B-B14F-4D97-AF65-F5344CB8AC3E}">
        <p14:creationId xmlns:p14="http://schemas.microsoft.com/office/powerpoint/2010/main" val="23396827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6C53783-E6B5-44D5-8B7B-9D6649365FAD}"/>
              </a:ext>
            </a:extLst>
          </p:cNvPr>
          <p:cNvSpPr txBox="1"/>
          <p:nvPr/>
        </p:nvSpPr>
        <p:spPr>
          <a:xfrm>
            <a:off x="4520004" y="4617720"/>
            <a:ext cx="352278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6000" b="1" dirty="0">
                <a:solidFill>
                  <a:srgbClr val="0070C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Écran</a:t>
            </a:r>
            <a:endParaRPr lang="fr-FR" sz="6000" dirty="0">
              <a:solidFill>
                <a:srgbClr val="0070C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AC6963-E636-4015-BF18-D14EAB6E6892}"/>
              </a:ext>
            </a:extLst>
          </p:cNvPr>
          <p:cNvSpPr txBox="1"/>
          <p:nvPr/>
        </p:nvSpPr>
        <p:spPr>
          <a:xfrm>
            <a:off x="1442189" y="6126964"/>
            <a:ext cx="9307620" cy="582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3200" dirty="0">
                <a:latin typeface="Georgia" panose="02040502050405020303" pitchFamily="18" charset="0"/>
              </a:rPr>
              <a:t>Montre les images, vidéos et textes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83990D4-B13F-45F6-BECB-F602C27BDAD2}"/>
              </a:ext>
            </a:extLst>
          </p:cNvPr>
          <p:cNvSpPr/>
          <p:nvPr/>
        </p:nvSpPr>
        <p:spPr>
          <a:xfrm>
            <a:off x="-198120" y="0"/>
            <a:ext cx="3434080" cy="1946985"/>
          </a:xfrm>
          <a:prstGeom prst="roundRect">
            <a:avLst>
              <a:gd name="adj" fmla="val 1056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000" b="1" dirty="0">
                <a:solidFill>
                  <a:srgbClr val="CCFF66"/>
                </a:solidFill>
              </a:rPr>
              <a:t>Périphériques de sortie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BF0E279-1146-4D5D-BF35-44EEAC5DB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6752" y="21363"/>
            <a:ext cx="5349290" cy="459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361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6C53783-E6B5-44D5-8B7B-9D6649365FAD}"/>
              </a:ext>
            </a:extLst>
          </p:cNvPr>
          <p:cNvSpPr txBox="1"/>
          <p:nvPr/>
        </p:nvSpPr>
        <p:spPr>
          <a:xfrm>
            <a:off x="3898301" y="4617720"/>
            <a:ext cx="46087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6000" b="1" dirty="0">
                <a:solidFill>
                  <a:srgbClr val="0070C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Imprimante</a:t>
            </a:r>
            <a:endParaRPr lang="fr-FR" sz="6000" dirty="0">
              <a:solidFill>
                <a:srgbClr val="0070C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AC6963-E636-4015-BF18-D14EAB6E6892}"/>
              </a:ext>
            </a:extLst>
          </p:cNvPr>
          <p:cNvSpPr txBox="1"/>
          <p:nvPr/>
        </p:nvSpPr>
        <p:spPr>
          <a:xfrm>
            <a:off x="1442189" y="6126964"/>
            <a:ext cx="9307620" cy="582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3200" dirty="0">
                <a:latin typeface="Georgia" panose="02040502050405020303" pitchFamily="18" charset="0"/>
              </a:rPr>
              <a:t>Imprime sur papier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83990D4-B13F-45F6-BECB-F602C27BDAD2}"/>
              </a:ext>
            </a:extLst>
          </p:cNvPr>
          <p:cNvSpPr/>
          <p:nvPr/>
        </p:nvSpPr>
        <p:spPr>
          <a:xfrm>
            <a:off x="-198120" y="0"/>
            <a:ext cx="3434080" cy="1946985"/>
          </a:xfrm>
          <a:prstGeom prst="roundRect">
            <a:avLst>
              <a:gd name="adj" fmla="val 1056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000" b="1" dirty="0">
                <a:solidFill>
                  <a:srgbClr val="CCFF66"/>
                </a:solidFill>
              </a:rPr>
              <a:t>Périphériques de sortie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E5A4EB-5516-47B7-9840-5FFB01FB27B1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0004" y="548640"/>
            <a:ext cx="3850835" cy="39014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35511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6C53783-E6B5-44D5-8B7B-9D6649365FAD}"/>
              </a:ext>
            </a:extLst>
          </p:cNvPr>
          <p:cNvSpPr txBox="1"/>
          <p:nvPr/>
        </p:nvSpPr>
        <p:spPr>
          <a:xfrm>
            <a:off x="3806385" y="4602480"/>
            <a:ext cx="55993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6000" b="1" dirty="0">
                <a:solidFill>
                  <a:srgbClr val="0070C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Haut-parleurs</a:t>
            </a:r>
            <a:endParaRPr lang="fr-FR" sz="6000" dirty="0">
              <a:solidFill>
                <a:srgbClr val="0070C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AC6963-E636-4015-BF18-D14EAB6E6892}"/>
              </a:ext>
            </a:extLst>
          </p:cNvPr>
          <p:cNvSpPr txBox="1"/>
          <p:nvPr/>
        </p:nvSpPr>
        <p:spPr>
          <a:xfrm>
            <a:off x="1952253" y="6001152"/>
            <a:ext cx="9307620" cy="582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3200" dirty="0">
                <a:latin typeface="Georgia" panose="02040502050405020303" pitchFamily="18" charset="0"/>
              </a:rPr>
              <a:t>Font sortir le son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83990D4-B13F-45F6-BECB-F602C27BDAD2}"/>
              </a:ext>
            </a:extLst>
          </p:cNvPr>
          <p:cNvSpPr/>
          <p:nvPr/>
        </p:nvSpPr>
        <p:spPr>
          <a:xfrm>
            <a:off x="-198120" y="0"/>
            <a:ext cx="3434080" cy="1946985"/>
          </a:xfrm>
          <a:prstGeom prst="roundRect">
            <a:avLst>
              <a:gd name="adj" fmla="val 1056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000" b="1" dirty="0">
                <a:solidFill>
                  <a:srgbClr val="CCFF66"/>
                </a:solidFill>
              </a:rPr>
              <a:t>Périphériques de sortie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E5F8A2-9AA0-4A10-9266-D51675660CE0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8167" y="856848"/>
            <a:ext cx="4435793" cy="37608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678858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6C53783-E6B5-44D5-8B7B-9D6649365FAD}"/>
              </a:ext>
            </a:extLst>
          </p:cNvPr>
          <p:cNvSpPr txBox="1"/>
          <p:nvPr/>
        </p:nvSpPr>
        <p:spPr>
          <a:xfrm>
            <a:off x="2795919" y="4511040"/>
            <a:ext cx="6970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6000" b="1" dirty="0">
                <a:solidFill>
                  <a:srgbClr val="0070C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Vidéoprojecteur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AC6963-E636-4015-BF18-D14EAB6E6892}"/>
              </a:ext>
            </a:extLst>
          </p:cNvPr>
          <p:cNvSpPr txBox="1"/>
          <p:nvPr/>
        </p:nvSpPr>
        <p:spPr>
          <a:xfrm>
            <a:off x="1627587" y="6005044"/>
            <a:ext cx="9307620" cy="582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3200" dirty="0">
                <a:latin typeface="Georgia" panose="02040502050405020303" pitchFamily="18" charset="0"/>
              </a:rPr>
              <a:t>Projette une image sur un mur ou un tableau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83990D4-B13F-45F6-BECB-F602C27BDAD2}"/>
              </a:ext>
            </a:extLst>
          </p:cNvPr>
          <p:cNvSpPr/>
          <p:nvPr/>
        </p:nvSpPr>
        <p:spPr>
          <a:xfrm>
            <a:off x="-198120" y="0"/>
            <a:ext cx="3434080" cy="1946985"/>
          </a:xfrm>
          <a:prstGeom prst="roundRect">
            <a:avLst>
              <a:gd name="adj" fmla="val 1056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000" b="1" dirty="0">
                <a:solidFill>
                  <a:srgbClr val="CCFF66"/>
                </a:solidFill>
              </a:rPr>
              <a:t>Périphériques de sortie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70C90E9-5801-4A55-A0D8-4A7DDD8E3BB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317" y="270361"/>
            <a:ext cx="4437638" cy="41957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049953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C7D2FFE-C8A7-4796-930E-7FE75067AC30}"/>
              </a:ext>
            </a:extLst>
          </p:cNvPr>
          <p:cNvSpPr/>
          <p:nvPr/>
        </p:nvSpPr>
        <p:spPr>
          <a:xfrm>
            <a:off x="-198120" y="0"/>
            <a:ext cx="12976274" cy="7268308"/>
          </a:xfrm>
          <a:prstGeom prst="roundRect">
            <a:avLst>
              <a:gd name="adj" fmla="val 1056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0" b="1" dirty="0">
                <a:solidFill>
                  <a:srgbClr val="CCFF66"/>
                </a:solidFill>
              </a:rPr>
              <a:t>Périphériques d’entrée/sortie</a:t>
            </a:r>
          </a:p>
        </p:txBody>
      </p:sp>
    </p:spTree>
    <p:extLst>
      <p:ext uri="{BB962C8B-B14F-4D97-AF65-F5344CB8AC3E}">
        <p14:creationId xmlns:p14="http://schemas.microsoft.com/office/powerpoint/2010/main" val="30633563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6C53783-E6B5-44D5-8B7B-9D6649365FAD}"/>
              </a:ext>
            </a:extLst>
          </p:cNvPr>
          <p:cNvSpPr txBox="1"/>
          <p:nvPr/>
        </p:nvSpPr>
        <p:spPr>
          <a:xfrm>
            <a:off x="2795919" y="4511040"/>
            <a:ext cx="6970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6000" b="1" dirty="0">
                <a:solidFill>
                  <a:srgbClr val="0070C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Disque dur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AC6963-E636-4015-BF18-D14EAB6E6892}"/>
              </a:ext>
            </a:extLst>
          </p:cNvPr>
          <p:cNvSpPr txBox="1"/>
          <p:nvPr/>
        </p:nvSpPr>
        <p:spPr>
          <a:xfrm>
            <a:off x="1334470" y="6005044"/>
            <a:ext cx="9893853" cy="582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3200" dirty="0">
                <a:latin typeface="Georgia" panose="02040502050405020303" pitchFamily="18" charset="0"/>
              </a:rPr>
              <a:t>Garde les programmes et les fichiers de l’ordinateur.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83990D4-B13F-45F6-BECB-F602C27BDAD2}"/>
              </a:ext>
            </a:extLst>
          </p:cNvPr>
          <p:cNvSpPr/>
          <p:nvPr/>
        </p:nvSpPr>
        <p:spPr>
          <a:xfrm>
            <a:off x="-198120" y="0"/>
            <a:ext cx="3977640" cy="1946985"/>
          </a:xfrm>
          <a:prstGeom prst="roundRect">
            <a:avLst>
              <a:gd name="adj" fmla="val 1056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000" b="1" dirty="0">
                <a:solidFill>
                  <a:srgbClr val="CCFF66"/>
                </a:solidFill>
              </a:rPr>
              <a:t>Périphériques d’entrée/sortie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FAB7FF-65EC-4EE7-B968-9C0CCCBAD734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4922" y="270361"/>
            <a:ext cx="3469958" cy="362235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91692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6C53783-E6B5-44D5-8B7B-9D6649365FAD}"/>
              </a:ext>
            </a:extLst>
          </p:cNvPr>
          <p:cNvSpPr txBox="1"/>
          <p:nvPr/>
        </p:nvSpPr>
        <p:spPr>
          <a:xfrm>
            <a:off x="2795919" y="4511040"/>
            <a:ext cx="6970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6000" b="1" dirty="0">
                <a:solidFill>
                  <a:srgbClr val="0070C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Clé USB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AC6963-E636-4015-BF18-D14EAB6E6892}"/>
              </a:ext>
            </a:extLst>
          </p:cNvPr>
          <p:cNvSpPr txBox="1"/>
          <p:nvPr/>
        </p:nvSpPr>
        <p:spPr>
          <a:xfrm>
            <a:off x="1334470" y="6005044"/>
            <a:ext cx="9893853" cy="582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3200" dirty="0">
                <a:latin typeface="Georgia" panose="02040502050405020303" pitchFamily="18" charset="0"/>
              </a:rPr>
              <a:t>Petite mémoire pour transporter les fichiers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83990D4-B13F-45F6-BECB-F602C27BDAD2}"/>
              </a:ext>
            </a:extLst>
          </p:cNvPr>
          <p:cNvSpPr/>
          <p:nvPr/>
        </p:nvSpPr>
        <p:spPr>
          <a:xfrm>
            <a:off x="-198120" y="0"/>
            <a:ext cx="3977640" cy="1946985"/>
          </a:xfrm>
          <a:prstGeom prst="roundRect">
            <a:avLst>
              <a:gd name="adj" fmla="val 1056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000" b="1" dirty="0">
                <a:solidFill>
                  <a:srgbClr val="CCFF66"/>
                </a:solidFill>
              </a:rPr>
              <a:t>Périphériques d’entrée/sortie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A7B1CEF-E2B0-4AD9-A225-AE3165D317CF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7810" y="1521909"/>
            <a:ext cx="2327910" cy="2510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0761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6C53783-E6B5-44D5-8B7B-9D6649365FAD}"/>
              </a:ext>
            </a:extLst>
          </p:cNvPr>
          <p:cNvSpPr txBox="1"/>
          <p:nvPr/>
        </p:nvSpPr>
        <p:spPr>
          <a:xfrm>
            <a:off x="2795919" y="4511040"/>
            <a:ext cx="6970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6000" b="1" dirty="0">
                <a:solidFill>
                  <a:srgbClr val="0070C0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CD / DVD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AC6963-E636-4015-BF18-D14EAB6E6892}"/>
              </a:ext>
            </a:extLst>
          </p:cNvPr>
          <p:cNvSpPr txBox="1"/>
          <p:nvPr/>
        </p:nvSpPr>
        <p:spPr>
          <a:xfrm>
            <a:off x="1334470" y="6005044"/>
            <a:ext cx="9893853" cy="582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3200" dirty="0">
                <a:latin typeface="Georgia" panose="02040502050405020303" pitchFamily="18" charset="0"/>
              </a:rPr>
              <a:t>Pour garder de la musique, des films ou des leçons.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83990D4-B13F-45F6-BECB-F602C27BDAD2}"/>
              </a:ext>
            </a:extLst>
          </p:cNvPr>
          <p:cNvSpPr/>
          <p:nvPr/>
        </p:nvSpPr>
        <p:spPr>
          <a:xfrm>
            <a:off x="-198120" y="0"/>
            <a:ext cx="3977640" cy="1946985"/>
          </a:xfrm>
          <a:prstGeom prst="roundRect">
            <a:avLst>
              <a:gd name="adj" fmla="val 1056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000" b="1" dirty="0">
                <a:solidFill>
                  <a:srgbClr val="CCFF66"/>
                </a:solidFill>
              </a:rPr>
              <a:t>Périphériques d’entrée/sortie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BCCB4B-A8F7-4559-B0C9-5979D0E86D5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9142" y="1123447"/>
            <a:ext cx="3863340" cy="29854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671359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27788C-6A8D-4993-83FA-3557F9F0EF45}"/>
              </a:ext>
            </a:extLst>
          </p:cNvPr>
          <p:cNvSpPr txBox="1"/>
          <p:nvPr/>
        </p:nvSpPr>
        <p:spPr>
          <a:xfrm>
            <a:off x="0" y="1496996"/>
            <a:ext cx="11943184" cy="1668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fr-FR" sz="3600" i="1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III.   L’ordinateur et les périphériques</a:t>
            </a:r>
            <a:endParaRPr lang="fr-FR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080000" lvl="1">
              <a:lnSpc>
                <a:spcPct val="150000"/>
              </a:lnSpc>
              <a:spcAft>
                <a:spcPts val="800"/>
              </a:spcAft>
            </a:pPr>
            <a:r>
              <a:rPr lang="fr-FR" sz="3600" i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2.	Le matériel informatique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3759D-916A-40E5-91FB-A8C9B9A8211E}"/>
              </a:ext>
            </a:extLst>
          </p:cNvPr>
          <p:cNvSpPr txBox="1"/>
          <p:nvPr/>
        </p:nvSpPr>
        <p:spPr>
          <a:xfrm>
            <a:off x="1644894" y="3429000"/>
            <a:ext cx="6189784" cy="521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800" dirty="0">
                <a:solidFill>
                  <a:schemeClr val="accent2"/>
                </a:solidFill>
                <a:latin typeface="Georgia" panose="02040502050405020303" pitchFamily="18" charset="0"/>
              </a:rPr>
              <a:t> L’unité centrale (UC)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B41D39-1929-4F5B-AC5D-1079F4431F4A}"/>
              </a:ext>
            </a:extLst>
          </p:cNvPr>
          <p:cNvSpPr txBox="1"/>
          <p:nvPr/>
        </p:nvSpPr>
        <p:spPr>
          <a:xfrm>
            <a:off x="1644894" y="4213831"/>
            <a:ext cx="99947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dirty="0">
                <a:latin typeface="Georgia" panose="02040502050405020303" pitchFamily="18" charset="0"/>
              </a:rPr>
              <a:t>C’est le  </a:t>
            </a:r>
            <a:r>
              <a:rPr lang="fr-FR" sz="3600" b="1" dirty="0">
                <a:solidFill>
                  <a:srgbClr val="7030A0"/>
                </a:solidFill>
                <a:latin typeface="Georgia" panose="02040502050405020303" pitchFamily="18" charset="0"/>
              </a:rPr>
              <a:t>cerveau</a:t>
            </a:r>
            <a:r>
              <a:rPr lang="fr-FR" sz="3600" dirty="0">
                <a:latin typeface="Georgia" panose="02040502050405020303" pitchFamily="18" charset="0"/>
              </a:rPr>
              <a:t> de l’ordinateur. Elle </a:t>
            </a:r>
            <a:r>
              <a:rPr lang="fr-FR" sz="3600" b="1" dirty="0">
                <a:solidFill>
                  <a:srgbClr val="7030A0"/>
                </a:solidFill>
                <a:latin typeface="Georgia" panose="02040502050405020303" pitchFamily="18" charset="0"/>
              </a:rPr>
              <a:t>traite</a:t>
            </a:r>
            <a:r>
              <a:rPr lang="fr-FR" sz="3600" dirty="0">
                <a:latin typeface="Georgia" panose="02040502050405020303" pitchFamily="18" charset="0"/>
              </a:rPr>
              <a:t>, </a:t>
            </a:r>
            <a:r>
              <a:rPr lang="fr-FR" sz="3600" b="1" dirty="0">
                <a:solidFill>
                  <a:srgbClr val="7030A0"/>
                </a:solidFill>
                <a:latin typeface="Georgia" panose="02040502050405020303" pitchFamily="18" charset="0"/>
              </a:rPr>
              <a:t>stocke</a:t>
            </a:r>
            <a:r>
              <a:rPr lang="fr-FR" sz="3600" dirty="0">
                <a:latin typeface="Georgia" panose="02040502050405020303" pitchFamily="18" charset="0"/>
              </a:rPr>
              <a:t> et </a:t>
            </a:r>
            <a:r>
              <a:rPr lang="fr-FR" sz="3600" b="1" dirty="0">
                <a:solidFill>
                  <a:srgbClr val="7030A0"/>
                </a:solidFill>
                <a:latin typeface="Georgia" panose="02040502050405020303" pitchFamily="18" charset="0"/>
              </a:rPr>
              <a:t>gère</a:t>
            </a:r>
            <a:r>
              <a:rPr lang="fr-FR" sz="3600" dirty="0">
                <a:latin typeface="Georgia" panose="02040502050405020303" pitchFamily="18" charset="0"/>
              </a:rPr>
              <a:t> toutes les </a:t>
            </a:r>
            <a:r>
              <a:rPr lang="fr-FR" sz="3600" b="1" dirty="0">
                <a:solidFill>
                  <a:srgbClr val="7030A0"/>
                </a:solidFill>
                <a:latin typeface="Georgia" panose="02040502050405020303" pitchFamily="18" charset="0"/>
              </a:rPr>
              <a:t>informations</a:t>
            </a:r>
            <a:r>
              <a:rPr lang="fr-FR" sz="3600" dirty="0">
                <a:latin typeface="Georgia" panose="02040502050405020303" pitchFamily="18" charset="0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6A8A70-DAE2-4146-AAF7-4FF384C0C1F9}"/>
              </a:ext>
            </a:extLst>
          </p:cNvPr>
          <p:cNvSpPr txBox="1"/>
          <p:nvPr/>
        </p:nvSpPr>
        <p:spPr>
          <a:xfrm>
            <a:off x="3943350" y="368959"/>
            <a:ext cx="61912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/>
              <a:t>Mardi </a:t>
            </a:r>
            <a:r>
              <a:rPr lang="fr-FR" sz="2800" b="1" dirty="0">
                <a:solidFill>
                  <a:srgbClr val="FF0000"/>
                </a:solidFill>
              </a:rPr>
              <a:t>30</a:t>
            </a:r>
            <a:r>
              <a:rPr lang="fr-FR" sz="2800" dirty="0"/>
              <a:t> septembre </a:t>
            </a:r>
            <a:r>
              <a:rPr lang="fr-FR" sz="2800" b="1" dirty="0">
                <a:solidFill>
                  <a:srgbClr val="FF0000"/>
                </a:solidFill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9588888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27788C-6A8D-4993-83FA-3557F9F0EF45}"/>
              </a:ext>
            </a:extLst>
          </p:cNvPr>
          <p:cNvSpPr txBox="1"/>
          <p:nvPr/>
        </p:nvSpPr>
        <p:spPr>
          <a:xfrm>
            <a:off x="0" y="-96253"/>
            <a:ext cx="1194318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fr-FR" sz="3600" i="1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III.   L’ordinateur et les périphériques</a:t>
            </a:r>
            <a:endParaRPr lang="fr-FR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080000" lvl="1">
              <a:spcAft>
                <a:spcPts val="800"/>
              </a:spcAft>
            </a:pPr>
            <a:r>
              <a:rPr lang="fr-FR" sz="3600" i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2.	Le matériel informatique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3759D-916A-40E5-91FB-A8C9B9A8211E}"/>
              </a:ext>
            </a:extLst>
          </p:cNvPr>
          <p:cNvSpPr txBox="1"/>
          <p:nvPr/>
        </p:nvSpPr>
        <p:spPr>
          <a:xfrm>
            <a:off x="1727611" y="1212010"/>
            <a:ext cx="6189784" cy="521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fr-FR" sz="2800" dirty="0">
                <a:solidFill>
                  <a:schemeClr val="accent2"/>
                </a:solidFill>
                <a:latin typeface="Georgia" panose="02040502050405020303" pitchFamily="18" charset="0"/>
              </a:rPr>
              <a:t>B.	Les périphériques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B41D39-1929-4F5B-AC5D-1079F4431F4A}"/>
              </a:ext>
            </a:extLst>
          </p:cNvPr>
          <p:cNvSpPr txBox="1"/>
          <p:nvPr/>
        </p:nvSpPr>
        <p:spPr>
          <a:xfrm>
            <a:off x="0" y="1777832"/>
            <a:ext cx="121920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dirty="0">
                <a:latin typeface="Georgia" panose="02040502050405020303" pitchFamily="18" charset="0"/>
              </a:rPr>
              <a:t>Les périphériques servent à communiquer avec l’ordinateur.	</a:t>
            </a:r>
          </a:p>
          <a:p>
            <a:endParaRPr lang="fr-FR" sz="3200" dirty="0">
              <a:latin typeface="Georgia" panose="02040502050405020303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3200" b="1" dirty="0">
                <a:solidFill>
                  <a:srgbClr val="7030A0"/>
                </a:solidFill>
                <a:latin typeface="Georgia" panose="02040502050405020303" pitchFamily="18" charset="0"/>
              </a:rPr>
              <a:t>Périphériques d’entrée : </a:t>
            </a:r>
            <a:r>
              <a:rPr lang="fr-FR" sz="3200" dirty="0">
                <a:latin typeface="Georgia" panose="02040502050405020303" pitchFamily="18" charset="0"/>
              </a:rPr>
              <a:t>servent à mettre des informations dans l’ordinateur.</a:t>
            </a:r>
          </a:p>
          <a:p>
            <a:endParaRPr lang="fr-FR" sz="3200" dirty="0">
              <a:latin typeface="Georgia" panose="02040502050405020303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3200" b="1" dirty="0">
                <a:solidFill>
                  <a:srgbClr val="7030A0"/>
                </a:solidFill>
                <a:latin typeface="Georgia" panose="02040502050405020303" pitchFamily="18" charset="0"/>
              </a:rPr>
              <a:t>Périphériques de sortie : </a:t>
            </a:r>
            <a:r>
              <a:rPr lang="fr-FR" sz="3200" dirty="0">
                <a:latin typeface="Georgia" panose="02040502050405020303" pitchFamily="18" charset="0"/>
              </a:rPr>
              <a:t>servent à sortir les informations de l’ordinateur.</a:t>
            </a:r>
          </a:p>
          <a:p>
            <a:endParaRPr lang="fr-FR" sz="3200" dirty="0">
              <a:latin typeface="Georgia" panose="02040502050405020303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3200" b="1" dirty="0">
                <a:solidFill>
                  <a:srgbClr val="7030A0"/>
                </a:solidFill>
                <a:latin typeface="Georgia" panose="02040502050405020303" pitchFamily="18" charset="0"/>
              </a:rPr>
              <a:t>Périphériques d’entrée/sortie : </a:t>
            </a:r>
            <a:r>
              <a:rPr lang="fr-FR" sz="3200" dirty="0">
                <a:latin typeface="Georgia" panose="02040502050405020303" pitchFamily="18" charset="0"/>
              </a:rPr>
              <a:t>servent à mettre et sortir des informations.</a:t>
            </a:r>
          </a:p>
        </p:txBody>
      </p:sp>
    </p:spTree>
    <p:extLst>
      <p:ext uri="{BB962C8B-B14F-4D97-AF65-F5344CB8AC3E}">
        <p14:creationId xmlns:p14="http://schemas.microsoft.com/office/powerpoint/2010/main" val="26168063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ACA22860-1A27-4B64-A7EB-FE6E81A8AF97}"/>
              </a:ext>
            </a:extLst>
          </p:cNvPr>
          <p:cNvGraphicFramePr>
            <a:graphicFrameLocks noGrp="1"/>
          </p:cNvGraphicFramePr>
          <p:nvPr/>
        </p:nvGraphicFramePr>
        <p:xfrm>
          <a:off x="804069" y="1841241"/>
          <a:ext cx="10583862" cy="45916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8322">
                  <a:extLst>
                    <a:ext uri="{9D8B030D-6E8A-4147-A177-3AD203B41FA5}">
                      <a16:colId xmlns:a16="http://schemas.microsoft.com/office/drawing/2014/main" val="3747614854"/>
                    </a:ext>
                  </a:extLst>
                </a:gridCol>
                <a:gridCol w="3338322">
                  <a:extLst>
                    <a:ext uri="{9D8B030D-6E8A-4147-A177-3AD203B41FA5}">
                      <a16:colId xmlns:a16="http://schemas.microsoft.com/office/drawing/2014/main" val="2831992403"/>
                    </a:ext>
                  </a:extLst>
                </a:gridCol>
                <a:gridCol w="3907218">
                  <a:extLst>
                    <a:ext uri="{9D8B030D-6E8A-4147-A177-3AD203B41FA5}">
                      <a16:colId xmlns:a16="http://schemas.microsoft.com/office/drawing/2014/main" val="3144643478"/>
                    </a:ext>
                  </a:extLst>
                </a:gridCol>
              </a:tblGrid>
              <a:tr h="1552352">
                <a:tc>
                  <a:txBody>
                    <a:bodyPr/>
                    <a:lstStyle/>
                    <a:p>
                      <a:pPr algn="ctr"/>
                      <a:r>
                        <a:rPr lang="fr-FR" sz="2800" b="1" kern="1200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Périphériques d’entrée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2800" b="1" kern="1200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Périphériques de sortie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2800" b="1" kern="1200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Périphériques d’entrée/sortie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4880147"/>
                  </a:ext>
                </a:extLst>
              </a:tr>
              <a:tr h="3039290">
                <a:tc>
                  <a:txBody>
                    <a:bodyPr/>
                    <a:lstStyle/>
                    <a:p>
                      <a:pPr marL="457200" indent="-45720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2800" kern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Clavier</a:t>
                      </a:r>
                    </a:p>
                    <a:p>
                      <a:pPr marL="457200" indent="-45720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2800" kern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Souris</a:t>
                      </a:r>
                    </a:p>
                    <a:p>
                      <a:pPr marL="457200" indent="-45720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2800" kern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Microphone</a:t>
                      </a:r>
                    </a:p>
                    <a:p>
                      <a:pPr marL="457200" indent="-45720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2800" kern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Scanner</a:t>
                      </a:r>
                    </a:p>
                    <a:p>
                      <a:pPr marL="457200" indent="-45720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2800" kern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Webcam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457200" indent="-45720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2800" kern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Écran</a:t>
                      </a:r>
                    </a:p>
                    <a:p>
                      <a:pPr marL="457200" indent="-45720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2800" kern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Imprimante</a:t>
                      </a:r>
                    </a:p>
                    <a:p>
                      <a:pPr marL="457200" indent="-45720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2800" kern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Haut-parleur</a:t>
                      </a:r>
                    </a:p>
                    <a:p>
                      <a:pPr marL="457200" indent="-45720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2800" kern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Casque audio</a:t>
                      </a:r>
                    </a:p>
                    <a:p>
                      <a:pPr marL="457200" indent="-45720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2800" kern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Vidéoprojecteur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457200" indent="-457200" algn="l">
                        <a:buFont typeface="Arial" panose="020B0604020202020204" pitchFamily="34" charset="0"/>
                        <a:buChar char="•"/>
                      </a:pPr>
                      <a:r>
                        <a:rPr lang="fr-FR" sz="2800" kern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Clé USB</a:t>
                      </a:r>
                    </a:p>
                    <a:p>
                      <a:pPr marL="457200" indent="-457200" algn="l">
                        <a:buFont typeface="Arial" panose="020B0604020202020204" pitchFamily="34" charset="0"/>
                        <a:buChar char="•"/>
                      </a:pPr>
                      <a:r>
                        <a:rPr lang="fr-FR" sz="2800" kern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Disque dur</a:t>
                      </a:r>
                    </a:p>
                    <a:p>
                      <a:pPr marL="457200" indent="-457200" algn="l">
                        <a:buFont typeface="Arial" panose="020B0604020202020204" pitchFamily="34" charset="0"/>
                        <a:buChar char="•"/>
                      </a:pPr>
                      <a:r>
                        <a:rPr lang="fr-FR" sz="2800" kern="12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CD/DVD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016086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19A048B-182C-447F-A673-9F2EFFBC5443}"/>
              </a:ext>
            </a:extLst>
          </p:cNvPr>
          <p:cNvSpPr txBox="1"/>
          <p:nvPr/>
        </p:nvSpPr>
        <p:spPr>
          <a:xfrm>
            <a:off x="0" y="18047"/>
            <a:ext cx="1219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fr-FR" sz="3600" i="1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III.   L’ordinateur et les périphériques</a:t>
            </a:r>
            <a:endParaRPr lang="fr-FR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080000" lvl="1">
              <a:spcAft>
                <a:spcPts val="800"/>
              </a:spcAft>
            </a:pPr>
            <a:r>
              <a:rPr lang="fr-FR" sz="3600" i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2.	Le matériel informatique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F417FF-225F-4117-B748-4018AE5BA99C}"/>
              </a:ext>
            </a:extLst>
          </p:cNvPr>
          <p:cNvSpPr txBox="1"/>
          <p:nvPr/>
        </p:nvSpPr>
        <p:spPr>
          <a:xfrm>
            <a:off x="1756186" y="1183435"/>
            <a:ext cx="6189784" cy="521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fr-FR" sz="2800" dirty="0">
                <a:solidFill>
                  <a:schemeClr val="accent2"/>
                </a:solidFill>
                <a:latin typeface="Georgia" panose="02040502050405020303" pitchFamily="18" charset="0"/>
              </a:rPr>
              <a:t>B.	Les périphériques</a:t>
            </a:r>
          </a:p>
        </p:txBody>
      </p:sp>
    </p:spTree>
    <p:extLst>
      <p:ext uri="{BB962C8B-B14F-4D97-AF65-F5344CB8AC3E}">
        <p14:creationId xmlns:p14="http://schemas.microsoft.com/office/powerpoint/2010/main" val="17200067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19A048B-182C-447F-A673-9F2EFFBC5443}"/>
              </a:ext>
            </a:extLst>
          </p:cNvPr>
          <p:cNvSpPr txBox="1"/>
          <p:nvPr/>
        </p:nvSpPr>
        <p:spPr>
          <a:xfrm>
            <a:off x="0" y="18047"/>
            <a:ext cx="1219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fr-FR" sz="3600" i="1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III.   L’ordinateur et les périphériques</a:t>
            </a:r>
            <a:endParaRPr lang="fr-FR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080000" lvl="1">
              <a:spcAft>
                <a:spcPts val="800"/>
              </a:spcAft>
            </a:pPr>
            <a:r>
              <a:rPr lang="fr-FR" sz="3600" i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2.	Le matériel informatique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F417FF-225F-4117-B748-4018AE5BA99C}"/>
              </a:ext>
            </a:extLst>
          </p:cNvPr>
          <p:cNvSpPr txBox="1"/>
          <p:nvPr/>
        </p:nvSpPr>
        <p:spPr>
          <a:xfrm>
            <a:off x="1756186" y="1265177"/>
            <a:ext cx="7502114" cy="521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fr-FR" sz="2800" dirty="0">
                <a:solidFill>
                  <a:schemeClr val="accent2"/>
                </a:solidFill>
                <a:latin typeface="Georgia" panose="02040502050405020303" pitchFamily="18" charset="0"/>
              </a:rPr>
              <a:t>C.	Schéma simple de fonctionnement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A966FA-3971-40EA-939A-9E3AA7954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466" y="2170776"/>
            <a:ext cx="11173284" cy="4631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3172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6">
            <a:extLst>
              <a:ext uri="{FF2B5EF4-FFF2-40B4-BE49-F238E27FC236}">
                <a16:creationId xmlns:a16="http://schemas.microsoft.com/office/drawing/2014/main" id="{13D37CE2-F655-46C2-A31E-82547E2C933B}"/>
              </a:ext>
            </a:extLst>
          </p:cNvPr>
          <p:cNvSpPr/>
          <p:nvPr/>
        </p:nvSpPr>
        <p:spPr>
          <a:xfrm>
            <a:off x="9385667" y="223897"/>
            <a:ext cx="1324981" cy="1761271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5400" dirty="0">
              <a:solidFill>
                <a:schemeClr val="tx1"/>
              </a:solidFill>
            </a:endParaRPr>
          </a:p>
        </p:txBody>
      </p:sp>
      <p:sp>
        <p:nvSpPr>
          <p:cNvPr id="10" name="R5">
            <a:extLst>
              <a:ext uri="{FF2B5EF4-FFF2-40B4-BE49-F238E27FC236}">
                <a16:creationId xmlns:a16="http://schemas.microsoft.com/office/drawing/2014/main" id="{3084603D-EC78-4E38-909C-69B8FD7AE728}"/>
              </a:ext>
            </a:extLst>
          </p:cNvPr>
          <p:cNvSpPr/>
          <p:nvPr/>
        </p:nvSpPr>
        <p:spPr>
          <a:xfrm>
            <a:off x="6685263" y="223897"/>
            <a:ext cx="1324983" cy="1761271"/>
          </a:xfrm>
          <a:prstGeom prst="round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dirty="0">
              <a:solidFill>
                <a:schemeClr val="tx1"/>
              </a:solidFill>
            </a:endParaRPr>
          </a:p>
        </p:txBody>
      </p:sp>
      <p:sp>
        <p:nvSpPr>
          <p:cNvPr id="11" name="R3">
            <a:extLst>
              <a:ext uri="{FF2B5EF4-FFF2-40B4-BE49-F238E27FC236}">
                <a16:creationId xmlns:a16="http://schemas.microsoft.com/office/drawing/2014/main" id="{3B9491DE-0056-47CD-B22A-F1BAFE3ADFA1}"/>
              </a:ext>
            </a:extLst>
          </p:cNvPr>
          <p:cNvSpPr/>
          <p:nvPr/>
        </p:nvSpPr>
        <p:spPr>
          <a:xfrm>
            <a:off x="3984861" y="225930"/>
            <a:ext cx="1324983" cy="1759239"/>
          </a:xfrm>
          <a:prstGeom prst="round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5400" dirty="0">
              <a:solidFill>
                <a:schemeClr val="tx1"/>
              </a:solidFill>
            </a:endParaRPr>
          </a:p>
        </p:txBody>
      </p:sp>
      <p:sp>
        <p:nvSpPr>
          <p:cNvPr id="13" name="R1">
            <a:extLst>
              <a:ext uri="{FF2B5EF4-FFF2-40B4-BE49-F238E27FC236}">
                <a16:creationId xmlns:a16="http://schemas.microsoft.com/office/drawing/2014/main" id="{91315185-B419-4F26-A7DA-2A7053F865C4}"/>
              </a:ext>
            </a:extLst>
          </p:cNvPr>
          <p:cNvSpPr/>
          <p:nvPr/>
        </p:nvSpPr>
        <p:spPr>
          <a:xfrm>
            <a:off x="1284460" y="223897"/>
            <a:ext cx="1314281" cy="1761271"/>
          </a:xfrm>
          <a:prstGeom prst="round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5400" dirty="0">
              <a:solidFill>
                <a:schemeClr val="tx1"/>
              </a:solidFill>
            </a:endParaRPr>
          </a:p>
        </p:txBody>
      </p:sp>
      <p:sp>
        <p:nvSpPr>
          <p:cNvPr id="21" name="R8">
            <a:extLst>
              <a:ext uri="{FF2B5EF4-FFF2-40B4-BE49-F238E27FC236}">
                <a16:creationId xmlns:a16="http://schemas.microsoft.com/office/drawing/2014/main" id="{F3A09C81-9C7D-4E85-B32E-4174CF56B819}"/>
              </a:ext>
            </a:extLst>
          </p:cNvPr>
          <p:cNvSpPr/>
          <p:nvPr/>
        </p:nvSpPr>
        <p:spPr>
          <a:xfrm>
            <a:off x="1291770" y="2343502"/>
            <a:ext cx="1317671" cy="1388729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600" dirty="0">
                <a:solidFill>
                  <a:schemeClr val="tx1"/>
                </a:solidFill>
              </a:rPr>
              <a:t>Écran</a:t>
            </a:r>
            <a:endParaRPr lang="fr-FR" sz="900" dirty="0">
              <a:solidFill>
                <a:schemeClr val="tx1"/>
              </a:solidFill>
            </a:endParaRPr>
          </a:p>
        </p:txBody>
      </p:sp>
      <p:sp>
        <p:nvSpPr>
          <p:cNvPr id="22" name="R12">
            <a:extLst>
              <a:ext uri="{FF2B5EF4-FFF2-40B4-BE49-F238E27FC236}">
                <a16:creationId xmlns:a16="http://schemas.microsoft.com/office/drawing/2014/main" id="{2CBBD585-BDD3-4B80-8701-777749C7D1F5}"/>
              </a:ext>
            </a:extLst>
          </p:cNvPr>
          <p:cNvSpPr/>
          <p:nvPr/>
        </p:nvSpPr>
        <p:spPr>
          <a:xfrm>
            <a:off x="9385663" y="2343500"/>
            <a:ext cx="1324981" cy="1388728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600" dirty="0">
                <a:solidFill>
                  <a:schemeClr val="tx1"/>
                </a:solidFill>
              </a:rPr>
              <a:t>Clavier</a:t>
            </a:r>
          </a:p>
        </p:txBody>
      </p:sp>
      <p:sp>
        <p:nvSpPr>
          <p:cNvPr id="23" name="R11">
            <a:extLst>
              <a:ext uri="{FF2B5EF4-FFF2-40B4-BE49-F238E27FC236}">
                <a16:creationId xmlns:a16="http://schemas.microsoft.com/office/drawing/2014/main" id="{C756C9BF-5716-4CDD-BD04-479AEF77A007}"/>
              </a:ext>
            </a:extLst>
          </p:cNvPr>
          <p:cNvSpPr/>
          <p:nvPr/>
        </p:nvSpPr>
        <p:spPr>
          <a:xfrm>
            <a:off x="6703321" y="2343500"/>
            <a:ext cx="1324980" cy="1388728"/>
          </a:xfrm>
          <a:prstGeom prst="roundRect">
            <a:avLst/>
          </a:prstGeom>
          <a:solidFill>
            <a:srgbClr val="FF5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600" dirty="0">
                <a:solidFill>
                  <a:schemeClr val="tx1"/>
                </a:solidFill>
              </a:rPr>
              <a:t>Disque dur</a:t>
            </a:r>
          </a:p>
        </p:txBody>
      </p:sp>
      <p:sp>
        <p:nvSpPr>
          <p:cNvPr id="24" name="R9">
            <a:extLst>
              <a:ext uri="{FF2B5EF4-FFF2-40B4-BE49-F238E27FC236}">
                <a16:creationId xmlns:a16="http://schemas.microsoft.com/office/drawing/2014/main" id="{7B9BEC57-6682-48B0-8CA8-EB2E9994BD8D}"/>
              </a:ext>
            </a:extLst>
          </p:cNvPr>
          <p:cNvSpPr/>
          <p:nvPr/>
        </p:nvSpPr>
        <p:spPr>
          <a:xfrm>
            <a:off x="3984860" y="2343502"/>
            <a:ext cx="1324981" cy="138872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600" dirty="0">
                <a:solidFill>
                  <a:schemeClr val="tx1"/>
                </a:solidFill>
              </a:rPr>
              <a:t>Souris</a:t>
            </a:r>
          </a:p>
        </p:txBody>
      </p:sp>
      <p:sp>
        <p:nvSpPr>
          <p:cNvPr id="48" name="RECOMM">
            <a:extLst>
              <a:ext uri="{FF2B5EF4-FFF2-40B4-BE49-F238E27FC236}">
                <a16:creationId xmlns:a16="http://schemas.microsoft.com/office/drawing/2014/main" id="{F1CE35B9-2379-465F-B864-74D5696F276D}"/>
              </a:ext>
            </a:extLst>
          </p:cNvPr>
          <p:cNvSpPr/>
          <p:nvPr/>
        </p:nvSpPr>
        <p:spPr>
          <a:xfrm>
            <a:off x="9965770" y="6303527"/>
            <a:ext cx="1602583" cy="3693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Recommencer</a:t>
            </a:r>
          </a:p>
        </p:txBody>
      </p:sp>
      <p:sp>
        <p:nvSpPr>
          <p:cNvPr id="49" name="MASQUE">
            <a:extLst>
              <a:ext uri="{FF2B5EF4-FFF2-40B4-BE49-F238E27FC236}">
                <a16:creationId xmlns:a16="http://schemas.microsoft.com/office/drawing/2014/main" id="{E479F691-D8BD-4B83-A25F-1AA1498ED376}"/>
              </a:ext>
            </a:extLst>
          </p:cNvPr>
          <p:cNvSpPr/>
          <p:nvPr/>
        </p:nvSpPr>
        <p:spPr>
          <a:xfrm>
            <a:off x="5480207" y="6303527"/>
            <a:ext cx="1231587" cy="3693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Masquer </a:t>
            </a:r>
          </a:p>
        </p:txBody>
      </p:sp>
      <p:sp>
        <p:nvSpPr>
          <p:cNvPr id="50" name="DECO">
            <a:extLst>
              <a:ext uri="{FF2B5EF4-FFF2-40B4-BE49-F238E27FC236}">
                <a16:creationId xmlns:a16="http://schemas.microsoft.com/office/drawing/2014/main" id="{5EC1C607-7E6E-439D-9099-BF77A9500698}"/>
              </a:ext>
            </a:extLst>
          </p:cNvPr>
          <p:cNvSpPr/>
          <p:nvPr/>
        </p:nvSpPr>
        <p:spPr>
          <a:xfrm>
            <a:off x="836845" y="6303527"/>
            <a:ext cx="1231587" cy="3693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Découvrir</a:t>
            </a:r>
          </a:p>
        </p:txBody>
      </p:sp>
      <p:sp>
        <p:nvSpPr>
          <p:cNvPr id="53" name="RR6">
            <a:extLst>
              <a:ext uri="{FF2B5EF4-FFF2-40B4-BE49-F238E27FC236}">
                <a16:creationId xmlns:a16="http://schemas.microsoft.com/office/drawing/2014/main" id="{CCDE38E9-5507-4148-AD0E-FFD0C4DCBB96}"/>
              </a:ext>
            </a:extLst>
          </p:cNvPr>
          <p:cNvSpPr/>
          <p:nvPr/>
        </p:nvSpPr>
        <p:spPr>
          <a:xfrm>
            <a:off x="9385665" y="223897"/>
            <a:ext cx="1324980" cy="176127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400" dirty="0">
                <a:solidFill>
                  <a:schemeClr val="tx1"/>
                </a:solidFill>
              </a:rPr>
              <a:t>Disque  dur </a:t>
            </a:r>
          </a:p>
        </p:txBody>
      </p:sp>
      <p:sp>
        <p:nvSpPr>
          <p:cNvPr id="54" name="RR5">
            <a:extLst>
              <a:ext uri="{FF2B5EF4-FFF2-40B4-BE49-F238E27FC236}">
                <a16:creationId xmlns:a16="http://schemas.microsoft.com/office/drawing/2014/main" id="{A0E27959-8B11-4F79-8C11-47246E9388F3}"/>
              </a:ext>
            </a:extLst>
          </p:cNvPr>
          <p:cNvSpPr/>
          <p:nvPr/>
        </p:nvSpPr>
        <p:spPr>
          <a:xfrm>
            <a:off x="6695964" y="224420"/>
            <a:ext cx="1314281" cy="1760747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400" dirty="0">
                <a:solidFill>
                  <a:schemeClr val="tx1"/>
                </a:solidFill>
              </a:rPr>
              <a:t>Souris </a:t>
            </a:r>
          </a:p>
        </p:txBody>
      </p:sp>
      <p:sp>
        <p:nvSpPr>
          <p:cNvPr id="55" name="RR3">
            <a:extLst>
              <a:ext uri="{FF2B5EF4-FFF2-40B4-BE49-F238E27FC236}">
                <a16:creationId xmlns:a16="http://schemas.microsoft.com/office/drawing/2014/main" id="{9E894787-EA91-4DBE-99BE-E387A1080C2C}"/>
              </a:ext>
            </a:extLst>
          </p:cNvPr>
          <p:cNvSpPr/>
          <p:nvPr/>
        </p:nvSpPr>
        <p:spPr>
          <a:xfrm>
            <a:off x="3984861" y="225929"/>
            <a:ext cx="1324983" cy="1759239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400" dirty="0">
                <a:solidFill>
                  <a:schemeClr val="tx1"/>
                </a:solidFill>
              </a:rPr>
              <a:t>Ecran </a:t>
            </a:r>
          </a:p>
        </p:txBody>
      </p:sp>
      <p:sp>
        <p:nvSpPr>
          <p:cNvPr id="57" name="RR1">
            <a:extLst>
              <a:ext uri="{FF2B5EF4-FFF2-40B4-BE49-F238E27FC236}">
                <a16:creationId xmlns:a16="http://schemas.microsoft.com/office/drawing/2014/main" id="{9C4AA937-DCF7-4497-ACF5-D17393DE2365}"/>
              </a:ext>
            </a:extLst>
          </p:cNvPr>
          <p:cNvSpPr/>
          <p:nvPr/>
        </p:nvSpPr>
        <p:spPr>
          <a:xfrm>
            <a:off x="1284459" y="223897"/>
            <a:ext cx="1324983" cy="176127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tx1"/>
                </a:solidFill>
              </a:rPr>
              <a:t>Clavier </a:t>
            </a:r>
          </a:p>
        </p:txBody>
      </p:sp>
      <p:sp>
        <p:nvSpPr>
          <p:cNvPr id="58" name="RR8">
            <a:extLst>
              <a:ext uri="{FF2B5EF4-FFF2-40B4-BE49-F238E27FC236}">
                <a16:creationId xmlns:a16="http://schemas.microsoft.com/office/drawing/2014/main" id="{785961F7-E2EF-4A53-A627-1D32F86BAEDC}"/>
              </a:ext>
            </a:extLst>
          </p:cNvPr>
          <p:cNvSpPr/>
          <p:nvPr/>
        </p:nvSpPr>
        <p:spPr>
          <a:xfrm>
            <a:off x="1284459" y="2343503"/>
            <a:ext cx="1324981" cy="1388728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900" dirty="0">
                <a:solidFill>
                  <a:schemeClr val="tx1"/>
                </a:solidFill>
              </a:rPr>
              <a:t>Affichage des informations </a:t>
            </a:r>
          </a:p>
        </p:txBody>
      </p:sp>
      <p:sp>
        <p:nvSpPr>
          <p:cNvPr id="59" name="RR12">
            <a:extLst>
              <a:ext uri="{FF2B5EF4-FFF2-40B4-BE49-F238E27FC236}">
                <a16:creationId xmlns:a16="http://schemas.microsoft.com/office/drawing/2014/main" id="{156C4DDA-8E24-4474-B764-E8401A651381}"/>
              </a:ext>
            </a:extLst>
          </p:cNvPr>
          <p:cNvSpPr/>
          <p:nvPr/>
        </p:nvSpPr>
        <p:spPr>
          <a:xfrm>
            <a:off x="9385663" y="2343500"/>
            <a:ext cx="1324979" cy="1388728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400" dirty="0">
                <a:solidFill>
                  <a:schemeClr val="tx1"/>
                </a:solidFill>
              </a:rPr>
              <a:t>La saisie</a:t>
            </a:r>
          </a:p>
        </p:txBody>
      </p:sp>
      <p:sp>
        <p:nvSpPr>
          <p:cNvPr id="60" name="RR11">
            <a:extLst>
              <a:ext uri="{FF2B5EF4-FFF2-40B4-BE49-F238E27FC236}">
                <a16:creationId xmlns:a16="http://schemas.microsoft.com/office/drawing/2014/main" id="{BEF2C863-736E-4D5B-B08C-78944E567DC0}"/>
              </a:ext>
            </a:extLst>
          </p:cNvPr>
          <p:cNvSpPr/>
          <p:nvPr/>
        </p:nvSpPr>
        <p:spPr>
          <a:xfrm>
            <a:off x="6711793" y="2343500"/>
            <a:ext cx="1324980" cy="1388728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900" dirty="0">
                <a:solidFill>
                  <a:schemeClr val="tx1"/>
                </a:solidFill>
              </a:rPr>
              <a:t>Le stockage permanant des informations</a:t>
            </a:r>
          </a:p>
        </p:txBody>
      </p:sp>
      <p:sp>
        <p:nvSpPr>
          <p:cNvPr id="61" name="RR9">
            <a:extLst>
              <a:ext uri="{FF2B5EF4-FFF2-40B4-BE49-F238E27FC236}">
                <a16:creationId xmlns:a16="http://schemas.microsoft.com/office/drawing/2014/main" id="{6CAC9441-16CD-4D39-8E7B-DAF96A8E378D}"/>
              </a:ext>
            </a:extLst>
          </p:cNvPr>
          <p:cNvSpPr/>
          <p:nvPr/>
        </p:nvSpPr>
        <p:spPr>
          <a:xfrm>
            <a:off x="3979152" y="2343500"/>
            <a:ext cx="1330689" cy="1388728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000" dirty="0">
                <a:solidFill>
                  <a:schemeClr val="tx1"/>
                </a:solidFill>
              </a:rPr>
              <a:t>Piloter l’ordinateur </a:t>
            </a:r>
          </a:p>
        </p:txBody>
      </p:sp>
    </p:spTree>
    <p:extLst>
      <p:ext uri="{BB962C8B-B14F-4D97-AF65-F5344CB8AC3E}">
        <p14:creationId xmlns:p14="http://schemas.microsoft.com/office/powerpoint/2010/main" val="1230628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  <p:seq concurrent="1" nextAc="seek">
              <p:cTn id="71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" fill="hold">
                      <p:stCondLst>
                        <p:cond delay="0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4" presetClass="exit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0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128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140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</p:childTnLst>
        </p:cTn>
      </p:par>
    </p:tnLst>
    <p:bldLst>
      <p:bldP spid="53" grpId="0" animBg="1"/>
      <p:bldP spid="53" grpId="1" animBg="1"/>
      <p:bldP spid="53" grpId="2" animBg="1"/>
      <p:bldP spid="53" grpId="3" animBg="1"/>
      <p:bldP spid="54" grpId="0" animBg="1"/>
      <p:bldP spid="54" grpId="1" animBg="1"/>
      <p:bldP spid="54" grpId="2" animBg="1"/>
      <p:bldP spid="54" grpId="3" animBg="1"/>
      <p:bldP spid="55" grpId="0" animBg="1"/>
      <p:bldP spid="55" grpId="1" animBg="1"/>
      <p:bldP spid="55" grpId="2" animBg="1"/>
      <p:bldP spid="55" grpId="3" animBg="1"/>
      <p:bldP spid="57" grpId="0" animBg="1"/>
      <p:bldP spid="57" grpId="1" animBg="1"/>
      <p:bldP spid="57" grpId="2" animBg="1"/>
      <p:bldP spid="57" grpId="3" animBg="1"/>
      <p:bldP spid="58" grpId="0" animBg="1"/>
      <p:bldP spid="58" grpId="1" animBg="1"/>
      <p:bldP spid="58" grpId="2" animBg="1"/>
      <p:bldP spid="58" grpId="3" animBg="1"/>
      <p:bldP spid="59" grpId="0" animBg="1"/>
      <p:bldP spid="59" grpId="1" animBg="1"/>
      <p:bldP spid="59" grpId="2" animBg="1"/>
      <p:bldP spid="59" grpId="3" animBg="1"/>
      <p:bldP spid="60" grpId="0" animBg="1"/>
      <p:bldP spid="60" grpId="1" animBg="1"/>
      <p:bldP spid="60" grpId="2" animBg="1"/>
      <p:bldP spid="60" grpId="3" animBg="1"/>
      <p:bldP spid="61" grpId="0" animBg="1"/>
      <p:bldP spid="61" grpId="1" animBg="1"/>
      <p:bldP spid="61" grpId="2" animBg="1"/>
      <p:bldP spid="61" grpId="3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4D53AA5-BD6F-445D-8CE4-84DC941362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2395" y="644415"/>
            <a:ext cx="6485965" cy="5500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Choisir la bonne réponse</a:t>
            </a:r>
          </a:p>
        </p:txBody>
      </p:sp>
      <p:sp>
        <p:nvSpPr>
          <p:cNvPr id="5" name="r1">
            <a:extLst>
              <a:ext uri="{FF2B5EF4-FFF2-40B4-BE49-F238E27FC236}">
                <a16:creationId xmlns:a16="http://schemas.microsoft.com/office/drawing/2014/main" id="{BBD956CA-9613-4633-BC63-EF43DCBB4523}"/>
              </a:ext>
            </a:extLst>
          </p:cNvPr>
          <p:cNvSpPr/>
          <p:nvPr/>
        </p:nvSpPr>
        <p:spPr>
          <a:xfrm>
            <a:off x="3710085" y="1315430"/>
            <a:ext cx="2624091" cy="636495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Périphérique d’entrée </a:t>
            </a:r>
          </a:p>
        </p:txBody>
      </p:sp>
      <p:sp>
        <p:nvSpPr>
          <p:cNvPr id="9" name="r2">
            <a:extLst>
              <a:ext uri="{FF2B5EF4-FFF2-40B4-BE49-F238E27FC236}">
                <a16:creationId xmlns:a16="http://schemas.microsoft.com/office/drawing/2014/main" id="{5E0D03DF-75CF-48C9-92F9-A28FEFE9A7BB}"/>
              </a:ext>
            </a:extLst>
          </p:cNvPr>
          <p:cNvSpPr/>
          <p:nvPr/>
        </p:nvSpPr>
        <p:spPr>
          <a:xfrm>
            <a:off x="6749126" y="1315430"/>
            <a:ext cx="2417959" cy="636495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Périphérique de sortie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C88935-FD1B-4C49-8719-ADBC65C76222}"/>
              </a:ext>
            </a:extLst>
          </p:cNvPr>
          <p:cNvSpPr/>
          <p:nvPr/>
        </p:nvSpPr>
        <p:spPr>
          <a:xfrm>
            <a:off x="2492828" y="1449012"/>
            <a:ext cx="68185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Clavier</a:t>
            </a:r>
          </a:p>
        </p:txBody>
      </p:sp>
      <p:sp>
        <p:nvSpPr>
          <p:cNvPr id="17" name="r3">
            <a:extLst>
              <a:ext uri="{FF2B5EF4-FFF2-40B4-BE49-F238E27FC236}">
                <a16:creationId xmlns:a16="http://schemas.microsoft.com/office/drawing/2014/main" id="{BE478829-FCC7-40E6-A231-8FCE2BD72EC4}"/>
              </a:ext>
            </a:extLst>
          </p:cNvPr>
          <p:cNvSpPr/>
          <p:nvPr/>
        </p:nvSpPr>
        <p:spPr>
          <a:xfrm>
            <a:off x="3710085" y="2165785"/>
            <a:ext cx="2624091" cy="636495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Périphérique d’entrée </a:t>
            </a:r>
          </a:p>
        </p:txBody>
      </p:sp>
      <p:sp>
        <p:nvSpPr>
          <p:cNvPr id="18" name="r5">
            <a:extLst>
              <a:ext uri="{FF2B5EF4-FFF2-40B4-BE49-F238E27FC236}">
                <a16:creationId xmlns:a16="http://schemas.microsoft.com/office/drawing/2014/main" id="{3F9773A7-3F0F-44C7-8F2B-5B6AE5315BE8}"/>
              </a:ext>
            </a:extLst>
          </p:cNvPr>
          <p:cNvSpPr/>
          <p:nvPr/>
        </p:nvSpPr>
        <p:spPr>
          <a:xfrm>
            <a:off x="3710085" y="3016139"/>
            <a:ext cx="2624091" cy="636495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Périphérique d’entrée </a:t>
            </a:r>
          </a:p>
        </p:txBody>
      </p:sp>
      <p:sp>
        <p:nvSpPr>
          <p:cNvPr id="19" name="r7">
            <a:extLst>
              <a:ext uri="{FF2B5EF4-FFF2-40B4-BE49-F238E27FC236}">
                <a16:creationId xmlns:a16="http://schemas.microsoft.com/office/drawing/2014/main" id="{A7B92D02-2D75-4545-9B9A-3BF015A172D0}"/>
              </a:ext>
            </a:extLst>
          </p:cNvPr>
          <p:cNvSpPr/>
          <p:nvPr/>
        </p:nvSpPr>
        <p:spPr>
          <a:xfrm>
            <a:off x="3710085" y="3866494"/>
            <a:ext cx="2624091" cy="636495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Périphérique d’entrée </a:t>
            </a:r>
          </a:p>
        </p:txBody>
      </p:sp>
      <p:sp>
        <p:nvSpPr>
          <p:cNvPr id="20" name="r9">
            <a:extLst>
              <a:ext uri="{FF2B5EF4-FFF2-40B4-BE49-F238E27FC236}">
                <a16:creationId xmlns:a16="http://schemas.microsoft.com/office/drawing/2014/main" id="{D22795E2-94B9-4B9D-BF2A-25F4C6B1ECBE}"/>
              </a:ext>
            </a:extLst>
          </p:cNvPr>
          <p:cNvSpPr/>
          <p:nvPr/>
        </p:nvSpPr>
        <p:spPr>
          <a:xfrm>
            <a:off x="3710085" y="4716850"/>
            <a:ext cx="2624091" cy="636495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Périphérique d’entrée </a:t>
            </a:r>
          </a:p>
        </p:txBody>
      </p:sp>
      <p:sp>
        <p:nvSpPr>
          <p:cNvPr id="21" name="r11">
            <a:extLst>
              <a:ext uri="{FF2B5EF4-FFF2-40B4-BE49-F238E27FC236}">
                <a16:creationId xmlns:a16="http://schemas.microsoft.com/office/drawing/2014/main" id="{226CF51F-4F94-4288-A920-B636A86FB3EB}"/>
              </a:ext>
            </a:extLst>
          </p:cNvPr>
          <p:cNvSpPr/>
          <p:nvPr/>
        </p:nvSpPr>
        <p:spPr>
          <a:xfrm>
            <a:off x="3710085" y="5567205"/>
            <a:ext cx="2624091" cy="636495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Périphérique d’entrée </a:t>
            </a:r>
          </a:p>
        </p:txBody>
      </p:sp>
      <p:sp>
        <p:nvSpPr>
          <p:cNvPr id="23" name="r4">
            <a:extLst>
              <a:ext uri="{FF2B5EF4-FFF2-40B4-BE49-F238E27FC236}">
                <a16:creationId xmlns:a16="http://schemas.microsoft.com/office/drawing/2014/main" id="{F554E78C-C1CB-4522-86C0-A9D59F5CFDDC}"/>
              </a:ext>
            </a:extLst>
          </p:cNvPr>
          <p:cNvSpPr/>
          <p:nvPr/>
        </p:nvSpPr>
        <p:spPr>
          <a:xfrm>
            <a:off x="6749126" y="2165785"/>
            <a:ext cx="2417959" cy="636495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Périphérique de sortie </a:t>
            </a:r>
          </a:p>
        </p:txBody>
      </p:sp>
      <p:sp>
        <p:nvSpPr>
          <p:cNvPr id="24" name="r6">
            <a:extLst>
              <a:ext uri="{FF2B5EF4-FFF2-40B4-BE49-F238E27FC236}">
                <a16:creationId xmlns:a16="http://schemas.microsoft.com/office/drawing/2014/main" id="{E06E51E3-D846-4EC5-8F97-D23FE81ED538}"/>
              </a:ext>
            </a:extLst>
          </p:cNvPr>
          <p:cNvSpPr/>
          <p:nvPr/>
        </p:nvSpPr>
        <p:spPr>
          <a:xfrm>
            <a:off x="6749126" y="3009318"/>
            <a:ext cx="2417959" cy="636495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Périphérique de sortie </a:t>
            </a:r>
          </a:p>
        </p:txBody>
      </p:sp>
      <p:sp>
        <p:nvSpPr>
          <p:cNvPr id="25" name="r8">
            <a:extLst>
              <a:ext uri="{FF2B5EF4-FFF2-40B4-BE49-F238E27FC236}">
                <a16:creationId xmlns:a16="http://schemas.microsoft.com/office/drawing/2014/main" id="{5B6580EB-4451-4171-A508-C3F7ADCDC89C}"/>
              </a:ext>
            </a:extLst>
          </p:cNvPr>
          <p:cNvSpPr/>
          <p:nvPr/>
        </p:nvSpPr>
        <p:spPr>
          <a:xfrm>
            <a:off x="6749126" y="3865278"/>
            <a:ext cx="2417959" cy="636495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Périphérique de sortie </a:t>
            </a:r>
          </a:p>
        </p:txBody>
      </p:sp>
      <p:sp>
        <p:nvSpPr>
          <p:cNvPr id="26" name="r10">
            <a:extLst>
              <a:ext uri="{FF2B5EF4-FFF2-40B4-BE49-F238E27FC236}">
                <a16:creationId xmlns:a16="http://schemas.microsoft.com/office/drawing/2014/main" id="{3B7B51CA-6085-4D50-AE24-79889D884604}"/>
              </a:ext>
            </a:extLst>
          </p:cNvPr>
          <p:cNvSpPr/>
          <p:nvPr/>
        </p:nvSpPr>
        <p:spPr>
          <a:xfrm>
            <a:off x="6749126" y="4711245"/>
            <a:ext cx="2417959" cy="636495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Périphérique de sortie </a:t>
            </a:r>
          </a:p>
        </p:txBody>
      </p:sp>
      <p:sp>
        <p:nvSpPr>
          <p:cNvPr id="27" name="r12">
            <a:extLst>
              <a:ext uri="{FF2B5EF4-FFF2-40B4-BE49-F238E27FC236}">
                <a16:creationId xmlns:a16="http://schemas.microsoft.com/office/drawing/2014/main" id="{413F5378-D746-4994-9D83-9BC7C48C73AE}"/>
              </a:ext>
            </a:extLst>
          </p:cNvPr>
          <p:cNvSpPr/>
          <p:nvPr/>
        </p:nvSpPr>
        <p:spPr>
          <a:xfrm>
            <a:off x="6749126" y="5567205"/>
            <a:ext cx="2417959" cy="636495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Périphérique de sortie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0AA31A-33A6-451A-8420-E3AFE8F904D7}"/>
              </a:ext>
            </a:extLst>
          </p:cNvPr>
          <p:cNvSpPr/>
          <p:nvPr/>
        </p:nvSpPr>
        <p:spPr>
          <a:xfrm>
            <a:off x="2261897" y="2265302"/>
            <a:ext cx="104188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Imprimante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3D788B-031C-4330-A5BF-A46A04B1A39C}"/>
              </a:ext>
            </a:extLst>
          </p:cNvPr>
          <p:cNvSpPr/>
          <p:nvPr/>
        </p:nvSpPr>
        <p:spPr>
          <a:xfrm>
            <a:off x="2436881" y="3170801"/>
            <a:ext cx="76828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Scanner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7E1177D-1347-447E-BCF1-7DC88D498A5A}"/>
              </a:ext>
            </a:extLst>
          </p:cNvPr>
          <p:cNvSpPr/>
          <p:nvPr/>
        </p:nvSpPr>
        <p:spPr>
          <a:xfrm>
            <a:off x="2236345" y="3939440"/>
            <a:ext cx="107785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Microphone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9B71041-B0F3-40C7-AD19-C1C5B2CE3505}"/>
              </a:ext>
            </a:extLst>
          </p:cNvPr>
          <p:cNvSpPr/>
          <p:nvPr/>
        </p:nvSpPr>
        <p:spPr>
          <a:xfrm>
            <a:off x="2217909" y="4841573"/>
            <a:ext cx="11112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Haut parleur</a:t>
            </a:r>
          </a:p>
          <a:p>
            <a:endParaRPr lang="fr-FR" sz="14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906D145-52E2-4A89-B878-C367956D69C3}"/>
              </a:ext>
            </a:extLst>
          </p:cNvPr>
          <p:cNvSpPr/>
          <p:nvPr/>
        </p:nvSpPr>
        <p:spPr>
          <a:xfrm>
            <a:off x="2512755" y="5692886"/>
            <a:ext cx="62581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Écran </a:t>
            </a:r>
          </a:p>
        </p:txBody>
      </p:sp>
      <p:sp>
        <p:nvSpPr>
          <p:cNvPr id="22" name="Titre 1">
            <a:extLst>
              <a:ext uri="{FF2B5EF4-FFF2-40B4-BE49-F238E27FC236}">
                <a16:creationId xmlns:a16="http://schemas.microsoft.com/office/drawing/2014/main" id="{2F866AE3-BB07-427D-BE5D-2FC209F36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345" y="19783"/>
            <a:ext cx="4124960" cy="763600"/>
          </a:xfrm>
        </p:spPr>
        <p:txBody>
          <a:bodyPr>
            <a:normAutofit/>
          </a:bodyPr>
          <a:lstStyle/>
          <a:p>
            <a:r>
              <a:rPr lang="fr-FR" sz="3200" dirty="0">
                <a:solidFill>
                  <a:srgbClr val="C00000"/>
                </a:solidFill>
              </a:rPr>
              <a:t>Question N°.1</a:t>
            </a:r>
          </a:p>
        </p:txBody>
      </p:sp>
    </p:spTree>
    <p:extLst>
      <p:ext uri="{BB962C8B-B14F-4D97-AF65-F5344CB8AC3E}">
        <p14:creationId xmlns:p14="http://schemas.microsoft.com/office/powerpoint/2010/main" val="1939165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1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28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35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2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49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6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3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65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" fill="hold">
                      <p:stCondLst>
                        <p:cond delay="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70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7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79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" fill="hold">
                      <p:stCondLst>
                        <p:cond delay="0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84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5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18CC22C1-3AE9-4CCA-AAC5-C070497485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601" y="338547"/>
            <a:ext cx="10289058" cy="2695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8CF52069-F2D3-4055-B014-99555A8BA4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294"/>
          <a:stretch/>
        </p:blipFill>
        <p:spPr bwMode="auto">
          <a:xfrm>
            <a:off x="1076325" y="5791200"/>
            <a:ext cx="2257425" cy="95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5A2E248-9DC1-4CCB-B3ED-810634F1A993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897" y="3067050"/>
            <a:ext cx="2039303" cy="160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9BDE20F-1D71-4854-820E-30C393BA3F6C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5555" y="5125402"/>
            <a:ext cx="2097646" cy="1732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B7F2A42-2C08-4271-AC6D-C20B711414B4}"/>
              </a:ext>
            </a:extLst>
          </p:cNvPr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5014" y="4800058"/>
            <a:ext cx="1863725" cy="1831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72F98AF-EC8F-4EC9-82E7-1E9B9AC52CB1}"/>
              </a:ext>
            </a:extLst>
          </p:cNvPr>
          <p:cNvPicPr/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95" r="28977"/>
          <a:stretch/>
        </p:blipFill>
        <p:spPr bwMode="auto">
          <a:xfrm>
            <a:off x="6571180" y="3543327"/>
            <a:ext cx="1270000" cy="123126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1A4B962-4F57-4652-8792-237F8AE0AA82}"/>
              </a:ext>
            </a:extLst>
          </p:cNvPr>
          <p:cNvPicPr/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1025" y="5013259"/>
            <a:ext cx="2603500" cy="1404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1E117F7-F0C6-471B-BCC9-8E72E928F251}"/>
              </a:ext>
            </a:extLst>
          </p:cNvPr>
          <p:cNvPicPr/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0" t="35211" r="40845" b="11972"/>
          <a:stretch/>
        </p:blipFill>
        <p:spPr bwMode="auto">
          <a:xfrm>
            <a:off x="3592257" y="3517358"/>
            <a:ext cx="1231900" cy="12827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890470A-4A67-4F27-A78B-4A3043E9CC50}"/>
              </a:ext>
            </a:extLst>
          </p:cNvPr>
          <p:cNvSpPr txBox="1"/>
          <p:nvPr/>
        </p:nvSpPr>
        <p:spPr>
          <a:xfrm>
            <a:off x="1547813" y="3826914"/>
            <a:ext cx="9320212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fr-FR" sz="3200" dirty="0">
                <a:latin typeface="Georgia" panose="02040502050405020303" pitchFamily="18" charset="0"/>
              </a:rPr>
              <a:t>Pour connecter correctement un ordinateur il faut :</a:t>
            </a:r>
          </a:p>
          <a:p>
            <a:pPr marL="685800" algn="just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3200" dirty="0">
                <a:latin typeface="Georgia" panose="02040502050405020303" pitchFamily="18" charset="0"/>
              </a:rPr>
              <a:t>Respect de la symétrie.</a:t>
            </a:r>
          </a:p>
          <a:p>
            <a:pPr marL="685800" algn="just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3200" dirty="0">
                <a:latin typeface="Georgia" panose="02040502050405020303" pitchFamily="18" charset="0"/>
              </a:rPr>
              <a:t>Eviter la connexion forcée.</a:t>
            </a:r>
          </a:p>
        </p:txBody>
      </p:sp>
    </p:spTree>
    <p:extLst>
      <p:ext uri="{BB962C8B-B14F-4D97-AF65-F5344CB8AC3E}">
        <p14:creationId xmlns:p14="http://schemas.microsoft.com/office/powerpoint/2010/main" val="36548787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175 -0.07152 L 0.03658 -0.07152 C 0.06276 -0.07152 0.09505 -0.17314 0.09505 -0.25555 L 0.09505 -0.43935 " pathEditMode="relative" rAng="0" ptsTypes="AAAA">
                                      <p:cBhvr>
                                        <p:cTn id="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33" y="-1840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-1.48148E-6 L -0.08385 -1.48148E-6 C -0.12122 -1.48148E-6 -0.16732 -0.05764 -0.16732 -0.10417 L -0.16732 -0.20787 " pathEditMode="relative" rAng="0" ptsTypes="AAAA">
                                      <p:cBhvr>
                                        <p:cTn id="1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372" y="-103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3.7037E-7 L 0.17773 -3.7037E-7 C 0.25742 -3.7037E-7 0.35586 -0.13958 0.35586 -0.25301 L 0.35586 -0.50648 " pathEditMode="relative" rAng="0" ptsTypes="AAAA">
                                      <p:cBhvr>
                                        <p:cTn id="14" dur="2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786" y="-253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3.33333E-6 L 0.10742 -3.33333E-6 C 0.1556 -3.33333E-6 0.21497 -0.19745 0.21497 -0.3574 L 0.21497 -0.71481 " pathEditMode="relative" rAng="0" ptsTypes="AAAA">
                                      <p:cBhvr>
                                        <p:cTn id="1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742" y="-357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-1.48148E-6 L 0.11145 -1.48148E-6 C 0.16145 -1.48148E-6 0.22304 -0.0993 0.22304 -0.17986 L 0.22304 -0.35972 " pathEditMode="relative" rAng="0" ptsTypes="AAAA">
                                      <p:cBhvr>
                                        <p:cTn id="22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146" y="-1798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7.40741E-7 L -0.04883 -0.20486 C -0.07071 -0.29676 -0.06198 -0.43634 -0.03295 -0.45857 L 0.03177 -0.50741 " pathEditMode="relative" rAng="14820000" ptsTypes="AAAA">
                                      <p:cBhvr>
                                        <p:cTn id="2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89" y="-25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7981 -0.02893 L -0.07981 -0.0287 C -0.08242 -0.03426 -0.08515 -0.04004 -0.08763 -0.04583 C -0.09179 -0.05509 -0.08971 -0.05347 -0.09453 -0.06227 C -0.10651 -0.08356 -0.09296 -0.05463 -0.10703 -0.08472 C -0.1177 -0.10671 -0.10729 -0.0875 -0.11875 -0.10926 C -0.12005 -0.11203 -0.12122 -0.11458 -0.12265 -0.11643 C -0.12435 -0.11875 -0.1263 -0.1199 -0.12812 -0.12176 C -0.13203 -0.12129 -0.13619 -0.12106 -0.13984 -0.1206 C -0.1414 -0.12014 -0.14296 -0.1206 -0.14375 -0.11921 C -0.14713 -0.11458 -0.14987 -0.10463 -0.15247 -0.09838 C -0.15364 -0.09537 -0.15507 -0.09282 -0.15625 -0.09004 C -0.15716 -0.08796 -0.15768 -0.08518 -0.15872 -0.0831 C -0.16106 -0.07801 -0.16419 -0.07453 -0.16653 -0.06921 C -0.16862 -0.06458 -0.17031 -0.05972 -0.17278 -0.05555 C -0.17643 -0.04884 -0.18281 -0.03634 -0.1875 -0.03032 C -0.18958 -0.02777 -0.19179 -0.02592 -0.19375 -0.02338 C -0.19596 -0.0206 -0.19791 -0.01759 -0.2 -0.01527 C -0.20299 -0.0118 -0.20586 -0.00902 -0.20872 -0.00509 C -0.21237 -0.00092 -0.21614 0.00324 -0.21966 0.00857 C -0.22435 0.01574 -0.22539 0.01852 -0.23125 0.02246 C -0.23359 0.02408 -0.23593 0.02454 -0.23828 0.02523 C -0.24921 0.02176 -0.26054 0.02084 -0.27109 0.01551 C -0.28125 0.01042 -0.28593 -0.00023 -0.2914 -0.01365 C -0.29296 -0.01713 -0.29427 -0.02083 -0.29531 -0.02477 C -0.29713 -0.03125 -0.29843 -0.03773 -0.3 -0.04444 C -0.30104 -0.05324 -0.30169 -0.06203 -0.30312 -0.0706 C -0.30403 -0.07523 -0.30586 -0.0787 -0.30703 -0.0831 C -0.30768 -0.08541 -0.30794 -0.08796 -0.30859 -0.09004 C -0.3095 -0.09282 -0.3108 -0.09537 -0.31171 -0.09838 C -0.31575 -0.10949 -0.31705 -0.11713 -0.32343 -0.12477 C -0.32812 -0.13055 -0.3332 -0.13449 -0.33828 -0.13842 C -0.34752 -0.14606 -0.3595 -0.15277 -0.36966 -0.15555 C -0.37435 -0.15648 -0.37903 -0.15625 -0.38372 -0.15671 C -0.38958 -0.15602 -0.3957 -0.15578 -0.40156 -0.15393 C -0.4026 -0.15347 -0.40299 -0.15092 -0.40403 -0.15092 C -0.42187 -0.15185 -0.43632 -0.1574 -0.4539 -0.16111 C -0.45963 -0.16227 -0.46536 -0.16296 -0.47109 -0.16342 C -0.47994 -0.16111 -0.50091 -0.15463 -0.51015 -0.14977 C -0.51406 -0.14791 -0.51744 -0.14421 -0.52109 -0.14143 C -0.52291 -0.13727 -0.52513 -0.13356 -0.52656 -0.12893 C -0.53268 -0.10972 -0.53711 -0.08889 -0.54388 -0.0706 C -0.54544 -0.06643 -0.547 -0.06227 -0.54856 -0.0581 C -0.55273 -0.0456 -0.55247 -0.04629 -0.55481 -0.03564 C -0.55612 -0.0118 -0.55481 -0.03217 -0.55716 -0.0081 C -0.55742 -0.00486 -0.5569 -0.00139 -0.55794 0.00139 C -0.56041 0.00949 -0.56276 0.01852 -0.56718 0.02246 C -0.59114 0.0426 -0.57877 0.03426 -0.6039 0.04723 C -0.60781 0.04676 -0.61185 0.04723 -0.61562 0.04607 C -0.61901 0.04491 -0.62187 0.04213 -0.625 0.04074 C -0.64622 0.02894 -0.62708 0.04144 -0.64388 0.02801 C -0.64648 0.02616 -0.64908 0.02454 -0.65169 0.02246 L -0.6556 0.01945 L -0.67734 0.0044 C -0.68437 -0.00046 -0.69153 -0.00463 -0.69843 -0.00972 C -0.70325 -0.01273 -0.7125 -0.01898 -0.7125 -0.01875 C -0.71796 -0.02777 -0.72018 -0.02963 -0.72343 -0.04143 C -0.72591 -0.05023 -0.72695 -0.06064 -0.72968 -0.06921 C -0.73424 -0.0831 -0.74023 -0.0949 -0.74531 -0.1081 C -0.74752 -0.11365 -0.74948 -0.11921 -0.75156 -0.12477 C -0.75338 -0.12963 -0.75455 -0.13518 -0.75703 -0.13842 C -0.76523 -0.14953 -0.76158 -0.14352 -0.76796 -0.15671 C -0.76901 -0.16134 -0.76992 -0.16597 -0.77109 -0.1706 C -0.7733 -0.17893 -0.7763 -0.18703 -0.77812 -0.1956 C -0.77916 -0.20046 -0.77903 -0.20602 -0.77968 -0.21064 C -0.7802 -0.21458 -0.78242 -0.22546 -0.78359 -0.23055 C -0.78437 -0.23333 -0.78528 -0.23588 -0.78593 -0.23842 C -0.78893 -0.25092 -0.78632 -0.24768 -0.7914 -0.26365 C -0.81783 -0.34629 -0.79935 -0.27453 -0.81875 -0.35787 C -0.82526 -0.42245 -0.8233 -0.39398 -0.82578 -0.44282 C -0.82604 -0.45578 -0.82669 -0.46852 -0.82656 -0.48148 C -0.8263 -0.51666 -0.82565 -0.53194 -0.82187 -0.56342 C -0.82031 -0.57685 -0.81705 -0.60717 -0.81171 -0.6206 C -0.80859 -0.6287 -0.80416 -0.63495 -0.8 -0.6412 C -0.79388 -0.65092 -0.78958 -0.65486 -0.78281 -0.66203 C -0.77656 -0.65972 -0.77005 -0.65926 -0.76406 -0.65509 C -0.75872 -0.65162 -0.75403 -0.6456 -0.74921 -0.63981 C -0.74166 -0.63055 -0.73476 -0.61782 -0.72968 -0.60393 C -0.72591 -0.59328 -0.72252 -0.58194 -0.71953 -0.5706 C -0.71237 -0.54305 -0.70599 -0.51527 -0.69921 -0.4875 C -0.69283 -0.46018 -0.6901 -0.44444 -0.68125 -0.41921 C -0.6789 -0.41227 -0.67578 -0.40602 -0.67265 -0.4 C -0.66106 -0.37615 -0.64856 -0.34884 -0.63125 -0.33703 C -0.62812 -0.33495 -0.62448 -0.33564 -0.62109 -0.33449 C -0.6177 -0.3331 -0.61432 -0.33078 -0.61093 -0.32893 C -0.60729 -0.32963 -0.60338 -0.32847 -0.6 -0.33148 C -0.59192 -0.33912 -0.58906 -0.36458 -0.58671 -0.37639 C -0.58294 -0.42152 -0.58177 -0.425 -0.58125 -0.47199 C -0.58099 -0.50115 -0.58229 -0.49884 -0.58437 -0.52592 C -0.58502 -0.53426 -0.58541 -0.54282 -0.58593 -0.55092 C -0.58645 -0.55856 -0.58698 -0.56574 -0.5875 -0.57338 C -0.58698 -0.59398 -0.58685 -0.61504 -0.58593 -0.63588 C -0.58567 -0.64236 -0.58203 -0.66227 -0.58125 -0.6662 C -0.57981 -0.67384 -0.5789 -0.67662 -0.57656 -0.6831 C -0.57617 -0.68449 -0.57578 -0.68611 -0.575 -0.68703 C -0.56979 -0.69537 -0.572 -0.69097 -0.56718 -0.69398 C -0.55612 -0.70139 -0.56796 -0.69583 -0.55481 -0.70092 C -0.53658 -0.72129 -0.56393 -0.68935 -0.54075 -0.72314 C -0.53789 -0.72731 -0.5345 -0.72986 -0.53138 -0.73287 C -0.5233 -0.74051 -0.50703 -0.75509 -0.50703 -0.75486 C -0.50416 -0.75416 -0.5013 -0.75393 -0.49843 -0.75231 C -0.49166 -0.74884 -0.48125 -0.74213 -0.47421 -0.73564 C -0.44075 -0.70486 -0.48177 -0.74189 -0.45546 -0.71481 C -0.45156 -0.71088 -0.44726 -0.70787 -0.4431 -0.7037 C -0.42382 -0.68472 -0.42812 -0.68495 -0.41406 -0.67592 C -0.41119 -0.67407 -0.40781 -0.67268 -0.40468 -0.67037 C -0.39674 -0.66435 -0.38906 -0.65509 -0.3806 -0.65092 C -0.3776 -0.64977 -0.37487 -0.64861 -0.37187 -0.64676 C -0.36875 -0.6449 -0.3625 -0.63981 -0.3625 -0.63958 C -0.36002 -0.63102 -0.3569 -0.62291 -0.35481 -0.61365 C -0.35325 -0.60625 -0.35286 -0.59791 -0.35169 -0.58981 C -0.3513 -0.58657 -0.35065 -0.58333 -0.35 -0.58032 C -0.35065 -0.57847 -0.35091 -0.57615 -0.35169 -0.57477 C -0.35859 -0.56018 -0.37955 -0.57291 -0.38281 -0.57338 C -0.38372 -0.57407 -0.3875 -0.57708 -0.38841 -0.57893 C -0.38906 -0.58032 -0.38945 -0.58264 -0.38997 -0.58426 C -0.38945 -0.58935 -0.38906 -0.59467 -0.38841 -0.59977 C -0.38789 -0.60393 -0.38789 -0.60926 -0.38593 -0.61227 C -0.38489 -0.61412 -0.38424 -0.6162 -0.38281 -0.61782 C -0.38216 -0.61852 -0.38125 -0.61852 -0.3806 -0.61898 C -0.37968 -0.62014 -0.37916 -0.62176 -0.37812 -0.62176 C -0.37226 -0.62268 -0.36614 -0.62176 -0.36015 -0.62176 L -0.35546 -0.6206 L -0.33515 -0.57893 L -0.37968 -0.59398 L -0.3931 -0.65787 L -0.3931 -0.65764 L -0.35703 -0.63009 L -0.31796 -0.5912 L -0.4 -0.66342 L -0.4 -0.66319 " pathEditMode="relative" rAng="0" ptsTypes="AAAAAAAAAAAAAAAAAAAAAAAAAAAAAAAAAAAAAAAAAAAAAAAAAAAAAAAAAAAAAAAAAAAAAAAAAAAAAAAAAAAAAAAAAAAAAAAAAAAAAAAAAAAAAAAAAAAAAAAAAAAAAAAAAAA">
                                      <p:cBhvr>
                                        <p:cTn id="30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7344" y="-3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19A048B-182C-447F-A673-9F2EFFBC5443}"/>
              </a:ext>
            </a:extLst>
          </p:cNvPr>
          <p:cNvSpPr txBox="1"/>
          <p:nvPr/>
        </p:nvSpPr>
        <p:spPr>
          <a:xfrm>
            <a:off x="0" y="18047"/>
            <a:ext cx="1219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fr-FR" sz="3600" i="1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III.   L’ordinateur et les périphériques</a:t>
            </a:r>
            <a:endParaRPr lang="fr-FR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080000" lvl="1">
              <a:spcAft>
                <a:spcPts val="800"/>
              </a:spcAft>
            </a:pPr>
            <a:r>
              <a:rPr lang="fr-FR" sz="3600" i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2.	Le matériel informatique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F417FF-225F-4117-B748-4018AE5BA99C}"/>
              </a:ext>
            </a:extLst>
          </p:cNvPr>
          <p:cNvSpPr txBox="1"/>
          <p:nvPr/>
        </p:nvSpPr>
        <p:spPr>
          <a:xfrm>
            <a:off x="1756186" y="1265177"/>
            <a:ext cx="7502114" cy="521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fr-FR" sz="2800" dirty="0">
                <a:solidFill>
                  <a:schemeClr val="accent2"/>
                </a:solidFill>
                <a:latin typeface="Georgia" panose="02040502050405020303" pitchFamily="18" charset="0"/>
              </a:rPr>
              <a:t>D.	La connectivité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211CD8-B12B-4E4E-9977-6D7DE3BCEC54}"/>
              </a:ext>
            </a:extLst>
          </p:cNvPr>
          <p:cNvSpPr txBox="1"/>
          <p:nvPr/>
        </p:nvSpPr>
        <p:spPr>
          <a:xfrm>
            <a:off x="631031" y="2147411"/>
            <a:ext cx="1092993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fr-FR" altLang="fr-FR" sz="3200" dirty="0">
                <a:latin typeface="Georgia" panose="02040502050405020303" pitchFamily="18" charset="0"/>
              </a:rPr>
              <a:t>Les périphériques se branchent avec des </a:t>
            </a:r>
            <a:r>
              <a:rPr lang="fr-FR" altLang="fr-FR" sz="3200" b="1" dirty="0">
                <a:solidFill>
                  <a:srgbClr val="7030A0"/>
                </a:solidFill>
                <a:latin typeface="Georgia" panose="02040502050405020303" pitchFamily="18" charset="0"/>
              </a:rPr>
              <a:t>ports</a:t>
            </a:r>
            <a:r>
              <a:rPr lang="fr-FR" altLang="fr-FR" sz="3200" dirty="0">
                <a:latin typeface="Georgia" panose="02040502050405020303" pitchFamily="18" charset="0"/>
              </a:rPr>
              <a:t> et des </a:t>
            </a:r>
            <a:r>
              <a:rPr lang="fr-FR" altLang="fr-FR" sz="3200" b="1" dirty="0">
                <a:solidFill>
                  <a:srgbClr val="7030A0"/>
                </a:solidFill>
                <a:latin typeface="Georgia" panose="02040502050405020303" pitchFamily="18" charset="0"/>
              </a:rPr>
              <a:t>connecteurs</a:t>
            </a:r>
            <a:r>
              <a:rPr lang="fr-FR" altLang="fr-FR" sz="3200" dirty="0">
                <a:latin typeface="Georgia" panose="02040502050405020303" pitchFamily="18" charset="0"/>
              </a:rPr>
              <a:t>.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fr-FR" altLang="fr-FR" sz="3200" dirty="0">
              <a:latin typeface="Georgia" panose="02040502050405020303" pitchFamily="18" charset="0"/>
            </a:endParaRPr>
          </a:p>
          <a:p>
            <a:pPr marL="1371600" lvl="2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fr-FR" altLang="fr-FR" sz="3200" b="1" dirty="0">
                <a:solidFill>
                  <a:srgbClr val="7030A0"/>
                </a:solidFill>
                <a:latin typeface="Georgia" panose="02040502050405020303" pitchFamily="18" charset="0"/>
              </a:rPr>
              <a:t>Un port </a:t>
            </a:r>
            <a:r>
              <a:rPr lang="fr-FR" altLang="fr-FR" sz="3200" dirty="0">
                <a:latin typeface="Georgia" panose="02040502050405020303" pitchFamily="18" charset="0"/>
              </a:rPr>
              <a:t>est une petite prise sur l’ordinateur.</a:t>
            </a:r>
          </a:p>
          <a:p>
            <a:pPr marL="1371600" lvl="2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fr-FR" altLang="fr-FR" sz="3200" b="1" dirty="0">
                <a:solidFill>
                  <a:srgbClr val="7030A0"/>
                </a:solidFill>
                <a:latin typeface="Georgia" panose="02040502050405020303" pitchFamily="18" charset="0"/>
              </a:rPr>
              <a:t>Un connecteur </a:t>
            </a:r>
            <a:r>
              <a:rPr lang="fr-FR" altLang="fr-FR" sz="3200" dirty="0">
                <a:latin typeface="Georgia" panose="02040502050405020303" pitchFamily="18" charset="0"/>
              </a:rPr>
              <a:t>est le bout du câble du périphérique qu’on met dans le port.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51F4D69-987C-46FC-BD91-31C08C34321D}"/>
              </a:ext>
            </a:extLst>
          </p:cNvPr>
          <p:cNvGraphicFramePr>
            <a:graphicFrameLocks noGrp="1"/>
          </p:cNvGraphicFramePr>
          <p:nvPr/>
        </p:nvGraphicFramePr>
        <p:xfrm>
          <a:off x="4170680" y="6438762"/>
          <a:ext cx="2506345" cy="40119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06345">
                  <a:extLst>
                    <a:ext uri="{9D8B030D-6E8A-4147-A177-3AD203B41FA5}">
                      <a16:colId xmlns:a16="http://schemas.microsoft.com/office/drawing/2014/main" val="1374033411"/>
                    </a:ext>
                  </a:extLst>
                </a:gridCol>
              </a:tblGrid>
              <a:tr h="40119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dirty="0">
                          <a:effectLst/>
                        </a:rPr>
                        <a:t>X002</a:t>
                      </a:r>
                      <a:r>
                        <a:rPr lang="fr-FR" sz="1100" dirty="0">
                          <a:effectLst/>
                          <a:hlinkClick r:id="rId2" action="ppaction://hlinkfile"/>
                        </a:rPr>
                        <a:t>..\PDF\X002.pdf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433708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29945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19A048B-182C-447F-A673-9F2EFFBC5443}"/>
              </a:ext>
            </a:extLst>
          </p:cNvPr>
          <p:cNvSpPr txBox="1"/>
          <p:nvPr/>
        </p:nvSpPr>
        <p:spPr>
          <a:xfrm>
            <a:off x="0" y="0"/>
            <a:ext cx="1219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fr-FR" sz="3600" i="1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IV.	Les Logiciels Informatiques</a:t>
            </a:r>
            <a:endParaRPr lang="fr-FR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080000" lvl="1">
              <a:spcAft>
                <a:spcPts val="800"/>
              </a:spcAft>
            </a:pPr>
            <a:r>
              <a:rPr lang="fr-FR" sz="3600" i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1.	Définition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5C6E0E-71E5-4129-94A2-D183912E70A1}"/>
              </a:ext>
            </a:extLst>
          </p:cNvPr>
          <p:cNvSpPr txBox="1"/>
          <p:nvPr/>
        </p:nvSpPr>
        <p:spPr>
          <a:xfrm>
            <a:off x="439136" y="1478516"/>
            <a:ext cx="11313727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dirty="0">
                <a:latin typeface="Georgia" panose="02040502050405020303" pitchFamily="18" charset="0"/>
              </a:rPr>
              <a:t>Un logiciel est un ensemble de </a:t>
            </a:r>
            <a:r>
              <a:rPr lang="fr-FR" sz="3200" b="1" dirty="0">
                <a:solidFill>
                  <a:srgbClr val="7030A0"/>
                </a:solidFill>
                <a:latin typeface="Georgia" panose="02040502050405020303" pitchFamily="18" charset="0"/>
              </a:rPr>
              <a:t>programmes</a:t>
            </a:r>
            <a:r>
              <a:rPr lang="fr-FR" sz="3200" dirty="0">
                <a:latin typeface="Georgia" panose="02040502050405020303" pitchFamily="18" charset="0"/>
              </a:rPr>
              <a:t> qui permettent d’exploiter les ressources matérielles de l'ordinateur.</a:t>
            </a:r>
          </a:p>
          <a:p>
            <a:endParaRPr lang="fr-FR" sz="3200" dirty="0">
              <a:latin typeface="Georgia" panose="02040502050405020303" pitchFamily="18" charset="0"/>
            </a:endParaRPr>
          </a:p>
          <a:p>
            <a:r>
              <a:rPr lang="fr-FR" sz="3200" dirty="0">
                <a:latin typeface="Georgia" panose="02040502050405020303" pitchFamily="18" charset="0"/>
              </a:rPr>
              <a:t>	On distingue deux types de </a:t>
            </a:r>
            <a:r>
              <a:rPr lang="fr-FR" sz="3200" b="1" dirty="0">
                <a:solidFill>
                  <a:srgbClr val="7030A0"/>
                </a:solidFill>
                <a:latin typeface="Georgia" panose="02040502050405020303" pitchFamily="18" charset="0"/>
              </a:rPr>
              <a:t>logiciels</a:t>
            </a:r>
            <a:r>
              <a:rPr lang="fr-FR" sz="3200" dirty="0">
                <a:latin typeface="Georgia" panose="02040502050405020303" pitchFamily="18" charset="0"/>
              </a:rPr>
              <a:t> :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C3F334-6B5E-4311-8297-DDBB8ADBD7C5}"/>
              </a:ext>
            </a:extLst>
          </p:cNvPr>
          <p:cNvSpPr txBox="1"/>
          <p:nvPr/>
        </p:nvSpPr>
        <p:spPr>
          <a:xfrm>
            <a:off x="8117307" y="4261896"/>
            <a:ext cx="26148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fr-FR" sz="2800" b="1" dirty="0">
              <a:solidFill>
                <a:srgbClr val="7030A0"/>
              </a:solidFill>
              <a:latin typeface="Georgia" panose="02040502050405020303" pitchFamily="18" charset="0"/>
            </a:endParaRPr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AA948405-D763-4DC4-BD99-C832223EC252}"/>
              </a:ext>
            </a:extLst>
          </p:cNvPr>
          <p:cNvGraphicFramePr>
            <a:graphicFrameLocks noGrp="1"/>
          </p:cNvGraphicFramePr>
          <p:nvPr/>
        </p:nvGraphicFramePr>
        <p:xfrm>
          <a:off x="962025" y="4099316"/>
          <a:ext cx="10267950" cy="16156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33975">
                  <a:extLst>
                    <a:ext uri="{9D8B030D-6E8A-4147-A177-3AD203B41FA5}">
                      <a16:colId xmlns:a16="http://schemas.microsoft.com/office/drawing/2014/main" val="3408282189"/>
                    </a:ext>
                  </a:extLst>
                </a:gridCol>
                <a:gridCol w="5133975">
                  <a:extLst>
                    <a:ext uri="{9D8B030D-6E8A-4147-A177-3AD203B41FA5}">
                      <a16:colId xmlns:a16="http://schemas.microsoft.com/office/drawing/2014/main" val="1712632429"/>
                    </a:ext>
                  </a:extLst>
                </a:gridCol>
              </a:tblGrid>
              <a:tr h="161568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800" b="1" kern="1200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Les logiciels de base (système)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800" b="1" kern="1200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Les logiciels d'application</a:t>
                      </a:r>
                    </a:p>
                    <a:p>
                      <a:pPr algn="ctr"/>
                      <a:endParaRPr lang="fr-FR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2001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54675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19A048B-182C-447F-A673-9F2EFFBC5443}"/>
              </a:ext>
            </a:extLst>
          </p:cNvPr>
          <p:cNvSpPr txBox="1"/>
          <p:nvPr/>
        </p:nvSpPr>
        <p:spPr>
          <a:xfrm>
            <a:off x="0" y="0"/>
            <a:ext cx="1219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fr-FR" sz="3600" i="1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IV.	Les Logiciels Informatiques</a:t>
            </a:r>
            <a:endParaRPr lang="fr-FR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080000" lvl="1">
              <a:spcAft>
                <a:spcPts val="800"/>
              </a:spcAft>
            </a:pPr>
            <a:r>
              <a:rPr lang="fr-FR" sz="3600" i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2.	Types de logiciels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C3F334-6B5E-4311-8297-DDBB8ADBD7C5}"/>
              </a:ext>
            </a:extLst>
          </p:cNvPr>
          <p:cNvSpPr txBox="1"/>
          <p:nvPr/>
        </p:nvSpPr>
        <p:spPr>
          <a:xfrm>
            <a:off x="8117307" y="4261896"/>
            <a:ext cx="26148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fr-FR" sz="2800" b="1" dirty="0">
              <a:solidFill>
                <a:srgbClr val="7030A0"/>
              </a:solidFill>
              <a:latin typeface="Georgia" panose="02040502050405020303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880E95-98C6-423C-A42C-B46041A9E147}"/>
              </a:ext>
            </a:extLst>
          </p:cNvPr>
          <p:cNvSpPr txBox="1"/>
          <p:nvPr/>
        </p:nvSpPr>
        <p:spPr>
          <a:xfrm>
            <a:off x="1925055" y="1200329"/>
            <a:ext cx="6192252" cy="521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sz="2800" dirty="0">
                <a:solidFill>
                  <a:schemeClr val="accent2"/>
                </a:solidFill>
                <a:latin typeface="Georgia" panose="02040502050405020303" pitchFamily="18" charset="0"/>
              </a:rPr>
              <a:t> Les logiciels de base (système)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337439-66E4-498A-A94B-DD6060560E6A}"/>
              </a:ext>
            </a:extLst>
          </p:cNvPr>
          <p:cNvSpPr txBox="1"/>
          <p:nvPr/>
        </p:nvSpPr>
        <p:spPr>
          <a:xfrm>
            <a:off x="1081640" y="1844737"/>
            <a:ext cx="1056172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dirty="0">
                <a:latin typeface="Georgia" panose="02040502050405020303" pitchFamily="18" charset="0"/>
              </a:rPr>
              <a:t>Ce sont les programmes essentiels pour que l'ordinateur fonctionne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48064D-BF2F-482B-80D6-452EACCBE7D9}"/>
              </a:ext>
            </a:extLst>
          </p:cNvPr>
          <p:cNvSpPr txBox="1"/>
          <p:nvPr/>
        </p:nvSpPr>
        <p:spPr>
          <a:xfrm>
            <a:off x="1081640" y="3024534"/>
            <a:ext cx="772707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3200" b="1" dirty="0">
                <a:solidFill>
                  <a:srgbClr val="7030A0"/>
                </a:solidFill>
                <a:latin typeface="Georgia" panose="02040502050405020303" pitchFamily="18" charset="0"/>
              </a:rPr>
              <a:t> Le système d'exploitation 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r-FR" sz="3200" b="1" spc="10" dirty="0">
              <a:solidFill>
                <a:srgbClr val="7030A0"/>
              </a:solidFill>
              <a:effectLst/>
              <a:latin typeface="Georgia" panose="02040502050405020303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/>
            <a:r>
              <a:rPr lang="fr-FR" sz="1800" spc="10" dirty="0">
                <a:solidFill>
                  <a:srgbClr val="5D6566"/>
                </a:solidFill>
                <a:effectLst/>
                <a:latin typeface="Roboto" panose="020000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fr-FR" sz="3200" dirty="0">
                <a:latin typeface="Georgia" panose="02040502050405020303" pitchFamily="18" charset="0"/>
              </a:rPr>
              <a:t>Windows, </a:t>
            </a:r>
            <a:r>
              <a:rPr lang="fr-FR" sz="3200" dirty="0" err="1">
                <a:latin typeface="Georgia" panose="02040502050405020303" pitchFamily="18" charset="0"/>
              </a:rPr>
              <a:t>macOS</a:t>
            </a:r>
            <a:r>
              <a:rPr lang="fr-FR" sz="3200" dirty="0">
                <a:latin typeface="Georgia" panose="02040502050405020303" pitchFamily="18" charset="0"/>
              </a:rPr>
              <a:t>, Linux, Android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F23096-C497-44F0-847B-9EBA375AB976}"/>
              </a:ext>
            </a:extLst>
          </p:cNvPr>
          <p:cNvSpPr txBox="1"/>
          <p:nvPr/>
        </p:nvSpPr>
        <p:spPr>
          <a:xfrm>
            <a:off x="1081640" y="4785116"/>
            <a:ext cx="1056172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3200" b="1" dirty="0">
                <a:solidFill>
                  <a:srgbClr val="7030A0"/>
                </a:solidFill>
                <a:latin typeface="Georgia" panose="02040502050405020303" pitchFamily="18" charset="0"/>
              </a:rPr>
              <a:t> Les pilotes (drivers) :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r-FR" sz="3200" b="1" spc="10" dirty="0">
              <a:solidFill>
                <a:srgbClr val="7030A0"/>
              </a:solidFill>
              <a:effectLst/>
              <a:latin typeface="Georgia" panose="02040502050405020303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/>
            <a:r>
              <a:rPr lang="fr-FR" sz="3200" dirty="0">
                <a:latin typeface="Georgia" panose="02040502050405020303" pitchFamily="18" charset="0"/>
              </a:rPr>
              <a:t>pilote d'imprimante, pilote de carte graphique</a:t>
            </a:r>
          </a:p>
        </p:txBody>
      </p:sp>
    </p:spTree>
    <p:extLst>
      <p:ext uri="{BB962C8B-B14F-4D97-AF65-F5344CB8AC3E}">
        <p14:creationId xmlns:p14="http://schemas.microsoft.com/office/powerpoint/2010/main" val="21283672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19A048B-182C-447F-A673-9F2EFFBC5443}"/>
              </a:ext>
            </a:extLst>
          </p:cNvPr>
          <p:cNvSpPr txBox="1"/>
          <p:nvPr/>
        </p:nvSpPr>
        <p:spPr>
          <a:xfrm>
            <a:off x="0" y="0"/>
            <a:ext cx="1219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fr-FR" sz="3600" i="1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IV.	Les Logiciels Informatiques</a:t>
            </a:r>
            <a:endParaRPr lang="fr-FR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080000" lvl="1">
              <a:spcAft>
                <a:spcPts val="800"/>
              </a:spcAft>
            </a:pPr>
            <a:r>
              <a:rPr lang="fr-FR" sz="3600" i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2.	Types de logiciels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C3F334-6B5E-4311-8297-DDBB8ADBD7C5}"/>
              </a:ext>
            </a:extLst>
          </p:cNvPr>
          <p:cNvSpPr txBox="1"/>
          <p:nvPr/>
        </p:nvSpPr>
        <p:spPr>
          <a:xfrm>
            <a:off x="8117307" y="4261896"/>
            <a:ext cx="26148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fr-FR" sz="2800" b="1" dirty="0">
              <a:solidFill>
                <a:srgbClr val="7030A0"/>
              </a:solidFill>
              <a:latin typeface="Georgia" panose="02040502050405020303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880E95-98C6-423C-A42C-B46041A9E147}"/>
              </a:ext>
            </a:extLst>
          </p:cNvPr>
          <p:cNvSpPr txBox="1"/>
          <p:nvPr/>
        </p:nvSpPr>
        <p:spPr>
          <a:xfrm>
            <a:off x="1925055" y="1294113"/>
            <a:ext cx="6192252" cy="521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fr-FR" sz="2800" dirty="0">
                <a:solidFill>
                  <a:schemeClr val="accent2"/>
                </a:solidFill>
                <a:latin typeface="Georgia" panose="02040502050405020303" pitchFamily="18" charset="0"/>
              </a:rPr>
              <a:t>B.	Les logiciels d'application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337439-66E4-498A-A94B-DD6060560E6A}"/>
              </a:ext>
            </a:extLst>
          </p:cNvPr>
          <p:cNvSpPr txBox="1"/>
          <p:nvPr/>
        </p:nvSpPr>
        <p:spPr>
          <a:xfrm>
            <a:off x="533786" y="1953228"/>
            <a:ext cx="1112442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dirty="0">
                <a:latin typeface="Georgia" panose="02040502050405020303" pitchFamily="18" charset="0"/>
              </a:rPr>
              <a:t>Ce sont les programmes que nous utilisons pour faire nos tâches quotidiennes :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48064D-BF2F-482B-80D6-452EACCBE7D9}"/>
              </a:ext>
            </a:extLst>
          </p:cNvPr>
          <p:cNvSpPr txBox="1"/>
          <p:nvPr/>
        </p:nvSpPr>
        <p:spPr>
          <a:xfrm>
            <a:off x="1697659" y="3519053"/>
            <a:ext cx="772707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3200" b="1" dirty="0">
                <a:solidFill>
                  <a:srgbClr val="7030A0"/>
                </a:solidFill>
                <a:latin typeface="Georgia" panose="02040502050405020303" pitchFamily="18" charset="0"/>
              </a:rPr>
              <a:t> Logiciels de bureautique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r-FR" sz="3200" b="1" dirty="0">
              <a:solidFill>
                <a:srgbClr val="7030A0"/>
              </a:solidFill>
              <a:latin typeface="Georgia" panose="020405020504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3200" b="1" dirty="0">
                <a:solidFill>
                  <a:srgbClr val="7030A0"/>
                </a:solidFill>
                <a:latin typeface="Georgia" panose="02040502050405020303" pitchFamily="18" charset="0"/>
              </a:rPr>
              <a:t> Logiciels de communication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r-FR" sz="3200" b="1" dirty="0">
              <a:solidFill>
                <a:srgbClr val="7030A0"/>
              </a:solidFill>
              <a:latin typeface="Georgia" panose="020405020504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3200" b="1" dirty="0">
                <a:solidFill>
                  <a:srgbClr val="7030A0"/>
                </a:solidFill>
                <a:latin typeface="Georgia" panose="02040502050405020303" pitchFamily="18" charset="0"/>
              </a:rPr>
              <a:t> Logiciels éducatifs</a:t>
            </a:r>
          </a:p>
        </p:txBody>
      </p:sp>
      <p:sp>
        <p:nvSpPr>
          <p:cNvPr id="2" name="Action Button: Document 1">
            <a:hlinkClick r:id="rId3" action="ppaction://hlinkfile" highlightClick="1"/>
            <a:extLst>
              <a:ext uri="{FF2B5EF4-FFF2-40B4-BE49-F238E27FC236}">
                <a16:creationId xmlns:a16="http://schemas.microsoft.com/office/drawing/2014/main" id="{1D847BC4-0693-4546-BDF8-939CE21E1CD2}"/>
              </a:ext>
            </a:extLst>
          </p:cNvPr>
          <p:cNvSpPr/>
          <p:nvPr/>
        </p:nvSpPr>
        <p:spPr>
          <a:xfrm>
            <a:off x="9848850" y="5254234"/>
            <a:ext cx="1038225" cy="1200150"/>
          </a:xfrm>
          <a:prstGeom prst="actionButtonDocumen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11528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7E6E73C-5740-41DA-8838-EE0A66E4B2D6}"/>
              </a:ext>
            </a:extLst>
          </p:cNvPr>
          <p:cNvSpPr txBox="1"/>
          <p:nvPr/>
        </p:nvSpPr>
        <p:spPr>
          <a:xfrm>
            <a:off x="4994029" y="137332"/>
            <a:ext cx="16177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2400" b="1" i="0" dirty="0">
                <a:solidFill>
                  <a:schemeClr val="accent1"/>
                </a:solidFill>
                <a:effectLst/>
                <a:latin typeface="Roboto" panose="02000000000000000000" pitchFamily="2" charset="0"/>
              </a:rPr>
              <a:t> Activité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CBC7BC-88B8-4CFE-A38D-3D1C0FC39484}"/>
              </a:ext>
            </a:extLst>
          </p:cNvPr>
          <p:cNvSpPr txBox="1"/>
          <p:nvPr/>
        </p:nvSpPr>
        <p:spPr>
          <a:xfrm>
            <a:off x="105507" y="710753"/>
            <a:ext cx="6885843" cy="4855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3000" dirty="0">
                <a:latin typeface="Georgia" panose="02040502050405020303" pitchFamily="18" charset="0"/>
              </a:rPr>
              <a:t>Un élève a un </a:t>
            </a:r>
            <a:r>
              <a:rPr lang="fr-FR" sz="3000" b="1" dirty="0">
                <a:latin typeface="Georgia" panose="02040502050405020303" pitchFamily="18" charset="0"/>
              </a:rPr>
              <a:t>ordinateur</a:t>
            </a:r>
            <a:r>
              <a:rPr lang="fr-FR" sz="3000" dirty="0">
                <a:latin typeface="Georgia" panose="02040502050405020303" pitchFamily="18" charset="0"/>
              </a:rPr>
              <a:t> neuf. Il a l’</a:t>
            </a:r>
            <a:r>
              <a:rPr lang="fr-FR" sz="3000" b="1" dirty="0">
                <a:latin typeface="Georgia" panose="02040502050405020303" pitchFamily="18" charset="0"/>
              </a:rPr>
              <a:t>écran</a:t>
            </a:r>
            <a:r>
              <a:rPr lang="fr-FR" sz="3000" dirty="0">
                <a:latin typeface="Georgia" panose="02040502050405020303" pitchFamily="18" charset="0"/>
              </a:rPr>
              <a:t>, la </a:t>
            </a:r>
            <a:r>
              <a:rPr lang="fr-FR" sz="3000" b="1" dirty="0">
                <a:latin typeface="Georgia" panose="02040502050405020303" pitchFamily="18" charset="0"/>
              </a:rPr>
              <a:t>souris</a:t>
            </a:r>
            <a:r>
              <a:rPr lang="fr-FR" sz="3000" dirty="0">
                <a:latin typeface="Georgia" panose="02040502050405020303" pitchFamily="18" charset="0"/>
              </a:rPr>
              <a:t>, le </a:t>
            </a:r>
            <a:r>
              <a:rPr lang="fr-FR" sz="3000" b="1" dirty="0">
                <a:latin typeface="Georgia" panose="02040502050405020303" pitchFamily="18" charset="0"/>
              </a:rPr>
              <a:t>clavier </a:t>
            </a:r>
            <a:r>
              <a:rPr lang="fr-FR" sz="3000" dirty="0">
                <a:latin typeface="Georgia" panose="02040502050405020303" pitchFamily="18" charset="0"/>
              </a:rPr>
              <a:t>et </a:t>
            </a:r>
            <a:r>
              <a:rPr lang="fr-FR" sz="3000" b="1" dirty="0">
                <a:latin typeface="Georgia" panose="02040502050405020303" pitchFamily="18" charset="0"/>
              </a:rPr>
              <a:t>l’unité centrale</a:t>
            </a:r>
            <a:r>
              <a:rPr lang="fr-FR" sz="3000" dirty="0">
                <a:latin typeface="Georgia" panose="02040502050405020303" pitchFamily="18" charset="0"/>
              </a:rPr>
              <a:t>. Quand il allume, rien ne s’affiche à part un </a:t>
            </a:r>
            <a:r>
              <a:rPr lang="fr-FR" sz="3000" b="1" dirty="0">
                <a:latin typeface="Georgia" panose="02040502050405020303" pitchFamily="18" charset="0"/>
              </a:rPr>
              <a:t>écran noir</a:t>
            </a:r>
            <a:r>
              <a:rPr lang="fr-FR" sz="3000" dirty="0">
                <a:latin typeface="Georgia" panose="02040502050405020303" pitchFamily="18" charset="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fr-FR" sz="3000" b="1" dirty="0">
                <a:solidFill>
                  <a:srgbClr val="7030A0"/>
                </a:solidFill>
                <a:latin typeface="Georgia" panose="02040502050405020303" pitchFamily="18" charset="0"/>
              </a:rPr>
              <a:t>Pourquoi son ordinateur ne peut pas encore lui permettre de travailler ?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EC8003F-F149-454B-AE3D-AA0E05EAE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6615" y="368164"/>
            <a:ext cx="4208389" cy="280000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5655112-BB6D-4181-A117-6A6C37A4E882}"/>
              </a:ext>
            </a:extLst>
          </p:cNvPr>
          <p:cNvSpPr txBox="1"/>
          <p:nvPr/>
        </p:nvSpPr>
        <p:spPr>
          <a:xfrm>
            <a:off x="586251" y="4427733"/>
            <a:ext cx="11019497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3200" dirty="0">
                <a:latin typeface="Georgia" panose="02040502050405020303" pitchFamily="18" charset="0"/>
              </a:rPr>
              <a:t>Est-ce que le matériel seul suffit 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fr-FR" altLang="fr-FR" sz="3200" dirty="0">
              <a:latin typeface="Georgia" panose="020405020504050203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3200" dirty="0">
                <a:latin typeface="Georgia" panose="02040502050405020303" pitchFamily="18" charset="0"/>
              </a:rPr>
              <a:t>Qu’est-ce qui manque pour que l’ordinateur puisse fonctionner et exécuter des tâches ?</a:t>
            </a:r>
          </a:p>
        </p:txBody>
      </p:sp>
    </p:spTree>
    <p:extLst>
      <p:ext uri="{BB962C8B-B14F-4D97-AF65-F5344CB8AC3E}">
        <p14:creationId xmlns:p14="http://schemas.microsoft.com/office/powerpoint/2010/main" val="11743665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9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19A048B-182C-447F-A673-9F2EFFBC5443}"/>
              </a:ext>
            </a:extLst>
          </p:cNvPr>
          <p:cNvSpPr txBox="1"/>
          <p:nvPr/>
        </p:nvSpPr>
        <p:spPr>
          <a:xfrm>
            <a:off x="0" y="275385"/>
            <a:ext cx="1219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0" lvl="0" indent="-857250">
              <a:buAutoNum type="romanUcPeriod" startAt="5"/>
            </a:pPr>
            <a:r>
              <a:rPr lang="fr-FR" sz="3600" i="1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Système informatique</a:t>
            </a:r>
            <a:endParaRPr lang="fr-FR" sz="3600" i="1" dirty="0">
              <a:ln>
                <a:noFill/>
              </a:ln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857250" lvl="0" indent="-857250">
              <a:buAutoNum type="romanUcPeriod" startAt="5"/>
            </a:pPr>
            <a:endParaRPr lang="fr-FR" sz="3600" i="1" dirty="0">
              <a:solidFill>
                <a:srgbClr val="00B050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C3F334-6B5E-4311-8297-DDBB8ADBD7C5}"/>
              </a:ext>
            </a:extLst>
          </p:cNvPr>
          <p:cNvSpPr txBox="1"/>
          <p:nvPr/>
        </p:nvSpPr>
        <p:spPr>
          <a:xfrm>
            <a:off x="8117307" y="4261896"/>
            <a:ext cx="26148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fr-FR" sz="2800" b="1" dirty="0">
              <a:solidFill>
                <a:srgbClr val="7030A0"/>
              </a:solidFill>
              <a:latin typeface="Georgia" panose="02040502050405020303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337439-66E4-498A-A94B-DD6060560E6A}"/>
              </a:ext>
            </a:extLst>
          </p:cNvPr>
          <p:cNvSpPr txBox="1"/>
          <p:nvPr/>
        </p:nvSpPr>
        <p:spPr>
          <a:xfrm>
            <a:off x="832724" y="2923068"/>
            <a:ext cx="84867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dirty="0">
                <a:latin typeface="Georgia" panose="02040502050405020303" pitchFamily="18" charset="0"/>
              </a:rPr>
              <a:t>Il est composé de deux éléments essentiels 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7CD252-9BF3-468B-82C8-22C67AC74BD8}"/>
              </a:ext>
            </a:extLst>
          </p:cNvPr>
          <p:cNvSpPr txBox="1"/>
          <p:nvPr/>
        </p:nvSpPr>
        <p:spPr>
          <a:xfrm>
            <a:off x="416362" y="1277209"/>
            <a:ext cx="1135927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dirty="0">
                <a:latin typeface="Georgia" panose="02040502050405020303" pitchFamily="18" charset="0"/>
              </a:rPr>
              <a:t>Un système informatique est un ensemble d'éléments qui travaillent </a:t>
            </a:r>
            <a:r>
              <a:rPr lang="fr-FR" sz="3200" b="1" dirty="0">
                <a:solidFill>
                  <a:srgbClr val="7030A0"/>
                </a:solidFill>
                <a:latin typeface="Georgia" panose="02040502050405020303" pitchFamily="18" charset="0"/>
              </a:rPr>
              <a:t>ensemble</a:t>
            </a:r>
            <a:r>
              <a:rPr lang="fr-FR" sz="3200" dirty="0">
                <a:latin typeface="Georgia" panose="02040502050405020303" pitchFamily="18" charset="0"/>
              </a:rPr>
              <a:t> pour </a:t>
            </a:r>
            <a:r>
              <a:rPr lang="fr-FR" sz="3200" b="1" dirty="0">
                <a:solidFill>
                  <a:srgbClr val="7030A0"/>
                </a:solidFill>
                <a:latin typeface="Georgia" panose="02040502050405020303" pitchFamily="18" charset="0"/>
              </a:rPr>
              <a:t>traiter l'information </a:t>
            </a:r>
            <a:r>
              <a:rPr lang="fr-FR" sz="3200" dirty="0">
                <a:latin typeface="Georgia" panose="02040502050405020303" pitchFamily="18" charset="0"/>
              </a:rPr>
              <a:t>de manière </a:t>
            </a:r>
            <a:r>
              <a:rPr lang="fr-FR" sz="3200" b="1" dirty="0">
                <a:solidFill>
                  <a:srgbClr val="7030A0"/>
                </a:solidFill>
                <a:latin typeface="Georgia" panose="02040502050405020303" pitchFamily="18" charset="0"/>
              </a:rPr>
              <a:t>automatique</a:t>
            </a:r>
            <a:r>
              <a:rPr lang="fr-FR" sz="3200" dirty="0">
                <a:latin typeface="Georgia" panose="02040502050405020303" pitchFamily="18" charset="0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0BAED0-1BB6-47D7-B957-9E984F89CF40}"/>
              </a:ext>
            </a:extLst>
          </p:cNvPr>
          <p:cNvSpPr txBox="1"/>
          <p:nvPr/>
        </p:nvSpPr>
        <p:spPr>
          <a:xfrm>
            <a:off x="1618171" y="4109497"/>
            <a:ext cx="895565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3200" b="1" dirty="0">
                <a:solidFill>
                  <a:srgbClr val="7030A0"/>
                </a:solidFill>
                <a:latin typeface="Georgia" panose="02040502050405020303" pitchFamily="18" charset="0"/>
              </a:rPr>
              <a:t>Le matériel informatique (hardware)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r-FR" sz="3200" b="1" dirty="0">
              <a:solidFill>
                <a:srgbClr val="7030A0"/>
              </a:solidFill>
              <a:latin typeface="Georgia" panose="020405020504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3200" b="1" dirty="0">
                <a:solidFill>
                  <a:srgbClr val="7030A0"/>
                </a:solidFill>
                <a:latin typeface="Georgia" panose="02040502050405020303" pitchFamily="18" charset="0"/>
              </a:rPr>
              <a:t> logiciels (software)</a:t>
            </a:r>
          </a:p>
        </p:txBody>
      </p:sp>
    </p:spTree>
    <p:extLst>
      <p:ext uri="{BB962C8B-B14F-4D97-AF65-F5344CB8AC3E}">
        <p14:creationId xmlns:p14="http://schemas.microsoft.com/office/powerpoint/2010/main" val="13560230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19A048B-182C-447F-A673-9F2EFFBC5443}"/>
              </a:ext>
            </a:extLst>
          </p:cNvPr>
          <p:cNvSpPr txBox="1"/>
          <p:nvPr/>
        </p:nvSpPr>
        <p:spPr>
          <a:xfrm>
            <a:off x="0" y="0"/>
            <a:ext cx="1219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0" lvl="0" indent="-857250">
              <a:buAutoNum type="romanUcPeriod" startAt="5"/>
            </a:pPr>
            <a:r>
              <a:rPr lang="fr-FR" sz="3600" i="1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Système informatique</a:t>
            </a:r>
            <a:endParaRPr lang="fr-FR" sz="3600" i="1" dirty="0">
              <a:ln>
                <a:noFill/>
              </a:ln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857250" lvl="0" indent="-857250">
              <a:buAutoNum type="romanUcPeriod" startAt="5"/>
            </a:pPr>
            <a:endParaRPr lang="fr-FR" sz="3600" i="1" dirty="0">
              <a:solidFill>
                <a:srgbClr val="00B050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C3F334-6B5E-4311-8297-DDBB8ADBD7C5}"/>
              </a:ext>
            </a:extLst>
          </p:cNvPr>
          <p:cNvSpPr txBox="1"/>
          <p:nvPr/>
        </p:nvSpPr>
        <p:spPr>
          <a:xfrm>
            <a:off x="8117307" y="4261896"/>
            <a:ext cx="26148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fr-FR" sz="2800" b="1" dirty="0">
              <a:solidFill>
                <a:srgbClr val="7030A0"/>
              </a:solidFill>
              <a:latin typeface="Georgia" panose="02040502050405020303" pitchFamily="18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D311597-EF1C-46C1-B573-16612E854222}"/>
              </a:ext>
            </a:extLst>
          </p:cNvPr>
          <p:cNvSpPr/>
          <p:nvPr/>
        </p:nvSpPr>
        <p:spPr>
          <a:xfrm>
            <a:off x="1459830" y="1036205"/>
            <a:ext cx="9278508" cy="5458379"/>
          </a:xfrm>
          <a:prstGeom prst="roundRect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386500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19A048B-182C-447F-A673-9F2EFFBC5443}"/>
              </a:ext>
            </a:extLst>
          </p:cNvPr>
          <p:cNvSpPr txBox="1"/>
          <p:nvPr/>
        </p:nvSpPr>
        <p:spPr>
          <a:xfrm>
            <a:off x="0" y="0"/>
            <a:ext cx="1219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0" lvl="0" indent="-857250">
              <a:buAutoNum type="romanUcPeriod" startAt="5"/>
            </a:pPr>
            <a:r>
              <a:rPr lang="fr-FR" sz="3600" i="1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Système informatique</a:t>
            </a:r>
            <a:endParaRPr lang="fr-FR" sz="3600" i="1" dirty="0">
              <a:ln>
                <a:noFill/>
              </a:ln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857250" lvl="0" indent="-857250">
              <a:buAutoNum type="romanUcPeriod" startAt="5"/>
            </a:pPr>
            <a:endParaRPr lang="fr-FR" sz="3600" i="1" dirty="0">
              <a:solidFill>
                <a:srgbClr val="00B050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C3F334-6B5E-4311-8297-DDBB8ADBD7C5}"/>
              </a:ext>
            </a:extLst>
          </p:cNvPr>
          <p:cNvSpPr txBox="1"/>
          <p:nvPr/>
        </p:nvSpPr>
        <p:spPr>
          <a:xfrm>
            <a:off x="8117307" y="4261896"/>
            <a:ext cx="26148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fr-FR" sz="2800" b="1" dirty="0">
              <a:solidFill>
                <a:srgbClr val="7030A0"/>
              </a:solidFill>
              <a:latin typeface="Georgia" panose="02040502050405020303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337439-66E4-498A-A94B-DD6060560E6A}"/>
              </a:ext>
            </a:extLst>
          </p:cNvPr>
          <p:cNvSpPr txBox="1"/>
          <p:nvPr/>
        </p:nvSpPr>
        <p:spPr>
          <a:xfrm>
            <a:off x="1459830" y="1836235"/>
            <a:ext cx="9816999" cy="38806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3200" b="1" dirty="0">
                <a:solidFill>
                  <a:srgbClr val="7030A0"/>
                </a:solidFill>
                <a:latin typeface="Georgia" panose="02040502050405020303" pitchFamily="18" charset="0"/>
              </a:rPr>
              <a:t>Matériel : </a:t>
            </a:r>
            <a:r>
              <a:rPr lang="fr-FR" sz="3200" dirty="0">
                <a:latin typeface="Georgia" panose="02040502050405020303" pitchFamily="18" charset="0"/>
              </a:rPr>
              <a:t>Un ordinateur avec clavier et écran</a:t>
            </a: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3200" b="1" dirty="0">
                <a:solidFill>
                  <a:srgbClr val="7030A0"/>
                </a:solidFill>
                <a:latin typeface="Georgia" panose="02040502050405020303" pitchFamily="18" charset="0"/>
              </a:rPr>
              <a:t>Logiciel : </a:t>
            </a:r>
            <a:r>
              <a:rPr lang="fr-FR" sz="3200" dirty="0">
                <a:latin typeface="Georgia" panose="02040502050405020303" pitchFamily="18" charset="0"/>
              </a:rPr>
              <a:t>Microsoft Word</a:t>
            </a: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3200" b="1" dirty="0">
                <a:solidFill>
                  <a:srgbClr val="7030A0"/>
                </a:solidFill>
                <a:latin typeface="Georgia" panose="02040502050405020303" pitchFamily="18" charset="0"/>
              </a:rPr>
              <a:t>Résultat : </a:t>
            </a:r>
            <a:r>
              <a:rPr lang="fr-FR" sz="3200" dirty="0">
                <a:latin typeface="Georgia" panose="02040502050405020303" pitchFamily="18" charset="0"/>
              </a:rPr>
              <a:t>Je peux taper un texte sur le clavier, Word le traite, et le texte apparaît sur l'écran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46B733-95BF-4970-99FB-42A7F595833B}"/>
              </a:ext>
            </a:extLst>
          </p:cNvPr>
          <p:cNvSpPr txBox="1"/>
          <p:nvPr/>
        </p:nvSpPr>
        <p:spPr>
          <a:xfrm>
            <a:off x="1925055" y="939680"/>
            <a:ext cx="4170945" cy="521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fr-FR" sz="2800" dirty="0">
                <a:solidFill>
                  <a:schemeClr val="accent2"/>
                </a:solidFill>
                <a:latin typeface="Georgia" panose="02040502050405020303" pitchFamily="18" charset="0"/>
              </a:rPr>
              <a:t>Exemple :</a:t>
            </a:r>
          </a:p>
        </p:txBody>
      </p:sp>
    </p:spTree>
    <p:extLst>
      <p:ext uri="{BB962C8B-B14F-4D97-AF65-F5344CB8AC3E}">
        <p14:creationId xmlns:p14="http://schemas.microsoft.com/office/powerpoint/2010/main" val="9836402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71EECD-6D2F-4D51-A916-EBF9A4ED3356}"/>
              </a:ext>
            </a:extLst>
          </p:cNvPr>
          <p:cNvSpPr txBox="1"/>
          <p:nvPr/>
        </p:nvSpPr>
        <p:spPr>
          <a:xfrm>
            <a:off x="180975" y="2151727"/>
            <a:ext cx="1201102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dirty="0">
                <a:latin typeface="Georgia" panose="02040502050405020303" pitchFamily="18" charset="0"/>
              </a:rPr>
              <a:t>Encadrez les objets qui sont </a:t>
            </a:r>
            <a:r>
              <a:rPr lang="fr-FR" sz="3200" b="1" dirty="0">
                <a:latin typeface="Georgia" panose="02040502050405020303" pitchFamily="18" charset="0"/>
              </a:rPr>
              <a:t>des systèmes de traitement </a:t>
            </a:r>
            <a:r>
              <a:rPr lang="fr-FR" sz="3200" b="1">
                <a:latin typeface="Georgia" panose="02040502050405020303" pitchFamily="18" charset="0"/>
              </a:rPr>
              <a:t>automatique de </a:t>
            </a:r>
            <a:r>
              <a:rPr lang="fr-FR" sz="3200" b="1" dirty="0">
                <a:latin typeface="Georgia" panose="02040502050405020303" pitchFamily="18" charset="0"/>
              </a:rPr>
              <a:t>l’information</a:t>
            </a:r>
            <a:r>
              <a:rPr lang="fr-FR" sz="3200" dirty="0">
                <a:latin typeface="Georgia" panose="02040502050405020303" pitchFamily="18" charset="0"/>
              </a:rPr>
              <a:t> :</a:t>
            </a:r>
          </a:p>
          <a:p>
            <a:r>
              <a:rPr lang="fr-FR" sz="3200" dirty="0">
                <a:latin typeface="Georgia" panose="02040502050405020303" pitchFamily="18" charset="0"/>
              </a:rPr>
              <a:t>- - - - - -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056FA1-A51D-4F61-8FAD-CC352B82418C}"/>
              </a:ext>
            </a:extLst>
          </p:cNvPr>
          <p:cNvSpPr txBox="1"/>
          <p:nvPr/>
        </p:nvSpPr>
        <p:spPr>
          <a:xfrm>
            <a:off x="180975" y="1253609"/>
            <a:ext cx="18192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</a:rPr>
              <a:t>EXERCICE 1)</a:t>
            </a:r>
            <a:endParaRPr lang="fr-FR" sz="24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3DE6E7-678C-4171-A764-3B9D3A75EC07}"/>
              </a:ext>
            </a:extLst>
          </p:cNvPr>
          <p:cNvSpPr txBox="1"/>
          <p:nvPr/>
        </p:nvSpPr>
        <p:spPr>
          <a:xfrm>
            <a:off x="180975" y="3729082"/>
            <a:ext cx="13239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dirty="0">
                <a:latin typeface="Georgia" panose="02040502050405020303" pitchFamily="18" charset="0"/>
              </a:rPr>
              <a:t>Stylo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E1EF78-BF56-48F2-8740-F14204A92322}"/>
              </a:ext>
            </a:extLst>
          </p:cNvPr>
          <p:cNvSpPr txBox="1"/>
          <p:nvPr/>
        </p:nvSpPr>
        <p:spPr>
          <a:xfrm>
            <a:off x="180975" y="4616722"/>
            <a:ext cx="23907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dirty="0">
                <a:latin typeface="Georgia" panose="02040502050405020303" pitchFamily="18" charset="0"/>
              </a:rPr>
              <a:t>calculatrice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29B19F-BD79-4C7B-9164-57341EC5FDF4}"/>
              </a:ext>
            </a:extLst>
          </p:cNvPr>
          <p:cNvSpPr txBox="1"/>
          <p:nvPr/>
        </p:nvSpPr>
        <p:spPr>
          <a:xfrm>
            <a:off x="5141118" y="4594753"/>
            <a:ext cx="190976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dirty="0">
                <a:latin typeface="Georgia" panose="02040502050405020303" pitchFamily="18" charset="0"/>
              </a:rPr>
              <a:t>Cd-rom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480DE5-AAC8-4269-B50E-B9EB245A557D}"/>
              </a:ext>
            </a:extLst>
          </p:cNvPr>
          <p:cNvSpPr txBox="1"/>
          <p:nvPr/>
        </p:nvSpPr>
        <p:spPr>
          <a:xfrm>
            <a:off x="7410450" y="4594752"/>
            <a:ext cx="36861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dirty="0">
                <a:latin typeface="Georgia" panose="02040502050405020303" pitchFamily="18" charset="0"/>
              </a:rPr>
              <a:t>téléphone</a:t>
            </a:r>
            <a:r>
              <a:rPr lang="fr-FR" sz="1800" dirty="0">
                <a:latin typeface="Georgia" panose="02040502050405020303" pitchFamily="18" charset="0"/>
              </a:rPr>
              <a:t> </a:t>
            </a:r>
            <a:r>
              <a:rPr lang="fr-FR" sz="3200" dirty="0">
                <a:latin typeface="Georgia" panose="02040502050405020303" pitchFamily="18" charset="0"/>
              </a:rPr>
              <a:t>portable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10F3FFC-4581-448D-9BD3-0A9A5300FC92}"/>
              </a:ext>
            </a:extLst>
          </p:cNvPr>
          <p:cNvSpPr txBox="1"/>
          <p:nvPr/>
        </p:nvSpPr>
        <p:spPr>
          <a:xfrm>
            <a:off x="5572125" y="3710164"/>
            <a:ext cx="6324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dirty="0">
                <a:latin typeface="Georgia" panose="02040502050405020303" pitchFamily="18" charset="0"/>
              </a:rPr>
              <a:t>appareil</a:t>
            </a:r>
            <a:r>
              <a:rPr lang="fr-FR" sz="1800" dirty="0">
                <a:latin typeface="Georgia" panose="02040502050405020303" pitchFamily="18" charset="0"/>
              </a:rPr>
              <a:t> </a:t>
            </a:r>
            <a:r>
              <a:rPr lang="fr-FR" sz="3200" dirty="0">
                <a:latin typeface="Georgia" panose="02040502050405020303" pitchFamily="18" charset="0"/>
              </a:rPr>
              <a:t>photo</a:t>
            </a:r>
            <a:r>
              <a:rPr lang="fr-FR" sz="1800" dirty="0">
                <a:latin typeface="Georgia" panose="02040502050405020303" pitchFamily="18" charset="0"/>
              </a:rPr>
              <a:t> </a:t>
            </a:r>
            <a:r>
              <a:rPr lang="fr-FR" sz="3200" dirty="0">
                <a:latin typeface="Georgia" panose="02040502050405020303" pitchFamily="18" charset="0"/>
              </a:rPr>
              <a:t>numérique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1541716-42A1-44A0-AB6C-F1FAA2C61FE7}"/>
              </a:ext>
            </a:extLst>
          </p:cNvPr>
          <p:cNvSpPr txBox="1"/>
          <p:nvPr/>
        </p:nvSpPr>
        <p:spPr>
          <a:xfrm>
            <a:off x="3138487" y="4594754"/>
            <a:ext cx="15144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dirty="0">
                <a:latin typeface="Georgia" panose="02040502050405020303" pitchFamily="18" charset="0"/>
              </a:rPr>
              <a:t>cahier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77A32B5-19AA-4C81-B9E2-8722587B4CE0}"/>
              </a:ext>
            </a:extLst>
          </p:cNvPr>
          <p:cNvSpPr txBox="1"/>
          <p:nvPr/>
        </p:nvSpPr>
        <p:spPr>
          <a:xfrm>
            <a:off x="1743075" y="3721387"/>
            <a:ext cx="34099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dirty="0">
                <a:latin typeface="Georgia" panose="02040502050405020303" pitchFamily="18" charset="0"/>
              </a:rPr>
              <a:t>mixeur</a:t>
            </a:r>
            <a:r>
              <a:rPr lang="fr-FR" sz="1800" dirty="0">
                <a:latin typeface="Georgia" panose="02040502050405020303" pitchFamily="18" charset="0"/>
              </a:rPr>
              <a:t> </a:t>
            </a:r>
            <a:r>
              <a:rPr lang="fr-FR" sz="3200" dirty="0">
                <a:latin typeface="Georgia" panose="02040502050405020303" pitchFamily="18" charset="0"/>
              </a:rPr>
              <a:t>électrique</a:t>
            </a:r>
          </a:p>
        </p:txBody>
      </p:sp>
    </p:spTree>
    <p:extLst>
      <p:ext uri="{BB962C8B-B14F-4D97-AF65-F5344CB8AC3E}">
        <p14:creationId xmlns:p14="http://schemas.microsoft.com/office/powerpoint/2010/main" val="14360162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3.75E-6 -4.81481E-6 L 0.04609 -0.07245 " pathEditMode="relative" rAng="0" ptsTypes="AA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05" y="-3634"/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50"/>
                            </p:stCondLst>
                            <p:childTnLst>
                              <p:par>
                                <p:cTn id="12" presetID="1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4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4.16667E-7 2.96296E-6 L 0.03854 -0.06065 " pathEditMode="relative" rAng="0" ptsTypes="AA">
                                      <p:cBhvr>
                                        <p:cTn id="19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27" y="-3032"/>
                                    </p:animMotion>
                                    <p:animRot by="1500000">
                                      <p:cBhvr>
                                        <p:cTn id="20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1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2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3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300"/>
                            </p:stCondLst>
                            <p:childTnLst>
                              <p:par>
                                <p:cTn id="25" presetID="16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6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7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8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allAtOnce"/>
      <p:bldP spid="21" grpId="0"/>
      <p:bldP spid="21" grpId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71EECD-6D2F-4D51-A916-EBF9A4ED3356}"/>
              </a:ext>
            </a:extLst>
          </p:cNvPr>
          <p:cNvSpPr txBox="1"/>
          <p:nvPr/>
        </p:nvSpPr>
        <p:spPr>
          <a:xfrm>
            <a:off x="180975" y="696099"/>
            <a:ext cx="1143952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dirty="0"/>
              <a:t>Classez les périphériques suivants dans le tableau :</a:t>
            </a:r>
          </a:p>
          <a:p>
            <a:endParaRPr lang="fr-FR" sz="3200" dirty="0"/>
          </a:p>
          <a:p>
            <a:r>
              <a:rPr lang="fr-FR" sz="3200" b="1" dirty="0"/>
              <a:t>‘Souris’—’Imprimante’—’Microphone’—’Écran’—’Scanner’</a:t>
            </a:r>
          </a:p>
          <a:p>
            <a:r>
              <a:rPr lang="fr-FR" sz="3200" b="1" dirty="0"/>
              <a:t>’Haut-parleur’—’Clé USB’—’Écran tactile’—’clavier’—’Web cam’</a:t>
            </a:r>
          </a:p>
          <a:p>
            <a:r>
              <a:rPr lang="fr-FR" sz="3200" b="1" dirty="0"/>
              <a:t>’disque dur’—’modem’—’vidéo projecteur’</a:t>
            </a:r>
            <a:endParaRPr lang="fr-FR" sz="3200" b="1" dirty="0">
              <a:latin typeface="Georgia" panose="020405020504050203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056FA1-A51D-4F61-8FAD-CC352B82418C}"/>
              </a:ext>
            </a:extLst>
          </p:cNvPr>
          <p:cNvSpPr txBox="1"/>
          <p:nvPr/>
        </p:nvSpPr>
        <p:spPr>
          <a:xfrm>
            <a:off x="180975" y="234434"/>
            <a:ext cx="18192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</a:rPr>
              <a:t>EXERCICE 2)</a:t>
            </a:r>
            <a:endParaRPr lang="fr-FR" sz="2400" b="1" dirty="0"/>
          </a:p>
        </p:txBody>
      </p:sp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B1A34F41-2A26-44A2-84C2-9A479D47A6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9599909"/>
              </p:ext>
            </p:extLst>
          </p:nvPr>
        </p:nvGraphicFramePr>
        <p:xfrm>
          <a:off x="307975" y="3607357"/>
          <a:ext cx="11439525" cy="27553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3175">
                  <a:extLst>
                    <a:ext uri="{9D8B030D-6E8A-4147-A177-3AD203B41FA5}">
                      <a16:colId xmlns:a16="http://schemas.microsoft.com/office/drawing/2014/main" val="2200944214"/>
                    </a:ext>
                  </a:extLst>
                </a:gridCol>
                <a:gridCol w="3813175">
                  <a:extLst>
                    <a:ext uri="{9D8B030D-6E8A-4147-A177-3AD203B41FA5}">
                      <a16:colId xmlns:a16="http://schemas.microsoft.com/office/drawing/2014/main" val="2800369448"/>
                    </a:ext>
                  </a:extLst>
                </a:gridCol>
                <a:gridCol w="3813175">
                  <a:extLst>
                    <a:ext uri="{9D8B030D-6E8A-4147-A177-3AD203B41FA5}">
                      <a16:colId xmlns:a16="http://schemas.microsoft.com/office/drawing/2014/main" val="3639319662"/>
                    </a:ext>
                  </a:extLst>
                </a:gridCol>
              </a:tblGrid>
              <a:tr h="795653"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</a:rPr>
                        <a:t>Périphériques d'entrée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</a:rPr>
                        <a:t>Périphériques de sortie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</a:rPr>
                        <a:t>Périphériques d'entrée/sortie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7346011"/>
                  </a:ext>
                </a:extLst>
              </a:tr>
              <a:tr h="1959690"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82739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54138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71EECD-6D2F-4D51-A916-EBF9A4ED3356}"/>
              </a:ext>
            </a:extLst>
          </p:cNvPr>
          <p:cNvSpPr txBox="1"/>
          <p:nvPr/>
        </p:nvSpPr>
        <p:spPr>
          <a:xfrm>
            <a:off x="180975" y="696099"/>
            <a:ext cx="1143952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dirty="0"/>
              <a:t>Classez les périphériques suivants dans le tableau :</a:t>
            </a:r>
          </a:p>
          <a:p>
            <a:endParaRPr lang="fr-FR" sz="3200" dirty="0"/>
          </a:p>
          <a:p>
            <a:r>
              <a:rPr lang="fr-FR" sz="3200" b="1" dirty="0"/>
              <a:t>‘Souris’—’Imprimante’—’Microphone’—’Écran’—’Scanner’</a:t>
            </a:r>
          </a:p>
          <a:p>
            <a:r>
              <a:rPr lang="fr-FR" sz="3200" b="1" dirty="0"/>
              <a:t>’Haut-parleur’—’Clé USB’—’Écran tactile’—’clavier’—’Web cam’</a:t>
            </a:r>
          </a:p>
          <a:p>
            <a:r>
              <a:rPr lang="fr-FR" sz="3200" b="1" dirty="0"/>
              <a:t>’disque dur’—’modem’—’vidéo projecteur’</a:t>
            </a:r>
            <a:endParaRPr lang="fr-FR" sz="3200" b="1" dirty="0">
              <a:latin typeface="Georgia" panose="020405020504050203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056FA1-A51D-4F61-8FAD-CC352B82418C}"/>
              </a:ext>
            </a:extLst>
          </p:cNvPr>
          <p:cNvSpPr txBox="1"/>
          <p:nvPr/>
        </p:nvSpPr>
        <p:spPr>
          <a:xfrm>
            <a:off x="180975" y="234434"/>
            <a:ext cx="18192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</a:rPr>
              <a:t>EXERCICE 2)</a:t>
            </a:r>
            <a:endParaRPr lang="fr-FR" sz="2400" b="1" dirty="0"/>
          </a:p>
        </p:txBody>
      </p:sp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B1A34F41-2A26-44A2-84C2-9A479D47A6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9773792"/>
              </p:ext>
            </p:extLst>
          </p:nvPr>
        </p:nvGraphicFramePr>
        <p:xfrm>
          <a:off x="307975" y="3607357"/>
          <a:ext cx="11439525" cy="29902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3175">
                  <a:extLst>
                    <a:ext uri="{9D8B030D-6E8A-4147-A177-3AD203B41FA5}">
                      <a16:colId xmlns:a16="http://schemas.microsoft.com/office/drawing/2014/main" val="2200944214"/>
                    </a:ext>
                  </a:extLst>
                </a:gridCol>
                <a:gridCol w="3813175">
                  <a:extLst>
                    <a:ext uri="{9D8B030D-6E8A-4147-A177-3AD203B41FA5}">
                      <a16:colId xmlns:a16="http://schemas.microsoft.com/office/drawing/2014/main" val="2800369448"/>
                    </a:ext>
                  </a:extLst>
                </a:gridCol>
                <a:gridCol w="3813175">
                  <a:extLst>
                    <a:ext uri="{9D8B030D-6E8A-4147-A177-3AD203B41FA5}">
                      <a16:colId xmlns:a16="http://schemas.microsoft.com/office/drawing/2014/main" val="3639319662"/>
                    </a:ext>
                  </a:extLst>
                </a:gridCol>
              </a:tblGrid>
              <a:tr h="795653"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</a:rPr>
                        <a:t>Périphériques d'entrée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</a:rPr>
                        <a:t>Périphériques de sortie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</a:rPr>
                        <a:t>Périphériques d'entrée/sortie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7346011"/>
                  </a:ext>
                </a:extLst>
              </a:tr>
              <a:tr h="1959690">
                <a:tc>
                  <a:txBody>
                    <a:bodyPr/>
                    <a:lstStyle/>
                    <a:p>
                      <a:r>
                        <a:rPr lang="fr-FR" sz="2400" b="1" dirty="0"/>
                        <a:t>Souris</a:t>
                      </a:r>
                    </a:p>
                    <a:p>
                      <a:r>
                        <a:rPr lang="fr-FR" sz="2400" b="1" dirty="0"/>
                        <a:t>Microphone</a:t>
                      </a:r>
                    </a:p>
                    <a:p>
                      <a:r>
                        <a:rPr lang="fr-FR" sz="2400" b="1" dirty="0"/>
                        <a:t>Scanner</a:t>
                      </a:r>
                    </a:p>
                    <a:p>
                      <a:r>
                        <a:rPr lang="fr-FR" sz="2400" b="1" dirty="0"/>
                        <a:t>Clavier</a:t>
                      </a:r>
                    </a:p>
                    <a:p>
                      <a:r>
                        <a:rPr lang="fr-FR" sz="2400" b="1" dirty="0"/>
                        <a:t>Web cam</a:t>
                      </a:r>
                    </a:p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b="1" dirty="0"/>
                        <a:t>Imprimante</a:t>
                      </a:r>
                    </a:p>
                    <a:p>
                      <a:r>
                        <a:rPr lang="fr-FR" sz="2400" b="1" dirty="0"/>
                        <a:t>Ecran</a:t>
                      </a:r>
                    </a:p>
                    <a:p>
                      <a:r>
                        <a:rPr lang="fr-FR" sz="2400" b="1" dirty="0"/>
                        <a:t>Haut-parleur</a:t>
                      </a:r>
                    </a:p>
                    <a:p>
                      <a:r>
                        <a:rPr lang="fr-FR" sz="2400" b="1" dirty="0"/>
                        <a:t>vidéo projecteur</a:t>
                      </a:r>
                      <a:endParaRPr lang="fr-FR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b="1" dirty="0"/>
                        <a:t>Clé USB</a:t>
                      </a:r>
                    </a:p>
                    <a:p>
                      <a:r>
                        <a:rPr lang="fr-FR" sz="2400" b="1" dirty="0"/>
                        <a:t>Écran tactile</a:t>
                      </a:r>
                    </a:p>
                    <a:p>
                      <a:r>
                        <a:rPr lang="fr-FR" sz="2400" b="1" dirty="0"/>
                        <a:t>disque dur</a:t>
                      </a:r>
                    </a:p>
                    <a:p>
                      <a:r>
                        <a:rPr lang="fr-FR" sz="2400" b="1" dirty="0"/>
                        <a:t>modem</a:t>
                      </a:r>
                      <a:endParaRPr lang="fr-FR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82739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45439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71EECD-6D2F-4D51-A916-EBF9A4ED3356}"/>
              </a:ext>
            </a:extLst>
          </p:cNvPr>
          <p:cNvSpPr txBox="1"/>
          <p:nvPr/>
        </p:nvSpPr>
        <p:spPr>
          <a:xfrm>
            <a:off x="1171576" y="2644170"/>
            <a:ext cx="1068705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dirty="0">
                <a:latin typeface="Georgia" panose="02040502050405020303" pitchFamily="18" charset="0"/>
              </a:rPr>
              <a:t>Dessinez un schéma simple montrant un </a:t>
            </a:r>
            <a:r>
              <a:rPr lang="fr-FR" sz="3200" b="1" dirty="0">
                <a:latin typeface="Georgia" panose="02040502050405020303" pitchFamily="18" charset="0"/>
              </a:rPr>
              <a:t>ordinateur</a:t>
            </a:r>
          </a:p>
          <a:p>
            <a:r>
              <a:rPr lang="fr-FR" sz="3200" dirty="0">
                <a:latin typeface="Georgia" panose="02040502050405020303" pitchFamily="18" charset="0"/>
              </a:rPr>
              <a:t>avec 3 </a:t>
            </a:r>
            <a:r>
              <a:rPr lang="fr-FR" sz="3200" b="1" dirty="0">
                <a:latin typeface="Georgia" panose="02040502050405020303" pitchFamily="18" charset="0"/>
              </a:rPr>
              <a:t>périphériques d'entrée</a:t>
            </a:r>
          </a:p>
          <a:p>
            <a:r>
              <a:rPr lang="fr-FR" sz="3200" dirty="0">
                <a:latin typeface="Georgia" panose="02040502050405020303" pitchFamily="18" charset="0"/>
              </a:rPr>
              <a:t>et 2 </a:t>
            </a:r>
            <a:r>
              <a:rPr lang="fr-FR" sz="3200" b="1" dirty="0">
                <a:latin typeface="Georgia" panose="02040502050405020303" pitchFamily="18" charset="0"/>
              </a:rPr>
              <a:t>périphériques de sortie</a:t>
            </a:r>
            <a:r>
              <a:rPr lang="fr-FR" sz="3200" dirty="0">
                <a:latin typeface="Georgia" panose="02040502050405020303" pitchFamily="18" charset="0"/>
              </a:rPr>
              <a:t>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056FA1-A51D-4F61-8FAD-CC352B82418C}"/>
              </a:ext>
            </a:extLst>
          </p:cNvPr>
          <p:cNvSpPr txBox="1"/>
          <p:nvPr/>
        </p:nvSpPr>
        <p:spPr>
          <a:xfrm>
            <a:off x="180975" y="1253609"/>
            <a:ext cx="18192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</a:rPr>
              <a:t>EXERCICE 3)</a:t>
            </a:r>
            <a:endParaRPr lang="fr-FR" sz="2400" b="1" dirty="0"/>
          </a:p>
        </p:txBody>
      </p:sp>
    </p:spTree>
    <p:extLst>
      <p:ext uri="{BB962C8B-B14F-4D97-AF65-F5344CB8AC3E}">
        <p14:creationId xmlns:p14="http://schemas.microsoft.com/office/powerpoint/2010/main" val="6028409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71EECD-6D2F-4D51-A916-EBF9A4ED3356}"/>
              </a:ext>
            </a:extLst>
          </p:cNvPr>
          <p:cNvSpPr txBox="1"/>
          <p:nvPr/>
        </p:nvSpPr>
        <p:spPr>
          <a:xfrm>
            <a:off x="452437" y="1010424"/>
            <a:ext cx="54244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dirty="0"/>
              <a:t>Complétez le schéma 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056FA1-A51D-4F61-8FAD-CC352B82418C}"/>
              </a:ext>
            </a:extLst>
          </p:cNvPr>
          <p:cNvSpPr txBox="1"/>
          <p:nvPr/>
        </p:nvSpPr>
        <p:spPr>
          <a:xfrm>
            <a:off x="95250" y="396359"/>
            <a:ext cx="18192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</a:rPr>
              <a:t>EXERCICE 4)</a:t>
            </a:r>
            <a:endParaRPr lang="fr-FR" sz="2400" b="1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1A41F2A8-4841-4E00-BA2D-E6A1F9EE62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48797423"/>
              </p:ext>
            </p:extLst>
          </p:nvPr>
        </p:nvGraphicFramePr>
        <p:xfrm>
          <a:off x="1687863" y="2131333"/>
          <a:ext cx="8816274" cy="37162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633868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1371</TotalTime>
  <Words>1071</Words>
  <Application>Microsoft Office PowerPoint</Application>
  <PresentationFormat>Widescreen</PresentationFormat>
  <Paragraphs>246</Paragraphs>
  <Slides>43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6" baseType="lpstr">
      <vt:lpstr>Abadi</vt:lpstr>
      <vt:lpstr>Aldhabi</vt:lpstr>
      <vt:lpstr>Arial</vt:lpstr>
      <vt:lpstr>Calibri</vt:lpstr>
      <vt:lpstr>Calibri Light</vt:lpstr>
      <vt:lpstr>Cambria</vt:lpstr>
      <vt:lpstr>Comic Sans MS</vt:lpstr>
      <vt:lpstr>Georgia</vt:lpstr>
      <vt:lpstr>Poppins Bold</vt:lpstr>
      <vt:lpstr>Roboto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 N°.1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22</cp:revision>
  <dcterms:created xsi:type="dcterms:W3CDTF">2025-09-27T14:04:33Z</dcterms:created>
  <dcterms:modified xsi:type="dcterms:W3CDTF">2025-10-23T15:15:47Z</dcterms:modified>
</cp:coreProperties>
</file>