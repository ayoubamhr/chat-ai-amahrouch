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302" r:id="rId3"/>
    <p:sldId id="262" r:id="rId4"/>
    <p:sldId id="261" r:id="rId5"/>
    <p:sldId id="260" r:id="rId6"/>
    <p:sldId id="303" r:id="rId7"/>
    <p:sldId id="266" r:id="rId8"/>
    <p:sldId id="267" r:id="rId9"/>
    <p:sldId id="300" r:id="rId10"/>
    <p:sldId id="301" r:id="rId11"/>
    <p:sldId id="312" r:id="rId12"/>
    <p:sldId id="305" r:id="rId13"/>
    <p:sldId id="304" r:id="rId14"/>
    <p:sldId id="306" r:id="rId15"/>
    <p:sldId id="307" r:id="rId16"/>
    <p:sldId id="311" r:id="rId17"/>
    <p:sldId id="309" r:id="rId18"/>
    <p:sldId id="308" r:id="rId19"/>
    <p:sldId id="326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44" autoAdjust="0"/>
    <p:restoredTop sz="94660"/>
  </p:normalViewPr>
  <p:slideViewPr>
    <p:cSldViewPr snapToGrid="0">
      <p:cViewPr varScale="1">
        <p:scale>
          <a:sx n="51" d="100"/>
          <a:sy n="51" d="100"/>
        </p:scale>
        <p:origin x="67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accent1">
                <a:lumMod val="5000"/>
                <a:lumOff val="95000"/>
              </a:schemeClr>
            </a:gs>
            <a:gs pos="7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9647781" y="2743200"/>
            <a:ext cx="7316569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7823413" y="5798923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59843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456" y="38909"/>
            <a:ext cx="9347139" cy="1276655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495859" y="3848152"/>
            <a:ext cx="9646159" cy="2061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fr-FR" sz="4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Découverte de Word : saisir et enregistrer un document</a:t>
            </a:r>
            <a:endParaRPr lang="en-US" sz="4800" b="1" i="1" dirty="0">
              <a:solidFill>
                <a:srgbClr val="002060"/>
              </a:solidFill>
              <a:latin typeface="Comic Sans MS" panose="030F0702030302020204" pitchFamily="66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1024848" y="6199211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77766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de l'Éducation Nationale et de la Formation —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36670" y="3109787"/>
            <a:ext cx="5494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Unité 2:  Utilitaires et fichiers &amp;&amp; Traitement de textes.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Séquence 2: 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Traitement de texte</a:t>
            </a: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.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 </a:t>
            </a:r>
            <a:endParaRPr lang="fr-FR" b="1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24" name="Picture 2" descr="D:\my el mehdi salhi\Word.jpg.png">
            <a:extLst>
              <a:ext uri="{FF2B5EF4-FFF2-40B4-BE49-F238E27FC236}">
                <a16:creationId xmlns:a16="http://schemas.microsoft.com/office/drawing/2014/main" id="{0A6CEB32-8F54-42CE-99D9-85F143DE8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379581" y="3462560"/>
            <a:ext cx="1928826" cy="1928826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D4EEDF-B3D4-4182-BF8D-0CD864315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08615">
            <a:off x="10533331" y="944801"/>
            <a:ext cx="136815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192DB-FD13-4D76-B2C3-B7086AB1A413}" type="datetime2">
              <a:rPr lang="fr-FR" smtClean="0"/>
              <a:pPr/>
              <a:t>lundi 2 mars 2026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2</a:t>
            </a:fld>
            <a:endParaRPr lang="fr-FR" dirty="0"/>
          </a:p>
        </p:txBody>
      </p:sp>
      <p:pic>
        <p:nvPicPr>
          <p:cNvPr id="4098" name="Picture 2" descr="D:\my el mehdi salhi\word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72" y="1428736"/>
            <a:ext cx="7929618" cy="4857784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310182" y="1428736"/>
            <a:ext cx="1285884" cy="2143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2595538" y="2786058"/>
            <a:ext cx="1357322" cy="57150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738414" y="2857496"/>
            <a:ext cx="1143008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Barre de titre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rot="10800000" flipV="1">
            <a:off x="2951934" y="1643050"/>
            <a:ext cx="2358248" cy="10723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re 1">
            <a:extLst>
              <a:ext uri="{FF2B5EF4-FFF2-40B4-BE49-F238E27FC236}">
                <a16:creationId xmlns:a16="http://schemas.microsoft.com/office/drawing/2014/main" id="{512BA878-A77F-4F84-AED1-93EC68A1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134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Environnement de MS Word</a:t>
            </a:r>
            <a:br>
              <a:rPr lang="fr-FR" sz="2800" dirty="0"/>
            </a:br>
            <a:endParaRPr lang="fr-FR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8366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Environnement de MS Word</a:t>
            </a:r>
            <a:br>
              <a:rPr lang="fr-FR" sz="2800" dirty="0"/>
            </a:br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78AA-68B3-463E-82FA-42084D9FEF92}" type="datetime2">
              <a:rPr lang="fr-FR" smtClean="0"/>
              <a:pPr/>
              <a:t>lundi 2 mars 2026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4098" name="Picture 2" descr="D:\my el mehdi salhi\word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72" y="1428736"/>
            <a:ext cx="7929618" cy="4857784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952596" y="1428736"/>
            <a:ext cx="500066" cy="285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2595538" y="2786058"/>
            <a:ext cx="1357322" cy="57150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738414" y="2857496"/>
            <a:ext cx="1143008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Bouton office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rot="16200000" flipH="1">
            <a:off x="2130397" y="1893877"/>
            <a:ext cx="1000926" cy="6421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8366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Environnement de MS Word</a:t>
            </a:r>
            <a:br>
              <a:rPr lang="fr-FR" sz="2800" dirty="0"/>
            </a:br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A7A2-0450-41CF-A694-0544FA771AE7}" type="datetime2">
              <a:rPr lang="fr-FR" smtClean="0"/>
              <a:pPr/>
              <a:t>lundi 2 mars 2026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4098" name="Picture 2" descr="D:\my el mehdi salhi\word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72" y="1428736"/>
            <a:ext cx="7929618" cy="4857784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309786" y="1428736"/>
            <a:ext cx="642942" cy="2143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2595538" y="2786058"/>
            <a:ext cx="1357322" cy="57150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738414" y="2857496"/>
            <a:ext cx="1143008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Lancement rapide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rot="16200000" flipH="1">
            <a:off x="2380430" y="2143910"/>
            <a:ext cx="1000926" cy="1420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8366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Environnement de MS Word</a:t>
            </a:r>
            <a:br>
              <a:rPr lang="fr-FR" sz="2800" dirty="0"/>
            </a:br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CA7B-3176-4C9F-B0F3-323214CEAF2D}" type="datetime2">
              <a:rPr lang="fr-FR" smtClean="0"/>
              <a:pPr/>
              <a:t>lundi 2 mars 2026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4098" name="Picture 2" descr="D:\my el mehdi salhi\word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72" y="1428736"/>
            <a:ext cx="7929618" cy="4857784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095472" y="1571612"/>
            <a:ext cx="4000528" cy="285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2595538" y="2786058"/>
            <a:ext cx="1357322" cy="57150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738415" y="2857496"/>
            <a:ext cx="974963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onglets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rot="5400000">
            <a:off x="2524100" y="2285992"/>
            <a:ext cx="857256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8366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solidFill>
                  <a:schemeClr val="accent1"/>
                </a:solidFill>
              </a:rPr>
              <a:t>Environnement de MS Word</a:t>
            </a:r>
            <a:br>
              <a:rPr lang="fr-FR" sz="2800" b="1" dirty="0">
                <a:solidFill>
                  <a:schemeClr val="accent1"/>
                </a:solidFill>
              </a:rPr>
            </a:br>
            <a:endParaRPr lang="fr-FR" sz="2800" b="1" dirty="0">
              <a:solidFill>
                <a:schemeClr val="accent1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3629-BC67-4D36-AC48-C617F3B234C0}" type="datetime2">
              <a:rPr lang="fr-FR" smtClean="0"/>
              <a:pPr/>
              <a:t>lundi 2 mars 2026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4098" name="Picture 2" descr="D:\my el mehdi salhi\word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72" y="1428736"/>
            <a:ext cx="7929618" cy="4857784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095472" y="1592580"/>
            <a:ext cx="7643866" cy="7648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8382016" y="2786058"/>
            <a:ext cx="1357322" cy="57150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8596331" y="2857496"/>
            <a:ext cx="974963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Ruban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rot="16200000" flipH="1">
            <a:off x="8846363" y="2536025"/>
            <a:ext cx="285752" cy="714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8366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solidFill>
                  <a:schemeClr val="accent1"/>
                </a:solidFill>
              </a:rPr>
              <a:t>Environnement de MS Word</a:t>
            </a:r>
            <a:br>
              <a:rPr lang="fr-FR" sz="2800" b="1" dirty="0">
                <a:solidFill>
                  <a:schemeClr val="accent1"/>
                </a:solidFill>
              </a:rPr>
            </a:br>
            <a:endParaRPr lang="fr-FR" sz="2800" b="1" dirty="0">
              <a:solidFill>
                <a:schemeClr val="accent1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9C3E-6312-4815-AD44-BBDDAE407F6F}" type="datetime2">
              <a:rPr lang="fr-FR" smtClean="0"/>
              <a:pPr/>
              <a:t>lundi 2 mars 2026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4098" name="Picture 2" descr="D:\my el mehdi salhi\word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10" y="1428736"/>
            <a:ext cx="7929618" cy="4857784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4024298" y="2643182"/>
            <a:ext cx="4214842" cy="3500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8382016" y="3286124"/>
            <a:ext cx="1357322" cy="1143008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8453454" y="3429001"/>
            <a:ext cx="1143008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</a:rPr>
              <a:t>Espace de travail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rot="10800000">
            <a:off x="8310578" y="3071810"/>
            <a:ext cx="357190" cy="706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8366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Environnement de MS Word</a:t>
            </a:r>
            <a:br>
              <a:rPr lang="fr-FR" sz="2800" dirty="0"/>
            </a:br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1C32-730D-4B74-84BA-B9127667F810}" type="datetime2">
              <a:rPr lang="fr-FR" smtClean="0"/>
              <a:pPr/>
              <a:t>lundi 2 mars 2026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8</a:t>
            </a:fld>
            <a:endParaRPr lang="fr-FR" dirty="0"/>
          </a:p>
        </p:txBody>
      </p:sp>
      <p:pic>
        <p:nvPicPr>
          <p:cNvPr id="4098" name="Picture 2" descr="D:\my el mehdi salhi\word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10" y="1428736"/>
            <a:ext cx="7929618" cy="4857784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024034" y="6072206"/>
            <a:ext cx="8143932" cy="285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8382016" y="3286124"/>
            <a:ext cx="1357322" cy="1143008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8453454" y="3429000"/>
            <a:ext cx="1143008" cy="70788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Barre d’état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rot="5400000">
            <a:off x="7845834" y="5108190"/>
            <a:ext cx="1643868" cy="2857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DD35F6-9FD4-49AC-B350-B5B6AB9AF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991"/>
            <a:ext cx="12191999" cy="583964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03129A38-21F0-4227-8FF8-46D55A99DF6C}"/>
              </a:ext>
            </a:extLst>
          </p:cNvPr>
          <p:cNvSpPr txBox="1">
            <a:spLocks/>
          </p:cNvSpPr>
          <p:nvPr/>
        </p:nvSpPr>
        <p:spPr>
          <a:xfrm>
            <a:off x="1248555" y="413173"/>
            <a:ext cx="8229600" cy="78581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>
                <a:solidFill>
                  <a:srgbClr val="0070C0"/>
                </a:solidFill>
              </a:rPr>
              <a:t>Environnement de MS Word</a:t>
            </a:r>
            <a:br>
              <a:rPr lang="fr-FR" sz="2800"/>
            </a:b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91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7F80C0-016F-4740-BF99-5175D01C3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5046"/>
            <a:ext cx="12192000" cy="5782004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07125CA-4898-4D7C-9363-A58D28DE61C9}"/>
              </a:ext>
            </a:extLst>
          </p:cNvPr>
          <p:cNvSpPr txBox="1">
            <a:spLocks/>
          </p:cNvSpPr>
          <p:nvPr/>
        </p:nvSpPr>
        <p:spPr>
          <a:xfrm>
            <a:off x="831460" y="290178"/>
            <a:ext cx="8229600" cy="78581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>
                <a:solidFill>
                  <a:srgbClr val="0070C0"/>
                </a:solidFill>
              </a:rPr>
              <a:t>Environnement de MS Word</a:t>
            </a:r>
            <a:br>
              <a:rPr lang="fr-FR" sz="2800"/>
            </a:b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160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2" y="0"/>
            <a:ext cx="11957538" cy="1212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I. traitement de textes </a:t>
            </a:r>
            <a:endParaRPr lang="fr-FR" sz="3600" b="0" i="0" dirty="0">
              <a:solidFill>
                <a:srgbClr val="F44336"/>
              </a:solidFill>
              <a:effectLst/>
              <a:latin typeface="Roboto" panose="02000000000000000000" pitchFamily="2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3600" i="1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Environnement de MS Word: </a:t>
            </a:r>
          </a:p>
        </p:txBody>
      </p:sp>
    </p:spTree>
    <p:extLst>
      <p:ext uri="{BB962C8B-B14F-4D97-AF65-F5344CB8AC3E}">
        <p14:creationId xmlns:p14="http://schemas.microsoft.com/office/powerpoint/2010/main" val="3513759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1650" y="0"/>
            <a:ext cx="1879655" cy="785818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i="1" dirty="0">
                <a:solidFill>
                  <a:srgbClr val="04617B"/>
                </a:solidFill>
                <a:latin typeface="Calibri" panose="020F0502020204030204" pitchFamily="34" charset="0"/>
              </a:rPr>
              <a:t>Activité 1 </a:t>
            </a:r>
            <a:endParaRPr lang="fr-FR" sz="4000" i="1" dirty="0">
              <a:solidFill>
                <a:srgbClr val="FF000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26A617-9E02-406C-AD74-118D721FC63C}"/>
              </a:ext>
            </a:extLst>
          </p:cNvPr>
          <p:cNvSpPr txBox="1"/>
          <p:nvPr/>
        </p:nvSpPr>
        <p:spPr>
          <a:xfrm>
            <a:off x="141650" y="3380874"/>
            <a:ext cx="11324445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>
                <a:latin typeface="Constantia" pitchFamily="18" charset="0"/>
              </a:rPr>
              <a:t>Omar veut </a:t>
            </a:r>
            <a:r>
              <a:rPr lang="fr-FR" sz="2800" b="1" dirty="0">
                <a:solidFill>
                  <a:srgbClr val="7030A0"/>
                </a:solidFill>
                <a:latin typeface="Constantia" pitchFamily="18" charset="0"/>
              </a:rPr>
              <a:t>écrire un texte </a:t>
            </a:r>
            <a:r>
              <a:rPr lang="fr-FR" sz="2800" dirty="0">
                <a:latin typeface="Constantia" pitchFamily="18" charset="0"/>
              </a:rPr>
              <a:t>pour l’affiche de la classe sur </a:t>
            </a:r>
            <a:r>
              <a:rPr lang="fr-FR" sz="2800" b="1" dirty="0">
                <a:solidFill>
                  <a:srgbClr val="7030A0"/>
                </a:solidFill>
                <a:latin typeface="Constantia" pitchFamily="18" charset="0"/>
              </a:rPr>
              <a:t>l’utilisation responsable des réseaux sociaux.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2AC27F-1A06-407D-9B70-11551D0B1B06}"/>
              </a:ext>
            </a:extLst>
          </p:cNvPr>
          <p:cNvSpPr txBox="1"/>
          <p:nvPr/>
        </p:nvSpPr>
        <p:spPr>
          <a:xfrm>
            <a:off x="503962" y="4718634"/>
            <a:ext cx="1153371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>
                <a:latin typeface="Constantia" pitchFamily="18" charset="0"/>
              </a:rPr>
              <a:t>Son écriture est-elle </a:t>
            </a:r>
            <a:r>
              <a:rPr lang="fr-FR" altLang="fr-FR" sz="2800" b="1" dirty="0">
                <a:latin typeface="Constantia" pitchFamily="18" charset="0"/>
              </a:rPr>
              <a:t>facile à lire </a:t>
            </a:r>
            <a:r>
              <a:rPr lang="fr-FR" altLang="fr-FR" sz="2800" dirty="0">
                <a:latin typeface="Constantia" pitchFamily="18" charset="0"/>
              </a:rPr>
              <a:t>pour tout le monde ?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sz="2800" dirty="0"/>
              <a:t>Quel </a:t>
            </a:r>
            <a:r>
              <a:rPr lang="fr-FR" sz="2800" b="1" dirty="0"/>
              <a:t>logiciel </a:t>
            </a:r>
            <a:r>
              <a:rPr lang="fr-FR" sz="2800" dirty="0"/>
              <a:t>peut-il utiliser pour écrire et bien présenter son texte?</a:t>
            </a:r>
            <a:endParaRPr lang="fr-FR" altLang="fr-FR" sz="2800" dirty="0">
              <a:latin typeface="Constantia" pitchFamily="18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/>
              <a:t>Quelles </a:t>
            </a:r>
            <a:r>
              <a:rPr lang="fr-FR" sz="2800" b="1" dirty="0"/>
              <a:t>règles doit-il suivre</a:t>
            </a:r>
            <a:r>
              <a:rPr lang="fr-FR" sz="2800" dirty="0"/>
              <a:t> pour que son texte soit clair et bien présenté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A843E-D5CA-4195-81C0-C52E60FE3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437" y="123418"/>
            <a:ext cx="5486339" cy="3205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2037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535" y="48987"/>
            <a:ext cx="2715850" cy="785818"/>
          </a:xfrm>
        </p:spPr>
        <p:txBody>
          <a:bodyPr>
            <a:normAutofit/>
          </a:bodyPr>
          <a:lstStyle/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</a:rPr>
              <a:t>La saisie :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2F585-7884-4CC9-8C8D-49F02E9ED481}"/>
              </a:ext>
            </a:extLst>
          </p:cNvPr>
          <p:cNvSpPr txBox="1"/>
          <p:nvPr/>
        </p:nvSpPr>
        <p:spPr>
          <a:xfrm>
            <a:off x="361950" y="78581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528" rtl="0" fontAlgn="base">
              <a:spcBef>
                <a:spcPts val="600"/>
              </a:spcBef>
              <a:spcAft>
                <a:spcPts val="0"/>
              </a:spcAft>
            </a:pPr>
            <a:r>
              <a:rPr lang="fr-FR" sz="2800" b="1" dirty="0">
                <a:solidFill>
                  <a:srgbClr val="7030A0"/>
                </a:solidFill>
                <a:latin typeface="Constantia" pitchFamily="18" charset="0"/>
              </a:rPr>
              <a:t>Saisie de caractères : </a:t>
            </a:r>
            <a:r>
              <a:rPr lang="fr-FR" sz="2800" dirty="0">
                <a:latin typeface="Constantia" pitchFamily="18" charset="0"/>
              </a:rPr>
              <a:t>		c’est l’écriture d’un texte sur l’ordinateur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92CA5-2CEF-4121-8627-D3F160E856B9}"/>
              </a:ext>
            </a:extLst>
          </p:cNvPr>
          <p:cNvSpPr txBox="1"/>
          <p:nvPr/>
        </p:nvSpPr>
        <p:spPr>
          <a:xfrm>
            <a:off x="533535" y="1399538"/>
            <a:ext cx="5010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 Les règles de saisie: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BBC21-74D8-49DD-BDD3-8657FA0C441C}"/>
              </a:ext>
            </a:extLst>
          </p:cNvPr>
          <p:cNvSpPr txBox="1"/>
          <p:nvPr/>
        </p:nvSpPr>
        <p:spPr>
          <a:xfrm>
            <a:off x="1924050" y="2045869"/>
            <a:ext cx="6686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528" rtl="0" fontAlgn="base">
              <a:spcBef>
                <a:spcPts val="600"/>
              </a:spcBef>
              <a:spcAft>
                <a:spcPts val="0"/>
              </a:spcAft>
            </a:pPr>
            <a:r>
              <a:rPr lang="fr-FR" sz="2400" dirty="0">
                <a:latin typeface="Constantia" pitchFamily="18" charset="0"/>
              </a:rPr>
              <a:t>Afin de respecter les règles de base il faut que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0013F3-67B6-4860-AB68-FD3E7DCD07B5}"/>
              </a:ext>
            </a:extLst>
          </p:cNvPr>
          <p:cNvSpPr txBox="1"/>
          <p:nvPr/>
        </p:nvSpPr>
        <p:spPr>
          <a:xfrm>
            <a:off x="650705" y="2492547"/>
            <a:ext cx="11316703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6428" indent="-342900" rtl="0" fontAlgn="base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400" dirty="0">
                <a:latin typeface="Constantia" pitchFamily="18" charset="0"/>
              </a:rPr>
              <a:t>Les mots soient séparés par </a:t>
            </a:r>
            <a:r>
              <a:rPr lang="fr-FR" sz="2400" b="1" dirty="0">
                <a:latin typeface="Constantia" pitchFamily="18" charset="0"/>
              </a:rPr>
              <a:t>un seul espace</a:t>
            </a:r>
            <a:r>
              <a:rPr lang="fr-FR" sz="2400" dirty="0">
                <a:latin typeface="Constantia" pitchFamily="18" charset="0"/>
              </a:rPr>
              <a:t>.</a:t>
            </a:r>
          </a:p>
          <a:p>
            <a:pPr marL="626428" indent="-342900" rtl="0" fontAlgn="base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400" dirty="0">
                <a:latin typeface="Constantia" pitchFamily="18" charset="0"/>
              </a:rPr>
              <a:t>Les signes de ponctuations simples </a:t>
            </a:r>
            <a:r>
              <a:rPr lang="fr-FR" sz="2400" dirty="0">
                <a:solidFill>
                  <a:srgbClr val="7030A0"/>
                </a:solidFill>
                <a:latin typeface="Constantia" pitchFamily="18" charset="0"/>
              </a:rPr>
              <a:t>.</a:t>
            </a:r>
            <a:r>
              <a:rPr lang="fr-FR" sz="2400" dirty="0">
                <a:latin typeface="Constantia" pitchFamily="18" charset="0"/>
              </a:rPr>
              <a:t> et </a:t>
            </a:r>
            <a:r>
              <a:rPr lang="fr-FR" sz="2400" dirty="0">
                <a:solidFill>
                  <a:srgbClr val="7030A0"/>
                </a:solidFill>
                <a:latin typeface="Constantia" pitchFamily="18" charset="0"/>
              </a:rPr>
              <a:t>,</a:t>
            </a:r>
            <a:r>
              <a:rPr lang="fr-FR" sz="2400" dirty="0">
                <a:latin typeface="Constantia" pitchFamily="18" charset="0"/>
              </a:rPr>
              <a:t> soient </a:t>
            </a:r>
            <a:r>
              <a:rPr lang="fr-FR" sz="2400" b="1" dirty="0">
                <a:latin typeface="Constantia" pitchFamily="18" charset="0"/>
              </a:rPr>
              <a:t>collés</a:t>
            </a:r>
            <a:r>
              <a:rPr lang="fr-FR" sz="2400" dirty="0">
                <a:latin typeface="Constantia" pitchFamily="18" charset="0"/>
              </a:rPr>
              <a:t> au mot précédent et </a:t>
            </a:r>
            <a:r>
              <a:rPr lang="fr-FR" sz="2400" b="1" dirty="0">
                <a:latin typeface="Constantia" pitchFamily="18" charset="0"/>
              </a:rPr>
              <a:t>suivi</a:t>
            </a:r>
            <a:r>
              <a:rPr lang="fr-FR" sz="2400" dirty="0">
                <a:latin typeface="Constantia" pitchFamily="18" charset="0"/>
              </a:rPr>
              <a:t> d'un espace.</a:t>
            </a:r>
          </a:p>
          <a:p>
            <a:pPr marL="626428" indent="-342900" rtl="0" fontAlgn="base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400" dirty="0">
                <a:latin typeface="Constantia" pitchFamily="18" charset="0"/>
              </a:rPr>
              <a:t>Les signes  de ponctuations doubles </a:t>
            </a:r>
            <a:r>
              <a:rPr lang="fr-FR" sz="2400" dirty="0">
                <a:solidFill>
                  <a:srgbClr val="7030A0"/>
                </a:solidFill>
                <a:latin typeface="Constantia" pitchFamily="18" charset="0"/>
              </a:rPr>
              <a:t>: ; ? </a:t>
            </a:r>
            <a:r>
              <a:rPr lang="fr-FR" sz="2400" dirty="0">
                <a:latin typeface="Constantia" pitchFamily="18" charset="0"/>
              </a:rPr>
              <a:t>soient </a:t>
            </a:r>
            <a:r>
              <a:rPr lang="fr-FR" sz="2400" b="1" dirty="0">
                <a:latin typeface="Constantia" pitchFamily="18" charset="0"/>
              </a:rPr>
              <a:t>précédés et suivis </a:t>
            </a:r>
            <a:r>
              <a:rPr lang="fr-FR" sz="2400" dirty="0">
                <a:latin typeface="Constantia" pitchFamily="18" charset="0"/>
              </a:rPr>
              <a:t>d'un espace.</a:t>
            </a:r>
          </a:p>
          <a:p>
            <a:pPr marL="626428" indent="-342900" rtl="0" fontAlgn="base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400" dirty="0">
                <a:latin typeface="Constantia" pitchFamily="18" charset="0"/>
              </a:rPr>
              <a:t>Les caractères </a:t>
            </a:r>
            <a:r>
              <a:rPr lang="fr-FR" sz="2400" dirty="0">
                <a:solidFill>
                  <a:srgbClr val="7030A0"/>
                </a:solidFill>
                <a:latin typeface="Constantia" pitchFamily="18" charset="0"/>
              </a:rPr>
              <a:t>(  [  { </a:t>
            </a:r>
            <a:r>
              <a:rPr lang="fr-FR" sz="2400" dirty="0">
                <a:latin typeface="Constantia" pitchFamily="18" charset="0"/>
              </a:rPr>
              <a:t>soient </a:t>
            </a:r>
            <a:r>
              <a:rPr lang="fr-FR" sz="2400" b="1" dirty="0">
                <a:latin typeface="Constantia" pitchFamily="18" charset="0"/>
              </a:rPr>
              <a:t>précédés</a:t>
            </a:r>
            <a:r>
              <a:rPr lang="fr-FR" sz="2400" dirty="0">
                <a:latin typeface="Constantia" pitchFamily="18" charset="0"/>
              </a:rPr>
              <a:t> d'un espace et </a:t>
            </a:r>
            <a:r>
              <a:rPr lang="fr-FR" sz="2400" b="1" dirty="0">
                <a:latin typeface="Constantia" pitchFamily="18" charset="0"/>
              </a:rPr>
              <a:t>collés</a:t>
            </a:r>
            <a:r>
              <a:rPr lang="fr-FR" sz="2400" dirty="0">
                <a:latin typeface="Constantia" pitchFamily="18" charset="0"/>
              </a:rPr>
              <a:t> au mot suivant.</a:t>
            </a:r>
          </a:p>
          <a:p>
            <a:pPr marL="626428" indent="-342900" rtl="0" fontAlgn="base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400" dirty="0">
                <a:latin typeface="Constantia" pitchFamily="18" charset="0"/>
              </a:rPr>
              <a:t>Les caractères </a:t>
            </a:r>
            <a:r>
              <a:rPr lang="fr-FR" sz="2400" dirty="0">
                <a:solidFill>
                  <a:srgbClr val="7030A0"/>
                </a:solidFill>
                <a:latin typeface="Constantia" pitchFamily="18" charset="0"/>
              </a:rPr>
              <a:t>)  ]  } </a:t>
            </a:r>
            <a:r>
              <a:rPr lang="fr-FR" sz="2400" dirty="0">
                <a:latin typeface="Constantia" pitchFamily="18" charset="0"/>
              </a:rPr>
              <a:t>soient </a:t>
            </a:r>
            <a:r>
              <a:rPr lang="fr-FR" sz="2400" b="1" dirty="0">
                <a:latin typeface="Constantia" pitchFamily="18" charset="0"/>
              </a:rPr>
              <a:t>collés</a:t>
            </a:r>
            <a:r>
              <a:rPr lang="fr-FR" sz="2400" dirty="0">
                <a:latin typeface="Constantia" pitchFamily="18" charset="0"/>
              </a:rPr>
              <a:t> au mot précèdent et </a:t>
            </a:r>
            <a:r>
              <a:rPr lang="fr-FR" sz="2400" b="1" dirty="0">
                <a:latin typeface="Constantia" pitchFamily="18" charset="0"/>
              </a:rPr>
              <a:t>suivis</a:t>
            </a:r>
            <a:r>
              <a:rPr lang="fr-FR" sz="2400" dirty="0">
                <a:latin typeface="Constantia" pitchFamily="18" charset="0"/>
              </a:rPr>
              <a:t> d'un espace.</a:t>
            </a:r>
          </a:p>
          <a:p>
            <a:pPr marL="1540828" lvl="2" indent="-342900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7030A0"/>
                </a:solidFill>
                <a:latin typeface="Constantia" pitchFamily="18" charset="0"/>
              </a:rPr>
              <a:t>() Parenthèses  </a:t>
            </a:r>
            <a:r>
              <a:rPr lang="tzm-Arab-MA" sz="2000" dirty="0">
                <a:solidFill>
                  <a:srgbClr val="7030A0"/>
                </a:solidFill>
                <a:latin typeface="Constantia" pitchFamily="18" charset="0"/>
              </a:rPr>
              <a:t>القوسين    </a:t>
            </a:r>
          </a:p>
          <a:p>
            <a:pPr marL="1540828" lvl="2" indent="-342900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tzm-Arab-MA" sz="2000" dirty="0">
                <a:solidFill>
                  <a:srgbClr val="7030A0"/>
                </a:solidFill>
                <a:latin typeface="Constantia" pitchFamily="18" charset="0"/>
              </a:rPr>
              <a:t>{} </a:t>
            </a:r>
            <a:r>
              <a:rPr lang="fr-FR" sz="2000" dirty="0">
                <a:solidFill>
                  <a:srgbClr val="7030A0"/>
                </a:solidFill>
                <a:latin typeface="Constantia" pitchFamily="18" charset="0"/>
              </a:rPr>
              <a:t>Accolades                  </a:t>
            </a:r>
            <a:r>
              <a:rPr lang="tzm-Arab-MA" sz="2000" dirty="0">
                <a:solidFill>
                  <a:srgbClr val="7030A0"/>
                </a:solidFill>
                <a:latin typeface="Constantia" pitchFamily="18" charset="0"/>
              </a:rPr>
              <a:t>لامتين   </a:t>
            </a:r>
          </a:p>
          <a:p>
            <a:pPr marL="1540828" lvl="2" indent="-342900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tzm-Arab-MA" sz="2000" dirty="0">
                <a:solidFill>
                  <a:srgbClr val="7030A0"/>
                </a:solidFill>
                <a:latin typeface="Constantia" pitchFamily="18" charset="0"/>
              </a:rPr>
              <a:t>[] </a:t>
            </a:r>
            <a:r>
              <a:rPr lang="fr-FR" sz="2000" dirty="0">
                <a:solidFill>
                  <a:srgbClr val="7030A0"/>
                </a:solidFill>
                <a:latin typeface="Constantia" pitchFamily="18" charset="0"/>
              </a:rPr>
              <a:t>Crochets 	       </a:t>
            </a:r>
            <a:r>
              <a:rPr lang="tzm-Arab-MA" sz="2000" dirty="0">
                <a:solidFill>
                  <a:srgbClr val="7030A0"/>
                </a:solidFill>
                <a:latin typeface="Constantia" pitchFamily="18" charset="0"/>
              </a:rPr>
              <a:t>المعقوفتين</a:t>
            </a:r>
            <a:endParaRPr lang="fr-FR" sz="2000" dirty="0">
              <a:solidFill>
                <a:srgbClr val="7030A0"/>
              </a:solidFill>
              <a:latin typeface="Constantia" pitchFamily="18" charset="0"/>
            </a:endParaRPr>
          </a:p>
          <a:p>
            <a:pPr marL="626428" lvl="2" indent="-342900" fontAlgn="base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FR" sz="2400" dirty="0">
                <a:latin typeface="Constantia" pitchFamily="18" charset="0"/>
              </a:rPr>
              <a:t>Je tape la touche </a:t>
            </a:r>
            <a:r>
              <a:rPr lang="fr-FR" sz="2400" b="1" dirty="0">
                <a:latin typeface="Constantia" pitchFamily="18" charset="0"/>
              </a:rPr>
              <a:t>entrée</a:t>
            </a:r>
            <a:r>
              <a:rPr lang="fr-FR" sz="2400" dirty="0">
                <a:latin typeface="Constantia" pitchFamily="18" charset="0"/>
              </a:rPr>
              <a:t> pour signaler la fin d'un paragraphe.</a:t>
            </a:r>
          </a:p>
        </p:txBody>
      </p:sp>
    </p:spTree>
    <p:extLst>
      <p:ext uri="{BB962C8B-B14F-4D97-AF65-F5344CB8AC3E}">
        <p14:creationId xmlns:p14="http://schemas.microsoft.com/office/powerpoint/2010/main" val="3086884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1650" y="0"/>
            <a:ext cx="1879655" cy="785818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i="1" dirty="0">
                <a:solidFill>
                  <a:srgbClr val="04617B"/>
                </a:solidFill>
                <a:latin typeface="Calibri" panose="020F0502020204030204" pitchFamily="34" charset="0"/>
              </a:rPr>
              <a:t>Activité 2</a:t>
            </a:r>
            <a:endParaRPr lang="fr-FR" sz="4000" i="1" dirty="0">
              <a:solidFill>
                <a:srgbClr val="FF000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26A617-9E02-406C-AD74-118D721FC63C}"/>
              </a:ext>
            </a:extLst>
          </p:cNvPr>
          <p:cNvSpPr txBox="1"/>
          <p:nvPr/>
        </p:nvSpPr>
        <p:spPr>
          <a:xfrm>
            <a:off x="658365" y="625398"/>
            <a:ext cx="11391985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>
                <a:latin typeface="Constantia" pitchFamily="18" charset="0"/>
              </a:rPr>
              <a:t>Omar commence à saisir son texte pour l’affiche de la classe sur l’utilisation responsable des réseaux sociaux. Le temps étant écoulé, il est obligé d’arrêter son travail sur Word, même s’il </a:t>
            </a:r>
            <a:r>
              <a:rPr lang="fr-FR" sz="2800" b="1" dirty="0">
                <a:latin typeface="Constantia" pitchFamily="18" charset="0"/>
              </a:rPr>
              <a:t>ne l’a pas encore terminé</a:t>
            </a:r>
            <a:r>
              <a:rPr lang="fr-FR" sz="2800" dirty="0">
                <a:latin typeface="Constantia" pitchFamily="18" charset="0"/>
              </a:rPr>
              <a:t>. Il souhaite le </a:t>
            </a:r>
            <a:r>
              <a:rPr lang="fr-FR" sz="2800" b="1" dirty="0">
                <a:latin typeface="Constantia" pitchFamily="18" charset="0"/>
              </a:rPr>
              <a:t>continuer ultérieurement</a:t>
            </a:r>
            <a:r>
              <a:rPr lang="fr-FR" sz="2800" dirty="0">
                <a:latin typeface="Constantia" pitchFamily="18" charset="0"/>
              </a:rPr>
              <a:t>.</a:t>
            </a:r>
            <a:endParaRPr lang="fr-FR" sz="2800" b="1" dirty="0">
              <a:latin typeface="Constantia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2AC27F-1A06-407D-9B70-11551D0B1B06}"/>
              </a:ext>
            </a:extLst>
          </p:cNvPr>
          <p:cNvSpPr txBox="1"/>
          <p:nvPr/>
        </p:nvSpPr>
        <p:spPr>
          <a:xfrm>
            <a:off x="294771" y="3709667"/>
            <a:ext cx="1168803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800" dirty="0"/>
              <a:t>Que doit faire Omar pour </a:t>
            </a:r>
            <a:r>
              <a:rPr lang="fr-FR" altLang="fr-FR" sz="2800" b="1" dirty="0"/>
              <a:t>ne pas perdre</a:t>
            </a:r>
            <a:r>
              <a:rPr lang="fr-FR" altLang="fr-FR" sz="2800" dirty="0"/>
              <a:t> son travail et pouvoir le reprendre plus tard ?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sz="2800" dirty="0"/>
              <a:t>Quelle </a:t>
            </a:r>
            <a:r>
              <a:rPr lang="fr-FR" sz="2800" b="1" dirty="0"/>
              <a:t>fonction de Word</a:t>
            </a:r>
            <a:r>
              <a:rPr lang="fr-FR" sz="2800" dirty="0"/>
              <a:t> doit-il utiliser pour enregistrer son document ?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/>
              <a:t>Quelle </a:t>
            </a:r>
            <a:r>
              <a:rPr lang="fr-FR" sz="2800" b="1" dirty="0"/>
              <a:t>règle importante</a:t>
            </a:r>
            <a:r>
              <a:rPr lang="fr-FR" sz="2800" dirty="0"/>
              <a:t> doit-il suivre lorsqu’il enregistre un document ?</a:t>
            </a:r>
          </a:p>
        </p:txBody>
      </p:sp>
    </p:spTree>
    <p:extLst>
      <p:ext uri="{BB962C8B-B14F-4D97-AF65-F5344CB8AC3E}">
        <p14:creationId xmlns:p14="http://schemas.microsoft.com/office/powerpoint/2010/main" val="1432578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92CA5-2CEF-4121-8627-D3F160E856B9}"/>
              </a:ext>
            </a:extLst>
          </p:cNvPr>
          <p:cNvSpPr txBox="1"/>
          <p:nvPr/>
        </p:nvSpPr>
        <p:spPr>
          <a:xfrm>
            <a:off x="650705" y="148914"/>
            <a:ext cx="7482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Enregistrement d’un document: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BBC21-74D8-49DD-BDD3-8657FA0C441C}"/>
              </a:ext>
            </a:extLst>
          </p:cNvPr>
          <p:cNvSpPr txBox="1"/>
          <p:nvPr/>
        </p:nvSpPr>
        <p:spPr>
          <a:xfrm>
            <a:off x="1345527" y="1053528"/>
            <a:ext cx="10268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528" rtl="0" fontAlgn="base">
              <a:spcBef>
                <a:spcPts val="600"/>
              </a:spcBef>
              <a:spcAft>
                <a:spcPts val="0"/>
              </a:spcAft>
            </a:pPr>
            <a:r>
              <a:rPr lang="fr-FR" sz="2400" dirty="0">
                <a:latin typeface="Constantia" pitchFamily="18" charset="0"/>
              </a:rPr>
              <a:t>Un texte saisi doit être enregistré, dans un dossier connu, en lui affectant un nom significatif.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6D24C-9EA5-4F82-8BFD-B6E3DB4AE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9" y="2299719"/>
            <a:ext cx="6279108" cy="40566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A72275-BC67-4AD5-91CB-404C893CA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90" y="3745602"/>
            <a:ext cx="5398700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41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1" y="0"/>
            <a:ext cx="12310465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I. traitement de textes </a:t>
            </a:r>
            <a:endParaRPr lang="fr-FR" sz="3600" b="0" i="0" dirty="0">
              <a:solidFill>
                <a:srgbClr val="F44336"/>
              </a:solidFill>
              <a:effectLst/>
              <a:latin typeface="Roboto" panose="02000000000000000000" pitchFamily="2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fr-FR" sz="3600" i="1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Les Règles de saisie d’un texte et enregistrement d’un document: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307AA-FAC9-437B-BD27-0C194896B66E}"/>
              </a:ext>
            </a:extLst>
          </p:cNvPr>
          <p:cNvSpPr txBox="1"/>
          <p:nvPr/>
        </p:nvSpPr>
        <p:spPr>
          <a:xfrm>
            <a:off x="719375" y="1840348"/>
            <a:ext cx="10337287" cy="130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>
                <a:latin typeface="Georgia" panose="02040502050405020303" pitchFamily="18" charset="0"/>
              </a:rPr>
              <a:t>Pour travailler sur un texte avec Word, on commence par saisir le texte puis on l’enregistre.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DE7FE-92FE-4865-929A-B98B737E61A7}"/>
              </a:ext>
            </a:extLst>
          </p:cNvPr>
          <p:cNvSpPr txBox="1"/>
          <p:nvPr/>
        </p:nvSpPr>
        <p:spPr>
          <a:xfrm>
            <a:off x="1964158" y="3657546"/>
            <a:ext cx="94137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La saisie : </a:t>
            </a:r>
            <a:r>
              <a:rPr lang="fr-FR" sz="2800" dirty="0">
                <a:latin typeface="Georgia" panose="02040502050405020303" pitchFamily="18" charset="0"/>
              </a:rPr>
              <a:t>il faut respecter les règles de saisie</a:t>
            </a:r>
          </a:p>
          <a:p>
            <a:endParaRPr lang="fr-FR" sz="2800" dirty="0"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L’enregistrement : </a:t>
            </a:r>
            <a:r>
              <a:rPr lang="fr-FR" sz="2800" dirty="0">
                <a:latin typeface="Georgia" panose="02040502050405020303" pitchFamily="18" charset="0"/>
              </a:rPr>
              <a:t>Un texte saisi doit être enregistré, dans un dossier connu, en lui affectant un nom significatif.</a:t>
            </a:r>
          </a:p>
        </p:txBody>
      </p:sp>
    </p:spTree>
    <p:extLst>
      <p:ext uri="{BB962C8B-B14F-4D97-AF65-F5344CB8AC3E}">
        <p14:creationId xmlns:p14="http://schemas.microsoft.com/office/powerpoint/2010/main" val="54789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297781" y="229124"/>
            <a:ext cx="98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TP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D056E-9FFF-4260-9B95-7DC6A4296EB5}"/>
              </a:ext>
            </a:extLst>
          </p:cNvPr>
          <p:cNvSpPr txBox="1"/>
          <p:nvPr/>
        </p:nvSpPr>
        <p:spPr>
          <a:xfrm>
            <a:off x="1813560" y="1448139"/>
            <a:ext cx="93421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fr-FR" altLang="fr-FR" sz="2800" b="1" dirty="0">
                <a:latin typeface="Constantia" pitchFamily="18" charset="0"/>
              </a:rPr>
              <a:t>Ouvrir Word</a:t>
            </a:r>
          </a:p>
          <a:p>
            <a:pPr marR="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lang="fr-FR" altLang="fr-FR" sz="2800" dirty="0">
              <a:latin typeface="Constantia" pitchFamily="18" charset="0"/>
            </a:endParaRP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b="1" dirty="0">
                <a:latin typeface="Constantia" pitchFamily="18" charset="0"/>
              </a:rPr>
              <a:t>2. Taper ce texte en respectant les règles de saisie </a:t>
            </a: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800" dirty="0">
              <a:latin typeface="Constantia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800" b="1" dirty="0">
                <a:latin typeface="Constantia" pitchFamily="18" charset="0"/>
              </a:rPr>
              <a:t>3. Enregistrer le document dans un dossier connu avec un nom significatif :           </a:t>
            </a:r>
            <a:r>
              <a:rPr lang="fr-FR" altLang="fr-FR" sz="2800" b="1" dirty="0" err="1">
                <a:solidFill>
                  <a:srgbClr val="7030A0"/>
                </a:solidFill>
                <a:latin typeface="Constantia" pitchFamily="18" charset="0"/>
              </a:rPr>
              <a:t>ReseauxSociaux</a:t>
            </a:r>
            <a:endParaRPr lang="fr-FR" altLang="fr-FR" sz="2800" b="1" dirty="0">
              <a:solidFill>
                <a:srgbClr val="7030A0"/>
              </a:solidFill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162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73CC1B-7E84-435A-B8BB-1F31A98D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59" y="416087"/>
            <a:ext cx="1094472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3600" dirty="0">
                <a:latin typeface="Constantia" pitchFamily="18" charset="0"/>
              </a:rPr>
              <a:t>Les réseaux sociaux sont utiles pour discuter avec nos amis et notre famille.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3600" dirty="0">
                <a:latin typeface="Constantia" pitchFamily="18" charset="0"/>
              </a:rPr>
              <a:t>Mais il faut être prudent et ne pas partager nos informations personnelles comme notre adresse ou notre numéro de téléphone.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3600" dirty="0">
                <a:latin typeface="Constantia" pitchFamily="18" charset="0"/>
              </a:rPr>
              <a:t>Il faut aussi respecter les autres et ne pas publier de photos sans leur permission. Avant de poster quelque chose, il faut toujours réfléchir si cela peut blesser quelqu'un.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47F0D2-EC9E-45CB-85FF-2DB1764DCFC1}"/>
              </a:ext>
            </a:extLst>
          </p:cNvPr>
          <p:cNvSpPr/>
          <p:nvPr/>
        </p:nvSpPr>
        <p:spPr>
          <a:xfrm>
            <a:off x="336884" y="81025"/>
            <a:ext cx="11518231" cy="5863390"/>
          </a:xfrm>
          <a:prstGeom prst="roundRect">
            <a:avLst>
              <a:gd name="adj" fmla="val 13657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4780D-0CF1-4AB9-9175-2DB8E4564CF1}"/>
              </a:ext>
            </a:extLst>
          </p:cNvPr>
          <p:cNvSpPr txBox="1"/>
          <p:nvPr/>
        </p:nvSpPr>
        <p:spPr>
          <a:xfrm>
            <a:off x="-1235597" y="6117429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sz="3600" b="1" dirty="0" err="1">
                <a:latin typeface="Constantia" pitchFamily="18" charset="0"/>
              </a:rPr>
              <a:t>ReseauxSociaux</a:t>
            </a:r>
            <a:endParaRPr lang="fr-FR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43287-491E-470A-A5D0-68CFF33EC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475" y="6152154"/>
            <a:ext cx="578734" cy="57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29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297781" y="229124"/>
            <a:ext cx="98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TP :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975B46-F339-456C-8093-688B4F0C70FE}"/>
              </a:ext>
            </a:extLst>
          </p:cNvPr>
          <p:cNvSpPr txBox="1"/>
          <p:nvPr/>
        </p:nvSpPr>
        <p:spPr>
          <a:xfrm>
            <a:off x="1638901" y="281619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Mise en forme du texte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A4C029-E083-4C4E-A014-60480F5C3527}"/>
              </a:ext>
            </a:extLst>
          </p:cNvPr>
          <p:cNvSpPr txBox="1"/>
          <p:nvPr/>
        </p:nvSpPr>
        <p:spPr>
          <a:xfrm>
            <a:off x="297781" y="1231559"/>
            <a:ext cx="9470866" cy="518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en gras les expressions suivantes :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informations personnelles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respecter les autres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réfléchir</a:t>
            </a:r>
          </a:p>
          <a:p>
            <a:pPr lvl="3">
              <a:lnSpc>
                <a:spcPct val="150000"/>
              </a:lnSpc>
            </a:pPr>
            <a:endParaRPr lang="fr-FR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en italique :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 pas partager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 pas publier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1569A0-96B4-4DD3-A43B-576512B4F9A7}"/>
              </a:ext>
            </a:extLst>
          </p:cNvPr>
          <p:cNvSpPr txBox="1"/>
          <p:nvPr/>
        </p:nvSpPr>
        <p:spPr>
          <a:xfrm>
            <a:off x="6096000" y="4472202"/>
            <a:ext cx="6096000" cy="195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Souligner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adresse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numéro de téléphone</a:t>
            </a:r>
          </a:p>
        </p:txBody>
      </p:sp>
    </p:spTree>
    <p:extLst>
      <p:ext uri="{BB962C8B-B14F-4D97-AF65-F5344CB8AC3E}">
        <p14:creationId xmlns:p14="http://schemas.microsoft.com/office/powerpoint/2010/main" val="403096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2728</TotalTime>
  <Words>642</Words>
  <Application>Microsoft Office PowerPoint</Application>
  <PresentationFormat>Grand écran</PresentationFormat>
  <Paragraphs>100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31" baseType="lpstr">
      <vt:lpstr>Abadi</vt:lpstr>
      <vt:lpstr>Aldhabi</vt:lpstr>
      <vt:lpstr>Arial</vt:lpstr>
      <vt:lpstr>Calibri</vt:lpstr>
      <vt:lpstr>Calibri Light</vt:lpstr>
      <vt:lpstr>Comic Sans MS</vt:lpstr>
      <vt:lpstr>Constantia</vt:lpstr>
      <vt:lpstr>Georgia</vt:lpstr>
      <vt:lpstr>Poppins Bold</vt:lpstr>
      <vt:lpstr>Roboto</vt:lpstr>
      <vt:lpstr>Wingdings</vt:lpstr>
      <vt:lpstr>Office Theme</vt:lpstr>
      <vt:lpstr>Présentation PowerPoint</vt:lpstr>
      <vt:lpstr>Environnement de MS Word </vt:lpstr>
      <vt:lpstr>Environnement de MS Word </vt:lpstr>
      <vt:lpstr>Environnement de MS Word </vt:lpstr>
      <vt:lpstr>Environnement de MS Word </vt:lpstr>
      <vt:lpstr>Environnement de MS Word </vt:lpstr>
      <vt:lpstr>Environnement de MS Word </vt:lpstr>
      <vt:lpstr>Environnement de MS Word </vt:lpstr>
      <vt:lpstr>Présentation PowerPoint</vt:lpstr>
      <vt:lpstr>Présentation PowerPoint</vt:lpstr>
      <vt:lpstr>Présentation PowerPoint</vt:lpstr>
      <vt:lpstr>Activité 1 </vt:lpstr>
      <vt:lpstr>La saisie :</vt:lpstr>
      <vt:lpstr>Activité 2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88</cp:revision>
  <dcterms:created xsi:type="dcterms:W3CDTF">2025-09-27T13:59:56Z</dcterms:created>
  <dcterms:modified xsi:type="dcterms:W3CDTF">2026-03-02T13:33:59Z</dcterms:modified>
</cp:coreProperties>
</file>