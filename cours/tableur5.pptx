
<file path=[Content_Types].xml><?xml version="1.0" encoding="utf-8"?>
<Types xmlns="http://schemas.openxmlformats.org/package/2006/content-types">
  <Default Extension="emf" ContentType="image/x-emf"/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wdp" ContentType="image/vnd.ms-photo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notesMasters/notesMaster1.xml" ContentType="application/vnd.openxmlformats-officedocument.presentationml.notesMaster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14"/>
  </p:notesMasterIdLst>
  <p:sldIdLst>
    <p:sldId id="257" r:id="rId2"/>
    <p:sldId id="375" r:id="rId3"/>
    <p:sldId id="376" r:id="rId4"/>
    <p:sldId id="408" r:id="rId5"/>
    <p:sldId id="409" r:id="rId6"/>
    <p:sldId id="410" r:id="rId7"/>
    <p:sldId id="407" r:id="rId8"/>
    <p:sldId id="392" r:id="rId9"/>
    <p:sldId id="406" r:id="rId10"/>
    <p:sldId id="364" r:id="rId11"/>
    <p:sldId id="381" r:id="rId12"/>
    <p:sldId id="394" r:id="rId13"/>
  </p:sldIdLst>
  <p:sldSz cx="12192000" cy="6858000"/>
  <p:notesSz cx="6858000" cy="9144000"/>
  <p:defaultTextStyle>
    <a:defPPr>
      <a:defRPr lang="fr-FR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DELL" initials="D" lastIdx="1" clrIdx="0">
    <p:extLst>
      <p:ext uri="{19B8F6BF-5375-455C-9EA6-DF929625EA0E}">
        <p15:presenceInfo xmlns:p15="http://schemas.microsoft.com/office/powerpoint/2012/main" userId="DELL" providerId="None"/>
      </p:ext>
    </p:extLst>
  </p:cmAuthor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00B294"/>
    <a:srgbClr val="F3F2F1"/>
    <a:srgbClr val="FFBBFA"/>
    <a:srgbClr val="4472C4"/>
    <a:srgbClr val="30303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616DA210-FB5B-4158-B5E0-FEB733F419BA}" styleName="Style clair 3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tx1">
              <a:alpha val="20000"/>
            </a:schemeClr>
          </a:solidFill>
        </a:fill>
      </a:tcStyle>
    </a:band1H>
    <a:band1V>
      <a:tcStyle>
        <a:tcBdr/>
        <a:fill>
          <a:solidFill>
            <a:schemeClr val="tx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tx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tx1"/>
              </a:solidFill>
            </a:ln>
          </a:bottom>
        </a:tcBdr>
        <a:fill>
          <a:noFill/>
        </a:fill>
      </a:tcStyle>
    </a:firstRow>
  </a:tblStyle>
  <a:tblStyle styleId="{5C22544A-7EE6-4342-B048-85BDC9FD1C3A}" styleName="Style moyen 2 - Accentuation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21E4AEA4-8DFA-4A89-87EB-49C32662AFE0}" styleName="Style moyen 2 - Accentuation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2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2"/>
          </a:solidFill>
        </a:fill>
      </a:tcStyle>
    </a:firstRow>
  </a:tblStyle>
  <a:tblStyle styleId="{2A488322-F2BA-4B5B-9748-0D474271808F}" styleName="Style moyen 3 - Accentuation 6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6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6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accent6"/>
          </a:solidFill>
        </a:fill>
      </a:tcStyle>
    </a:firstRow>
  </a:tblStyle>
  <a:tblStyle styleId="{85BE263C-DBD7-4A20-BB59-AAB30ACAA65A}" styleName="Style moyen 3 - Accentuation 2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accent2"/>
          </a:solidFill>
        </a:fill>
      </a:tcStyle>
    </a:firstRow>
  </a:tblStyle>
  <a:tblStyle styleId="{AF606853-7671-496A-8E4F-DF71F8EC918B}" styleName="Style foncé 1 - Accentuation 6">
    <a:wholeTbl>
      <a:tcTxStyle>
        <a:fontRef idx="minor">
          <a:scrgbClr r="0" g="0" b="0"/>
        </a:fontRef>
        <a:schemeClr val="lt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6"/>
          </a:solidFill>
        </a:fill>
      </a:tcStyle>
    </a:wholeTbl>
    <a:band1H>
      <a:tcStyle>
        <a:tcBdr/>
        <a:fill>
          <a:solidFill>
            <a:schemeClr val="accent6">
              <a:shade val="60000"/>
            </a:schemeClr>
          </a:solidFill>
        </a:fill>
      </a:tcStyle>
    </a:band1H>
    <a:band1V>
      <a:tcStyle>
        <a:tcBdr/>
        <a:fill>
          <a:solidFill>
            <a:schemeClr val="accent6">
              <a:shade val="60000"/>
            </a:schemeClr>
          </a:solidFill>
        </a:fill>
      </a:tcStyle>
    </a:band1V>
    <a:lastCol>
      <a:tcTxStyle b="on"/>
      <a:tcStyle>
        <a:tcBdr>
          <a:left>
            <a:ln w="25400" cmpd="sng">
              <a:solidFill>
                <a:schemeClr val="lt1"/>
              </a:solidFill>
            </a:ln>
          </a:left>
        </a:tcBdr>
        <a:fill>
          <a:solidFill>
            <a:schemeClr val="accent6">
              <a:shade val="60000"/>
            </a:schemeClr>
          </a:solidFill>
        </a:fill>
      </a:tcStyle>
    </a:lastCol>
    <a:firstCol>
      <a:tcTxStyle b="on"/>
      <a:tcStyle>
        <a:tcBdr>
          <a:right>
            <a:ln w="25400" cmpd="sng">
              <a:solidFill>
                <a:schemeClr val="lt1"/>
              </a:solidFill>
            </a:ln>
          </a:right>
        </a:tcBdr>
        <a:fill>
          <a:solidFill>
            <a:schemeClr val="accent6">
              <a:shade val="60000"/>
            </a:schemeClr>
          </a:solidFill>
        </a:fill>
      </a:tcStyle>
    </a:firstCol>
    <a:lastRow>
      <a:tcTxStyle b="on"/>
      <a:tcStyle>
        <a:tcBdr>
          <a:top>
            <a:ln w="25400" cmpd="sng">
              <a:solidFill>
                <a:schemeClr val="lt1"/>
              </a:solidFill>
            </a:ln>
          </a:top>
        </a:tcBdr>
        <a:fill>
          <a:solidFill>
            <a:schemeClr val="accent6">
              <a:shade val="40000"/>
            </a:schemeClr>
          </a:solidFill>
        </a:fill>
      </a:tcStyle>
    </a:lastRow>
    <a:seCell>
      <a:tcStyle>
        <a:tcBdr>
          <a:left>
            <a:ln>
              <a:noFill/>
            </a:ln>
          </a:left>
        </a:tcBdr>
      </a:tcStyle>
    </a:seCell>
    <a:swCell>
      <a:tcStyle>
        <a:tcBdr>
          <a:right>
            <a:ln>
              <a:noFill/>
            </a:ln>
          </a:right>
        </a:tcBdr>
      </a:tcStyle>
    </a:swCell>
    <a:firstRow>
      <a:tcTxStyle b="on"/>
      <a:tcStyle>
        <a:tcBdr>
          <a:bottom>
            <a:ln w="254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  <a:neCell>
      <a:tcStyle>
        <a:tcBdr>
          <a:left>
            <a:ln>
              <a:noFill/>
            </a:ln>
          </a:left>
        </a:tcBdr>
      </a:tcStyle>
    </a:neCell>
    <a:nwCell>
      <a:tcStyle>
        <a:tcBdr>
          <a:right>
            <a:ln>
              <a:noFill/>
            </a:ln>
          </a:right>
        </a:tcBdr>
      </a:tcStyle>
    </a:nwCell>
  </a:tblStyle>
  <a:tblStyle styleId="{16D9F66E-5EB9-4882-86FB-DCBF35E3C3E4}" styleName="Style moyen 4 - Accentuation 6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6"/>
              </a:solidFill>
            </a:ln>
          </a:left>
          <a:right>
            <a:ln w="12700" cmpd="sng">
              <a:solidFill>
                <a:schemeClr val="accent6"/>
              </a:solidFill>
            </a:ln>
          </a:right>
          <a:top>
            <a:ln w="12700" cmpd="sng">
              <a:solidFill>
                <a:schemeClr val="accent6"/>
              </a:solidFill>
            </a:ln>
          </a:top>
          <a:bottom>
            <a:ln w="12700" cmpd="sng">
              <a:solidFill>
                <a:schemeClr val="accent6"/>
              </a:solidFill>
            </a:ln>
          </a:bottom>
          <a:insideH>
            <a:ln w="12700" cmpd="sng">
              <a:solidFill>
                <a:schemeClr val="accent6"/>
              </a:solidFill>
            </a:ln>
          </a:insideH>
          <a:insideV>
            <a:ln w="12700" cmpd="sng">
              <a:solidFill>
                <a:schemeClr val="accent6"/>
              </a:solidFill>
            </a:ln>
          </a:insideV>
        </a:tcBdr>
        <a:fill>
          <a:solidFill>
            <a:schemeClr val="accent6">
              <a:tint val="20000"/>
            </a:schemeClr>
          </a:solidFill>
        </a:fill>
      </a:tcStyle>
    </a:wholeTbl>
    <a:band1H>
      <a:tcStyle>
        <a:tcBdr/>
        <a:fill>
          <a:solidFill>
            <a:schemeClr val="accent6">
              <a:tint val="40000"/>
            </a:schemeClr>
          </a:solidFill>
        </a:fill>
      </a:tcStyle>
    </a:band1H>
    <a:band1V>
      <a:tcStyle>
        <a:tcBdr/>
        <a:fill>
          <a:solidFill>
            <a:schemeClr val="accent6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accent6"/>
              </a:solidFill>
            </a:ln>
          </a:top>
        </a:tcBdr>
        <a:fill>
          <a:solidFill>
            <a:schemeClr val="accent6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accent6">
              <a:tint val="20000"/>
            </a:schemeClr>
          </a:solidFill>
        </a:fill>
      </a:tcStyle>
    </a:firstRow>
  </a:tblStyle>
  <a:tblStyle styleId="{74C1A8A3-306A-4EB7-A6B1-4F7E0EB9C5D6}" styleName="Style moyen 3 - Accentuation 5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5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5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accent5"/>
          </a:solidFill>
        </a:fill>
      </a:tcStyle>
    </a:firstRow>
  </a:tblStyle>
  <a:tblStyle styleId="{2D5ABB26-0587-4C30-8999-92F81FD0307C}" styleName="Aucun style, aucune grille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  <a:tblStyle styleId="{3C2FFA5D-87B4-456A-9821-1D502468CF0F}" styleName="Style à thème 1 - Accentuation 1">
    <a:tblBg>
      <a:fillRef idx="2">
        <a:schemeClr val="accent1"/>
      </a:fillRef>
      <a:effectRef idx="1">
        <a:schemeClr val="accent1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Ref idx="1">
              <a:schemeClr val="accent1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  <a:fill>
          <a:solidFill>
            <a:schemeClr val="accent1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1"/>
            </a:lnRef>
          </a:left>
          <a:right>
            <a:lnRef idx="2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2">
              <a:schemeClr val="accent1"/>
            </a:lnRef>
          </a:top>
          <a:bottom>
            <a:lnRef idx="2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1"/>
          </a:solidFill>
        </a:fill>
      </a:tcStyle>
    </a:firstRow>
  </a:tblStyle>
  <a:tblStyle styleId="{5940675A-B579-460E-94D1-54222C63F5DA}" styleName="Aucun style, grille du tableau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  <a:tblStyle styleId="{9D7B26C5-4107-4FEC-AEDC-1716B250A1EF}" styleName="Style clair 1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tx1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tx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tx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tx1"/>
              </a:solidFill>
            </a:ln>
          </a:bottom>
        </a:tcBdr>
        <a:fill>
          <a:noFill/>
        </a:fill>
      </a:tcStyle>
    </a:firstRow>
  </a:tblStyle>
  <a:tblStyle styleId="{7E9639D4-E3E2-4D34-9284-5A2195B3D0D7}" styleName="Style clair 2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  <a:top>
            <a:lnRef idx="1">
              <a:schemeClr val="tx1"/>
            </a:lnRef>
          </a:top>
          <a:bottom>
            <a:lnRef idx="1">
              <a:schemeClr val="tx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tx1"/>
            </a:lnRef>
          </a:top>
          <a:bottom>
            <a:lnRef idx="1">
              <a:schemeClr val="tx1"/>
            </a:lnRef>
          </a:bottom>
        </a:tcBdr>
      </a:tcStyle>
    </a:band1H>
    <a:band1V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</a:tcBdr>
      </a:tcStyle>
    </a:band1V>
    <a:band2V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tx1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tx1"/>
        </a:fillRef>
      </a:tcStyle>
    </a:firstRow>
  </a:tblStyle>
  <a:tblStyle styleId="{ED083AE6-46FA-4A59-8FB0-9F97EB10719F}" styleName="Style léger 3 - Accentuation 4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4"/>
              </a:solidFill>
            </a:ln>
          </a:left>
          <a:right>
            <a:ln w="12700" cmpd="sng">
              <a:solidFill>
                <a:schemeClr val="accent4"/>
              </a:solidFill>
            </a:ln>
          </a:right>
          <a:top>
            <a:ln w="12700" cmpd="sng">
              <a:solidFill>
                <a:schemeClr val="accent4"/>
              </a:solidFill>
            </a:ln>
          </a:top>
          <a:bottom>
            <a:ln w="12700" cmpd="sng">
              <a:solidFill>
                <a:schemeClr val="accent4"/>
              </a:solidFill>
            </a:ln>
          </a:bottom>
          <a:insideH>
            <a:ln w="12700" cmpd="sng">
              <a:solidFill>
                <a:schemeClr val="accent4"/>
              </a:solidFill>
            </a:ln>
          </a:insideH>
          <a:insideV>
            <a:ln w="12700" cmpd="sng">
              <a:solidFill>
                <a:schemeClr val="accent4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4">
              <a:alpha val="20000"/>
            </a:schemeClr>
          </a:solidFill>
        </a:fill>
      </a:tcStyle>
    </a:band1H>
    <a:band1V>
      <a:tcStyle>
        <a:tcBdr/>
        <a:fill>
          <a:solidFill>
            <a:schemeClr val="accent4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4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4"/>
              </a:solidFill>
            </a:ln>
          </a:bottom>
        </a:tcBdr>
        <a:fill>
          <a:noFill/>
        </a:fill>
      </a:tcStyle>
    </a:firstRow>
  </a:tblStyle>
  <a:tblStyle styleId="{8799B23B-EC83-4686-B30A-512413B5E67A}" styleName="Style léger 3 - Accentuation 3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3"/>
              </a:solidFill>
            </a:ln>
          </a:left>
          <a:right>
            <a:ln w="12700" cmpd="sng">
              <a:solidFill>
                <a:schemeClr val="accent3"/>
              </a:solidFill>
            </a:ln>
          </a:right>
          <a:top>
            <a:ln w="12700" cmpd="sng">
              <a:solidFill>
                <a:schemeClr val="accent3"/>
              </a:solidFill>
            </a:ln>
          </a:top>
          <a:bottom>
            <a:ln w="12700" cmpd="sng">
              <a:solidFill>
                <a:schemeClr val="accent3"/>
              </a:solidFill>
            </a:ln>
          </a:bottom>
          <a:insideH>
            <a:ln w="12700" cmpd="sng">
              <a:solidFill>
                <a:schemeClr val="accent3"/>
              </a:solidFill>
            </a:ln>
          </a:insideH>
          <a:insideV>
            <a:ln w="12700" cmpd="sng">
              <a:solidFill>
                <a:schemeClr val="accent3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3">
              <a:alpha val="20000"/>
            </a:schemeClr>
          </a:solidFill>
        </a:fill>
      </a:tcStyle>
    </a:band1H>
    <a:band1V>
      <a:tcStyle>
        <a:tcBdr/>
        <a:fill>
          <a:solidFill>
            <a:schemeClr val="accent3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3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3"/>
              </a:solidFill>
            </a:ln>
          </a:bottom>
        </a:tcBdr>
        <a:fill>
          <a:noFill/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3789" autoAdjust="0"/>
    <p:restoredTop sz="94660"/>
  </p:normalViewPr>
  <p:slideViewPr>
    <p:cSldViewPr snapToGrid="0">
      <p:cViewPr varScale="1">
        <p:scale>
          <a:sx n="80" d="100"/>
          <a:sy n="80" d="100"/>
        </p:scale>
        <p:origin x="840" y="5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sorterViewPr>
    <p:cViewPr>
      <p:scale>
        <a:sx n="100" d="100"/>
        <a:sy n="100" d="100"/>
      </p:scale>
      <p:origin x="0" y="0"/>
    </p:cViewPr>
  </p:sorter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commentAuthors" Target="commentAuthors.xml"/><Relationship Id="rId10" Type="http://schemas.openxmlformats.org/officeDocument/2006/relationships/slide" Target="slides/slide9.xml"/><Relationship Id="rId19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fr-FR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237C2482-C93C-4244-AF51-3DB508796362}" type="datetimeFigureOut">
              <a:rPr lang="fr-FR" smtClean="0"/>
              <a:t>15/05/2026</a:t>
            </a:fld>
            <a:endParaRPr lang="fr-FR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fr-FR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fr-FR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fr-FR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9AE62455-04AA-4E95-B9B2-A90818A1A9E6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34558717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ce réservé des not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fr-FR" dirty="0"/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AE62455-04AA-4E95-B9B2-A90818A1A9E6}" type="slidenum">
              <a:rPr lang="fr-FR" smtClean="0"/>
              <a:t>2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836196732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ce réservé des not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fr-FR" dirty="0"/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AE62455-04AA-4E95-B9B2-A90818A1A9E6}" type="slidenum">
              <a:rPr lang="fr-FR" smtClean="0"/>
              <a:t>7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396946270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A145CCB-5575-4915-8C1B-AF300811F68D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fr-FR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79432EEA-B0D2-4264-A6E4-C44C4A43DC55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fr-FR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8A062AE-E14D-4433-B380-F589D315CCF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100F80-408F-4B84-B5F8-B495062EFBE8}" type="datetimeFigureOut">
              <a:rPr lang="fr-FR" smtClean="0"/>
              <a:t>15/05/2026</a:t>
            </a:fld>
            <a:endParaRPr lang="fr-FR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F0FBAF7-F900-409F-9016-3D451D0BE1B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41A68C1-8BF4-4941-8CEE-3B0ADE6AF33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F66134C-E273-463E-BEED-E5806E145D00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53968659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E860F18-502D-4669-862E-E90B49DD9DC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fr-FR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F4728C3-7358-4E8D-AC56-6F6BD7CDE8E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fr-FR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EA98E5B-A711-4AD3-A667-E08BCDE7D5E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100F80-408F-4B84-B5F8-B495062EFBE8}" type="datetimeFigureOut">
              <a:rPr lang="fr-FR" smtClean="0"/>
              <a:t>15/05/2026</a:t>
            </a:fld>
            <a:endParaRPr lang="fr-FR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8EE0DEF-7F51-4272-9853-FE98CC1540D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B8EB580-22DA-4E05-9302-889D5D1CFBA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F66134C-E273-463E-BEED-E5806E145D00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42112355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A4E5524-7CD6-4630-8442-EB8EDDC1AD2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fr-FR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4A90A93-F76E-4C77-802B-138664B35EA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94B49C3-B9AB-4187-9458-329B32628BB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100F80-408F-4B84-B5F8-B495062EFBE8}" type="datetimeFigureOut">
              <a:rPr lang="fr-FR" smtClean="0"/>
              <a:t>15/05/2026</a:t>
            </a:fld>
            <a:endParaRPr lang="fr-FR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8E9F963-DAD1-4AE9-A44B-383323CE692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F6DAE04-0442-4F76-A695-AE6023F588D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F66134C-E273-463E-BEED-E5806E145D00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06411181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6A701EC-2E2B-4695-813B-32B3D6CD6F3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fr-FR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854735C-B0E2-493B-8F46-B5BEA3494299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fr-FR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FBD5345F-7F6C-40AB-B348-B2C93E4840A8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fr-FR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57130901-C072-4F27-86CC-E5A2D792742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100F80-408F-4B84-B5F8-B495062EFBE8}" type="datetimeFigureOut">
              <a:rPr lang="fr-FR" smtClean="0"/>
              <a:t>15/05/2026</a:t>
            </a:fld>
            <a:endParaRPr lang="fr-FR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E09704C2-85FC-485B-9C44-93D8D2F891C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57B511E-3467-4D5C-9D73-330BF58BCF0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F66134C-E273-463E-BEED-E5806E145D00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44262379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B2203F7-38B9-4630-8191-00C52A85C7B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fr-FR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CCAFDB5-37BF-41EE-8895-86DCD39D169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72954FAF-60F7-4ADE-950E-655A384BCC70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fr-FR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5F4D5613-8287-45C3-8192-B9C8A6D55C0F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89E248F4-3BAC-43EB-8833-4E478AAA9428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fr-FR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40788022-E433-4644-BA19-F503335B31B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100F80-408F-4B84-B5F8-B495062EFBE8}" type="datetimeFigureOut">
              <a:rPr lang="fr-FR" smtClean="0"/>
              <a:t>15/05/2026</a:t>
            </a:fld>
            <a:endParaRPr lang="fr-FR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073B30F1-B97E-4281-A6E9-57B6EC24B91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291EB42D-9117-4E54-A38D-DB45087D618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F66134C-E273-463E-BEED-E5806E145D00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3201218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642B2A7-F18D-4C6B-BD8E-BF46EE88A99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fr-FR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E737EDCC-5123-4AE8-BF11-654F3BCC2CE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100F80-408F-4B84-B5F8-B495062EFBE8}" type="datetimeFigureOut">
              <a:rPr lang="fr-FR" smtClean="0"/>
              <a:t>15/05/2026</a:t>
            </a:fld>
            <a:endParaRPr lang="fr-FR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2C2A4A97-B130-4692-B03F-971E67717E6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8664C76B-1E98-43A9-B1D5-B63034445F1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F66134C-E273-463E-BEED-E5806E145D00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84307129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A9D82417-F527-448A-9794-6CF109DBB8D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100F80-408F-4B84-B5F8-B495062EFBE8}" type="datetimeFigureOut">
              <a:rPr lang="fr-FR" smtClean="0"/>
              <a:t>15/05/2026</a:t>
            </a:fld>
            <a:endParaRPr lang="fr-FR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0452EF4A-43DC-4613-AF20-0142A6F8BF8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85E6C80-7E1A-468D-B62E-8987E474820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F66134C-E273-463E-BEED-E5806E145D00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32399932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A898DFB-B2AC-45FC-91D2-A8565963176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fr-FR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FF13A0A-9A79-4A39-88E1-9D77DF948DE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fr-FR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90937A17-546A-4540-B1B4-F294A2DBF7F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16222786-8D2A-4428-8D97-65DE0B60F51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100F80-408F-4B84-B5F8-B495062EFBE8}" type="datetimeFigureOut">
              <a:rPr lang="fr-FR" smtClean="0"/>
              <a:t>15/05/2026</a:t>
            </a:fld>
            <a:endParaRPr lang="fr-FR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25B40274-EB53-4A70-A935-BDEBE37C40F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F1750857-6AD1-493C-8A20-938154040FD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F66134C-E273-463E-BEED-E5806E145D00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81649922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2C1B580-956D-4F97-B962-8CECC194249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fr-FR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4B42436C-199C-4F1B-9565-7B2E47956FE7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fr-FR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A9DF96C8-D863-42E5-87EC-3BA1E8BA8103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123964B9-12AB-4197-BDE8-E4E0A8941DF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100F80-408F-4B84-B5F8-B495062EFBE8}" type="datetimeFigureOut">
              <a:rPr lang="fr-FR" smtClean="0"/>
              <a:t>15/05/2026</a:t>
            </a:fld>
            <a:endParaRPr lang="fr-FR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BD7B79E2-42F5-4375-9D6C-48E7EA31F90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D1EC6AC-83D2-4919-8889-A360D2BA481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F66134C-E273-463E-BEED-E5806E145D00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401840905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E36535E-F29E-42D5-8A79-8D09B709BE1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fr-FR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78E4B4F6-106E-495D-9DC4-ADD4A2377E67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fr-FR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33F8F2D-0F6B-4090-A2C7-779AB956D5E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100F80-408F-4B84-B5F8-B495062EFBE8}" type="datetimeFigureOut">
              <a:rPr lang="fr-FR" smtClean="0"/>
              <a:t>15/05/2026</a:t>
            </a:fld>
            <a:endParaRPr lang="fr-FR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55EED53-D1A7-4DF7-84F8-C36D8F588FB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FBCEE6D-6A65-4F0D-A30D-3CF6A384B7E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F66134C-E273-463E-BEED-E5806E145D00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69298020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1EC65AA1-7AFC-443B-BEBD-FC51E7D3146D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fr-FR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4B0735DB-FF04-4066-95B5-FF76AF2CA05B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fr-FR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4EBA17F-0728-4926-84C9-99FDDC07886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100F80-408F-4B84-B5F8-B495062EFBE8}" type="datetimeFigureOut">
              <a:rPr lang="fr-FR" smtClean="0"/>
              <a:t>15/05/2026</a:t>
            </a:fld>
            <a:endParaRPr lang="fr-FR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D068E41-355C-4DFC-802E-14218C77C5B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E834FBE-4628-4841-980D-ADCB478C4E8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F66134C-E273-463E-BEED-E5806E145D00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56835251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gradFill flip="none" rotWithShape="1">
          <a:gsLst>
            <a:gs pos="36000">
              <a:schemeClr val="accent1">
                <a:lumMod val="5000"/>
                <a:lumOff val="95000"/>
              </a:schemeClr>
            </a:gs>
            <a:gs pos="66000">
              <a:schemeClr val="accent6">
                <a:lumMod val="40000"/>
                <a:lumOff val="60000"/>
              </a:schemeClr>
            </a:gs>
            <a:gs pos="88000">
              <a:srgbClr val="92D050"/>
            </a:gs>
            <a:gs pos="100000">
              <a:srgbClr val="00B050"/>
            </a:gs>
          </a:gsLst>
          <a:lin ang="5400000" scaled="1"/>
          <a:tileRect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39E17AC2-28D4-491D-B056-18C068D7FE4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fr-FR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F73BF4A-EE80-452F-BC60-2322171122E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fr-FR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F53F9CD-CCB9-41F7-9239-54CC4E26D8FB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AA100F80-408F-4B84-B5F8-B495062EFBE8}" type="datetimeFigureOut">
              <a:rPr lang="fr-FR" smtClean="0"/>
              <a:t>15/05/2026</a:t>
            </a:fld>
            <a:endParaRPr lang="fr-FR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71E1026-DBB6-4C08-A762-B54BBD55037A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fr-FR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77DA5D9-6CAC-431F-A708-1F826FC63B01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F66134C-E273-463E-BEED-E5806E145D00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33517297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fr-F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4.png"/><Relationship Id="rId5" Type="http://schemas.microsoft.com/office/2007/relationships/hdphoto" Target="../media/hdphoto1.wdp"/><Relationship Id="rId4" Type="http://schemas.openxmlformats.org/officeDocument/2006/relationships/image" Target="../media/image3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emf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Image 4">
            <a:extLst>
              <a:ext uri="{FF2B5EF4-FFF2-40B4-BE49-F238E27FC236}">
                <a16:creationId xmlns:a16="http://schemas.microsoft.com/office/drawing/2014/main" id="{7F1C2A2F-D6CF-480E-B7CB-6C68E7EAD1C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 rot="20165640">
            <a:off x="7747995" y="5275159"/>
            <a:ext cx="1579905" cy="1579905"/>
          </a:xfrm>
          <a:prstGeom prst="rect">
            <a:avLst/>
          </a:prstGeom>
        </p:spPr>
      </p:pic>
      <p:grpSp>
        <p:nvGrpSpPr>
          <p:cNvPr id="19" name="Group 18">
            <a:extLst>
              <a:ext uri="{FF2B5EF4-FFF2-40B4-BE49-F238E27FC236}">
                <a16:creationId xmlns:a16="http://schemas.microsoft.com/office/drawing/2014/main" id="{3CF7BC0F-EFCF-4BB1-96CA-DD8FF908BF60}"/>
              </a:ext>
            </a:extLst>
          </p:cNvPr>
          <p:cNvGrpSpPr/>
          <p:nvPr/>
        </p:nvGrpSpPr>
        <p:grpSpPr>
          <a:xfrm>
            <a:off x="0" y="1846580"/>
            <a:ext cx="12192000" cy="966034"/>
            <a:chOff x="0" y="1300071"/>
            <a:chExt cx="12192000" cy="1194211"/>
          </a:xfrm>
          <a:solidFill>
            <a:schemeClr val="accent6">
              <a:lumMod val="40000"/>
              <a:lumOff val="60000"/>
            </a:schemeClr>
          </a:solidFill>
        </p:grpSpPr>
        <p:grpSp>
          <p:nvGrpSpPr>
            <p:cNvPr id="6" name="Group 2">
              <a:extLst>
                <a:ext uri="{FF2B5EF4-FFF2-40B4-BE49-F238E27FC236}">
                  <a16:creationId xmlns:a16="http://schemas.microsoft.com/office/drawing/2014/main" id="{ACDAF367-CC7A-4EB5-A3DB-DE06FD2A39F5}"/>
                </a:ext>
              </a:extLst>
            </p:cNvPr>
            <p:cNvGrpSpPr/>
            <p:nvPr/>
          </p:nvGrpSpPr>
          <p:grpSpPr>
            <a:xfrm>
              <a:off x="0" y="1700568"/>
              <a:ext cx="12192000" cy="783552"/>
              <a:chOff x="0" y="0"/>
              <a:chExt cx="4988065" cy="385799"/>
            </a:xfrm>
            <a:grpFill/>
          </p:grpSpPr>
          <p:sp>
            <p:nvSpPr>
              <p:cNvPr id="7" name="Freeform 3">
                <a:extLst>
                  <a:ext uri="{FF2B5EF4-FFF2-40B4-BE49-F238E27FC236}">
                    <a16:creationId xmlns:a16="http://schemas.microsoft.com/office/drawing/2014/main" id="{C9279D21-0EF3-4140-AEB6-6BE58791B678}"/>
                  </a:ext>
                </a:extLst>
              </p:cNvPr>
              <p:cNvSpPr/>
              <p:nvPr/>
            </p:nvSpPr>
            <p:spPr>
              <a:xfrm>
                <a:off x="0" y="0"/>
                <a:ext cx="4988065" cy="385799"/>
              </a:xfrm>
              <a:custGeom>
                <a:avLst/>
                <a:gdLst/>
                <a:ahLst/>
                <a:cxnLst/>
                <a:rect l="l" t="t" r="r" b="b"/>
                <a:pathLst>
                  <a:path w="4988065" h="385799">
                    <a:moveTo>
                      <a:pt x="0" y="0"/>
                    </a:moveTo>
                    <a:lnTo>
                      <a:pt x="4988065" y="0"/>
                    </a:lnTo>
                    <a:lnTo>
                      <a:pt x="4988065" y="385799"/>
                    </a:lnTo>
                    <a:lnTo>
                      <a:pt x="0" y="385799"/>
                    </a:lnTo>
                    <a:close/>
                  </a:path>
                </a:pathLst>
              </a:custGeom>
              <a:grpFill/>
            </p:spPr>
          </p:sp>
          <p:sp>
            <p:nvSpPr>
              <p:cNvPr id="8" name="TextBox 4">
                <a:extLst>
                  <a:ext uri="{FF2B5EF4-FFF2-40B4-BE49-F238E27FC236}">
                    <a16:creationId xmlns:a16="http://schemas.microsoft.com/office/drawing/2014/main" id="{81BF4A2C-89F2-4CD5-A915-8702FCB0702B}"/>
                  </a:ext>
                </a:extLst>
              </p:cNvPr>
              <p:cNvSpPr txBox="1"/>
              <p:nvPr/>
            </p:nvSpPr>
            <p:spPr>
              <a:xfrm>
                <a:off x="0" y="28575"/>
                <a:ext cx="4988065" cy="357224"/>
              </a:xfrm>
              <a:prstGeom prst="rect">
                <a:avLst/>
              </a:prstGeom>
              <a:grpFill/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2661"/>
                  </a:lnSpc>
                </a:pPr>
                <a:endParaRPr dirty="0"/>
              </a:p>
            </p:txBody>
          </p:sp>
        </p:grpSp>
        <p:sp>
          <p:nvSpPr>
            <p:cNvPr id="12" name="TextBox 9">
              <a:extLst>
                <a:ext uri="{FF2B5EF4-FFF2-40B4-BE49-F238E27FC236}">
                  <a16:creationId xmlns:a16="http://schemas.microsoft.com/office/drawing/2014/main" id="{84B50431-556A-4CB1-9245-727D28A61EC4}"/>
                </a:ext>
              </a:extLst>
            </p:cNvPr>
            <p:cNvSpPr txBox="1"/>
            <p:nvPr/>
          </p:nvSpPr>
          <p:spPr>
            <a:xfrm>
              <a:off x="40640" y="1300071"/>
              <a:ext cx="3639820" cy="1194211"/>
            </a:xfrm>
            <a:prstGeom prst="rect">
              <a:avLst/>
            </a:prstGeom>
            <a:noFill/>
          </p:spPr>
          <p:txBody>
            <a:bodyPr wrap="square" lIns="0" tIns="0" rIns="0" bIns="0" rtlCol="0" anchor="t">
              <a:spAutoFit/>
            </a:bodyPr>
            <a:lstStyle/>
            <a:p>
              <a:pPr algn="l">
                <a:lnSpc>
                  <a:spcPts val="8743"/>
                </a:lnSpc>
                <a:spcBef>
                  <a:spcPct val="0"/>
                </a:spcBef>
              </a:pPr>
              <a:r>
                <a:rPr lang="en-US" sz="3600" b="1" dirty="0">
                  <a:latin typeface="Poppins Bold"/>
                  <a:ea typeface="Poppins Bold"/>
                  <a:cs typeface="Poppins Bold"/>
                  <a:sym typeface="Poppins Bold"/>
                </a:rPr>
                <a:t>INFORMATIQUE</a:t>
              </a:r>
            </a:p>
          </p:txBody>
        </p:sp>
      </p:grpSp>
      <p:sp>
        <p:nvSpPr>
          <p:cNvPr id="14" name="TextBox 11">
            <a:extLst>
              <a:ext uri="{FF2B5EF4-FFF2-40B4-BE49-F238E27FC236}">
                <a16:creationId xmlns:a16="http://schemas.microsoft.com/office/drawing/2014/main" id="{132FBDB5-A7F1-455A-B3AF-B3B12B5B321A}"/>
              </a:ext>
            </a:extLst>
          </p:cNvPr>
          <p:cNvSpPr txBox="1"/>
          <p:nvPr/>
        </p:nvSpPr>
        <p:spPr>
          <a:xfrm>
            <a:off x="40640" y="6321828"/>
            <a:ext cx="3257324" cy="536172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>
              <a:lnSpc>
                <a:spcPts val="4406"/>
              </a:lnSpc>
            </a:pPr>
            <a:r>
              <a:rPr lang="en-US" sz="3600" b="1" i="1" u="sng" dirty="0">
                <a:solidFill>
                  <a:srgbClr val="000000"/>
                </a:solidFill>
                <a:latin typeface="Aldhabi" panose="01000000000000000000" pitchFamily="2" charset="-78"/>
                <a:ea typeface="Open Sans Bold"/>
                <a:cs typeface="Aldhabi" panose="01000000000000000000" pitchFamily="2" charset="-78"/>
                <a:sym typeface="Open Sans Bold"/>
              </a:rPr>
              <a:t>Pr. AMAHROUCH Ayoub</a:t>
            </a:r>
          </a:p>
        </p:txBody>
      </p:sp>
      <p:pic>
        <p:nvPicPr>
          <p:cNvPr id="16" name="Picture 15">
            <a:extLst>
              <a:ext uri="{FF2B5EF4-FFF2-40B4-BE49-F238E27FC236}">
                <a16:creationId xmlns:a16="http://schemas.microsoft.com/office/drawing/2014/main" id="{9CF1809D-6695-4FB7-BD39-1610A39BD90B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377796" y="38909"/>
            <a:ext cx="9347139" cy="1276655"/>
          </a:xfrm>
          <a:prstGeom prst="rect">
            <a:avLst/>
          </a:prstGeom>
        </p:spPr>
      </p:pic>
      <p:sp>
        <p:nvSpPr>
          <p:cNvPr id="17" name="TextBox 10">
            <a:extLst>
              <a:ext uri="{FF2B5EF4-FFF2-40B4-BE49-F238E27FC236}">
                <a16:creationId xmlns:a16="http://schemas.microsoft.com/office/drawing/2014/main" id="{E6361432-DCD2-44DD-81A0-A091E3E123B7}"/>
              </a:ext>
            </a:extLst>
          </p:cNvPr>
          <p:cNvSpPr txBox="1"/>
          <p:nvPr/>
        </p:nvSpPr>
        <p:spPr>
          <a:xfrm>
            <a:off x="1078188" y="3161983"/>
            <a:ext cx="9856328" cy="2062039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8544"/>
              </a:lnSpc>
              <a:spcBef>
                <a:spcPct val="0"/>
              </a:spcBef>
            </a:pPr>
            <a:r>
              <a:rPr lang="fr-FR" sz="5400" b="1" i="1" dirty="0">
                <a:solidFill>
                  <a:schemeClr val="accent6">
                    <a:lumMod val="50000"/>
                  </a:schemeClr>
                </a:solidFill>
                <a:latin typeface="Comic Sans MS" panose="030F0702030302020204" pitchFamily="66" charset="0"/>
                <a:ea typeface="Poppins Bold"/>
                <a:cs typeface="Poppins Bold"/>
                <a:sym typeface="Poppins Bold"/>
              </a:rPr>
              <a:t>Référence relative, utilisation des formules</a:t>
            </a:r>
          </a:p>
        </p:txBody>
      </p:sp>
      <p:sp>
        <p:nvSpPr>
          <p:cNvPr id="18" name="TextBox 11">
            <a:extLst>
              <a:ext uri="{FF2B5EF4-FFF2-40B4-BE49-F238E27FC236}">
                <a16:creationId xmlns:a16="http://schemas.microsoft.com/office/drawing/2014/main" id="{5536A886-117E-4348-86DA-6A7D00A50486}"/>
              </a:ext>
            </a:extLst>
          </p:cNvPr>
          <p:cNvSpPr txBox="1"/>
          <p:nvPr/>
        </p:nvSpPr>
        <p:spPr>
          <a:xfrm>
            <a:off x="10720491" y="6306124"/>
            <a:ext cx="1538909" cy="564257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l">
              <a:lnSpc>
                <a:spcPts val="4406"/>
              </a:lnSpc>
            </a:pPr>
            <a:r>
              <a:rPr lang="en-US" sz="4400" b="1" dirty="0">
                <a:solidFill>
                  <a:srgbClr val="000000"/>
                </a:solidFill>
                <a:latin typeface="Aldhabi" panose="01000000000000000000" pitchFamily="2" charset="-78"/>
                <a:ea typeface="Open Sans Bold"/>
                <a:cs typeface="Aldhabi" panose="01000000000000000000" pitchFamily="2" charset="-78"/>
                <a:sym typeface="Open Sans Bold"/>
              </a:rPr>
              <a:t>2025/2026</a:t>
            </a: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493287DA-EBB1-4397-850B-2D3B184FFFFC}"/>
              </a:ext>
            </a:extLst>
          </p:cNvPr>
          <p:cNvSpPr txBox="1"/>
          <p:nvPr/>
        </p:nvSpPr>
        <p:spPr>
          <a:xfrm>
            <a:off x="2364925" y="1320583"/>
            <a:ext cx="7282855" cy="86177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fr-FR" sz="1600" dirty="0">
                <a:solidFill>
                  <a:srgbClr val="303030"/>
                </a:solidFill>
                <a:latin typeface="Abadi" panose="020B0604020104020204" pitchFamily="34" charset="0"/>
              </a:rPr>
              <a:t>Académie Régionale de l'Éducation et de la Formation de Béni Mellal-</a:t>
            </a:r>
            <a:r>
              <a:rPr lang="fr-FR" sz="1600" dirty="0" err="1">
                <a:solidFill>
                  <a:srgbClr val="303030"/>
                </a:solidFill>
                <a:latin typeface="Abadi" panose="020B0604020104020204" pitchFamily="34" charset="0"/>
              </a:rPr>
              <a:t>Khénifra</a:t>
            </a:r>
            <a:endParaRPr lang="fr-FR" sz="1600" dirty="0">
              <a:solidFill>
                <a:srgbClr val="303030"/>
              </a:solidFill>
              <a:latin typeface="Abadi" panose="020B0604020104020204" pitchFamily="34" charset="0"/>
            </a:endParaRPr>
          </a:p>
          <a:p>
            <a:pPr algn="ctr"/>
            <a:r>
              <a:rPr lang="fr-FR" sz="1600" dirty="0">
                <a:solidFill>
                  <a:srgbClr val="303030"/>
                </a:solidFill>
                <a:latin typeface="Abadi" panose="020B0604020104020204" pitchFamily="34" charset="0"/>
              </a:rPr>
              <a:t>Direction Provinciale Khouribga</a:t>
            </a:r>
          </a:p>
          <a:p>
            <a:pPr algn="ctr"/>
            <a:r>
              <a:rPr lang="fr-FR" sz="1600" dirty="0">
                <a:solidFill>
                  <a:srgbClr val="303030"/>
                </a:solidFill>
                <a:latin typeface="Abadi" panose="020B0604020104020204" pitchFamily="34" charset="0"/>
              </a:rPr>
              <a:t>Collège Aït Ammar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39D0C943-CF19-41F3-994D-661BA6C9A0AA}"/>
              </a:ext>
            </a:extLst>
          </p:cNvPr>
          <p:cNvSpPr txBox="1"/>
          <p:nvPr/>
        </p:nvSpPr>
        <p:spPr>
          <a:xfrm>
            <a:off x="0" y="2898278"/>
            <a:ext cx="5312979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rtl="0">
              <a:spcBef>
                <a:spcPts val="0"/>
              </a:spcBef>
              <a:spcAft>
                <a:spcPts val="0"/>
              </a:spcAft>
            </a:pPr>
            <a:r>
              <a:rPr lang="fr-FR" sz="1800" b="1" i="0" u="none" strike="noStrike" dirty="0">
                <a:solidFill>
                  <a:srgbClr val="00B050"/>
                </a:solidFill>
                <a:effectLst/>
                <a:latin typeface="Calibri" panose="020F0502020204030204" pitchFamily="34" charset="0"/>
              </a:rPr>
              <a:t>Unité 3 :  LE TABLEUR. </a:t>
            </a:r>
          </a:p>
          <a:p>
            <a:r>
              <a:rPr lang="fr-FR" b="1" dirty="0">
                <a:solidFill>
                  <a:srgbClr val="00B050"/>
                </a:solidFill>
                <a:latin typeface="Calibri" panose="020F0502020204030204" pitchFamily="34" charset="0"/>
              </a:rPr>
              <a:t>Séquence 1 : </a:t>
            </a:r>
            <a:r>
              <a:rPr lang="en-US" b="1" dirty="0">
                <a:solidFill>
                  <a:srgbClr val="00B050"/>
                </a:solidFill>
                <a:latin typeface="Calibri" panose="020F0502020204030204" pitchFamily="34" charset="0"/>
                <a:sym typeface="Poppins Bold"/>
              </a:rPr>
              <a:t>Le </a:t>
            </a:r>
            <a:r>
              <a:rPr lang="en-US" b="1" dirty="0" err="1">
                <a:solidFill>
                  <a:srgbClr val="00B050"/>
                </a:solidFill>
                <a:latin typeface="Calibri" panose="020F0502020204030204" pitchFamily="34" charset="0"/>
                <a:sym typeface="Poppins Bold"/>
              </a:rPr>
              <a:t>tableur</a:t>
            </a:r>
            <a:r>
              <a:rPr lang="fr-FR" b="1" dirty="0">
                <a:solidFill>
                  <a:srgbClr val="00B050"/>
                </a:solidFill>
                <a:latin typeface="Calibri" panose="020F0502020204030204" pitchFamily="34" charset="0"/>
              </a:rPr>
              <a:t>. </a:t>
            </a:r>
          </a:p>
        </p:txBody>
      </p:sp>
      <p:pic>
        <p:nvPicPr>
          <p:cNvPr id="21" name="Picture 2">
            <a:extLst>
              <a:ext uri="{FF2B5EF4-FFF2-40B4-BE49-F238E27FC236}">
                <a16:creationId xmlns:a16="http://schemas.microsoft.com/office/drawing/2014/main" id="{F694E9F3-D746-47AD-9FB5-A655E469CF9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 cstate="print">
            <a:extLst>
              <a:ext uri="{BEBA8EAE-BF5A-486C-A8C5-ECC9F3942E4B}">
                <a14:imgProps xmlns:a14="http://schemas.microsoft.com/office/drawing/2010/main">
                  <a14:imgLayer r:embed="rId5">
                    <a14:imgEffect>
                      <a14:backgroundRemoval t="10000" b="90000" l="10000" r="9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547070" y="2384776"/>
            <a:ext cx="2179812" cy="217981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" name="Image 2">
            <a:extLst>
              <a:ext uri="{FF2B5EF4-FFF2-40B4-BE49-F238E27FC236}">
                <a16:creationId xmlns:a16="http://schemas.microsoft.com/office/drawing/2014/main" id="{6BB49E48-25CF-4ADC-BA63-5A995AF0A52B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642157" y="5224022"/>
            <a:ext cx="1668430" cy="168217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15052875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Shape 2">
            <a:extLst>
              <a:ext uri="{FF2B5EF4-FFF2-40B4-BE49-F238E27FC236}">
                <a16:creationId xmlns:a16="http://schemas.microsoft.com/office/drawing/2014/main" id="{2BF94335-8457-474C-A6A8-8D53A3C5B643}"/>
              </a:ext>
            </a:extLst>
          </p:cNvPr>
          <p:cNvSpPr/>
          <p:nvPr/>
        </p:nvSpPr>
        <p:spPr>
          <a:xfrm>
            <a:off x="244286" y="638134"/>
            <a:ext cx="11814364" cy="594548"/>
          </a:xfrm>
          <a:prstGeom prst="rect">
            <a:avLst/>
          </a:prstGeom>
          <a:solidFill>
            <a:srgbClr val="FEF9F0"/>
          </a:solidFill>
          <a:ln w="25400">
            <a:solidFill>
              <a:srgbClr val="E67E22"/>
            </a:solidFill>
            <a:prstDash val="solid"/>
          </a:ln>
        </p:spPr>
      </p:sp>
      <p:sp>
        <p:nvSpPr>
          <p:cNvPr id="13" name="Espace réservé du numéro de diapositive 1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7CD49EA-5B67-4AAA-B86D-F1B0C798D823}" type="slidenum">
              <a:rPr lang="fr-FR" smtClean="0"/>
              <a:pPr/>
              <a:t>2</a:t>
            </a:fld>
            <a:endParaRPr lang="fr-FR" dirty="0"/>
          </a:p>
        </p:txBody>
      </p:sp>
      <p:sp>
        <p:nvSpPr>
          <p:cNvPr id="19" name="Espace réservé du contenu 18"/>
          <p:cNvSpPr>
            <a:spLocks noGrp="1"/>
          </p:cNvSpPr>
          <p:nvPr>
            <p:ph idx="1"/>
          </p:nvPr>
        </p:nvSpPr>
        <p:spPr>
          <a:xfrm>
            <a:off x="491270" y="738712"/>
            <a:ext cx="8866089" cy="408889"/>
          </a:xfrm>
        </p:spPr>
        <p:txBody>
          <a:bodyPr>
            <a:noAutofit/>
          </a:bodyPr>
          <a:lstStyle/>
          <a:p>
            <a:pPr>
              <a:buFont typeface="Wingdings" panose="05000000000000000000" pitchFamily="2" charset="2"/>
              <a:buChar char="§"/>
            </a:pPr>
            <a:r>
              <a:rPr lang="fr-FR" sz="2400" dirty="0"/>
              <a:t>Après que le groupe de </a:t>
            </a:r>
            <a:r>
              <a:rPr lang="fr-FR" sz="2400" b="1" dirty="0" err="1"/>
              <a:t>Basma</a:t>
            </a:r>
            <a:r>
              <a:rPr lang="fr-FR" sz="2400" dirty="0"/>
              <a:t> a effectué </a:t>
            </a:r>
            <a:r>
              <a:rPr lang="fr-FR" sz="2400" b="1" dirty="0"/>
              <a:t>le quatrième versement</a:t>
            </a:r>
            <a:r>
              <a:rPr lang="fr-FR" sz="2400" dirty="0"/>
              <a:t>.</a:t>
            </a:r>
          </a:p>
        </p:txBody>
      </p:sp>
      <p:sp>
        <p:nvSpPr>
          <p:cNvPr id="8" name="Titre 7"/>
          <p:cNvSpPr>
            <a:spLocks noGrp="1"/>
          </p:cNvSpPr>
          <p:nvPr>
            <p:ph type="title"/>
          </p:nvPr>
        </p:nvSpPr>
        <p:spPr>
          <a:xfrm>
            <a:off x="188456" y="132578"/>
            <a:ext cx="10972800" cy="489790"/>
          </a:xfrm>
        </p:spPr>
        <p:txBody>
          <a:bodyPr>
            <a:noAutofit/>
          </a:bodyPr>
          <a:lstStyle/>
          <a:p>
            <a:r>
              <a:rPr lang="fr-FR" sz="4000" b="1" dirty="0">
                <a:solidFill>
                  <a:schemeClr val="accent6">
                    <a:lumMod val="75000"/>
                  </a:schemeClr>
                </a:solidFill>
              </a:rPr>
              <a:t>Activité 1 :</a:t>
            </a:r>
          </a:p>
        </p:txBody>
      </p:sp>
      <p:sp>
        <p:nvSpPr>
          <p:cNvPr id="26" name="Text 14">
            <a:extLst>
              <a:ext uri="{FF2B5EF4-FFF2-40B4-BE49-F238E27FC236}">
                <a16:creationId xmlns:a16="http://schemas.microsoft.com/office/drawing/2014/main" id="{2EDF9424-F1C1-4012-968B-D600171E35A9}"/>
              </a:ext>
            </a:extLst>
          </p:cNvPr>
          <p:cNvSpPr/>
          <p:nvPr/>
        </p:nvSpPr>
        <p:spPr>
          <a:xfrm>
            <a:off x="491270" y="5277846"/>
            <a:ext cx="52578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sz="2400" dirty="0"/>
          </a:p>
        </p:txBody>
      </p:sp>
      <p:sp>
        <p:nvSpPr>
          <p:cNvPr id="15" name="Text 8">
            <a:extLst>
              <a:ext uri="{FF2B5EF4-FFF2-40B4-BE49-F238E27FC236}">
                <a16:creationId xmlns:a16="http://schemas.microsoft.com/office/drawing/2014/main" id="{3CC71F75-A284-41B8-89CD-C5ED3E4E49A0}"/>
              </a:ext>
            </a:extLst>
          </p:cNvPr>
          <p:cNvSpPr/>
          <p:nvPr/>
        </p:nvSpPr>
        <p:spPr>
          <a:xfrm>
            <a:off x="27412" y="5335674"/>
            <a:ext cx="11443315" cy="127313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Font typeface="Wingdings" panose="05000000000000000000" pitchFamily="2" charset="2"/>
              <a:buChar char="Ø"/>
            </a:pPr>
            <a:r>
              <a:rPr lang="fr-FR" sz="2800" dirty="0">
                <a:solidFill>
                  <a:srgbClr val="1C2833"/>
                </a:solidFill>
              </a:rPr>
              <a:t>Comment effectuer </a:t>
            </a:r>
            <a:r>
              <a:rPr lang="fr-FR" sz="2800" b="1" dirty="0">
                <a:solidFill>
                  <a:srgbClr val="1C2833"/>
                </a:solidFill>
              </a:rPr>
              <a:t>le calcul des totaux</a:t>
            </a:r>
            <a:r>
              <a:rPr lang="fr-FR" sz="2800" dirty="0">
                <a:solidFill>
                  <a:srgbClr val="1C2833"/>
                </a:solidFill>
              </a:rPr>
              <a:t> d’une manière </a:t>
            </a:r>
            <a:r>
              <a:rPr lang="fr-FR" sz="2800" b="1" dirty="0">
                <a:solidFill>
                  <a:srgbClr val="1C2833"/>
                </a:solidFill>
              </a:rPr>
              <a:t>plus rapide</a:t>
            </a:r>
            <a:r>
              <a:rPr lang="fr-FR" sz="2800" dirty="0">
                <a:solidFill>
                  <a:srgbClr val="1C2833"/>
                </a:solidFill>
              </a:rPr>
              <a:t> ?</a:t>
            </a:r>
          </a:p>
        </p:txBody>
      </p:sp>
      <p:pic>
        <p:nvPicPr>
          <p:cNvPr id="6" name="Image 5">
            <a:extLst>
              <a:ext uri="{FF2B5EF4-FFF2-40B4-BE49-F238E27FC236}">
                <a16:creationId xmlns:a16="http://schemas.microsoft.com/office/drawing/2014/main" id="{F0CFD285-48AB-4779-AF80-BAF69F29936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63202" y="1638670"/>
            <a:ext cx="10290598" cy="3580660"/>
          </a:xfrm>
          <a:prstGeom prst="rect">
            <a:avLst/>
          </a:prstGeom>
        </p:spPr>
      </p:pic>
      <p:cxnSp>
        <p:nvCxnSpPr>
          <p:cNvPr id="9" name="Connecteur : en arc 8">
            <a:extLst>
              <a:ext uri="{FF2B5EF4-FFF2-40B4-BE49-F238E27FC236}">
                <a16:creationId xmlns:a16="http://schemas.microsoft.com/office/drawing/2014/main" id="{C189671D-2701-4DDF-966F-A381B8FBD2CC}"/>
              </a:ext>
            </a:extLst>
          </p:cNvPr>
          <p:cNvCxnSpPr>
            <a:cxnSpLocks/>
          </p:cNvCxnSpPr>
          <p:nvPr/>
        </p:nvCxnSpPr>
        <p:spPr>
          <a:xfrm>
            <a:off x="7407800" y="1121506"/>
            <a:ext cx="1377385" cy="927213"/>
          </a:xfrm>
          <a:prstGeom prst="curvedConnector3">
            <a:avLst>
              <a:gd name="adj1" fmla="val 88656"/>
            </a:avLst>
          </a:prstGeom>
          <a:ln w="38100">
            <a:solidFill>
              <a:srgbClr val="FF0000"/>
            </a:solidFill>
            <a:prstDash val="sysDot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766180306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0" dur="500"/>
                                        <p:tgtEl>
                                          <p:spTgt spid="1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1" fill="hold">
                            <p:stCondLst>
                              <p:cond delay="500"/>
                            </p:stCondLst>
                            <p:childTnLst>
                              <p:par>
                                <p:cTn id="12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4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5" fill="hold">
                            <p:stCondLst>
                              <p:cond delay="1000"/>
                            </p:stCondLst>
                            <p:childTnLst>
                              <p:par>
                                <p:cTn id="16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8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9" fill="hold">
                            <p:stCondLst>
                              <p:cond delay="1500"/>
                            </p:stCondLst>
                            <p:childTnLst>
                              <p:par>
                                <p:cTn id="20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500"/>
                                        <p:tgtEl>
                                          <p:spTgt spid="1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9" grpId="0" uiExpand="1" build="p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Espace réservé du numéro de diapositive 1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7CD49EA-5B67-4AAA-B86D-F1B0C798D823}" type="slidenum">
              <a:rPr lang="fr-FR" smtClean="0"/>
              <a:pPr/>
              <a:t>3</a:t>
            </a:fld>
            <a:endParaRPr lang="fr-FR"/>
          </a:p>
        </p:txBody>
      </p:sp>
      <p:sp>
        <p:nvSpPr>
          <p:cNvPr id="7172" name="AutoShape 4" descr="http://www.gelgabon.net/_/rsrc/1243686138086/materiels-et-logiciels/le-wifi/liaison-wifi-entre-2-PC.jpg"/>
          <p:cNvSpPr>
            <a:spLocks noChangeAspect="1" noChangeArrowheads="1"/>
          </p:cNvSpPr>
          <p:nvPr/>
        </p:nvSpPr>
        <p:spPr bwMode="auto">
          <a:xfrm>
            <a:off x="207434" y="-1790700"/>
            <a:ext cx="7683500" cy="2320303"/>
          </a:xfrm>
          <a:prstGeom prst="rect">
            <a:avLst/>
          </a:prstGeom>
          <a:noFill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fr-FR"/>
          </a:p>
        </p:txBody>
      </p:sp>
      <p:sp>
        <p:nvSpPr>
          <p:cNvPr id="8" name="Titre 7"/>
          <p:cNvSpPr>
            <a:spLocks noGrp="1"/>
          </p:cNvSpPr>
          <p:nvPr>
            <p:ph type="title"/>
          </p:nvPr>
        </p:nvSpPr>
        <p:spPr>
          <a:xfrm>
            <a:off x="31533" y="126699"/>
            <a:ext cx="4413146" cy="505544"/>
          </a:xfrm>
        </p:spPr>
        <p:txBody>
          <a:bodyPr>
            <a:noAutofit/>
          </a:bodyPr>
          <a:lstStyle/>
          <a:p>
            <a:pPr marL="571500" indent="-571500">
              <a:buFont typeface="Wingdings" panose="05000000000000000000" pitchFamily="2" charset="2"/>
              <a:buChar char="Ø"/>
            </a:pPr>
            <a:r>
              <a:rPr lang="fr-FR" sz="4000" b="1" dirty="0">
                <a:solidFill>
                  <a:schemeClr val="accent2"/>
                </a:solidFill>
              </a:rPr>
              <a:t>Calcul des totaux:</a:t>
            </a:r>
          </a:p>
        </p:txBody>
      </p:sp>
      <p:sp>
        <p:nvSpPr>
          <p:cNvPr id="15" name="ZoneTexte 14">
            <a:extLst>
              <a:ext uri="{FF2B5EF4-FFF2-40B4-BE49-F238E27FC236}">
                <a16:creationId xmlns:a16="http://schemas.microsoft.com/office/drawing/2014/main" id="{46376772-93E1-4745-905D-A011A000BCC8}"/>
              </a:ext>
            </a:extLst>
          </p:cNvPr>
          <p:cNvSpPr txBox="1"/>
          <p:nvPr/>
        </p:nvSpPr>
        <p:spPr>
          <a:xfrm>
            <a:off x="0" y="743759"/>
            <a:ext cx="9821917" cy="273921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indent="-342900">
              <a:buFont typeface="Wingdings" panose="05000000000000000000" pitchFamily="2" charset="2"/>
              <a:buChar char="ü"/>
            </a:pPr>
            <a:r>
              <a:rPr lang="fr-FR" sz="2800" b="1" i="1" dirty="0">
                <a:solidFill>
                  <a:schemeClr val="accent1"/>
                </a:solidFill>
                <a:latin typeface="+mj-lt"/>
              </a:rPr>
              <a:t>Méthode 1:</a:t>
            </a:r>
          </a:p>
          <a:p>
            <a:pPr marL="1714500" lvl="3" indent="-342900">
              <a:buFont typeface="Wingdings" panose="05000000000000000000" pitchFamily="2" charset="2"/>
              <a:buChar char="q"/>
            </a:pPr>
            <a:r>
              <a:rPr lang="fr-FR" sz="2400" b="1" dirty="0">
                <a:latin typeface="+mj-lt"/>
              </a:rPr>
              <a:t>En utilisant la recopie de la fonction Somme automatique</a:t>
            </a:r>
          </a:p>
          <a:p>
            <a:pPr lvl="3"/>
            <a:endParaRPr lang="fr-FR" sz="2400" b="1" dirty="0">
              <a:latin typeface="+mj-lt"/>
            </a:endParaRPr>
          </a:p>
          <a:p>
            <a:pPr marL="2171700" lvl="4" indent="-342900">
              <a:buFont typeface="Arial" panose="020B0604020202020204" pitchFamily="34" charset="0"/>
              <a:buChar char="•"/>
            </a:pPr>
            <a:r>
              <a:rPr lang="fr-FR" sz="2400" dirty="0">
                <a:latin typeface="+mj-lt"/>
              </a:rPr>
              <a:t>On </a:t>
            </a:r>
            <a:r>
              <a:rPr lang="fr-FR" sz="2400" b="1" dirty="0">
                <a:latin typeface="+mj-lt"/>
              </a:rPr>
              <a:t>sélectionne</a:t>
            </a:r>
            <a:r>
              <a:rPr lang="fr-FR" sz="2400" dirty="0">
                <a:latin typeface="+mj-lt"/>
              </a:rPr>
              <a:t> la cellule où le résultat sera placé.</a:t>
            </a:r>
          </a:p>
          <a:p>
            <a:pPr marL="2171700" lvl="4" indent="-342900">
              <a:buFont typeface="Arial" panose="020B0604020202020204" pitchFamily="34" charset="0"/>
              <a:buChar char="•"/>
            </a:pPr>
            <a:r>
              <a:rPr lang="fr-FR" sz="2400" dirty="0">
                <a:latin typeface="+mj-lt"/>
              </a:rPr>
              <a:t>Un simple clic sur l’icône </a:t>
            </a:r>
            <a:r>
              <a:rPr lang="fr-FR" sz="2400" b="1" dirty="0">
                <a:latin typeface="+mj-lt"/>
              </a:rPr>
              <a:t>somme automatique</a:t>
            </a:r>
            <a:r>
              <a:rPr lang="fr-FR" sz="2400" dirty="0">
                <a:latin typeface="+mj-lt"/>
              </a:rPr>
              <a:t>.</a:t>
            </a:r>
          </a:p>
          <a:p>
            <a:pPr marL="2171700" lvl="4" indent="-342900">
              <a:buFont typeface="Arial" panose="020B0604020202020204" pitchFamily="34" charset="0"/>
              <a:buChar char="•"/>
            </a:pPr>
            <a:r>
              <a:rPr lang="fr-FR" sz="2400" dirty="0">
                <a:latin typeface="+mj-lt"/>
              </a:rPr>
              <a:t>On sélectionne les cellules à calculer.</a:t>
            </a:r>
          </a:p>
          <a:p>
            <a:pPr marL="2171700" lvl="4" indent="-342900">
              <a:buFont typeface="Arial" panose="020B0604020202020204" pitchFamily="34" charset="0"/>
              <a:buChar char="•"/>
            </a:pPr>
            <a:r>
              <a:rPr lang="fr-FR" sz="2400" dirty="0">
                <a:latin typeface="+mj-lt"/>
              </a:rPr>
              <a:t>On valide par la touche entrée</a:t>
            </a:r>
          </a:p>
        </p:txBody>
      </p:sp>
      <p:sp>
        <p:nvSpPr>
          <p:cNvPr id="20" name="Text 4">
            <a:extLst>
              <a:ext uri="{FF2B5EF4-FFF2-40B4-BE49-F238E27FC236}">
                <a16:creationId xmlns:a16="http://schemas.microsoft.com/office/drawing/2014/main" id="{0819D954-4501-40E4-9B24-48066E472185}"/>
              </a:ext>
            </a:extLst>
          </p:cNvPr>
          <p:cNvSpPr/>
          <p:nvPr/>
        </p:nvSpPr>
        <p:spPr>
          <a:xfrm>
            <a:off x="4557060" y="2821921"/>
            <a:ext cx="4301189" cy="446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algn="ctr">
              <a:buNone/>
            </a:pPr>
            <a:endParaRPr lang="en-US" sz="2400" dirty="0">
              <a:latin typeface="+mj-lt"/>
            </a:endParaRPr>
          </a:p>
        </p:txBody>
      </p:sp>
      <p:sp>
        <p:nvSpPr>
          <p:cNvPr id="27" name="Text 11">
            <a:extLst>
              <a:ext uri="{FF2B5EF4-FFF2-40B4-BE49-F238E27FC236}">
                <a16:creationId xmlns:a16="http://schemas.microsoft.com/office/drawing/2014/main" id="{CE86A2ED-FC67-498D-A67D-19D520AA4892}"/>
              </a:ext>
            </a:extLst>
          </p:cNvPr>
          <p:cNvSpPr/>
          <p:nvPr/>
        </p:nvSpPr>
        <p:spPr>
          <a:xfrm>
            <a:off x="4694221" y="5729713"/>
            <a:ext cx="4001106" cy="356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sz="1600" dirty="0"/>
          </a:p>
        </p:txBody>
      </p:sp>
      <p:sp>
        <p:nvSpPr>
          <p:cNvPr id="31" name="Text 15">
            <a:extLst>
              <a:ext uri="{FF2B5EF4-FFF2-40B4-BE49-F238E27FC236}">
                <a16:creationId xmlns:a16="http://schemas.microsoft.com/office/drawing/2014/main" id="{35E3EF9E-F134-4287-8D39-91E9573F27FF}"/>
              </a:ext>
            </a:extLst>
          </p:cNvPr>
          <p:cNvSpPr/>
          <p:nvPr/>
        </p:nvSpPr>
        <p:spPr>
          <a:xfrm>
            <a:off x="9159552" y="1292321"/>
            <a:ext cx="4206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endParaRPr lang="en-US" sz="1300" dirty="0"/>
          </a:p>
        </p:txBody>
      </p:sp>
      <p:sp>
        <p:nvSpPr>
          <p:cNvPr id="36" name="Text 20">
            <a:extLst>
              <a:ext uri="{FF2B5EF4-FFF2-40B4-BE49-F238E27FC236}">
                <a16:creationId xmlns:a16="http://schemas.microsoft.com/office/drawing/2014/main" id="{768A2672-D632-457E-9DDB-E2CD189500F6}"/>
              </a:ext>
            </a:extLst>
          </p:cNvPr>
          <p:cNvSpPr/>
          <p:nvPr/>
        </p:nvSpPr>
        <p:spPr>
          <a:xfrm>
            <a:off x="9296712" y="3413729"/>
            <a:ext cx="39319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sz="1200" dirty="0"/>
          </a:p>
        </p:txBody>
      </p:sp>
      <p:sp>
        <p:nvSpPr>
          <p:cNvPr id="24" name="ZoneTexte 23">
            <a:extLst>
              <a:ext uri="{FF2B5EF4-FFF2-40B4-BE49-F238E27FC236}">
                <a16:creationId xmlns:a16="http://schemas.microsoft.com/office/drawing/2014/main" id="{AFD846B1-4A46-473E-B242-287E1CC8787A}"/>
              </a:ext>
            </a:extLst>
          </p:cNvPr>
          <p:cNvSpPr txBox="1"/>
          <p:nvPr/>
        </p:nvSpPr>
        <p:spPr>
          <a:xfrm>
            <a:off x="768379" y="4420095"/>
            <a:ext cx="6817688" cy="120032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800100" lvl="1" indent="-342900">
              <a:buFont typeface="Wingdings" panose="05000000000000000000" pitchFamily="2" charset="2"/>
              <a:buChar char="q"/>
            </a:pPr>
            <a:r>
              <a:rPr lang="fr-FR" sz="2400" b="1" dirty="0">
                <a:latin typeface="+mj-lt"/>
              </a:rPr>
              <a:t>Après </a:t>
            </a:r>
            <a:r>
              <a:rPr lang="fr-FR" sz="2400" b="1" dirty="0">
                <a:highlight>
                  <a:srgbClr val="FFFF00"/>
                </a:highlight>
                <a:latin typeface="+mj-lt"/>
              </a:rPr>
              <a:t>la recopie </a:t>
            </a:r>
            <a:r>
              <a:rPr lang="fr-FR" sz="2400" b="1" dirty="0">
                <a:latin typeface="+mj-lt"/>
              </a:rPr>
              <a:t>de la fonction:</a:t>
            </a:r>
          </a:p>
          <a:p>
            <a:pPr marL="1714500" lvl="3" indent="-342900">
              <a:buFont typeface="Arial" panose="020B0604020202020204" pitchFamily="34" charset="0"/>
              <a:buChar char="•"/>
            </a:pPr>
            <a:r>
              <a:rPr lang="fr-FR" sz="2400" dirty="0">
                <a:latin typeface="+mj-lt"/>
              </a:rPr>
              <a:t>Dans </a:t>
            </a:r>
            <a:r>
              <a:rPr lang="fr-FR" sz="2400" b="1" dirty="0">
                <a:solidFill>
                  <a:srgbClr val="FF0000"/>
                </a:solidFill>
                <a:latin typeface="+mj-lt"/>
              </a:rPr>
              <a:t>C3</a:t>
            </a:r>
            <a:r>
              <a:rPr lang="fr-FR" sz="2400" dirty="0">
                <a:latin typeface="+mj-lt"/>
              </a:rPr>
              <a:t>, on aura la fonction</a:t>
            </a:r>
            <a:r>
              <a:rPr lang="fr-FR" sz="2400" b="1" dirty="0">
                <a:solidFill>
                  <a:srgbClr val="FF0000"/>
                </a:solidFill>
                <a:latin typeface="+mj-lt"/>
              </a:rPr>
              <a:t>=Somme(A2:B3)</a:t>
            </a:r>
          </a:p>
        </p:txBody>
      </p:sp>
      <p:pic>
        <p:nvPicPr>
          <p:cNvPr id="10" name="Image 9">
            <a:extLst>
              <a:ext uri="{FF2B5EF4-FFF2-40B4-BE49-F238E27FC236}">
                <a16:creationId xmlns:a16="http://schemas.microsoft.com/office/drawing/2014/main" id="{FF8BF457-7714-411A-87DE-3078E0B0457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938046" y="2729166"/>
            <a:ext cx="5221587" cy="1721828"/>
          </a:xfrm>
          <a:prstGeom prst="rect">
            <a:avLst/>
          </a:prstGeom>
        </p:spPr>
      </p:pic>
      <p:pic>
        <p:nvPicPr>
          <p:cNvPr id="12" name="Image 11">
            <a:extLst>
              <a:ext uri="{FF2B5EF4-FFF2-40B4-BE49-F238E27FC236}">
                <a16:creationId xmlns:a16="http://schemas.microsoft.com/office/drawing/2014/main" id="{6A7358E9-9658-4870-A16A-576C3E318F1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970412" y="4611831"/>
            <a:ext cx="5221587" cy="2138954"/>
          </a:xfrm>
          <a:prstGeom prst="rect">
            <a:avLst/>
          </a:prstGeom>
        </p:spPr>
      </p:pic>
      <p:sp>
        <p:nvSpPr>
          <p:cNvPr id="14" name="Rectangle : coins arrondis 13">
            <a:extLst>
              <a:ext uri="{FF2B5EF4-FFF2-40B4-BE49-F238E27FC236}">
                <a16:creationId xmlns:a16="http://schemas.microsoft.com/office/drawing/2014/main" id="{D869D946-0813-48F3-9EBF-3AC21AA9F103}"/>
              </a:ext>
            </a:extLst>
          </p:cNvPr>
          <p:cNvSpPr/>
          <p:nvPr/>
        </p:nvSpPr>
        <p:spPr>
          <a:xfrm>
            <a:off x="9581206" y="3162300"/>
            <a:ext cx="1772594" cy="534826"/>
          </a:xfrm>
          <a:prstGeom prst="roundRect">
            <a:avLst/>
          </a:prstGeom>
          <a:noFill/>
          <a:ln w="1905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cxnSp>
        <p:nvCxnSpPr>
          <p:cNvPr id="18" name="Connecteur : en arc 17">
            <a:extLst>
              <a:ext uri="{FF2B5EF4-FFF2-40B4-BE49-F238E27FC236}">
                <a16:creationId xmlns:a16="http://schemas.microsoft.com/office/drawing/2014/main" id="{9D0F8434-5CD8-4976-93C9-AC2A8B410E62}"/>
              </a:ext>
            </a:extLst>
          </p:cNvPr>
          <p:cNvCxnSpPr>
            <a:cxnSpLocks/>
          </p:cNvCxnSpPr>
          <p:nvPr/>
        </p:nvCxnSpPr>
        <p:spPr>
          <a:xfrm flipV="1">
            <a:off x="5768358" y="3366075"/>
            <a:ext cx="3780481" cy="764798"/>
          </a:xfrm>
          <a:prstGeom prst="curvedConnector3">
            <a:avLst>
              <a:gd name="adj1" fmla="val 50000"/>
            </a:avLst>
          </a:prstGeom>
          <a:ln w="19050">
            <a:solidFill>
              <a:srgbClr val="FF0000"/>
            </a:solidFill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4" name="Connecteur : en arc 33">
            <a:extLst>
              <a:ext uri="{FF2B5EF4-FFF2-40B4-BE49-F238E27FC236}">
                <a16:creationId xmlns:a16="http://schemas.microsoft.com/office/drawing/2014/main" id="{AA645E90-100C-4047-A6DA-17C78FF75517}"/>
              </a:ext>
            </a:extLst>
          </p:cNvPr>
          <p:cNvCxnSpPr>
            <a:cxnSpLocks/>
          </p:cNvCxnSpPr>
          <p:nvPr/>
        </p:nvCxnSpPr>
        <p:spPr>
          <a:xfrm>
            <a:off x="5618743" y="5374802"/>
            <a:ext cx="3971483" cy="218578"/>
          </a:xfrm>
          <a:prstGeom prst="curvedConnector3">
            <a:avLst>
              <a:gd name="adj1" fmla="val 20500"/>
            </a:avLst>
          </a:prstGeom>
          <a:ln w="19050">
            <a:solidFill>
              <a:srgbClr val="FF0000"/>
            </a:solidFill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1" name="Rectangle : coins arrondis 40">
            <a:extLst>
              <a:ext uri="{FF2B5EF4-FFF2-40B4-BE49-F238E27FC236}">
                <a16:creationId xmlns:a16="http://schemas.microsoft.com/office/drawing/2014/main" id="{882EF976-AA01-45F4-B15E-EB3B4284CD85}"/>
              </a:ext>
            </a:extLst>
          </p:cNvPr>
          <p:cNvSpPr/>
          <p:nvPr/>
        </p:nvSpPr>
        <p:spPr>
          <a:xfrm>
            <a:off x="9590731" y="5419193"/>
            <a:ext cx="1772594" cy="534826"/>
          </a:xfrm>
          <a:prstGeom prst="roundRect">
            <a:avLst/>
          </a:prstGeom>
          <a:noFill/>
          <a:ln w="1905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45" name="ZoneTexte 44">
            <a:extLst>
              <a:ext uri="{FF2B5EF4-FFF2-40B4-BE49-F238E27FC236}">
                <a16:creationId xmlns:a16="http://schemas.microsoft.com/office/drawing/2014/main" id="{1712A7EE-A324-44A4-95DF-119FACA39E96}"/>
              </a:ext>
            </a:extLst>
          </p:cNvPr>
          <p:cNvSpPr txBox="1"/>
          <p:nvPr/>
        </p:nvSpPr>
        <p:spPr>
          <a:xfrm>
            <a:off x="175296" y="6033184"/>
            <a:ext cx="6035004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endParaRPr lang="fr-FR" dirty="0"/>
          </a:p>
        </p:txBody>
      </p:sp>
      <p:sp>
        <p:nvSpPr>
          <p:cNvPr id="33" name="Bulle narrative : ronde 32">
            <a:extLst>
              <a:ext uri="{FF2B5EF4-FFF2-40B4-BE49-F238E27FC236}">
                <a16:creationId xmlns:a16="http://schemas.microsoft.com/office/drawing/2014/main" id="{3E890F58-136F-4E9F-A2BB-1562B61B5DC0}"/>
              </a:ext>
            </a:extLst>
          </p:cNvPr>
          <p:cNvSpPr/>
          <p:nvPr/>
        </p:nvSpPr>
        <p:spPr>
          <a:xfrm>
            <a:off x="988713" y="5659522"/>
            <a:ext cx="5949333" cy="1198478"/>
          </a:xfrm>
          <a:prstGeom prst="wedgeEllipseCallout">
            <a:avLst>
              <a:gd name="adj1" fmla="val -66361"/>
              <a:gd name="adj2" fmla="val 29432"/>
            </a:avLst>
          </a:prstGeom>
          <a:solidFill>
            <a:schemeClr val="bg1"/>
          </a:solidFill>
          <a:ln>
            <a:solidFill>
              <a:schemeClr val="accent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FR" sz="2000" dirty="0">
                <a:solidFill>
                  <a:schemeClr val="tx1"/>
                </a:solidFill>
              </a:rPr>
              <a:t>Donc, </a:t>
            </a:r>
            <a:r>
              <a:rPr lang="fr-FR" sz="2000" b="1" dirty="0">
                <a:solidFill>
                  <a:srgbClr val="FF0000"/>
                </a:solidFill>
              </a:rPr>
              <a:t>la référence relative </a:t>
            </a:r>
            <a:r>
              <a:rPr lang="fr-FR" sz="2000" dirty="0">
                <a:solidFill>
                  <a:schemeClr val="tx1"/>
                </a:solidFill>
              </a:rPr>
              <a:t>prend en considération </a:t>
            </a:r>
            <a:r>
              <a:rPr lang="fr-FR" sz="2000" b="1" dirty="0">
                <a:solidFill>
                  <a:schemeClr val="tx1"/>
                </a:solidFill>
              </a:rPr>
              <a:t>le changement des lignes ou des colonnes</a:t>
            </a:r>
            <a:r>
              <a:rPr lang="fr-FR" sz="2000" dirty="0">
                <a:solidFill>
                  <a:schemeClr val="tx1"/>
                </a:solidFill>
              </a:rPr>
              <a:t>.</a:t>
            </a:r>
          </a:p>
        </p:txBody>
      </p:sp>
      <p:sp>
        <p:nvSpPr>
          <p:cNvPr id="49" name="ZoneTexte 48">
            <a:extLst>
              <a:ext uri="{FF2B5EF4-FFF2-40B4-BE49-F238E27FC236}">
                <a16:creationId xmlns:a16="http://schemas.microsoft.com/office/drawing/2014/main" id="{12F6781F-1E36-4EF3-ABE9-AC9E4EFA6EB8}"/>
              </a:ext>
            </a:extLst>
          </p:cNvPr>
          <p:cNvSpPr txBox="1"/>
          <p:nvPr/>
        </p:nvSpPr>
        <p:spPr>
          <a:xfrm>
            <a:off x="873277" y="3480682"/>
            <a:ext cx="4995770" cy="83099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1714500" lvl="3" indent="-342900">
              <a:buFont typeface="Arial" panose="020B0604020202020204" pitchFamily="34" charset="0"/>
              <a:buChar char="•"/>
            </a:pPr>
            <a:r>
              <a:rPr lang="fr-FR" sz="2400" dirty="0">
                <a:latin typeface="+mj-lt"/>
              </a:rPr>
              <a:t>Dans </a:t>
            </a:r>
            <a:r>
              <a:rPr lang="fr-FR" sz="2400" b="1" dirty="0">
                <a:solidFill>
                  <a:srgbClr val="FF0000"/>
                </a:solidFill>
                <a:latin typeface="+mj-lt"/>
              </a:rPr>
              <a:t>C2</a:t>
            </a:r>
            <a:r>
              <a:rPr lang="fr-FR" sz="2400" dirty="0">
                <a:latin typeface="+mj-lt"/>
              </a:rPr>
              <a:t>, on aura la fonction</a:t>
            </a:r>
            <a:r>
              <a:rPr lang="fr-FR" sz="2400" b="1" dirty="0">
                <a:solidFill>
                  <a:srgbClr val="FF0000"/>
                </a:solidFill>
                <a:latin typeface="+mj-lt"/>
              </a:rPr>
              <a:t>=Somme(A2:B2)</a:t>
            </a:r>
          </a:p>
        </p:txBody>
      </p:sp>
      <p:sp>
        <p:nvSpPr>
          <p:cNvPr id="51" name="ZoneTexte 50">
            <a:extLst>
              <a:ext uri="{FF2B5EF4-FFF2-40B4-BE49-F238E27FC236}">
                <a16:creationId xmlns:a16="http://schemas.microsoft.com/office/drawing/2014/main" id="{AC47B867-E90D-4968-87F3-ACE854FAD830}"/>
              </a:ext>
            </a:extLst>
          </p:cNvPr>
          <p:cNvSpPr txBox="1"/>
          <p:nvPr/>
        </p:nvSpPr>
        <p:spPr>
          <a:xfrm>
            <a:off x="2657168" y="5766987"/>
            <a:ext cx="2308123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fr-FR" sz="2000" b="1" dirty="0">
                <a:solidFill>
                  <a:srgbClr val="FF0000"/>
                </a:solidFill>
              </a:rPr>
              <a:t>la référence relative </a:t>
            </a:r>
          </a:p>
        </p:txBody>
      </p:sp>
      <p:sp>
        <p:nvSpPr>
          <p:cNvPr id="53" name="ZoneTexte 52">
            <a:extLst>
              <a:ext uri="{FF2B5EF4-FFF2-40B4-BE49-F238E27FC236}">
                <a16:creationId xmlns:a16="http://schemas.microsoft.com/office/drawing/2014/main" id="{FF89B8A0-E068-451F-BDFC-FC2B6745AF45}"/>
              </a:ext>
            </a:extLst>
          </p:cNvPr>
          <p:cNvSpPr txBox="1"/>
          <p:nvPr/>
        </p:nvSpPr>
        <p:spPr>
          <a:xfrm>
            <a:off x="8268930" y="445636"/>
            <a:ext cx="3812864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fr-FR" sz="2000" b="1" dirty="0"/>
              <a:t>Référence relative : </a:t>
            </a:r>
            <a:r>
              <a:rPr lang="tzm-Arab-MA" sz="2000" b="1" dirty="0"/>
              <a:t>المرجع النسبي</a:t>
            </a:r>
            <a:r>
              <a:rPr lang="fr-FR" sz="2000" b="1" dirty="0"/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750422576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1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2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0" dur="500"/>
                                        <p:tgtEl>
                                          <p:spTgt spid="1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2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3" dur="500"/>
                                        <p:tgtEl>
                                          <p:spTgt spid="1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2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6" dur="500"/>
                                        <p:tgtEl>
                                          <p:spTgt spid="1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2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9" dur="500"/>
                                        <p:tgtEl>
                                          <p:spTgt spid="15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presetID="2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500"/>
                                        <p:tgtEl>
                                          <p:spTgt spid="15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3" fill="hold">
                            <p:stCondLst>
                              <p:cond delay="500"/>
                            </p:stCondLst>
                            <p:childTnLst>
                              <p:par>
                                <p:cTn id="24" presetID="16" presetClass="entr" presetSubtype="2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26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22" presetClass="entr" presetSubtype="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31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2" fill="hold">
                      <p:stCondLst>
                        <p:cond delay="indefinite"/>
                      </p:stCondLst>
                      <p:childTnLst>
                        <p:par>
                          <p:cTn id="33" fill="hold">
                            <p:stCondLst>
                              <p:cond delay="0"/>
                            </p:stCondLst>
                            <p:childTnLst>
                              <p:par>
                                <p:cTn id="34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6" dur="500"/>
                                        <p:tgtEl>
                                          <p:spTgt spid="4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7" presetID="22" presetClass="entr" presetSubtype="2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39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0" fill="hold">
                      <p:stCondLst>
                        <p:cond delay="indefinite"/>
                      </p:stCondLst>
                      <p:childTnLst>
                        <p:par>
                          <p:cTn id="41" fill="hold">
                            <p:stCondLst>
                              <p:cond delay="0"/>
                            </p:stCondLst>
                            <p:childTnLst>
                              <p:par>
                                <p:cTn id="42" presetID="16" presetClass="entr" presetSubtype="2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44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>
                      <p:stCondLst>
                        <p:cond delay="indefinite"/>
                      </p:stCondLst>
                      <p:childTnLst>
                        <p:par>
                          <p:cTn id="46" fill="hold">
                            <p:stCondLst>
                              <p:cond delay="0"/>
                            </p:stCondLst>
                            <p:childTnLst>
                              <p:par>
                                <p:cTn id="47" presetID="22" presetClass="entr" presetSubtype="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49" dur="500"/>
                                        <p:tgtEl>
                                          <p:spTgt spid="4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0" fill="hold">
                      <p:stCondLst>
                        <p:cond delay="indefinite"/>
                      </p:stCondLst>
                      <p:childTnLst>
                        <p:par>
                          <p:cTn id="51" fill="hold">
                            <p:stCondLst>
                              <p:cond delay="0"/>
                            </p:stCondLst>
                            <p:childTnLst>
                              <p:par>
                                <p:cTn id="52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4" dur="500"/>
                                        <p:tgtEl>
                                          <p:spTgt spid="2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5" presetID="22" presetClass="entr" presetSubtype="2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57" dur="50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8" presetID="2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0" dur="500"/>
                                        <p:tgtEl>
                                          <p:spTgt spid="2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1" fill="hold">
                      <p:stCondLst>
                        <p:cond delay="indefinite"/>
                      </p:stCondLst>
                      <p:childTnLst>
                        <p:par>
                          <p:cTn id="62" fill="hold">
                            <p:stCondLst>
                              <p:cond delay="0"/>
                            </p:stCondLst>
                            <p:childTnLst>
                              <p:par>
                                <p:cTn id="63" presetID="16" presetClass="entr" presetSubtype="2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65" dur="500"/>
                                        <p:tgtEl>
                                          <p:spTgt spid="5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6" fill="hold">
                      <p:stCondLst>
                        <p:cond delay="indefinite"/>
                      </p:stCondLst>
                      <p:childTnLst>
                        <p:par>
                          <p:cTn id="67" fill="hold">
                            <p:stCondLst>
                              <p:cond delay="0"/>
                            </p:stCondLst>
                            <p:childTnLst>
                              <p:par>
                                <p:cTn id="68" presetID="16" presetClass="exit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barn(inVertical)">
                                      <p:cBhvr>
                                        <p:cTn id="69" dur="500"/>
                                        <p:tgtEl>
                                          <p:spTgt spid="5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5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1" presetID="16" presetClass="entr" presetSubtype="2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73" dur="5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4" fill="hold">
                            <p:stCondLst>
                              <p:cond delay="500"/>
                            </p:stCondLst>
                            <p:childTnLst>
                              <p:par>
                                <p:cTn id="75" presetID="16" presetClass="entr" presetSubtype="2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77" dur="500"/>
                                        <p:tgtEl>
                                          <p:spTgt spid="5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" grpId="0" animBg="1"/>
      <p:bldP spid="41" grpId="0" animBg="1"/>
      <p:bldP spid="33" grpId="0" animBg="1"/>
      <p:bldP spid="49" grpId="0"/>
      <p:bldP spid="51" grpId="0" build="allAtOnce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Image 3">
            <a:extLst>
              <a:ext uri="{FF2B5EF4-FFF2-40B4-BE49-F238E27FC236}">
                <a16:creationId xmlns:a16="http://schemas.microsoft.com/office/drawing/2014/main" id="{057C696D-EE80-461E-BAE9-EAC71230C78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82177" y="1562469"/>
            <a:ext cx="11414006" cy="397155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1254919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age 2">
            <a:extLst>
              <a:ext uri="{FF2B5EF4-FFF2-40B4-BE49-F238E27FC236}">
                <a16:creationId xmlns:a16="http://schemas.microsoft.com/office/drawing/2014/main" id="{152418F7-1DF2-4A80-9B78-46AE072EAEA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946348" y="4028366"/>
            <a:ext cx="5001812" cy="2335648"/>
          </a:xfrm>
          <a:prstGeom prst="rect">
            <a:avLst/>
          </a:prstGeom>
        </p:spPr>
      </p:pic>
      <p:sp>
        <p:nvSpPr>
          <p:cNvPr id="13" name="Espace réservé du numéro de diapositive 1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7CD49EA-5B67-4AAA-B86D-F1B0C798D823}" type="slidenum">
              <a:rPr lang="fr-FR" smtClean="0"/>
              <a:pPr/>
              <a:t>5</a:t>
            </a:fld>
            <a:endParaRPr lang="fr-FR"/>
          </a:p>
        </p:txBody>
      </p:sp>
      <p:sp>
        <p:nvSpPr>
          <p:cNvPr id="7172" name="AutoShape 4" descr="http://www.gelgabon.net/_/rsrc/1243686138086/materiels-et-logiciels/le-wifi/liaison-wifi-entre-2-PC.jpg"/>
          <p:cNvSpPr>
            <a:spLocks noChangeAspect="1" noChangeArrowheads="1"/>
          </p:cNvSpPr>
          <p:nvPr/>
        </p:nvSpPr>
        <p:spPr bwMode="auto">
          <a:xfrm>
            <a:off x="207434" y="-1790700"/>
            <a:ext cx="7683500" cy="2320303"/>
          </a:xfrm>
          <a:prstGeom prst="rect">
            <a:avLst/>
          </a:prstGeom>
          <a:noFill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fr-FR"/>
          </a:p>
        </p:txBody>
      </p:sp>
      <p:sp>
        <p:nvSpPr>
          <p:cNvPr id="8" name="Titre 7"/>
          <p:cNvSpPr>
            <a:spLocks noGrp="1"/>
          </p:cNvSpPr>
          <p:nvPr>
            <p:ph type="title"/>
          </p:nvPr>
        </p:nvSpPr>
        <p:spPr>
          <a:xfrm>
            <a:off x="31533" y="126699"/>
            <a:ext cx="4413146" cy="505544"/>
          </a:xfrm>
        </p:spPr>
        <p:txBody>
          <a:bodyPr>
            <a:noAutofit/>
          </a:bodyPr>
          <a:lstStyle/>
          <a:p>
            <a:pPr marL="571500" indent="-571500">
              <a:buFont typeface="Wingdings" panose="05000000000000000000" pitchFamily="2" charset="2"/>
              <a:buChar char="Ø"/>
            </a:pPr>
            <a:r>
              <a:rPr lang="fr-FR" sz="4000" b="1" dirty="0">
                <a:solidFill>
                  <a:schemeClr val="accent2"/>
                </a:solidFill>
              </a:rPr>
              <a:t>Calcul des totaux:</a:t>
            </a:r>
          </a:p>
        </p:txBody>
      </p:sp>
      <p:sp>
        <p:nvSpPr>
          <p:cNvPr id="15" name="ZoneTexte 14">
            <a:extLst>
              <a:ext uri="{FF2B5EF4-FFF2-40B4-BE49-F238E27FC236}">
                <a16:creationId xmlns:a16="http://schemas.microsoft.com/office/drawing/2014/main" id="{46376772-93E1-4745-905D-A011A000BCC8}"/>
              </a:ext>
            </a:extLst>
          </p:cNvPr>
          <p:cNvSpPr txBox="1"/>
          <p:nvPr/>
        </p:nvSpPr>
        <p:spPr>
          <a:xfrm>
            <a:off x="337253" y="706067"/>
            <a:ext cx="9821917" cy="187743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indent="-342900">
              <a:buFont typeface="Wingdings" panose="05000000000000000000" pitchFamily="2" charset="2"/>
              <a:buChar char="ü"/>
            </a:pPr>
            <a:r>
              <a:rPr lang="fr-FR" sz="2800" b="1" i="1" dirty="0">
                <a:solidFill>
                  <a:schemeClr val="accent1"/>
                </a:solidFill>
                <a:latin typeface="+mj-lt"/>
              </a:rPr>
              <a:t>Méthode 2:</a:t>
            </a:r>
          </a:p>
          <a:p>
            <a:pPr marL="1714500" lvl="3" indent="-342900">
              <a:buFont typeface="Wingdings" panose="05000000000000000000" pitchFamily="2" charset="2"/>
              <a:buChar char="q"/>
            </a:pPr>
            <a:r>
              <a:rPr lang="fr-FR" sz="2800" dirty="0">
                <a:latin typeface="+mj-lt"/>
              </a:rPr>
              <a:t>En introduisant </a:t>
            </a:r>
            <a:r>
              <a:rPr lang="fr-FR" sz="2800" b="1" dirty="0">
                <a:solidFill>
                  <a:srgbClr val="FF0000"/>
                </a:solidFill>
                <a:latin typeface="+mj-lt"/>
              </a:rPr>
              <a:t>une formule </a:t>
            </a:r>
            <a:r>
              <a:rPr lang="fr-FR" sz="2800" b="1" dirty="0">
                <a:latin typeface="+mj-lt"/>
              </a:rPr>
              <a:t>dans la zone formule</a:t>
            </a:r>
            <a:r>
              <a:rPr lang="fr-FR" sz="2800" dirty="0">
                <a:latin typeface="+mj-lt"/>
              </a:rPr>
              <a:t>.</a:t>
            </a:r>
          </a:p>
          <a:p>
            <a:pPr marL="1714500" lvl="3" indent="-342900">
              <a:buFont typeface="Wingdings" panose="05000000000000000000" pitchFamily="2" charset="2"/>
              <a:buChar char="q"/>
            </a:pPr>
            <a:r>
              <a:rPr lang="fr-FR" sz="2800" dirty="0">
                <a:latin typeface="+mj-lt"/>
              </a:rPr>
              <a:t>Une formule commence toujours par le signe </a:t>
            </a:r>
            <a:r>
              <a:rPr lang="fr-FR" sz="3200" b="1" dirty="0">
                <a:solidFill>
                  <a:srgbClr val="FF0000"/>
                </a:solidFill>
                <a:latin typeface="+mj-lt"/>
              </a:rPr>
              <a:t>=</a:t>
            </a:r>
            <a:endParaRPr lang="fr-FR" sz="2800" b="1" dirty="0">
              <a:solidFill>
                <a:srgbClr val="FF0000"/>
              </a:solidFill>
              <a:latin typeface="+mj-lt"/>
            </a:endParaRPr>
          </a:p>
          <a:p>
            <a:pPr lvl="3"/>
            <a:r>
              <a:rPr lang="fr-FR" sz="2800" dirty="0">
                <a:latin typeface="+mj-lt"/>
              </a:rPr>
              <a:t>Exemple :  </a:t>
            </a:r>
            <a:r>
              <a:rPr lang="fr-FR" sz="2800" b="1" dirty="0">
                <a:solidFill>
                  <a:srgbClr val="FF0000"/>
                </a:solidFill>
                <a:latin typeface="+mj-lt"/>
              </a:rPr>
              <a:t>=A2+B2</a:t>
            </a:r>
          </a:p>
        </p:txBody>
      </p:sp>
      <p:sp>
        <p:nvSpPr>
          <p:cNvPr id="20" name="Text 4">
            <a:extLst>
              <a:ext uri="{FF2B5EF4-FFF2-40B4-BE49-F238E27FC236}">
                <a16:creationId xmlns:a16="http://schemas.microsoft.com/office/drawing/2014/main" id="{0819D954-4501-40E4-9B24-48066E472185}"/>
              </a:ext>
            </a:extLst>
          </p:cNvPr>
          <p:cNvSpPr/>
          <p:nvPr/>
        </p:nvSpPr>
        <p:spPr>
          <a:xfrm>
            <a:off x="4557060" y="2821921"/>
            <a:ext cx="4301189" cy="446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algn="ctr">
              <a:buNone/>
            </a:pPr>
            <a:endParaRPr lang="en-US" sz="2400" dirty="0">
              <a:latin typeface="+mj-lt"/>
            </a:endParaRPr>
          </a:p>
        </p:txBody>
      </p:sp>
      <p:sp>
        <p:nvSpPr>
          <p:cNvPr id="27" name="Text 11">
            <a:extLst>
              <a:ext uri="{FF2B5EF4-FFF2-40B4-BE49-F238E27FC236}">
                <a16:creationId xmlns:a16="http://schemas.microsoft.com/office/drawing/2014/main" id="{CE86A2ED-FC67-498D-A67D-19D520AA4892}"/>
              </a:ext>
            </a:extLst>
          </p:cNvPr>
          <p:cNvSpPr/>
          <p:nvPr/>
        </p:nvSpPr>
        <p:spPr>
          <a:xfrm>
            <a:off x="4694221" y="5729713"/>
            <a:ext cx="4001106" cy="356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sz="1600" dirty="0"/>
          </a:p>
        </p:txBody>
      </p:sp>
      <p:sp>
        <p:nvSpPr>
          <p:cNvPr id="31" name="Text 15">
            <a:extLst>
              <a:ext uri="{FF2B5EF4-FFF2-40B4-BE49-F238E27FC236}">
                <a16:creationId xmlns:a16="http://schemas.microsoft.com/office/drawing/2014/main" id="{35E3EF9E-F134-4287-8D39-91E9573F27FF}"/>
              </a:ext>
            </a:extLst>
          </p:cNvPr>
          <p:cNvSpPr/>
          <p:nvPr/>
        </p:nvSpPr>
        <p:spPr>
          <a:xfrm>
            <a:off x="9159552" y="1292321"/>
            <a:ext cx="4206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endParaRPr lang="en-US" sz="1300" dirty="0"/>
          </a:p>
        </p:txBody>
      </p:sp>
      <p:sp>
        <p:nvSpPr>
          <p:cNvPr id="36" name="Text 20">
            <a:extLst>
              <a:ext uri="{FF2B5EF4-FFF2-40B4-BE49-F238E27FC236}">
                <a16:creationId xmlns:a16="http://schemas.microsoft.com/office/drawing/2014/main" id="{768A2672-D632-457E-9DDB-E2CD189500F6}"/>
              </a:ext>
            </a:extLst>
          </p:cNvPr>
          <p:cNvSpPr/>
          <p:nvPr/>
        </p:nvSpPr>
        <p:spPr>
          <a:xfrm>
            <a:off x="8016240" y="3366462"/>
            <a:ext cx="39319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sz="1200" dirty="0"/>
          </a:p>
        </p:txBody>
      </p:sp>
      <p:sp>
        <p:nvSpPr>
          <p:cNvPr id="14" name="Rectangle : coins arrondis 13">
            <a:extLst>
              <a:ext uri="{FF2B5EF4-FFF2-40B4-BE49-F238E27FC236}">
                <a16:creationId xmlns:a16="http://schemas.microsoft.com/office/drawing/2014/main" id="{D869D946-0813-48F3-9EBF-3AC21AA9F103}"/>
              </a:ext>
            </a:extLst>
          </p:cNvPr>
          <p:cNvSpPr/>
          <p:nvPr/>
        </p:nvSpPr>
        <p:spPr>
          <a:xfrm>
            <a:off x="9976721" y="4596088"/>
            <a:ext cx="1469321" cy="534826"/>
          </a:xfrm>
          <a:prstGeom prst="roundRect">
            <a:avLst/>
          </a:prstGeom>
          <a:noFill/>
          <a:ln w="1905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45" name="ZoneTexte 44">
            <a:extLst>
              <a:ext uri="{FF2B5EF4-FFF2-40B4-BE49-F238E27FC236}">
                <a16:creationId xmlns:a16="http://schemas.microsoft.com/office/drawing/2014/main" id="{1712A7EE-A324-44A4-95DF-119FACA39E96}"/>
              </a:ext>
            </a:extLst>
          </p:cNvPr>
          <p:cNvSpPr txBox="1"/>
          <p:nvPr/>
        </p:nvSpPr>
        <p:spPr>
          <a:xfrm>
            <a:off x="175296" y="6033184"/>
            <a:ext cx="6035004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endParaRPr lang="fr-FR" dirty="0"/>
          </a:p>
        </p:txBody>
      </p:sp>
      <p:sp>
        <p:nvSpPr>
          <p:cNvPr id="49" name="ZoneTexte 48">
            <a:extLst>
              <a:ext uri="{FF2B5EF4-FFF2-40B4-BE49-F238E27FC236}">
                <a16:creationId xmlns:a16="http://schemas.microsoft.com/office/drawing/2014/main" id="{12F6781F-1E36-4EF3-ABE9-AC9E4EFA6EB8}"/>
              </a:ext>
            </a:extLst>
          </p:cNvPr>
          <p:cNvSpPr txBox="1"/>
          <p:nvPr/>
        </p:nvSpPr>
        <p:spPr>
          <a:xfrm>
            <a:off x="-784458" y="2977843"/>
            <a:ext cx="8691910" cy="310854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1714500" lvl="3" indent="-342900">
              <a:buFont typeface="Arial" panose="020B0604020202020204" pitchFamily="34" charset="0"/>
              <a:buChar char="•"/>
            </a:pPr>
            <a:r>
              <a:rPr lang="fr-FR" sz="2800" dirty="0"/>
              <a:t>On se place dans la cellule où le résultat sera affiché.</a:t>
            </a:r>
          </a:p>
          <a:p>
            <a:pPr marL="1714500" lvl="3" indent="-342900">
              <a:buFont typeface="Arial" panose="020B0604020202020204" pitchFamily="34" charset="0"/>
              <a:buChar char="•"/>
            </a:pPr>
            <a:r>
              <a:rPr lang="fr-FR" sz="2800" dirty="0"/>
              <a:t>Puis, on fait entrer le signe </a:t>
            </a:r>
            <a:r>
              <a:rPr lang="fr-FR" sz="2800" b="1" dirty="0">
                <a:solidFill>
                  <a:srgbClr val="FF0000"/>
                </a:solidFill>
              </a:rPr>
              <a:t>= </a:t>
            </a:r>
          </a:p>
          <a:p>
            <a:pPr marL="1714500" lvl="3" indent="-342900">
              <a:buFont typeface="Arial" panose="020B0604020202020204" pitchFamily="34" charset="0"/>
              <a:buChar char="•"/>
            </a:pPr>
            <a:r>
              <a:rPr lang="fr-FR" sz="2800" dirty="0"/>
              <a:t>Ensuite, on </a:t>
            </a:r>
            <a:r>
              <a:rPr lang="fr-FR" sz="2800" b="1" dirty="0"/>
              <a:t>sélectionne</a:t>
            </a:r>
            <a:r>
              <a:rPr lang="fr-FR" sz="2800" dirty="0"/>
              <a:t> la cellule </a:t>
            </a:r>
            <a:r>
              <a:rPr lang="fr-FR" sz="2800" b="1" dirty="0">
                <a:solidFill>
                  <a:srgbClr val="FF0000"/>
                </a:solidFill>
              </a:rPr>
              <a:t>A2</a:t>
            </a:r>
            <a:r>
              <a:rPr lang="fr-FR" sz="2800" dirty="0"/>
              <a:t> </a:t>
            </a:r>
          </a:p>
          <a:p>
            <a:pPr marL="1714500" lvl="3" indent="-342900">
              <a:buFont typeface="Arial" panose="020B0604020202020204" pitchFamily="34" charset="0"/>
              <a:buChar char="•"/>
            </a:pPr>
            <a:r>
              <a:rPr lang="fr-FR" sz="2800" dirty="0"/>
              <a:t>On tape le signe </a:t>
            </a:r>
            <a:r>
              <a:rPr lang="fr-FR" sz="2800" b="1" dirty="0">
                <a:solidFill>
                  <a:srgbClr val="FF0000"/>
                </a:solidFill>
              </a:rPr>
              <a:t>+ </a:t>
            </a:r>
          </a:p>
          <a:p>
            <a:pPr marL="1714500" lvl="3" indent="-342900">
              <a:buFont typeface="Arial" panose="020B0604020202020204" pitchFamily="34" charset="0"/>
              <a:buChar char="•"/>
            </a:pPr>
            <a:r>
              <a:rPr lang="fr-FR" sz="2800" dirty="0"/>
              <a:t>On </a:t>
            </a:r>
            <a:r>
              <a:rPr lang="fr-FR" sz="2800" b="1" dirty="0"/>
              <a:t>sélectionne</a:t>
            </a:r>
            <a:r>
              <a:rPr lang="fr-FR" sz="2800" dirty="0"/>
              <a:t> la cellule </a:t>
            </a:r>
            <a:r>
              <a:rPr lang="fr-FR" sz="2800" b="1" dirty="0">
                <a:solidFill>
                  <a:srgbClr val="FF0000"/>
                </a:solidFill>
              </a:rPr>
              <a:t>B2</a:t>
            </a:r>
            <a:endParaRPr lang="fr-FR" sz="2800" dirty="0"/>
          </a:p>
          <a:p>
            <a:pPr marL="1714500" lvl="3" indent="-342900">
              <a:buFont typeface="Arial" panose="020B0604020202020204" pitchFamily="34" charset="0"/>
              <a:buChar char="•"/>
            </a:pPr>
            <a:r>
              <a:rPr lang="fr-FR" sz="2800" dirty="0"/>
              <a:t>Et on valide par la touche entrée.</a:t>
            </a:r>
            <a:endParaRPr lang="fr-FR" sz="2800" b="1" dirty="0">
              <a:solidFill>
                <a:srgbClr val="FF0000"/>
              </a:solidFill>
              <a:latin typeface="+mj-lt"/>
            </a:endParaRPr>
          </a:p>
        </p:txBody>
      </p:sp>
      <p:sp>
        <p:nvSpPr>
          <p:cNvPr id="53" name="ZoneTexte 52">
            <a:extLst>
              <a:ext uri="{FF2B5EF4-FFF2-40B4-BE49-F238E27FC236}">
                <a16:creationId xmlns:a16="http://schemas.microsoft.com/office/drawing/2014/main" id="{FF89B8A0-E068-451F-BDFC-FC2B6745AF45}"/>
              </a:ext>
            </a:extLst>
          </p:cNvPr>
          <p:cNvSpPr txBox="1"/>
          <p:nvPr/>
        </p:nvSpPr>
        <p:spPr>
          <a:xfrm>
            <a:off x="8268930" y="445636"/>
            <a:ext cx="3812864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fr-FR" sz="2000" b="1" dirty="0"/>
              <a:t>une formule : </a:t>
            </a:r>
            <a:r>
              <a:rPr lang="tzm-Arab-MA" sz="2000" b="1" dirty="0"/>
              <a:t>التركيبة الحسابية</a:t>
            </a:r>
            <a:endParaRPr lang="fr-FR" sz="2000" b="1" dirty="0"/>
          </a:p>
        </p:txBody>
      </p:sp>
    </p:spTree>
    <p:extLst>
      <p:ext uri="{BB962C8B-B14F-4D97-AF65-F5344CB8AC3E}">
        <p14:creationId xmlns:p14="http://schemas.microsoft.com/office/powerpoint/2010/main" val="132729511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1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2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0" dur="500"/>
                                        <p:tgtEl>
                                          <p:spTgt spid="5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5" dur="500"/>
                                        <p:tgtEl>
                                          <p:spTgt spid="1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0" dur="500"/>
                                        <p:tgtEl>
                                          <p:spTgt spid="1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6" presetClass="entr" presetSubtype="2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25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6" presetID="16" presetClass="entr" presetSubtype="2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28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3" dur="500"/>
                                        <p:tgtEl>
                                          <p:spTgt spid="4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4" fill="hold">
                      <p:stCondLst>
                        <p:cond delay="indefinite"/>
                      </p:stCondLst>
                      <p:childTnLst>
                        <p:par>
                          <p:cTn id="35" fill="hold">
                            <p:stCondLst>
                              <p:cond delay="0"/>
                            </p:stCondLst>
                            <p:childTnLst>
                              <p:par>
                                <p:cTn id="36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8" dur="500"/>
                                        <p:tgtEl>
                                          <p:spTgt spid="4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3" dur="500"/>
                                        <p:tgtEl>
                                          <p:spTgt spid="4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4" fill="hold">
                      <p:stCondLst>
                        <p:cond delay="indefinite"/>
                      </p:stCondLst>
                      <p:childTnLst>
                        <p:par>
                          <p:cTn id="45" fill="hold">
                            <p:stCondLst>
                              <p:cond delay="0"/>
                            </p:stCondLst>
                            <p:childTnLst>
                              <p:par>
                                <p:cTn id="46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8" dur="500"/>
                                        <p:tgtEl>
                                          <p:spTgt spid="49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9" fill="hold">
                      <p:stCondLst>
                        <p:cond delay="indefinite"/>
                      </p:stCondLst>
                      <p:childTnLst>
                        <p:par>
                          <p:cTn id="50" fill="hold">
                            <p:stCondLst>
                              <p:cond delay="0"/>
                            </p:stCondLst>
                            <p:childTnLst>
                              <p:par>
                                <p:cTn id="51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3" dur="500"/>
                                        <p:tgtEl>
                                          <p:spTgt spid="49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4" fill="hold">
                      <p:stCondLst>
                        <p:cond delay="indefinite"/>
                      </p:stCondLst>
                      <p:childTnLst>
                        <p:par>
                          <p:cTn id="55" fill="hold">
                            <p:stCondLst>
                              <p:cond delay="0"/>
                            </p:stCondLst>
                            <p:childTnLst>
                              <p:par>
                                <p:cTn id="56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8" dur="500"/>
                                        <p:tgtEl>
                                          <p:spTgt spid="49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" grpId="0" animBg="1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Image 3">
            <a:extLst>
              <a:ext uri="{FF2B5EF4-FFF2-40B4-BE49-F238E27FC236}">
                <a16:creationId xmlns:a16="http://schemas.microsoft.com/office/drawing/2014/main" id="{057C696D-EE80-461E-BAE9-EAC71230C78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82177" y="1562469"/>
            <a:ext cx="11414006" cy="397155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39027767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Espace réservé du numéro de diapositive 1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7CD49EA-5B67-4AAA-B86D-F1B0C798D823}" type="slidenum">
              <a:rPr lang="fr-FR" smtClean="0"/>
              <a:pPr/>
              <a:t>7</a:t>
            </a:fld>
            <a:endParaRPr lang="fr-FR" dirty="0"/>
          </a:p>
        </p:txBody>
      </p:sp>
      <p:sp>
        <p:nvSpPr>
          <p:cNvPr id="8" name="Titre 7"/>
          <p:cNvSpPr>
            <a:spLocks noGrp="1"/>
          </p:cNvSpPr>
          <p:nvPr>
            <p:ph type="title"/>
          </p:nvPr>
        </p:nvSpPr>
        <p:spPr>
          <a:xfrm>
            <a:off x="188456" y="132578"/>
            <a:ext cx="10972800" cy="489790"/>
          </a:xfrm>
        </p:spPr>
        <p:txBody>
          <a:bodyPr>
            <a:noAutofit/>
          </a:bodyPr>
          <a:lstStyle/>
          <a:p>
            <a:r>
              <a:rPr lang="fr-FR" sz="4000" b="1" dirty="0">
                <a:solidFill>
                  <a:schemeClr val="accent6">
                    <a:lumMod val="75000"/>
                  </a:schemeClr>
                </a:solidFill>
              </a:rPr>
              <a:t>Activité 1 :</a:t>
            </a:r>
          </a:p>
        </p:txBody>
      </p:sp>
      <p:sp>
        <p:nvSpPr>
          <p:cNvPr id="26" name="Text 14">
            <a:extLst>
              <a:ext uri="{FF2B5EF4-FFF2-40B4-BE49-F238E27FC236}">
                <a16:creationId xmlns:a16="http://schemas.microsoft.com/office/drawing/2014/main" id="{2EDF9424-F1C1-4012-968B-D600171E35A9}"/>
              </a:ext>
            </a:extLst>
          </p:cNvPr>
          <p:cNvSpPr/>
          <p:nvPr/>
        </p:nvSpPr>
        <p:spPr>
          <a:xfrm>
            <a:off x="491270" y="5277846"/>
            <a:ext cx="52578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sz="2400" dirty="0"/>
          </a:p>
        </p:txBody>
      </p:sp>
      <p:sp>
        <p:nvSpPr>
          <p:cNvPr id="15" name="Text 8">
            <a:extLst>
              <a:ext uri="{FF2B5EF4-FFF2-40B4-BE49-F238E27FC236}">
                <a16:creationId xmlns:a16="http://schemas.microsoft.com/office/drawing/2014/main" id="{3CC71F75-A284-41B8-89CD-C5ED3E4E49A0}"/>
              </a:ext>
            </a:extLst>
          </p:cNvPr>
          <p:cNvSpPr/>
          <p:nvPr/>
        </p:nvSpPr>
        <p:spPr>
          <a:xfrm>
            <a:off x="188457" y="5508818"/>
            <a:ext cx="12003544" cy="127313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Font typeface="Wingdings" panose="05000000000000000000" pitchFamily="2" charset="2"/>
              <a:buChar char="Ø"/>
            </a:pPr>
            <a:r>
              <a:rPr lang="fr-FR" sz="2800" dirty="0">
                <a:solidFill>
                  <a:srgbClr val="1C2833"/>
                </a:solidFill>
              </a:rPr>
              <a:t>Comment savoir </a:t>
            </a:r>
            <a:r>
              <a:rPr lang="fr-FR" sz="2800" b="1" dirty="0">
                <a:solidFill>
                  <a:srgbClr val="1C2833"/>
                </a:solidFill>
              </a:rPr>
              <a:t>la moyenne </a:t>
            </a:r>
            <a:r>
              <a:rPr lang="fr-FR" sz="2800" dirty="0">
                <a:solidFill>
                  <a:srgbClr val="1C2833"/>
                </a:solidFill>
              </a:rPr>
              <a:t>des versements de chacun des membres du groupe ?</a:t>
            </a:r>
          </a:p>
        </p:txBody>
      </p:sp>
      <p:pic>
        <p:nvPicPr>
          <p:cNvPr id="3" name="Image 2">
            <a:extLst>
              <a:ext uri="{FF2B5EF4-FFF2-40B4-BE49-F238E27FC236}">
                <a16:creationId xmlns:a16="http://schemas.microsoft.com/office/drawing/2014/main" id="{657A03C3-044A-4517-9012-ED9376F85B4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88818" y="1704240"/>
            <a:ext cx="11814364" cy="3602520"/>
          </a:xfrm>
          <a:prstGeom prst="rect">
            <a:avLst/>
          </a:prstGeom>
        </p:spPr>
      </p:pic>
      <p:sp>
        <p:nvSpPr>
          <p:cNvPr id="14" name="Shape 2">
            <a:extLst>
              <a:ext uri="{FF2B5EF4-FFF2-40B4-BE49-F238E27FC236}">
                <a16:creationId xmlns:a16="http://schemas.microsoft.com/office/drawing/2014/main" id="{CAD4A7CE-6930-44B1-88E6-CB160B9DF704}"/>
              </a:ext>
            </a:extLst>
          </p:cNvPr>
          <p:cNvSpPr/>
          <p:nvPr/>
        </p:nvSpPr>
        <p:spPr>
          <a:xfrm>
            <a:off x="244286" y="638134"/>
            <a:ext cx="11814364" cy="594548"/>
          </a:xfrm>
          <a:prstGeom prst="rect">
            <a:avLst/>
          </a:prstGeom>
          <a:solidFill>
            <a:srgbClr val="FEF9F0"/>
          </a:solidFill>
          <a:ln w="25400">
            <a:solidFill>
              <a:srgbClr val="E67E22"/>
            </a:solidFill>
            <a:prstDash val="solid"/>
          </a:ln>
        </p:spPr>
      </p:sp>
      <p:sp>
        <p:nvSpPr>
          <p:cNvPr id="16" name="Espace réservé du contenu 18">
            <a:extLst>
              <a:ext uri="{FF2B5EF4-FFF2-40B4-BE49-F238E27FC236}">
                <a16:creationId xmlns:a16="http://schemas.microsoft.com/office/drawing/2014/main" id="{2BC3621E-7B4B-4570-A3B2-43793D5E6BB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91270" y="712615"/>
            <a:ext cx="8866089" cy="408889"/>
          </a:xfrm>
        </p:spPr>
        <p:txBody>
          <a:bodyPr>
            <a:noAutofit/>
          </a:bodyPr>
          <a:lstStyle/>
          <a:p>
            <a:pPr>
              <a:buFont typeface="Wingdings" panose="05000000000000000000" pitchFamily="2" charset="2"/>
              <a:buChar char="§"/>
            </a:pPr>
            <a:r>
              <a:rPr lang="fr-FR" sz="2400" dirty="0"/>
              <a:t>Après que le groupe de </a:t>
            </a:r>
            <a:r>
              <a:rPr lang="fr-FR" sz="2400" b="1" dirty="0" err="1"/>
              <a:t>Basma</a:t>
            </a:r>
            <a:r>
              <a:rPr lang="fr-FR" sz="2400" dirty="0"/>
              <a:t> a effectué </a:t>
            </a:r>
            <a:r>
              <a:rPr lang="fr-FR" sz="2400" b="1" dirty="0"/>
              <a:t>le quatrième versement</a:t>
            </a:r>
            <a:r>
              <a:rPr lang="fr-FR" sz="2400" dirty="0"/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4230264626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0" dur="500"/>
                                        <p:tgtEl>
                                          <p:spTgt spid="1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6" grpId="0" uiExpand="1" build="p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72" name="AutoShape 4" descr="http://www.gelgabon.net/_/rsrc/1243686138086/materiels-et-logiciels/le-wifi/liaison-wifi-entre-2-PC.jpg"/>
          <p:cNvSpPr>
            <a:spLocks noChangeAspect="1" noChangeArrowheads="1"/>
          </p:cNvSpPr>
          <p:nvPr/>
        </p:nvSpPr>
        <p:spPr bwMode="auto">
          <a:xfrm>
            <a:off x="207434" y="-1790700"/>
            <a:ext cx="7683500" cy="2320303"/>
          </a:xfrm>
          <a:prstGeom prst="rect">
            <a:avLst/>
          </a:prstGeom>
          <a:noFill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fr-FR"/>
          </a:p>
        </p:txBody>
      </p:sp>
      <p:sp>
        <p:nvSpPr>
          <p:cNvPr id="8" name="Titre 7"/>
          <p:cNvSpPr>
            <a:spLocks noGrp="1"/>
          </p:cNvSpPr>
          <p:nvPr>
            <p:ph type="title"/>
          </p:nvPr>
        </p:nvSpPr>
        <p:spPr>
          <a:xfrm>
            <a:off x="31532" y="126699"/>
            <a:ext cx="8733427" cy="505544"/>
          </a:xfrm>
        </p:spPr>
        <p:txBody>
          <a:bodyPr>
            <a:noAutofit/>
          </a:bodyPr>
          <a:lstStyle/>
          <a:p>
            <a:pPr marL="571500" indent="-571500">
              <a:buFont typeface="Wingdings" panose="05000000000000000000" pitchFamily="2" charset="2"/>
              <a:buChar char="Ø"/>
            </a:pPr>
            <a:r>
              <a:rPr lang="fr-FR" sz="4000" b="1" dirty="0">
                <a:solidFill>
                  <a:schemeClr val="accent2"/>
                </a:solidFill>
              </a:rPr>
              <a:t>Calcul de la moyenne</a:t>
            </a:r>
          </a:p>
        </p:txBody>
      </p:sp>
      <p:sp>
        <p:nvSpPr>
          <p:cNvPr id="15" name="ZoneTexte 14">
            <a:extLst>
              <a:ext uri="{FF2B5EF4-FFF2-40B4-BE49-F238E27FC236}">
                <a16:creationId xmlns:a16="http://schemas.microsoft.com/office/drawing/2014/main" id="{46376772-93E1-4745-905D-A011A000BCC8}"/>
              </a:ext>
            </a:extLst>
          </p:cNvPr>
          <p:cNvSpPr txBox="1"/>
          <p:nvPr/>
        </p:nvSpPr>
        <p:spPr>
          <a:xfrm>
            <a:off x="356511" y="945351"/>
            <a:ext cx="11984566" cy="120032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indent="-342900">
              <a:buFont typeface="Wingdings" panose="05000000000000000000" pitchFamily="2" charset="2"/>
              <a:buChar char="ü"/>
            </a:pPr>
            <a:r>
              <a:rPr lang="fr-FR" sz="2400" dirty="0">
                <a:latin typeface="+mj-lt"/>
              </a:rPr>
              <a:t>Pour calculer la moyenne, on utilise soit: </a:t>
            </a:r>
          </a:p>
          <a:p>
            <a:r>
              <a:rPr lang="fr-FR" sz="2400" dirty="0">
                <a:latin typeface="+mj-lt"/>
              </a:rPr>
              <a:t>     </a:t>
            </a:r>
            <a:r>
              <a:rPr lang="fr-FR" sz="2400" b="1" dirty="0">
                <a:latin typeface="+mj-lt"/>
              </a:rPr>
              <a:t>la fonction Moyenne</a:t>
            </a:r>
            <a:r>
              <a:rPr lang="fr-FR" sz="2400" dirty="0">
                <a:latin typeface="+mj-lt"/>
              </a:rPr>
              <a:t>, qui se trouve dans la commande </a:t>
            </a:r>
            <a:r>
              <a:rPr lang="fr-FR" sz="2400" b="1" dirty="0">
                <a:latin typeface="+mj-lt"/>
              </a:rPr>
              <a:t>insérer une fonction </a:t>
            </a:r>
            <a:r>
              <a:rPr lang="fr-FR" sz="2400" dirty="0">
                <a:latin typeface="+mj-lt"/>
              </a:rPr>
              <a:t>dans</a:t>
            </a:r>
          </a:p>
          <a:p>
            <a:r>
              <a:rPr lang="fr-FR" sz="2400" dirty="0">
                <a:latin typeface="+mj-lt"/>
              </a:rPr>
              <a:t>     l’onglet formules. </a:t>
            </a:r>
            <a:endParaRPr lang="fr-FR" sz="2400" dirty="0">
              <a:solidFill>
                <a:srgbClr val="7030A0"/>
              </a:solidFill>
              <a:latin typeface="+mj-lt"/>
            </a:endParaRPr>
          </a:p>
        </p:txBody>
      </p:sp>
      <p:sp>
        <p:nvSpPr>
          <p:cNvPr id="23" name="Text 7">
            <a:extLst>
              <a:ext uri="{FF2B5EF4-FFF2-40B4-BE49-F238E27FC236}">
                <a16:creationId xmlns:a16="http://schemas.microsoft.com/office/drawing/2014/main" id="{EF791F12-37D9-4792-88D0-CE5B6DFAC130}"/>
              </a:ext>
            </a:extLst>
          </p:cNvPr>
          <p:cNvSpPr/>
          <p:nvPr/>
        </p:nvSpPr>
        <p:spPr>
          <a:xfrm>
            <a:off x="4694221" y="4156945"/>
            <a:ext cx="4001106" cy="356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sz="1600" dirty="0"/>
          </a:p>
        </p:txBody>
      </p:sp>
      <p:sp>
        <p:nvSpPr>
          <p:cNvPr id="27" name="Text 11">
            <a:extLst>
              <a:ext uri="{FF2B5EF4-FFF2-40B4-BE49-F238E27FC236}">
                <a16:creationId xmlns:a16="http://schemas.microsoft.com/office/drawing/2014/main" id="{CE86A2ED-FC67-498D-A67D-19D520AA4892}"/>
              </a:ext>
            </a:extLst>
          </p:cNvPr>
          <p:cNvSpPr/>
          <p:nvPr/>
        </p:nvSpPr>
        <p:spPr>
          <a:xfrm>
            <a:off x="4694221" y="5729713"/>
            <a:ext cx="4001106" cy="356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sz="1600" dirty="0"/>
          </a:p>
        </p:txBody>
      </p:sp>
      <p:sp>
        <p:nvSpPr>
          <p:cNvPr id="31" name="Text 15">
            <a:extLst>
              <a:ext uri="{FF2B5EF4-FFF2-40B4-BE49-F238E27FC236}">
                <a16:creationId xmlns:a16="http://schemas.microsoft.com/office/drawing/2014/main" id="{35E3EF9E-F134-4287-8D39-91E9573F27FF}"/>
              </a:ext>
            </a:extLst>
          </p:cNvPr>
          <p:cNvSpPr/>
          <p:nvPr/>
        </p:nvSpPr>
        <p:spPr>
          <a:xfrm>
            <a:off x="9159552" y="1292321"/>
            <a:ext cx="4206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endParaRPr lang="en-US" sz="1300" dirty="0"/>
          </a:p>
        </p:txBody>
      </p:sp>
      <p:sp>
        <p:nvSpPr>
          <p:cNvPr id="36" name="Text 20">
            <a:extLst>
              <a:ext uri="{FF2B5EF4-FFF2-40B4-BE49-F238E27FC236}">
                <a16:creationId xmlns:a16="http://schemas.microsoft.com/office/drawing/2014/main" id="{768A2672-D632-457E-9DDB-E2CD189500F6}"/>
              </a:ext>
            </a:extLst>
          </p:cNvPr>
          <p:cNvSpPr/>
          <p:nvPr/>
        </p:nvSpPr>
        <p:spPr>
          <a:xfrm>
            <a:off x="9296712" y="3413729"/>
            <a:ext cx="39319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sz="1200" dirty="0"/>
          </a:p>
        </p:txBody>
      </p:sp>
      <p:sp>
        <p:nvSpPr>
          <p:cNvPr id="21" name="ZoneTexte 20">
            <a:extLst>
              <a:ext uri="{FF2B5EF4-FFF2-40B4-BE49-F238E27FC236}">
                <a16:creationId xmlns:a16="http://schemas.microsoft.com/office/drawing/2014/main" id="{6F6ED4EB-576D-4971-9C1C-AD5C65E52A0F}"/>
              </a:ext>
            </a:extLst>
          </p:cNvPr>
          <p:cNvSpPr txBox="1"/>
          <p:nvPr/>
        </p:nvSpPr>
        <p:spPr>
          <a:xfrm>
            <a:off x="1" y="2492650"/>
            <a:ext cx="7080206" cy="34778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indent="-342900">
              <a:buFont typeface="Wingdings" panose="05000000000000000000" pitchFamily="2" charset="2"/>
              <a:buChar char="ü"/>
            </a:pPr>
            <a:r>
              <a:rPr lang="fr-FR" sz="2400" b="1" dirty="0">
                <a:solidFill>
                  <a:srgbClr val="00B294"/>
                </a:solidFill>
                <a:latin typeface="+mj-lt"/>
              </a:rPr>
              <a:t>Ou bien: </a:t>
            </a:r>
          </a:p>
          <a:p>
            <a:pPr marL="1714500" lvl="3" indent="-342900">
              <a:buFont typeface="Arial" panose="020B0604020202020204" pitchFamily="34" charset="0"/>
              <a:buChar char="•"/>
            </a:pPr>
            <a:r>
              <a:rPr lang="fr-FR" sz="2800" dirty="0"/>
              <a:t>En introduit une formule:</a:t>
            </a:r>
          </a:p>
          <a:p>
            <a:pPr marL="1714500" lvl="3" indent="-342900">
              <a:buFont typeface="Arial" panose="020B0604020202020204" pitchFamily="34" charset="0"/>
              <a:buChar char="•"/>
            </a:pPr>
            <a:r>
              <a:rPr lang="fr-FR" sz="2800" dirty="0"/>
              <a:t>On se place dans la cellule où le résultat sera affiché.</a:t>
            </a:r>
          </a:p>
          <a:p>
            <a:pPr marL="1714500" lvl="3" indent="-342900">
              <a:buFont typeface="Arial" panose="020B0604020202020204" pitchFamily="34" charset="0"/>
              <a:buChar char="•"/>
            </a:pPr>
            <a:r>
              <a:rPr lang="fr-FR" sz="2800" dirty="0"/>
              <a:t>Puis, on commence par taper le signe </a:t>
            </a:r>
            <a:r>
              <a:rPr lang="fr-FR" sz="2800" b="1" dirty="0">
                <a:solidFill>
                  <a:srgbClr val="FF0000"/>
                </a:solidFill>
              </a:rPr>
              <a:t>=</a:t>
            </a:r>
          </a:p>
          <a:p>
            <a:pPr marL="1714500" lvl="3" indent="-342900">
              <a:buFont typeface="Arial" panose="020B0604020202020204" pitchFamily="34" charset="0"/>
              <a:buChar char="•"/>
            </a:pPr>
            <a:r>
              <a:rPr lang="fr-FR" sz="2800" dirty="0"/>
              <a:t>Ensuite, on tape </a:t>
            </a:r>
            <a:r>
              <a:rPr lang="fr-FR" sz="2800" b="1" dirty="0">
                <a:solidFill>
                  <a:srgbClr val="FF0000"/>
                </a:solidFill>
              </a:rPr>
              <a:t>la formule</a:t>
            </a:r>
            <a:r>
              <a:rPr lang="fr-FR" sz="2800" dirty="0"/>
              <a:t>.</a:t>
            </a:r>
          </a:p>
          <a:p>
            <a:pPr marL="1714500" lvl="3" indent="-342900">
              <a:buFont typeface="Arial" panose="020B0604020202020204" pitchFamily="34" charset="0"/>
              <a:buChar char="•"/>
            </a:pPr>
            <a:r>
              <a:rPr lang="fr-FR" sz="2800" dirty="0"/>
              <a:t>Et on valide par la touche entrée.</a:t>
            </a:r>
          </a:p>
        </p:txBody>
      </p:sp>
      <p:pic>
        <p:nvPicPr>
          <p:cNvPr id="5" name="Image 4">
            <a:extLst>
              <a:ext uri="{FF2B5EF4-FFF2-40B4-BE49-F238E27FC236}">
                <a16:creationId xmlns:a16="http://schemas.microsoft.com/office/drawing/2014/main" id="{9992EE11-542F-46E1-8D11-FFDB3DC062F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591234" y="3429000"/>
            <a:ext cx="5410955" cy="183858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9535378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1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2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0" dur="500"/>
                                        <p:tgtEl>
                                          <p:spTgt spid="1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2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3" dur="500"/>
                                        <p:tgtEl>
                                          <p:spTgt spid="1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>
                      <p:stCondLst>
                        <p:cond delay="indefinite"/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8" dur="500"/>
                                        <p:tgtEl>
                                          <p:spTgt spid="2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6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23" dur="20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8" dur="500"/>
                                        <p:tgtEl>
                                          <p:spTgt spid="21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3" dur="500"/>
                                        <p:tgtEl>
                                          <p:spTgt spid="21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4" fill="hold">
                      <p:stCondLst>
                        <p:cond delay="indefinite"/>
                      </p:stCondLst>
                      <p:childTnLst>
                        <p:par>
                          <p:cTn id="35" fill="hold">
                            <p:stCondLst>
                              <p:cond delay="0"/>
                            </p:stCondLst>
                            <p:childTnLst>
                              <p:par>
                                <p:cTn id="36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8" dur="500"/>
                                        <p:tgtEl>
                                          <p:spTgt spid="21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3" dur="500"/>
                                        <p:tgtEl>
                                          <p:spTgt spid="21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4" fill="hold">
                      <p:stCondLst>
                        <p:cond delay="indefinite"/>
                      </p:stCondLst>
                      <p:childTnLst>
                        <p:par>
                          <p:cTn id="45" fill="hold">
                            <p:stCondLst>
                              <p:cond delay="0"/>
                            </p:stCondLst>
                            <p:childTnLst>
                              <p:par>
                                <p:cTn id="46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8" dur="500"/>
                                        <p:tgtEl>
                                          <p:spTgt spid="21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age 2">
            <a:extLst>
              <a:ext uri="{FF2B5EF4-FFF2-40B4-BE49-F238E27FC236}">
                <a16:creationId xmlns:a16="http://schemas.microsoft.com/office/drawing/2014/main" id="{E4258075-F4DC-476C-9293-6744E16433D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8818" y="1704240"/>
            <a:ext cx="11814364" cy="360252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70750210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Espace réservé du numéro de diapositive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7CD49EA-5B67-4AAA-B86D-F1B0C798D823}" type="slidenum">
              <a:rPr lang="fr-FR" smtClean="0"/>
              <a:pPr/>
              <a:t>10</a:t>
            </a:fld>
            <a:endParaRPr lang="fr-FR"/>
          </a:p>
        </p:txBody>
      </p:sp>
      <p:sp>
        <p:nvSpPr>
          <p:cNvPr id="7" name="Espace réservé du contenu 6"/>
          <p:cNvSpPr>
            <a:spLocks noGrp="1"/>
          </p:cNvSpPr>
          <p:nvPr>
            <p:ph idx="1"/>
          </p:nvPr>
        </p:nvSpPr>
        <p:spPr>
          <a:xfrm>
            <a:off x="0" y="121284"/>
            <a:ext cx="12192000" cy="6721475"/>
          </a:xfrm>
        </p:spPr>
        <p:txBody>
          <a:bodyPr>
            <a:noAutofit/>
          </a:bodyPr>
          <a:lstStyle/>
          <a:p>
            <a:pPr marL="0" indent="0">
              <a:buNone/>
            </a:pPr>
            <a:r>
              <a:rPr lang="fr-FR" b="1" u="sng" dirty="0">
                <a:solidFill>
                  <a:srgbClr val="00B050"/>
                </a:solidFill>
              </a:rPr>
              <a:t>7. Référence relative et formule : </a:t>
            </a:r>
          </a:p>
          <a:p>
            <a:pPr>
              <a:buNone/>
            </a:pPr>
            <a:endParaRPr lang="fr-FR" sz="2400" b="1" dirty="0">
              <a:solidFill>
                <a:srgbClr val="00B050"/>
              </a:solidFill>
              <a:latin typeface="+mj-lt"/>
              <a:cs typeface="Aharoni" pitchFamily="2" charset="-79"/>
            </a:endParaRPr>
          </a:p>
          <a:p>
            <a:pPr>
              <a:buFont typeface="Wingdings" panose="05000000000000000000" pitchFamily="2" charset="2"/>
              <a:buChar char="Ø"/>
            </a:pPr>
            <a:r>
              <a:rPr lang="fr-FR" sz="3200" b="1" dirty="0">
                <a:solidFill>
                  <a:srgbClr val="7030A0"/>
                </a:solidFill>
              </a:rPr>
              <a:t>La référence relative </a:t>
            </a:r>
            <a:r>
              <a:rPr lang="fr-FR" sz="3200" dirty="0"/>
              <a:t>prend en considération le changement des lignes ou des colonnes.</a:t>
            </a:r>
          </a:p>
          <a:p>
            <a:pPr marL="0" indent="0">
              <a:buNone/>
            </a:pPr>
            <a:endParaRPr lang="fr-FR" sz="3200" dirty="0"/>
          </a:p>
          <a:p>
            <a:pPr>
              <a:buFont typeface="Wingdings" panose="05000000000000000000" pitchFamily="2" charset="2"/>
              <a:buChar char="Ø"/>
            </a:pPr>
            <a:r>
              <a:rPr lang="fr-FR" sz="3200" b="1" dirty="0">
                <a:solidFill>
                  <a:srgbClr val="7030A0"/>
                </a:solidFill>
              </a:rPr>
              <a:t>Une formule </a:t>
            </a:r>
            <a:r>
              <a:rPr lang="fr-FR" sz="3200" dirty="0"/>
              <a:t>commence toujours par le signe </a:t>
            </a:r>
            <a:r>
              <a:rPr lang="fr-FR" sz="4000" b="1" dirty="0">
                <a:solidFill>
                  <a:srgbClr val="7030A0"/>
                </a:solidFill>
              </a:rPr>
              <a:t>=</a:t>
            </a:r>
            <a:endParaRPr lang="fr-FR" sz="3200" b="1" dirty="0">
              <a:solidFill>
                <a:srgbClr val="7030A0"/>
              </a:solidFill>
            </a:endParaRPr>
          </a:p>
          <a:p>
            <a:pPr marL="0" indent="0">
              <a:buNone/>
            </a:pPr>
            <a:endParaRPr lang="fr-FR" sz="3200" dirty="0"/>
          </a:p>
          <a:p>
            <a:pPr marL="0" indent="0">
              <a:buNone/>
            </a:pPr>
            <a:r>
              <a:rPr lang="fr-FR" sz="3200" dirty="0">
                <a:solidFill>
                  <a:schemeClr val="accent2"/>
                </a:solidFill>
              </a:rPr>
              <a:t>Exemple</a:t>
            </a:r>
            <a:r>
              <a:rPr lang="fr-FR" sz="3200" dirty="0">
                <a:solidFill>
                  <a:srgbClr val="7030A0"/>
                </a:solidFill>
              </a:rPr>
              <a:t> </a:t>
            </a:r>
            <a:r>
              <a:rPr lang="fr-FR" sz="3200" dirty="0">
                <a:solidFill>
                  <a:schemeClr val="accent2"/>
                </a:solidFill>
              </a:rPr>
              <a:t>:</a:t>
            </a:r>
          </a:p>
          <a:p>
            <a:pPr marL="0" indent="0">
              <a:buNone/>
            </a:pPr>
            <a:endParaRPr lang="fr-FR" sz="3200" dirty="0">
              <a:solidFill>
                <a:schemeClr val="accent2"/>
              </a:solidFill>
            </a:endParaRPr>
          </a:p>
          <a:p>
            <a:pPr algn="ctr">
              <a:buFont typeface="Wingdings" panose="05000000000000000000" pitchFamily="2" charset="2"/>
              <a:buChar char="q"/>
            </a:pPr>
            <a:r>
              <a:rPr lang="fr-FR" sz="3200" dirty="0"/>
              <a:t>          La formule de la somme </a:t>
            </a:r>
            <a:r>
              <a:rPr lang="fr-FR" sz="3200" b="1" dirty="0">
                <a:solidFill>
                  <a:srgbClr val="FF0000"/>
                </a:solidFill>
              </a:rPr>
              <a:t>= B2 + B3 </a:t>
            </a:r>
          </a:p>
          <a:p>
            <a:pPr algn="ctr">
              <a:buFont typeface="Wingdings" panose="05000000000000000000" pitchFamily="2" charset="2"/>
              <a:buChar char="q"/>
            </a:pPr>
            <a:r>
              <a:rPr lang="fr-FR" sz="3200" dirty="0"/>
              <a:t>         La formule de la moyenne </a:t>
            </a:r>
            <a:r>
              <a:rPr lang="fr-FR" sz="3200" b="1" dirty="0">
                <a:solidFill>
                  <a:srgbClr val="FF0000"/>
                </a:solidFill>
              </a:rPr>
              <a:t>= (B2 + B3)/2</a:t>
            </a:r>
          </a:p>
        </p:txBody>
      </p:sp>
    </p:spTree>
    <p:extLst>
      <p:ext uri="{BB962C8B-B14F-4D97-AF65-F5344CB8AC3E}">
        <p14:creationId xmlns:p14="http://schemas.microsoft.com/office/powerpoint/2010/main" val="3476770296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ZoneTexte 5"/>
          <p:cNvSpPr txBox="1"/>
          <p:nvPr/>
        </p:nvSpPr>
        <p:spPr>
          <a:xfrm>
            <a:off x="213678" y="0"/>
            <a:ext cx="811082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400050" indent="-400050"/>
            <a:r>
              <a:rPr lang="fr-FR" sz="3600" b="1">
                <a:solidFill>
                  <a:srgbClr val="FF0000"/>
                </a:solidFill>
              </a:rPr>
              <a:t>TP:</a:t>
            </a:r>
            <a:endParaRPr lang="fr-FR" sz="3600" b="1" dirty="0">
              <a:solidFill>
                <a:srgbClr val="FF0000"/>
              </a:solidFill>
            </a:endParaRPr>
          </a:p>
        </p:txBody>
      </p:sp>
      <p:sp>
        <p:nvSpPr>
          <p:cNvPr id="11" name="Rectangle 1">
            <a:extLst>
              <a:ext uri="{FF2B5EF4-FFF2-40B4-BE49-F238E27FC236}">
                <a16:creationId xmlns:a16="http://schemas.microsoft.com/office/drawing/2014/main" id="{F731A902-8FCA-4E4F-9E83-0A13276C0C55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-323165"/>
            <a:ext cx="264816" cy="64633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fr-FR" altLang="fr-FR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kumimoji="0" lang="fr-FR" altLang="fr-FR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12" name="Rectangle 2">
            <a:extLst>
              <a:ext uri="{FF2B5EF4-FFF2-40B4-BE49-F238E27FC236}">
                <a16:creationId xmlns:a16="http://schemas.microsoft.com/office/drawing/2014/main" id="{E9687756-7B31-41BD-97B3-E077FB435BC5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-323165"/>
            <a:ext cx="264816" cy="64633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fr-FR" altLang="fr-FR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kumimoji="0" lang="fr-FR" altLang="fr-FR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14" name="Rectangle 3">
            <a:extLst>
              <a:ext uri="{FF2B5EF4-FFF2-40B4-BE49-F238E27FC236}">
                <a16:creationId xmlns:a16="http://schemas.microsoft.com/office/drawing/2014/main" id="{47F36886-8FF1-4333-9322-BDD7ED90B92E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-323165"/>
            <a:ext cx="264816" cy="64633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fr-FR" altLang="fr-FR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kumimoji="0" lang="fr-FR" altLang="fr-FR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17" name="ZoneTexte 16">
            <a:extLst>
              <a:ext uri="{FF2B5EF4-FFF2-40B4-BE49-F238E27FC236}">
                <a16:creationId xmlns:a16="http://schemas.microsoft.com/office/drawing/2014/main" id="{47EFFA23-C909-40BC-8AD5-86F53DE2AEE1}"/>
              </a:ext>
            </a:extLst>
          </p:cNvPr>
          <p:cNvSpPr txBox="1"/>
          <p:nvPr/>
        </p:nvSpPr>
        <p:spPr>
          <a:xfrm>
            <a:off x="1024760" y="118524"/>
            <a:ext cx="6172200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fr-FR" sz="2400" dirty="0">
                <a:latin typeface="+mj-lt"/>
              </a:rPr>
              <a:t>En utilisant le tableau de la situation initiale :</a:t>
            </a:r>
            <a:endParaRPr lang="fr-FR" dirty="0"/>
          </a:p>
        </p:txBody>
      </p:sp>
      <p:pic>
        <p:nvPicPr>
          <p:cNvPr id="3" name="Image 2">
            <a:extLst>
              <a:ext uri="{FF2B5EF4-FFF2-40B4-BE49-F238E27FC236}">
                <a16:creationId xmlns:a16="http://schemas.microsoft.com/office/drawing/2014/main" id="{DE82DB68-CD5E-42CB-AB68-1E89BD10815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359" y="829023"/>
            <a:ext cx="11277282" cy="2203607"/>
          </a:xfrm>
          <a:prstGeom prst="rect">
            <a:avLst/>
          </a:prstGeom>
        </p:spPr>
      </p:pic>
      <p:sp>
        <p:nvSpPr>
          <p:cNvPr id="16" name="ZoneTexte 15">
            <a:extLst>
              <a:ext uri="{FF2B5EF4-FFF2-40B4-BE49-F238E27FC236}">
                <a16:creationId xmlns:a16="http://schemas.microsoft.com/office/drawing/2014/main" id="{D23E9454-9C26-46D1-B6B3-8DDE346A31A7}"/>
              </a:ext>
            </a:extLst>
          </p:cNvPr>
          <p:cNvSpPr txBox="1"/>
          <p:nvPr/>
        </p:nvSpPr>
        <p:spPr>
          <a:xfrm>
            <a:off x="619219" y="3801794"/>
            <a:ext cx="9414076" cy="22510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457200" indent="-457200">
              <a:lnSpc>
                <a:spcPct val="150000"/>
              </a:lnSpc>
              <a:buFont typeface="+mj-lt"/>
              <a:buAutoNum type="arabicPeriod"/>
            </a:pPr>
            <a:r>
              <a:rPr lang="fr-FR" sz="2400" b="1" u="sng" dirty="0">
                <a:latin typeface="+mj-lt"/>
              </a:rPr>
              <a:t>ajoute</a:t>
            </a:r>
            <a:r>
              <a:rPr lang="fr-FR" sz="2400" dirty="0">
                <a:latin typeface="+mj-lt"/>
              </a:rPr>
              <a:t> une </a:t>
            </a:r>
            <a:r>
              <a:rPr lang="fr-FR" sz="2400" dirty="0">
                <a:solidFill>
                  <a:srgbClr val="7030A0"/>
                </a:solidFill>
                <a:latin typeface="+mj-lt"/>
              </a:rPr>
              <a:t>colonne</a:t>
            </a:r>
            <a:r>
              <a:rPr lang="fr-FR" sz="2400" dirty="0">
                <a:latin typeface="+mj-lt"/>
              </a:rPr>
              <a:t> intitulée « </a:t>
            </a:r>
            <a:r>
              <a:rPr lang="fr-FR" sz="2400" b="1" dirty="0">
                <a:latin typeface="+mj-lt"/>
              </a:rPr>
              <a:t>Moyenne</a:t>
            </a:r>
            <a:r>
              <a:rPr lang="fr-FR" sz="2400" dirty="0">
                <a:latin typeface="+mj-lt"/>
              </a:rPr>
              <a:t> » au tableau.</a:t>
            </a:r>
          </a:p>
          <a:p>
            <a:pPr marL="457200" indent="-457200">
              <a:lnSpc>
                <a:spcPct val="150000"/>
              </a:lnSpc>
              <a:buFont typeface="+mj-lt"/>
              <a:buAutoNum type="arabicPeriod"/>
            </a:pPr>
            <a:r>
              <a:rPr lang="fr-FR" sz="2400" b="1" u="sng" dirty="0">
                <a:latin typeface="+mj-lt"/>
              </a:rPr>
              <a:t>Calcule</a:t>
            </a:r>
            <a:r>
              <a:rPr lang="fr-FR" sz="2400" dirty="0">
                <a:latin typeface="+mj-lt"/>
              </a:rPr>
              <a:t> </a:t>
            </a:r>
            <a:r>
              <a:rPr lang="fr-FR" sz="2400" b="1" dirty="0">
                <a:solidFill>
                  <a:srgbClr val="7030A0"/>
                </a:solidFill>
                <a:latin typeface="+mj-lt"/>
              </a:rPr>
              <a:t>la moyenne </a:t>
            </a:r>
            <a:r>
              <a:rPr lang="fr-FR" sz="2400" dirty="0">
                <a:latin typeface="+mj-lt"/>
              </a:rPr>
              <a:t>des cotisations de </a:t>
            </a:r>
            <a:r>
              <a:rPr lang="fr-FR" sz="2400" b="1" dirty="0" err="1">
                <a:latin typeface="+mj-lt"/>
              </a:rPr>
              <a:t>Basma</a:t>
            </a:r>
            <a:r>
              <a:rPr lang="fr-FR" sz="2400" dirty="0">
                <a:latin typeface="+mj-lt"/>
              </a:rPr>
              <a:t> en utilisant </a:t>
            </a:r>
            <a:r>
              <a:rPr lang="fr-FR" sz="2400" b="1" dirty="0">
                <a:solidFill>
                  <a:srgbClr val="7030A0"/>
                </a:solidFill>
                <a:latin typeface="+mj-lt"/>
              </a:rPr>
              <a:t>une formule</a:t>
            </a:r>
            <a:r>
              <a:rPr lang="fr-FR" sz="2400" dirty="0">
                <a:latin typeface="+mj-lt"/>
              </a:rPr>
              <a:t>.</a:t>
            </a:r>
          </a:p>
          <a:p>
            <a:pPr marL="457200" indent="-457200">
              <a:lnSpc>
                <a:spcPct val="150000"/>
              </a:lnSpc>
              <a:buFont typeface="+mj-lt"/>
              <a:buAutoNum type="arabicPeriod"/>
            </a:pPr>
            <a:r>
              <a:rPr lang="fr-FR" sz="2400" b="1" u="sng" dirty="0">
                <a:latin typeface="+mj-lt"/>
              </a:rPr>
              <a:t>Recopie</a:t>
            </a:r>
            <a:r>
              <a:rPr lang="fr-FR" sz="2400" dirty="0">
                <a:latin typeface="+mj-lt"/>
              </a:rPr>
              <a:t> </a:t>
            </a:r>
            <a:r>
              <a:rPr lang="fr-FR" sz="2400" b="1" dirty="0">
                <a:solidFill>
                  <a:srgbClr val="7030A0"/>
                </a:solidFill>
                <a:latin typeface="+mj-lt"/>
              </a:rPr>
              <a:t>la formule </a:t>
            </a:r>
            <a:r>
              <a:rPr lang="fr-FR" sz="2400" dirty="0">
                <a:latin typeface="+mj-lt"/>
              </a:rPr>
              <a:t>pour les autres élèves du tableau.</a:t>
            </a:r>
          </a:p>
          <a:p>
            <a:pPr marL="457200" indent="-457200">
              <a:lnSpc>
                <a:spcPct val="150000"/>
              </a:lnSpc>
              <a:buFont typeface="+mj-lt"/>
              <a:buAutoNum type="arabicPeriod"/>
            </a:pPr>
            <a:r>
              <a:rPr lang="fr-FR" sz="2400" b="1" u="sng" dirty="0">
                <a:latin typeface="+mj-lt"/>
              </a:rPr>
              <a:t>Enregistrer</a:t>
            </a:r>
            <a:r>
              <a:rPr lang="fr-FR" sz="2400" dirty="0">
                <a:latin typeface="+mj-lt"/>
              </a:rPr>
              <a:t> ton classeur </a:t>
            </a:r>
          </a:p>
        </p:txBody>
      </p:sp>
      <p:sp>
        <p:nvSpPr>
          <p:cNvPr id="18" name="ZoneTexte 17">
            <a:extLst>
              <a:ext uri="{FF2B5EF4-FFF2-40B4-BE49-F238E27FC236}">
                <a16:creationId xmlns:a16="http://schemas.microsoft.com/office/drawing/2014/main" id="{A302263B-4C7D-4C3A-A09A-A152643754BF}"/>
              </a:ext>
            </a:extLst>
          </p:cNvPr>
          <p:cNvSpPr txBox="1"/>
          <p:nvPr/>
        </p:nvSpPr>
        <p:spPr>
          <a:xfrm>
            <a:off x="0" y="3252569"/>
            <a:ext cx="1863524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fr-FR" sz="2400" b="1" i="1" dirty="0">
                <a:solidFill>
                  <a:srgbClr val="FF0000"/>
                </a:solidFill>
              </a:rPr>
              <a:t>Consignes</a:t>
            </a:r>
            <a:r>
              <a:rPr lang="fr-FR" sz="1800" b="1" i="1" dirty="0">
                <a:solidFill>
                  <a:srgbClr val="FF0000"/>
                </a:solidFill>
              </a:rPr>
              <a:t> </a:t>
            </a:r>
            <a:r>
              <a:rPr lang="fr-FR" sz="2400" b="1" i="1" dirty="0">
                <a:solidFill>
                  <a:srgbClr val="FF0000"/>
                </a:solidFill>
              </a:rPr>
              <a:t>:</a:t>
            </a:r>
          </a:p>
        </p:txBody>
      </p:sp>
    </p:spTree>
    <p:extLst>
      <p:ext uri="{BB962C8B-B14F-4D97-AF65-F5344CB8AC3E}">
        <p14:creationId xmlns:p14="http://schemas.microsoft.com/office/powerpoint/2010/main" val="425177041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Image 3">
            <a:extLst>
              <a:ext uri="{FF2B5EF4-FFF2-40B4-BE49-F238E27FC236}">
                <a16:creationId xmlns:a16="http://schemas.microsoft.com/office/drawing/2014/main" id="{CD087A92-0E08-41BC-9A5E-C33C9EBA07B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-1" y="2166502"/>
            <a:ext cx="12150807" cy="266217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40105769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5103</TotalTime>
  <Words>466</Words>
  <Application>Microsoft Office PowerPoint</Application>
  <PresentationFormat>Grand écran</PresentationFormat>
  <Paragraphs>75</Paragraphs>
  <Slides>12</Slides>
  <Notes>2</Notes>
  <HiddenSlides>0</HiddenSlides>
  <MMClips>0</MMClips>
  <ScaleCrop>false</ScaleCrop>
  <HeadingPairs>
    <vt:vector size="6" baseType="variant">
      <vt:variant>
        <vt:lpstr>Polices utilisées</vt:lpstr>
      </vt:variant>
      <vt:variant>
        <vt:i4>8</vt:i4>
      </vt:variant>
      <vt:variant>
        <vt:lpstr>Thème</vt:lpstr>
      </vt:variant>
      <vt:variant>
        <vt:i4>1</vt:i4>
      </vt:variant>
      <vt:variant>
        <vt:lpstr>Titres des diapositives</vt:lpstr>
      </vt:variant>
      <vt:variant>
        <vt:i4>12</vt:i4>
      </vt:variant>
    </vt:vector>
  </HeadingPairs>
  <TitlesOfParts>
    <vt:vector size="21" baseType="lpstr">
      <vt:lpstr>Abadi</vt:lpstr>
      <vt:lpstr>Aldhabi</vt:lpstr>
      <vt:lpstr>Arial</vt:lpstr>
      <vt:lpstr>Calibri</vt:lpstr>
      <vt:lpstr>Calibri Light</vt:lpstr>
      <vt:lpstr>Comic Sans MS</vt:lpstr>
      <vt:lpstr>Poppins Bold</vt:lpstr>
      <vt:lpstr>Wingdings</vt:lpstr>
      <vt:lpstr>Office Theme</vt:lpstr>
      <vt:lpstr>Présentation PowerPoint</vt:lpstr>
      <vt:lpstr>Activité 1 :</vt:lpstr>
      <vt:lpstr>Calcul des totaux:</vt:lpstr>
      <vt:lpstr>Présentation PowerPoint</vt:lpstr>
      <vt:lpstr>Calcul des totaux:</vt:lpstr>
      <vt:lpstr>Présentation PowerPoint</vt:lpstr>
      <vt:lpstr>Activité 1 :</vt:lpstr>
      <vt:lpstr>Calcul de la moyenne</vt:lpstr>
      <vt:lpstr>Présentation PowerPoint</vt:lpstr>
      <vt:lpstr>Présentation PowerPoint</vt:lpstr>
      <vt:lpstr>Présentation PowerPoint</vt:lpstr>
      <vt:lpstr>Présentation PowerPoint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DELL</dc:creator>
  <cp:lastModifiedBy>DELL</cp:lastModifiedBy>
  <cp:revision>271</cp:revision>
  <dcterms:created xsi:type="dcterms:W3CDTF">2025-09-27T13:59:56Z</dcterms:created>
  <dcterms:modified xsi:type="dcterms:W3CDTF">2026-05-15T17:38:53Z</dcterms:modified>
</cp:coreProperties>
</file>