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ECFC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3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02E352-F20E-4157-8AFD-C8AF93455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1B22749-0038-47CA-8FB1-F01E9BCF1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236ECB-F5BA-4FCE-B9A1-0A52FAAD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C21-3097-4C82-8BBE-461CEA277AE4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476B40-811A-4F6E-BC85-E22C64E9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419BCC-C73D-4D14-9866-60FB79F7A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9BB13-BAD1-4913-BE05-42584A7ECC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9971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BB522F-F9F7-488C-8A1E-D9F9FEE9C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278D76-D896-4E32-BCBA-AAEA980C1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6FCF80-457A-468C-A28D-D819BE0A5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C21-3097-4C82-8BBE-461CEA277AE4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B6AC0A-EC05-453B-A2D9-0CDC98A71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C8E185-78F9-4BAC-827E-70D6180C9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9BB13-BAD1-4913-BE05-42584A7ECC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518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FE20D2-48F8-4445-8C0A-7488697E2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670994-6D57-4E49-B4BE-83A09F3AC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5FC9B3-71EB-4218-9EE0-B43EF2CA5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C21-3097-4C82-8BBE-461CEA277AE4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3C366F-E101-46E3-B264-A9A061965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023D39-6D07-4E4C-A783-653D9A202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9BB13-BAD1-4913-BE05-42584A7ECC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4197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44D3DF-0690-44E1-A648-FED559D4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A52701-61C4-42A9-B2FD-5ADAB51E1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4F007BB-F403-48B7-8B63-CC7B67CBB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0B7DFA2-1D93-410D-AFEC-0F7E1A47C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C21-3097-4C82-8BBE-461CEA277AE4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A0FE99D-4AB3-4142-9C56-54F427F89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E1324B-C231-4994-9899-B1AC8E25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9BB13-BAD1-4913-BE05-42584A7ECC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3799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F4F815-85AC-4F84-A380-1CD02899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32FF70-423D-46BD-AEA1-0B0DD13DF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FCF327B-BF96-4877-9397-C856B6B80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6577FC1-34D3-4A08-A300-CD241B591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1B6013A-ADF5-4708-A78A-B0607B3A85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E2E619A-AA88-4F4C-B8FB-EE1DB6CC1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C21-3097-4C82-8BBE-461CEA277AE4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05F8767-A9CD-4544-BB11-853445279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64C44B7-59E9-4F7A-B85B-EC791D55D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9BB13-BAD1-4913-BE05-42584A7ECC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4180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46147F-3AB3-4FBC-93AB-E58375575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C4CBCC8-5E86-44C5-8E35-58B1A231E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C21-3097-4C82-8BBE-461CEA277AE4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441F9E3-3DDF-4DDC-AFE5-EC36B2DB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E210101-39B6-4D9F-9CB5-B3A66B895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9BB13-BAD1-4913-BE05-42584A7ECC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568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393AADF-906D-4EA0-98D7-1C0FE8056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C21-3097-4C82-8BBE-461CEA277AE4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8F7960F-2823-41B7-A836-9E42F18E3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F906A5-5E2D-44E8-8538-A7DA995CF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9BB13-BAD1-4913-BE05-42584A7ECC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5861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CDAE6D-E37C-4F45-930A-5A8CD7F46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A4A3EB-DE3D-406A-BD05-9115516C3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9CE8D6C-D729-4A92-8373-08FC70A89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9EA73A3-F7D4-41DE-B443-8F862EFE0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C21-3097-4C82-8BBE-461CEA277AE4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9760C2E-4AAE-4567-9D88-F4E249FE4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22C4C1-48EA-4637-B4B4-FCD69A884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9BB13-BAD1-4913-BE05-42584A7ECC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5948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A145F5-683D-41A4-8B19-82885936C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4009338-D097-4005-BE08-090CC13BD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BCDAFA8-F70F-4A1B-80DC-E73CC87A6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6AE24F-DF49-43FC-BA3D-7CF7B25CF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C21-3097-4C82-8BBE-461CEA277AE4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797AD76-FB1A-42D9-837A-4B6995A33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6879BE-F73D-4F4B-B00E-570F3491B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9BB13-BAD1-4913-BE05-42584A7ECC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8188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CED11E-66A4-4D37-A373-37662E82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AC7188D-B2D9-4555-BD05-1C4FC61EE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364F6F-2946-4004-B0E3-10C7ADE83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C21-3097-4C82-8BBE-461CEA277AE4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7479FA-C0A4-44F7-A160-D2AFD72A3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0A8B87-A237-4B9E-A7AB-C5F182F3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9BB13-BAD1-4913-BE05-42584A7ECC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4226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C5EEA5C-A850-46AE-8CA6-8227935AF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00AF202-0375-491B-8CD6-DFBF9096B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9F74A7-99C0-41F8-ADD5-FA651F2FB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EC21-3097-4C82-8BBE-461CEA277AE4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C04B67-8548-4407-B43A-A0FDE7CC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870A3F-1254-4090-845A-31AF13CC4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9BB13-BAD1-4913-BE05-42584A7ECC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5836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4EACA32-F2A7-4B44-8547-8BADCDCF1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7E1E49-59D9-46EB-8020-D0C876045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6CBA8D-D59D-4D8B-9F33-894AA7AC35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BEC21-3097-4C82-8BBE-461CEA277AE4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04678E-4F35-4C87-9787-D9E94DDB5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C4F0DF-1B77-45B8-83B1-0C2B36D572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9BB13-BAD1-4913-BE05-42584A7ECC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405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DELL\Downloads\balance_roberval_poids_interactifs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DDFA77-20BB-4564-9F99-35B297405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837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fr-FR" sz="9600" b="1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LES ÉQUATIONS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B86F5B1-70C9-45A4-BDB4-79035037D51D}"/>
              </a:ext>
            </a:extLst>
          </p:cNvPr>
          <p:cNvSpPr txBox="1"/>
          <p:nvPr/>
        </p:nvSpPr>
        <p:spPr>
          <a:xfrm>
            <a:off x="0" y="5564288"/>
            <a:ext cx="92562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600" b="1" i="0" dirty="0">
                <a:effectLst/>
                <a:latin typeface="Segoe UI" panose="020B0502040204020203" pitchFamily="34" charset="0"/>
              </a:rPr>
              <a:t>Matière : </a:t>
            </a:r>
            <a:r>
              <a:rPr lang="fr-FR" sz="2600" i="0" dirty="0">
                <a:effectLst/>
                <a:latin typeface="Segoe UI" panose="020B0502040204020203" pitchFamily="34" charset="0"/>
              </a:rPr>
              <a:t>Mathématiques</a:t>
            </a:r>
            <a:br>
              <a:rPr lang="fr-FR" sz="2600" dirty="0"/>
            </a:br>
            <a:r>
              <a:rPr lang="fr-FR" sz="2600" b="1" dirty="0"/>
              <a:t>Niveau : </a:t>
            </a:r>
            <a:r>
              <a:rPr lang="fr-FR" sz="2600" dirty="0"/>
              <a:t>2ème Année Collège</a:t>
            </a:r>
          </a:p>
          <a:p>
            <a:r>
              <a:rPr lang="fr-FR" sz="2600" b="1" dirty="0"/>
              <a:t>Pr. </a:t>
            </a:r>
            <a:r>
              <a:rPr lang="fr-FR" sz="2600" dirty="0"/>
              <a:t>AMAHROUCH Ayoub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1619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5BC4189-478B-4E56-8EBD-56DE0B56A17F}"/>
              </a:ext>
            </a:extLst>
          </p:cNvPr>
          <p:cNvSpPr txBox="1"/>
          <p:nvPr/>
        </p:nvSpPr>
        <p:spPr>
          <a:xfrm>
            <a:off x="106680" y="1078915"/>
            <a:ext cx="10149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1) Traduit par équation l’équilibre de cette balance en prenant pour x la masse de l’inconnue ?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D900C1A-A2B0-465F-AA8D-FA79F3F9EBBB}"/>
              </a:ext>
            </a:extLst>
          </p:cNvPr>
          <p:cNvSpPr txBox="1"/>
          <p:nvPr/>
        </p:nvSpPr>
        <p:spPr>
          <a:xfrm>
            <a:off x="106680" y="0"/>
            <a:ext cx="28041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400" b="1" dirty="0">
                <a:solidFill>
                  <a:srgbClr val="7030A0"/>
                </a:solidFill>
              </a:rPr>
              <a:t>Activité 1 :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5707999-91D6-463E-8AF0-09E402F08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342496"/>
            <a:ext cx="7391400" cy="27212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732BFFFC-B298-4D08-9DC2-310955312DD4}"/>
              </a:ext>
            </a:extLst>
          </p:cNvPr>
          <p:cNvSpPr txBox="1"/>
          <p:nvPr/>
        </p:nvSpPr>
        <p:spPr>
          <a:xfrm>
            <a:off x="2876550" y="5599330"/>
            <a:ext cx="61645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b="1" dirty="0">
                <a:latin typeface="Bahnschrift" panose="020B0502040204020203" pitchFamily="34" charset="0"/>
              </a:rPr>
              <a:t>750g = 200g + x</a:t>
            </a:r>
          </a:p>
        </p:txBody>
      </p:sp>
    </p:spTree>
    <p:extLst>
      <p:ext uri="{BB962C8B-B14F-4D97-AF65-F5344CB8AC3E}">
        <p14:creationId xmlns:p14="http://schemas.microsoft.com/office/powerpoint/2010/main" val="3207457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0D70074-2B89-4356-B6DD-44F4DF05B63B}"/>
              </a:ext>
            </a:extLst>
          </p:cNvPr>
          <p:cNvSpPr/>
          <p:nvPr/>
        </p:nvSpPr>
        <p:spPr>
          <a:xfrm>
            <a:off x="701040" y="1408330"/>
            <a:ext cx="10256520" cy="3316069"/>
          </a:xfrm>
          <a:custGeom>
            <a:avLst/>
            <a:gdLst>
              <a:gd name="connsiteX0" fmla="*/ 0 w 10256520"/>
              <a:gd name="connsiteY0" fmla="*/ 0 h 3316069"/>
              <a:gd name="connsiteX1" fmla="*/ 467241 w 10256520"/>
              <a:gd name="connsiteY1" fmla="*/ 0 h 3316069"/>
              <a:gd name="connsiteX2" fmla="*/ 1139613 w 10256520"/>
              <a:gd name="connsiteY2" fmla="*/ 0 h 3316069"/>
              <a:gd name="connsiteX3" fmla="*/ 1709420 w 10256520"/>
              <a:gd name="connsiteY3" fmla="*/ 0 h 3316069"/>
              <a:gd name="connsiteX4" fmla="*/ 2176661 w 10256520"/>
              <a:gd name="connsiteY4" fmla="*/ 0 h 3316069"/>
              <a:gd name="connsiteX5" fmla="*/ 2541338 w 10256520"/>
              <a:gd name="connsiteY5" fmla="*/ 0 h 3316069"/>
              <a:gd name="connsiteX6" fmla="*/ 3008579 w 10256520"/>
              <a:gd name="connsiteY6" fmla="*/ 0 h 3316069"/>
              <a:gd name="connsiteX7" fmla="*/ 3475821 w 10256520"/>
              <a:gd name="connsiteY7" fmla="*/ 0 h 3316069"/>
              <a:gd name="connsiteX8" fmla="*/ 3737932 w 10256520"/>
              <a:gd name="connsiteY8" fmla="*/ 0 h 3316069"/>
              <a:gd name="connsiteX9" fmla="*/ 4512869 w 10256520"/>
              <a:gd name="connsiteY9" fmla="*/ 0 h 3316069"/>
              <a:gd name="connsiteX10" fmla="*/ 5185241 w 10256520"/>
              <a:gd name="connsiteY10" fmla="*/ 0 h 3316069"/>
              <a:gd name="connsiteX11" fmla="*/ 5857613 w 10256520"/>
              <a:gd name="connsiteY11" fmla="*/ 0 h 3316069"/>
              <a:gd name="connsiteX12" fmla="*/ 6119724 w 10256520"/>
              <a:gd name="connsiteY12" fmla="*/ 0 h 3316069"/>
              <a:gd name="connsiteX13" fmla="*/ 6381835 w 10256520"/>
              <a:gd name="connsiteY13" fmla="*/ 0 h 3316069"/>
              <a:gd name="connsiteX14" fmla="*/ 6746511 w 10256520"/>
              <a:gd name="connsiteY14" fmla="*/ 0 h 3316069"/>
              <a:gd name="connsiteX15" fmla="*/ 7316318 w 10256520"/>
              <a:gd name="connsiteY15" fmla="*/ 0 h 3316069"/>
              <a:gd name="connsiteX16" fmla="*/ 7680994 w 10256520"/>
              <a:gd name="connsiteY16" fmla="*/ 0 h 3316069"/>
              <a:gd name="connsiteX17" fmla="*/ 8045670 w 10256520"/>
              <a:gd name="connsiteY17" fmla="*/ 0 h 3316069"/>
              <a:gd name="connsiteX18" fmla="*/ 8512912 w 10256520"/>
              <a:gd name="connsiteY18" fmla="*/ 0 h 3316069"/>
              <a:gd name="connsiteX19" fmla="*/ 9082718 w 10256520"/>
              <a:gd name="connsiteY19" fmla="*/ 0 h 3316069"/>
              <a:gd name="connsiteX20" fmla="*/ 9755090 w 10256520"/>
              <a:gd name="connsiteY20" fmla="*/ 0 h 3316069"/>
              <a:gd name="connsiteX21" fmla="*/ 10256520 w 10256520"/>
              <a:gd name="connsiteY21" fmla="*/ 0 h 3316069"/>
              <a:gd name="connsiteX22" fmla="*/ 10256520 w 10256520"/>
              <a:gd name="connsiteY22" fmla="*/ 453196 h 3316069"/>
              <a:gd name="connsiteX23" fmla="*/ 10256520 w 10256520"/>
              <a:gd name="connsiteY23" fmla="*/ 939553 h 3316069"/>
              <a:gd name="connsiteX24" fmla="*/ 10256520 w 10256520"/>
              <a:gd name="connsiteY24" fmla="*/ 1425910 h 3316069"/>
              <a:gd name="connsiteX25" fmla="*/ 10256520 w 10256520"/>
              <a:gd name="connsiteY25" fmla="*/ 1912266 h 3316069"/>
              <a:gd name="connsiteX26" fmla="*/ 10256520 w 10256520"/>
              <a:gd name="connsiteY26" fmla="*/ 2431784 h 3316069"/>
              <a:gd name="connsiteX27" fmla="*/ 10256520 w 10256520"/>
              <a:gd name="connsiteY27" fmla="*/ 3316069 h 3316069"/>
              <a:gd name="connsiteX28" fmla="*/ 9481583 w 10256520"/>
              <a:gd name="connsiteY28" fmla="*/ 3316069 h 3316069"/>
              <a:gd name="connsiteX29" fmla="*/ 9014341 w 10256520"/>
              <a:gd name="connsiteY29" fmla="*/ 3316069 h 3316069"/>
              <a:gd name="connsiteX30" fmla="*/ 8752230 w 10256520"/>
              <a:gd name="connsiteY30" fmla="*/ 3316069 h 3316069"/>
              <a:gd name="connsiteX31" fmla="*/ 8490119 w 10256520"/>
              <a:gd name="connsiteY31" fmla="*/ 3316069 h 3316069"/>
              <a:gd name="connsiteX32" fmla="*/ 8022878 w 10256520"/>
              <a:gd name="connsiteY32" fmla="*/ 3316069 h 3316069"/>
              <a:gd name="connsiteX33" fmla="*/ 7247941 w 10256520"/>
              <a:gd name="connsiteY33" fmla="*/ 3316069 h 3316069"/>
              <a:gd name="connsiteX34" fmla="*/ 6473004 w 10256520"/>
              <a:gd name="connsiteY34" fmla="*/ 3316069 h 3316069"/>
              <a:gd name="connsiteX35" fmla="*/ 6210893 w 10256520"/>
              <a:gd name="connsiteY35" fmla="*/ 3316069 h 3316069"/>
              <a:gd name="connsiteX36" fmla="*/ 5846216 w 10256520"/>
              <a:gd name="connsiteY36" fmla="*/ 3316069 h 3316069"/>
              <a:gd name="connsiteX37" fmla="*/ 5173845 w 10256520"/>
              <a:gd name="connsiteY37" fmla="*/ 3316069 h 3316069"/>
              <a:gd name="connsiteX38" fmla="*/ 4809168 w 10256520"/>
              <a:gd name="connsiteY38" fmla="*/ 3316069 h 3316069"/>
              <a:gd name="connsiteX39" fmla="*/ 4444492 w 10256520"/>
              <a:gd name="connsiteY39" fmla="*/ 3316069 h 3316069"/>
              <a:gd name="connsiteX40" fmla="*/ 3772120 w 10256520"/>
              <a:gd name="connsiteY40" fmla="*/ 3316069 h 3316069"/>
              <a:gd name="connsiteX41" fmla="*/ 2997183 w 10256520"/>
              <a:gd name="connsiteY41" fmla="*/ 3316069 h 3316069"/>
              <a:gd name="connsiteX42" fmla="*/ 2427376 w 10256520"/>
              <a:gd name="connsiteY42" fmla="*/ 3316069 h 3316069"/>
              <a:gd name="connsiteX43" fmla="*/ 1857570 w 10256520"/>
              <a:gd name="connsiteY43" fmla="*/ 3316069 h 3316069"/>
              <a:gd name="connsiteX44" fmla="*/ 1595459 w 10256520"/>
              <a:gd name="connsiteY44" fmla="*/ 3316069 h 3316069"/>
              <a:gd name="connsiteX45" fmla="*/ 1128217 w 10256520"/>
              <a:gd name="connsiteY45" fmla="*/ 3316069 h 3316069"/>
              <a:gd name="connsiteX46" fmla="*/ 0 w 10256520"/>
              <a:gd name="connsiteY46" fmla="*/ 3316069 h 3316069"/>
              <a:gd name="connsiteX47" fmla="*/ 0 w 10256520"/>
              <a:gd name="connsiteY47" fmla="*/ 2862873 h 3316069"/>
              <a:gd name="connsiteX48" fmla="*/ 0 w 10256520"/>
              <a:gd name="connsiteY48" fmla="*/ 2243873 h 3316069"/>
              <a:gd name="connsiteX49" fmla="*/ 0 w 10256520"/>
              <a:gd name="connsiteY49" fmla="*/ 1757517 h 3316069"/>
              <a:gd name="connsiteX50" fmla="*/ 0 w 10256520"/>
              <a:gd name="connsiteY50" fmla="*/ 1204838 h 3316069"/>
              <a:gd name="connsiteX51" fmla="*/ 0 w 10256520"/>
              <a:gd name="connsiteY51" fmla="*/ 652160 h 3316069"/>
              <a:gd name="connsiteX52" fmla="*/ 0 w 10256520"/>
              <a:gd name="connsiteY52" fmla="*/ 0 h 3316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0256520" h="3316069" extrusionOk="0">
                <a:moveTo>
                  <a:pt x="0" y="0"/>
                </a:moveTo>
                <a:cubicBezTo>
                  <a:pt x="99920" y="-10215"/>
                  <a:pt x="287631" y="43168"/>
                  <a:pt x="467241" y="0"/>
                </a:cubicBezTo>
                <a:cubicBezTo>
                  <a:pt x="646851" y="-43168"/>
                  <a:pt x="804349" y="45908"/>
                  <a:pt x="1139613" y="0"/>
                </a:cubicBezTo>
                <a:cubicBezTo>
                  <a:pt x="1474877" y="-45908"/>
                  <a:pt x="1508947" y="60700"/>
                  <a:pt x="1709420" y="0"/>
                </a:cubicBezTo>
                <a:cubicBezTo>
                  <a:pt x="1909893" y="-60700"/>
                  <a:pt x="2069233" y="30827"/>
                  <a:pt x="2176661" y="0"/>
                </a:cubicBezTo>
                <a:cubicBezTo>
                  <a:pt x="2284089" y="-30827"/>
                  <a:pt x="2420989" y="6197"/>
                  <a:pt x="2541338" y="0"/>
                </a:cubicBezTo>
                <a:cubicBezTo>
                  <a:pt x="2661687" y="-6197"/>
                  <a:pt x="2813373" y="33638"/>
                  <a:pt x="3008579" y="0"/>
                </a:cubicBezTo>
                <a:cubicBezTo>
                  <a:pt x="3203785" y="-33638"/>
                  <a:pt x="3242318" y="42443"/>
                  <a:pt x="3475821" y="0"/>
                </a:cubicBezTo>
                <a:cubicBezTo>
                  <a:pt x="3709324" y="-42443"/>
                  <a:pt x="3685404" y="1484"/>
                  <a:pt x="3737932" y="0"/>
                </a:cubicBezTo>
                <a:cubicBezTo>
                  <a:pt x="3790460" y="-1484"/>
                  <a:pt x="4180497" y="51962"/>
                  <a:pt x="4512869" y="0"/>
                </a:cubicBezTo>
                <a:cubicBezTo>
                  <a:pt x="4845241" y="-51962"/>
                  <a:pt x="4869612" y="12120"/>
                  <a:pt x="5185241" y="0"/>
                </a:cubicBezTo>
                <a:cubicBezTo>
                  <a:pt x="5500870" y="-12120"/>
                  <a:pt x="5570451" y="42916"/>
                  <a:pt x="5857613" y="0"/>
                </a:cubicBezTo>
                <a:cubicBezTo>
                  <a:pt x="6144775" y="-42916"/>
                  <a:pt x="6014177" y="24700"/>
                  <a:pt x="6119724" y="0"/>
                </a:cubicBezTo>
                <a:cubicBezTo>
                  <a:pt x="6225271" y="-24700"/>
                  <a:pt x="6324843" y="29348"/>
                  <a:pt x="6381835" y="0"/>
                </a:cubicBezTo>
                <a:cubicBezTo>
                  <a:pt x="6438827" y="-29348"/>
                  <a:pt x="6618656" y="34731"/>
                  <a:pt x="6746511" y="0"/>
                </a:cubicBezTo>
                <a:cubicBezTo>
                  <a:pt x="6874366" y="-34731"/>
                  <a:pt x="7149245" y="15384"/>
                  <a:pt x="7316318" y="0"/>
                </a:cubicBezTo>
                <a:cubicBezTo>
                  <a:pt x="7483391" y="-15384"/>
                  <a:pt x="7602302" y="39612"/>
                  <a:pt x="7680994" y="0"/>
                </a:cubicBezTo>
                <a:cubicBezTo>
                  <a:pt x="7759686" y="-39612"/>
                  <a:pt x="7940935" y="4495"/>
                  <a:pt x="8045670" y="0"/>
                </a:cubicBezTo>
                <a:cubicBezTo>
                  <a:pt x="8150405" y="-4495"/>
                  <a:pt x="8317279" y="37094"/>
                  <a:pt x="8512912" y="0"/>
                </a:cubicBezTo>
                <a:cubicBezTo>
                  <a:pt x="8708545" y="-37094"/>
                  <a:pt x="8890659" y="4187"/>
                  <a:pt x="9082718" y="0"/>
                </a:cubicBezTo>
                <a:cubicBezTo>
                  <a:pt x="9274777" y="-4187"/>
                  <a:pt x="9592989" y="76456"/>
                  <a:pt x="9755090" y="0"/>
                </a:cubicBezTo>
                <a:cubicBezTo>
                  <a:pt x="9917191" y="-76456"/>
                  <a:pt x="10011673" y="27328"/>
                  <a:pt x="10256520" y="0"/>
                </a:cubicBezTo>
                <a:cubicBezTo>
                  <a:pt x="10300097" y="139510"/>
                  <a:pt x="10225686" y="286189"/>
                  <a:pt x="10256520" y="453196"/>
                </a:cubicBezTo>
                <a:cubicBezTo>
                  <a:pt x="10287354" y="620203"/>
                  <a:pt x="10198192" y="815546"/>
                  <a:pt x="10256520" y="939553"/>
                </a:cubicBezTo>
                <a:cubicBezTo>
                  <a:pt x="10314848" y="1063560"/>
                  <a:pt x="10214084" y="1187167"/>
                  <a:pt x="10256520" y="1425910"/>
                </a:cubicBezTo>
                <a:cubicBezTo>
                  <a:pt x="10298956" y="1664653"/>
                  <a:pt x="10248386" y="1713601"/>
                  <a:pt x="10256520" y="1912266"/>
                </a:cubicBezTo>
                <a:cubicBezTo>
                  <a:pt x="10264654" y="2110931"/>
                  <a:pt x="10235629" y="2200980"/>
                  <a:pt x="10256520" y="2431784"/>
                </a:cubicBezTo>
                <a:cubicBezTo>
                  <a:pt x="10277411" y="2662588"/>
                  <a:pt x="10242888" y="2892832"/>
                  <a:pt x="10256520" y="3316069"/>
                </a:cubicBezTo>
                <a:cubicBezTo>
                  <a:pt x="9928384" y="3359224"/>
                  <a:pt x="9786364" y="3225043"/>
                  <a:pt x="9481583" y="3316069"/>
                </a:cubicBezTo>
                <a:cubicBezTo>
                  <a:pt x="9176802" y="3407095"/>
                  <a:pt x="9163471" y="3302320"/>
                  <a:pt x="9014341" y="3316069"/>
                </a:cubicBezTo>
                <a:cubicBezTo>
                  <a:pt x="8865211" y="3329818"/>
                  <a:pt x="8816690" y="3300277"/>
                  <a:pt x="8752230" y="3316069"/>
                </a:cubicBezTo>
                <a:cubicBezTo>
                  <a:pt x="8687770" y="3331861"/>
                  <a:pt x="8615203" y="3301671"/>
                  <a:pt x="8490119" y="3316069"/>
                </a:cubicBezTo>
                <a:cubicBezTo>
                  <a:pt x="8365035" y="3330467"/>
                  <a:pt x="8193065" y="3267263"/>
                  <a:pt x="8022878" y="3316069"/>
                </a:cubicBezTo>
                <a:cubicBezTo>
                  <a:pt x="7852691" y="3364875"/>
                  <a:pt x="7464612" y="3244739"/>
                  <a:pt x="7247941" y="3316069"/>
                </a:cubicBezTo>
                <a:cubicBezTo>
                  <a:pt x="7031270" y="3387399"/>
                  <a:pt x="6640625" y="3280719"/>
                  <a:pt x="6473004" y="3316069"/>
                </a:cubicBezTo>
                <a:cubicBezTo>
                  <a:pt x="6305383" y="3351419"/>
                  <a:pt x="6284293" y="3308024"/>
                  <a:pt x="6210893" y="3316069"/>
                </a:cubicBezTo>
                <a:cubicBezTo>
                  <a:pt x="6137493" y="3324114"/>
                  <a:pt x="5987144" y="3288674"/>
                  <a:pt x="5846216" y="3316069"/>
                </a:cubicBezTo>
                <a:cubicBezTo>
                  <a:pt x="5705288" y="3343464"/>
                  <a:pt x="5381601" y="3305462"/>
                  <a:pt x="5173845" y="3316069"/>
                </a:cubicBezTo>
                <a:cubicBezTo>
                  <a:pt x="4966089" y="3326676"/>
                  <a:pt x="4914651" y="3282510"/>
                  <a:pt x="4809168" y="3316069"/>
                </a:cubicBezTo>
                <a:cubicBezTo>
                  <a:pt x="4703685" y="3349628"/>
                  <a:pt x="4584034" y="3302699"/>
                  <a:pt x="4444492" y="3316069"/>
                </a:cubicBezTo>
                <a:cubicBezTo>
                  <a:pt x="4304950" y="3329439"/>
                  <a:pt x="4053599" y="3286162"/>
                  <a:pt x="3772120" y="3316069"/>
                </a:cubicBezTo>
                <a:cubicBezTo>
                  <a:pt x="3490641" y="3345976"/>
                  <a:pt x="3282584" y="3256013"/>
                  <a:pt x="2997183" y="3316069"/>
                </a:cubicBezTo>
                <a:cubicBezTo>
                  <a:pt x="2711782" y="3376125"/>
                  <a:pt x="2707012" y="3283092"/>
                  <a:pt x="2427376" y="3316069"/>
                </a:cubicBezTo>
                <a:cubicBezTo>
                  <a:pt x="2147740" y="3349046"/>
                  <a:pt x="2098602" y="3264876"/>
                  <a:pt x="1857570" y="3316069"/>
                </a:cubicBezTo>
                <a:cubicBezTo>
                  <a:pt x="1616538" y="3367262"/>
                  <a:pt x="1660403" y="3310511"/>
                  <a:pt x="1595459" y="3316069"/>
                </a:cubicBezTo>
                <a:cubicBezTo>
                  <a:pt x="1530515" y="3321627"/>
                  <a:pt x="1361370" y="3308251"/>
                  <a:pt x="1128217" y="3316069"/>
                </a:cubicBezTo>
                <a:cubicBezTo>
                  <a:pt x="895064" y="3323887"/>
                  <a:pt x="520991" y="3228399"/>
                  <a:pt x="0" y="3316069"/>
                </a:cubicBezTo>
                <a:cubicBezTo>
                  <a:pt x="-18845" y="3127518"/>
                  <a:pt x="5160" y="2955469"/>
                  <a:pt x="0" y="2862873"/>
                </a:cubicBezTo>
                <a:cubicBezTo>
                  <a:pt x="-5160" y="2770277"/>
                  <a:pt x="59771" y="2370267"/>
                  <a:pt x="0" y="2243873"/>
                </a:cubicBezTo>
                <a:cubicBezTo>
                  <a:pt x="-59771" y="2117479"/>
                  <a:pt x="3683" y="1919347"/>
                  <a:pt x="0" y="1757517"/>
                </a:cubicBezTo>
                <a:cubicBezTo>
                  <a:pt x="-3683" y="1595687"/>
                  <a:pt x="39151" y="1404334"/>
                  <a:pt x="0" y="1204838"/>
                </a:cubicBezTo>
                <a:cubicBezTo>
                  <a:pt x="-39151" y="1005342"/>
                  <a:pt x="21921" y="804417"/>
                  <a:pt x="0" y="652160"/>
                </a:cubicBezTo>
                <a:cubicBezTo>
                  <a:pt x="-21921" y="499903"/>
                  <a:pt x="18584" y="287774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accent6"/>
            </a:solidFill>
            <a:extLst>
              <a:ext uri="{C807C97D-BFC1-408E-A445-0C87EB9F89A2}">
                <ask:lineSketchStyleProps xmlns:ask="http://schemas.microsoft.com/office/drawing/2018/sketchyshapes" sd="305600870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5BC4189-478B-4E56-8EBD-56DE0B56A17F}"/>
              </a:ext>
            </a:extLst>
          </p:cNvPr>
          <p:cNvSpPr txBox="1"/>
          <p:nvPr/>
        </p:nvSpPr>
        <p:spPr>
          <a:xfrm>
            <a:off x="1234440" y="1408331"/>
            <a:ext cx="9677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/>
              <a:t>Une </a:t>
            </a:r>
            <a:r>
              <a:rPr lang="fr-FR" sz="3200" b="1" dirty="0"/>
              <a:t>équation du premier degré à une inconnue x </a:t>
            </a:r>
            <a:r>
              <a:rPr lang="fr-FR" sz="3200" dirty="0"/>
              <a:t>est toute égalité de la forme :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32BFFFC-B298-4D08-9DC2-310955312DD4}"/>
              </a:ext>
            </a:extLst>
          </p:cNvPr>
          <p:cNvSpPr txBox="1"/>
          <p:nvPr/>
        </p:nvSpPr>
        <p:spPr>
          <a:xfrm>
            <a:off x="1234440" y="3960670"/>
            <a:ext cx="8088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latin typeface="Bahnschrift" panose="020B0502040204020203" pitchFamily="34" charset="0"/>
              </a:rPr>
              <a:t>où a, b, c, d sont des nombres rationnels connus.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6FD8DA0-8C4D-4AE4-9CDA-EED76D3A32D3}"/>
              </a:ext>
            </a:extLst>
          </p:cNvPr>
          <p:cNvSpPr txBox="1"/>
          <p:nvPr/>
        </p:nvSpPr>
        <p:spPr>
          <a:xfrm>
            <a:off x="106680" y="184666"/>
            <a:ext cx="80886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I. Equations du premier degré à une inconnue :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5EDB242-E0BB-49C8-89AB-75B1663124EC}"/>
              </a:ext>
            </a:extLst>
          </p:cNvPr>
          <p:cNvSpPr txBox="1"/>
          <p:nvPr/>
        </p:nvSpPr>
        <p:spPr>
          <a:xfrm>
            <a:off x="834390" y="788402"/>
            <a:ext cx="70446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i="1" u="sng" dirty="0">
                <a:solidFill>
                  <a:schemeClr val="accent6"/>
                </a:solidFill>
              </a:rPr>
              <a:t>1.Définition :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878C6FDE-D8DD-4A36-B04E-52F522898C94}"/>
              </a:ext>
            </a:extLst>
          </p:cNvPr>
          <p:cNvSpPr/>
          <p:nvPr/>
        </p:nvSpPr>
        <p:spPr>
          <a:xfrm>
            <a:off x="3617595" y="2709742"/>
            <a:ext cx="4956810" cy="1005840"/>
          </a:xfrm>
          <a:custGeom>
            <a:avLst/>
            <a:gdLst>
              <a:gd name="connsiteX0" fmla="*/ 0 w 4956810"/>
              <a:gd name="connsiteY0" fmla="*/ 472443 h 1005840"/>
              <a:gd name="connsiteX1" fmla="*/ 472443 w 4956810"/>
              <a:gd name="connsiteY1" fmla="*/ 0 h 1005840"/>
              <a:gd name="connsiteX2" fmla="*/ 1125813 w 4956810"/>
              <a:gd name="connsiteY2" fmla="*/ 0 h 1005840"/>
              <a:gd name="connsiteX3" fmla="*/ 1578588 w 4956810"/>
              <a:gd name="connsiteY3" fmla="*/ 0 h 1005840"/>
              <a:gd name="connsiteX4" fmla="*/ 2151720 w 4956810"/>
              <a:gd name="connsiteY4" fmla="*/ 0 h 1005840"/>
              <a:gd name="connsiteX5" fmla="*/ 2684733 w 4956810"/>
              <a:gd name="connsiteY5" fmla="*/ 0 h 1005840"/>
              <a:gd name="connsiteX6" fmla="*/ 3338103 w 4956810"/>
              <a:gd name="connsiteY6" fmla="*/ 0 h 1005840"/>
              <a:gd name="connsiteX7" fmla="*/ 3991473 w 4956810"/>
              <a:gd name="connsiteY7" fmla="*/ 0 h 1005840"/>
              <a:gd name="connsiteX8" fmla="*/ 4484367 w 4956810"/>
              <a:gd name="connsiteY8" fmla="*/ 0 h 1005840"/>
              <a:gd name="connsiteX9" fmla="*/ 4956810 w 4956810"/>
              <a:gd name="connsiteY9" fmla="*/ 472443 h 1005840"/>
              <a:gd name="connsiteX10" fmla="*/ 4956810 w 4956810"/>
              <a:gd name="connsiteY10" fmla="*/ 533397 h 1005840"/>
              <a:gd name="connsiteX11" fmla="*/ 4484367 w 4956810"/>
              <a:gd name="connsiteY11" fmla="*/ 1005840 h 1005840"/>
              <a:gd name="connsiteX12" fmla="*/ 3911235 w 4956810"/>
              <a:gd name="connsiteY12" fmla="*/ 1005840 h 1005840"/>
              <a:gd name="connsiteX13" fmla="*/ 3418341 w 4956810"/>
              <a:gd name="connsiteY13" fmla="*/ 1005840 h 1005840"/>
              <a:gd name="connsiteX14" fmla="*/ 2965567 w 4956810"/>
              <a:gd name="connsiteY14" fmla="*/ 1005840 h 1005840"/>
              <a:gd name="connsiteX15" fmla="*/ 2512793 w 4956810"/>
              <a:gd name="connsiteY15" fmla="*/ 1005840 h 1005840"/>
              <a:gd name="connsiteX16" fmla="*/ 1899542 w 4956810"/>
              <a:gd name="connsiteY16" fmla="*/ 1005840 h 1005840"/>
              <a:gd name="connsiteX17" fmla="*/ 1406648 w 4956810"/>
              <a:gd name="connsiteY17" fmla="*/ 1005840 h 1005840"/>
              <a:gd name="connsiteX18" fmla="*/ 472443 w 4956810"/>
              <a:gd name="connsiteY18" fmla="*/ 1005840 h 1005840"/>
              <a:gd name="connsiteX19" fmla="*/ 0 w 4956810"/>
              <a:gd name="connsiteY19" fmla="*/ 533397 h 1005840"/>
              <a:gd name="connsiteX20" fmla="*/ 0 w 4956810"/>
              <a:gd name="connsiteY20" fmla="*/ 472443 h 100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956810" h="1005840" fill="none" extrusionOk="0">
                <a:moveTo>
                  <a:pt x="0" y="472443"/>
                </a:moveTo>
                <a:cubicBezTo>
                  <a:pt x="-35890" y="168287"/>
                  <a:pt x="249620" y="21303"/>
                  <a:pt x="472443" y="0"/>
                </a:cubicBezTo>
                <a:cubicBezTo>
                  <a:pt x="724048" y="-47371"/>
                  <a:pt x="811679" y="72414"/>
                  <a:pt x="1125813" y="0"/>
                </a:cubicBezTo>
                <a:cubicBezTo>
                  <a:pt x="1439947" y="-72414"/>
                  <a:pt x="1486367" y="679"/>
                  <a:pt x="1578588" y="0"/>
                </a:cubicBezTo>
                <a:cubicBezTo>
                  <a:pt x="1670809" y="-679"/>
                  <a:pt x="2017114" y="6895"/>
                  <a:pt x="2151720" y="0"/>
                </a:cubicBezTo>
                <a:cubicBezTo>
                  <a:pt x="2286326" y="-6895"/>
                  <a:pt x="2560690" y="11810"/>
                  <a:pt x="2684733" y="0"/>
                </a:cubicBezTo>
                <a:cubicBezTo>
                  <a:pt x="2808776" y="-11810"/>
                  <a:pt x="3198023" y="58108"/>
                  <a:pt x="3338103" y="0"/>
                </a:cubicBezTo>
                <a:cubicBezTo>
                  <a:pt x="3478183" y="-58108"/>
                  <a:pt x="3735642" y="45753"/>
                  <a:pt x="3991473" y="0"/>
                </a:cubicBezTo>
                <a:cubicBezTo>
                  <a:pt x="4247304" y="-45753"/>
                  <a:pt x="4296555" y="4505"/>
                  <a:pt x="4484367" y="0"/>
                </a:cubicBezTo>
                <a:cubicBezTo>
                  <a:pt x="4722530" y="65180"/>
                  <a:pt x="4960255" y="226955"/>
                  <a:pt x="4956810" y="472443"/>
                </a:cubicBezTo>
                <a:cubicBezTo>
                  <a:pt x="4959277" y="486333"/>
                  <a:pt x="4952043" y="520471"/>
                  <a:pt x="4956810" y="533397"/>
                </a:cubicBezTo>
                <a:cubicBezTo>
                  <a:pt x="5022432" y="787759"/>
                  <a:pt x="4716127" y="1003124"/>
                  <a:pt x="4484367" y="1005840"/>
                </a:cubicBezTo>
                <a:cubicBezTo>
                  <a:pt x="4264616" y="1039548"/>
                  <a:pt x="4112680" y="937684"/>
                  <a:pt x="3911235" y="1005840"/>
                </a:cubicBezTo>
                <a:cubicBezTo>
                  <a:pt x="3709790" y="1073996"/>
                  <a:pt x="3556306" y="999076"/>
                  <a:pt x="3418341" y="1005840"/>
                </a:cubicBezTo>
                <a:cubicBezTo>
                  <a:pt x="3280376" y="1012604"/>
                  <a:pt x="3104768" y="977466"/>
                  <a:pt x="2965567" y="1005840"/>
                </a:cubicBezTo>
                <a:cubicBezTo>
                  <a:pt x="2826366" y="1034214"/>
                  <a:pt x="2696145" y="988190"/>
                  <a:pt x="2512793" y="1005840"/>
                </a:cubicBezTo>
                <a:cubicBezTo>
                  <a:pt x="2329441" y="1023490"/>
                  <a:pt x="2084861" y="966864"/>
                  <a:pt x="1899542" y="1005840"/>
                </a:cubicBezTo>
                <a:cubicBezTo>
                  <a:pt x="1714223" y="1044816"/>
                  <a:pt x="1552569" y="985207"/>
                  <a:pt x="1406648" y="1005840"/>
                </a:cubicBezTo>
                <a:cubicBezTo>
                  <a:pt x="1260727" y="1026473"/>
                  <a:pt x="891622" y="909643"/>
                  <a:pt x="472443" y="1005840"/>
                </a:cubicBezTo>
                <a:cubicBezTo>
                  <a:pt x="245623" y="1063917"/>
                  <a:pt x="-51937" y="796714"/>
                  <a:pt x="0" y="533397"/>
                </a:cubicBezTo>
                <a:cubicBezTo>
                  <a:pt x="-3757" y="514062"/>
                  <a:pt x="2740" y="495550"/>
                  <a:pt x="0" y="472443"/>
                </a:cubicBezTo>
                <a:close/>
              </a:path>
              <a:path w="4956810" h="1005840" stroke="0" extrusionOk="0">
                <a:moveTo>
                  <a:pt x="0" y="472443"/>
                </a:moveTo>
                <a:cubicBezTo>
                  <a:pt x="-11896" y="226335"/>
                  <a:pt x="209862" y="-23936"/>
                  <a:pt x="472443" y="0"/>
                </a:cubicBezTo>
                <a:cubicBezTo>
                  <a:pt x="576502" y="-25839"/>
                  <a:pt x="755926" y="6888"/>
                  <a:pt x="965337" y="0"/>
                </a:cubicBezTo>
                <a:cubicBezTo>
                  <a:pt x="1174748" y="-6888"/>
                  <a:pt x="1380339" y="38258"/>
                  <a:pt x="1578588" y="0"/>
                </a:cubicBezTo>
                <a:cubicBezTo>
                  <a:pt x="1776837" y="-38258"/>
                  <a:pt x="1904058" y="40995"/>
                  <a:pt x="2071481" y="0"/>
                </a:cubicBezTo>
                <a:cubicBezTo>
                  <a:pt x="2238904" y="-40995"/>
                  <a:pt x="2440721" y="57840"/>
                  <a:pt x="2724852" y="0"/>
                </a:cubicBezTo>
                <a:cubicBezTo>
                  <a:pt x="3008983" y="-57840"/>
                  <a:pt x="3195023" y="23673"/>
                  <a:pt x="3378222" y="0"/>
                </a:cubicBezTo>
                <a:cubicBezTo>
                  <a:pt x="3561421" y="-23673"/>
                  <a:pt x="3828369" y="20065"/>
                  <a:pt x="3991473" y="0"/>
                </a:cubicBezTo>
                <a:cubicBezTo>
                  <a:pt x="4154577" y="-20065"/>
                  <a:pt x="4297731" y="48658"/>
                  <a:pt x="4484367" y="0"/>
                </a:cubicBezTo>
                <a:cubicBezTo>
                  <a:pt x="4709209" y="19991"/>
                  <a:pt x="4956077" y="190054"/>
                  <a:pt x="4956810" y="472443"/>
                </a:cubicBezTo>
                <a:cubicBezTo>
                  <a:pt x="4963630" y="500063"/>
                  <a:pt x="4950441" y="509950"/>
                  <a:pt x="4956810" y="533397"/>
                </a:cubicBezTo>
                <a:cubicBezTo>
                  <a:pt x="4911568" y="754750"/>
                  <a:pt x="4697684" y="1013420"/>
                  <a:pt x="4484367" y="1005840"/>
                </a:cubicBezTo>
                <a:cubicBezTo>
                  <a:pt x="4287171" y="1057693"/>
                  <a:pt x="4236811" y="978068"/>
                  <a:pt x="4031593" y="1005840"/>
                </a:cubicBezTo>
                <a:cubicBezTo>
                  <a:pt x="3826375" y="1033612"/>
                  <a:pt x="3729139" y="959608"/>
                  <a:pt x="3458461" y="1005840"/>
                </a:cubicBezTo>
                <a:cubicBezTo>
                  <a:pt x="3187783" y="1052072"/>
                  <a:pt x="3174776" y="990181"/>
                  <a:pt x="3005686" y="1005840"/>
                </a:cubicBezTo>
                <a:cubicBezTo>
                  <a:pt x="2836597" y="1021499"/>
                  <a:pt x="2592229" y="939767"/>
                  <a:pt x="2392435" y="1005840"/>
                </a:cubicBezTo>
                <a:cubicBezTo>
                  <a:pt x="2192641" y="1071913"/>
                  <a:pt x="2029294" y="955051"/>
                  <a:pt x="1739065" y="1005840"/>
                </a:cubicBezTo>
                <a:cubicBezTo>
                  <a:pt x="1448836" y="1056629"/>
                  <a:pt x="1385970" y="944140"/>
                  <a:pt x="1125813" y="1005840"/>
                </a:cubicBezTo>
                <a:cubicBezTo>
                  <a:pt x="865656" y="1067540"/>
                  <a:pt x="679718" y="996864"/>
                  <a:pt x="472443" y="1005840"/>
                </a:cubicBezTo>
                <a:cubicBezTo>
                  <a:pt x="216474" y="1076109"/>
                  <a:pt x="49666" y="854343"/>
                  <a:pt x="0" y="533397"/>
                </a:cubicBezTo>
                <a:cubicBezTo>
                  <a:pt x="-6116" y="504668"/>
                  <a:pt x="893" y="496706"/>
                  <a:pt x="0" y="472443"/>
                </a:cubicBezTo>
                <a:close/>
              </a:path>
            </a:pathLst>
          </a:custGeom>
          <a:solidFill>
            <a:srgbClr val="ECFCCE"/>
          </a:solidFill>
          <a:ln w="28575">
            <a:extLst>
              <a:ext uri="{C807C97D-BFC1-408E-A445-0C87EB9F89A2}">
                <ask:lineSketchStyleProps xmlns:ask="http://schemas.microsoft.com/office/drawing/2018/sketchyshapes" sd="428321725">
                  <a:prstGeom prst="roundRect">
                    <a:avLst>
                      <a:gd name="adj" fmla="val 46970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 err="1">
                <a:solidFill>
                  <a:schemeClr val="tx1"/>
                </a:solidFill>
              </a:rPr>
              <a:t>ax</a:t>
            </a:r>
            <a:r>
              <a:rPr lang="fr-FR" sz="4000" b="1" dirty="0">
                <a:solidFill>
                  <a:schemeClr val="tx1"/>
                </a:solidFill>
              </a:rPr>
              <a:t> + b = cx + d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E7FF6DD-4F75-497B-8512-FE9C40ED7DEB}"/>
              </a:ext>
            </a:extLst>
          </p:cNvPr>
          <p:cNvSpPr txBox="1"/>
          <p:nvPr/>
        </p:nvSpPr>
        <p:spPr>
          <a:xfrm>
            <a:off x="834390" y="4821107"/>
            <a:ext cx="1638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i="1" u="sng" dirty="0">
                <a:solidFill>
                  <a:srgbClr val="7030A0"/>
                </a:solidFill>
              </a:rPr>
              <a:t>Propriété</a:t>
            </a:r>
            <a:r>
              <a:rPr lang="fr-FR" b="1" i="0" dirty="0">
                <a:solidFill>
                  <a:srgbClr val="FF6B6B"/>
                </a:solidFill>
                <a:effectLst/>
                <a:latin typeface="Segoe UI" panose="020B0502040204020203" pitchFamily="34" charset="0"/>
              </a:rPr>
              <a:t> 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F190705-C553-4DCD-BB36-EA85CFFDF48D}"/>
              </a:ext>
            </a:extLst>
          </p:cNvPr>
          <p:cNvSpPr txBox="1"/>
          <p:nvPr/>
        </p:nvSpPr>
        <p:spPr>
          <a:xfrm>
            <a:off x="979170" y="5481957"/>
            <a:ext cx="97002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Une équation du premier degré à une inconnue admet </a:t>
            </a:r>
            <a:r>
              <a:rPr lang="fr-FR" sz="2800" b="1" dirty="0"/>
              <a:t>une seule, aucune, ou plusieurs solutions</a:t>
            </a:r>
            <a:r>
              <a:rPr lang="fr-FR" sz="2800" dirty="0"/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740955-8D92-475C-884E-C8ED0C9EE1A0}"/>
              </a:ext>
            </a:extLst>
          </p:cNvPr>
          <p:cNvSpPr/>
          <p:nvPr/>
        </p:nvSpPr>
        <p:spPr>
          <a:xfrm>
            <a:off x="701040" y="5363289"/>
            <a:ext cx="10256520" cy="1310046"/>
          </a:xfrm>
          <a:custGeom>
            <a:avLst/>
            <a:gdLst>
              <a:gd name="connsiteX0" fmla="*/ 0 w 10256520"/>
              <a:gd name="connsiteY0" fmla="*/ 0 h 1310046"/>
              <a:gd name="connsiteX1" fmla="*/ 467241 w 10256520"/>
              <a:gd name="connsiteY1" fmla="*/ 0 h 1310046"/>
              <a:gd name="connsiteX2" fmla="*/ 1139613 w 10256520"/>
              <a:gd name="connsiteY2" fmla="*/ 0 h 1310046"/>
              <a:gd name="connsiteX3" fmla="*/ 1709420 w 10256520"/>
              <a:gd name="connsiteY3" fmla="*/ 0 h 1310046"/>
              <a:gd name="connsiteX4" fmla="*/ 2176661 w 10256520"/>
              <a:gd name="connsiteY4" fmla="*/ 0 h 1310046"/>
              <a:gd name="connsiteX5" fmla="*/ 2541338 w 10256520"/>
              <a:gd name="connsiteY5" fmla="*/ 0 h 1310046"/>
              <a:gd name="connsiteX6" fmla="*/ 3008579 w 10256520"/>
              <a:gd name="connsiteY6" fmla="*/ 0 h 1310046"/>
              <a:gd name="connsiteX7" fmla="*/ 3475821 w 10256520"/>
              <a:gd name="connsiteY7" fmla="*/ 0 h 1310046"/>
              <a:gd name="connsiteX8" fmla="*/ 3737932 w 10256520"/>
              <a:gd name="connsiteY8" fmla="*/ 0 h 1310046"/>
              <a:gd name="connsiteX9" fmla="*/ 4512869 w 10256520"/>
              <a:gd name="connsiteY9" fmla="*/ 0 h 1310046"/>
              <a:gd name="connsiteX10" fmla="*/ 5185241 w 10256520"/>
              <a:gd name="connsiteY10" fmla="*/ 0 h 1310046"/>
              <a:gd name="connsiteX11" fmla="*/ 5857613 w 10256520"/>
              <a:gd name="connsiteY11" fmla="*/ 0 h 1310046"/>
              <a:gd name="connsiteX12" fmla="*/ 6119724 w 10256520"/>
              <a:gd name="connsiteY12" fmla="*/ 0 h 1310046"/>
              <a:gd name="connsiteX13" fmla="*/ 6381835 w 10256520"/>
              <a:gd name="connsiteY13" fmla="*/ 0 h 1310046"/>
              <a:gd name="connsiteX14" fmla="*/ 6746511 w 10256520"/>
              <a:gd name="connsiteY14" fmla="*/ 0 h 1310046"/>
              <a:gd name="connsiteX15" fmla="*/ 7316318 w 10256520"/>
              <a:gd name="connsiteY15" fmla="*/ 0 h 1310046"/>
              <a:gd name="connsiteX16" fmla="*/ 7680994 w 10256520"/>
              <a:gd name="connsiteY16" fmla="*/ 0 h 1310046"/>
              <a:gd name="connsiteX17" fmla="*/ 8045670 w 10256520"/>
              <a:gd name="connsiteY17" fmla="*/ 0 h 1310046"/>
              <a:gd name="connsiteX18" fmla="*/ 8512912 w 10256520"/>
              <a:gd name="connsiteY18" fmla="*/ 0 h 1310046"/>
              <a:gd name="connsiteX19" fmla="*/ 9082718 w 10256520"/>
              <a:gd name="connsiteY19" fmla="*/ 0 h 1310046"/>
              <a:gd name="connsiteX20" fmla="*/ 9755090 w 10256520"/>
              <a:gd name="connsiteY20" fmla="*/ 0 h 1310046"/>
              <a:gd name="connsiteX21" fmla="*/ 10256520 w 10256520"/>
              <a:gd name="connsiteY21" fmla="*/ 0 h 1310046"/>
              <a:gd name="connsiteX22" fmla="*/ 10256520 w 10256520"/>
              <a:gd name="connsiteY22" fmla="*/ 397381 h 1310046"/>
              <a:gd name="connsiteX23" fmla="*/ 10256520 w 10256520"/>
              <a:gd name="connsiteY23" fmla="*/ 807862 h 1310046"/>
              <a:gd name="connsiteX24" fmla="*/ 10256520 w 10256520"/>
              <a:gd name="connsiteY24" fmla="*/ 1310046 h 1310046"/>
              <a:gd name="connsiteX25" fmla="*/ 9891844 w 10256520"/>
              <a:gd name="connsiteY25" fmla="*/ 1310046 h 1310046"/>
              <a:gd name="connsiteX26" fmla="*/ 9424602 w 10256520"/>
              <a:gd name="connsiteY26" fmla="*/ 1310046 h 1310046"/>
              <a:gd name="connsiteX27" fmla="*/ 8649665 w 10256520"/>
              <a:gd name="connsiteY27" fmla="*/ 1310046 h 1310046"/>
              <a:gd name="connsiteX28" fmla="*/ 8284989 w 10256520"/>
              <a:gd name="connsiteY28" fmla="*/ 1310046 h 1310046"/>
              <a:gd name="connsiteX29" fmla="*/ 7817747 w 10256520"/>
              <a:gd name="connsiteY29" fmla="*/ 1310046 h 1310046"/>
              <a:gd name="connsiteX30" fmla="*/ 7555636 w 10256520"/>
              <a:gd name="connsiteY30" fmla="*/ 1310046 h 1310046"/>
              <a:gd name="connsiteX31" fmla="*/ 7293525 w 10256520"/>
              <a:gd name="connsiteY31" fmla="*/ 1310046 h 1310046"/>
              <a:gd name="connsiteX32" fmla="*/ 6826284 w 10256520"/>
              <a:gd name="connsiteY32" fmla="*/ 1310046 h 1310046"/>
              <a:gd name="connsiteX33" fmla="*/ 6051347 w 10256520"/>
              <a:gd name="connsiteY33" fmla="*/ 1310046 h 1310046"/>
              <a:gd name="connsiteX34" fmla="*/ 5276410 w 10256520"/>
              <a:gd name="connsiteY34" fmla="*/ 1310046 h 1310046"/>
              <a:gd name="connsiteX35" fmla="*/ 5014299 w 10256520"/>
              <a:gd name="connsiteY35" fmla="*/ 1310046 h 1310046"/>
              <a:gd name="connsiteX36" fmla="*/ 4649622 w 10256520"/>
              <a:gd name="connsiteY36" fmla="*/ 1310046 h 1310046"/>
              <a:gd name="connsiteX37" fmla="*/ 3977251 w 10256520"/>
              <a:gd name="connsiteY37" fmla="*/ 1310046 h 1310046"/>
              <a:gd name="connsiteX38" fmla="*/ 3612574 w 10256520"/>
              <a:gd name="connsiteY38" fmla="*/ 1310046 h 1310046"/>
              <a:gd name="connsiteX39" fmla="*/ 3247898 w 10256520"/>
              <a:gd name="connsiteY39" fmla="*/ 1310046 h 1310046"/>
              <a:gd name="connsiteX40" fmla="*/ 2575526 w 10256520"/>
              <a:gd name="connsiteY40" fmla="*/ 1310046 h 1310046"/>
              <a:gd name="connsiteX41" fmla="*/ 1800589 w 10256520"/>
              <a:gd name="connsiteY41" fmla="*/ 1310046 h 1310046"/>
              <a:gd name="connsiteX42" fmla="*/ 1230782 w 10256520"/>
              <a:gd name="connsiteY42" fmla="*/ 1310046 h 1310046"/>
              <a:gd name="connsiteX43" fmla="*/ 660976 w 10256520"/>
              <a:gd name="connsiteY43" fmla="*/ 1310046 h 1310046"/>
              <a:gd name="connsiteX44" fmla="*/ 0 w 10256520"/>
              <a:gd name="connsiteY44" fmla="*/ 1310046 h 1310046"/>
              <a:gd name="connsiteX45" fmla="*/ 0 w 10256520"/>
              <a:gd name="connsiteY45" fmla="*/ 886464 h 1310046"/>
              <a:gd name="connsiteX46" fmla="*/ 0 w 10256520"/>
              <a:gd name="connsiteY46" fmla="*/ 423582 h 1310046"/>
              <a:gd name="connsiteX47" fmla="*/ 0 w 10256520"/>
              <a:gd name="connsiteY47" fmla="*/ 0 h 13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0256520" h="1310046" extrusionOk="0">
                <a:moveTo>
                  <a:pt x="0" y="0"/>
                </a:moveTo>
                <a:cubicBezTo>
                  <a:pt x="99920" y="-10215"/>
                  <a:pt x="287631" y="43168"/>
                  <a:pt x="467241" y="0"/>
                </a:cubicBezTo>
                <a:cubicBezTo>
                  <a:pt x="646851" y="-43168"/>
                  <a:pt x="804349" y="45908"/>
                  <a:pt x="1139613" y="0"/>
                </a:cubicBezTo>
                <a:cubicBezTo>
                  <a:pt x="1474877" y="-45908"/>
                  <a:pt x="1508947" y="60700"/>
                  <a:pt x="1709420" y="0"/>
                </a:cubicBezTo>
                <a:cubicBezTo>
                  <a:pt x="1909893" y="-60700"/>
                  <a:pt x="2069233" y="30827"/>
                  <a:pt x="2176661" y="0"/>
                </a:cubicBezTo>
                <a:cubicBezTo>
                  <a:pt x="2284089" y="-30827"/>
                  <a:pt x="2420989" y="6197"/>
                  <a:pt x="2541338" y="0"/>
                </a:cubicBezTo>
                <a:cubicBezTo>
                  <a:pt x="2661687" y="-6197"/>
                  <a:pt x="2813373" y="33638"/>
                  <a:pt x="3008579" y="0"/>
                </a:cubicBezTo>
                <a:cubicBezTo>
                  <a:pt x="3203785" y="-33638"/>
                  <a:pt x="3242318" y="42443"/>
                  <a:pt x="3475821" y="0"/>
                </a:cubicBezTo>
                <a:cubicBezTo>
                  <a:pt x="3709324" y="-42443"/>
                  <a:pt x="3685404" y="1484"/>
                  <a:pt x="3737932" y="0"/>
                </a:cubicBezTo>
                <a:cubicBezTo>
                  <a:pt x="3790460" y="-1484"/>
                  <a:pt x="4180497" y="51962"/>
                  <a:pt x="4512869" y="0"/>
                </a:cubicBezTo>
                <a:cubicBezTo>
                  <a:pt x="4845241" y="-51962"/>
                  <a:pt x="4869612" y="12120"/>
                  <a:pt x="5185241" y="0"/>
                </a:cubicBezTo>
                <a:cubicBezTo>
                  <a:pt x="5500870" y="-12120"/>
                  <a:pt x="5570451" y="42916"/>
                  <a:pt x="5857613" y="0"/>
                </a:cubicBezTo>
                <a:cubicBezTo>
                  <a:pt x="6144775" y="-42916"/>
                  <a:pt x="6014177" y="24700"/>
                  <a:pt x="6119724" y="0"/>
                </a:cubicBezTo>
                <a:cubicBezTo>
                  <a:pt x="6225271" y="-24700"/>
                  <a:pt x="6324843" y="29348"/>
                  <a:pt x="6381835" y="0"/>
                </a:cubicBezTo>
                <a:cubicBezTo>
                  <a:pt x="6438827" y="-29348"/>
                  <a:pt x="6618656" y="34731"/>
                  <a:pt x="6746511" y="0"/>
                </a:cubicBezTo>
                <a:cubicBezTo>
                  <a:pt x="6874366" y="-34731"/>
                  <a:pt x="7149245" y="15384"/>
                  <a:pt x="7316318" y="0"/>
                </a:cubicBezTo>
                <a:cubicBezTo>
                  <a:pt x="7483391" y="-15384"/>
                  <a:pt x="7602302" y="39612"/>
                  <a:pt x="7680994" y="0"/>
                </a:cubicBezTo>
                <a:cubicBezTo>
                  <a:pt x="7759686" y="-39612"/>
                  <a:pt x="7940935" y="4495"/>
                  <a:pt x="8045670" y="0"/>
                </a:cubicBezTo>
                <a:cubicBezTo>
                  <a:pt x="8150405" y="-4495"/>
                  <a:pt x="8317279" y="37094"/>
                  <a:pt x="8512912" y="0"/>
                </a:cubicBezTo>
                <a:cubicBezTo>
                  <a:pt x="8708545" y="-37094"/>
                  <a:pt x="8890659" y="4187"/>
                  <a:pt x="9082718" y="0"/>
                </a:cubicBezTo>
                <a:cubicBezTo>
                  <a:pt x="9274777" y="-4187"/>
                  <a:pt x="9592989" y="76456"/>
                  <a:pt x="9755090" y="0"/>
                </a:cubicBezTo>
                <a:cubicBezTo>
                  <a:pt x="9917191" y="-76456"/>
                  <a:pt x="10011673" y="27328"/>
                  <a:pt x="10256520" y="0"/>
                </a:cubicBezTo>
                <a:cubicBezTo>
                  <a:pt x="10274395" y="132074"/>
                  <a:pt x="10220726" y="284362"/>
                  <a:pt x="10256520" y="397381"/>
                </a:cubicBezTo>
                <a:cubicBezTo>
                  <a:pt x="10292314" y="510400"/>
                  <a:pt x="10226411" y="673124"/>
                  <a:pt x="10256520" y="807862"/>
                </a:cubicBezTo>
                <a:cubicBezTo>
                  <a:pt x="10286629" y="942600"/>
                  <a:pt x="10230055" y="1095330"/>
                  <a:pt x="10256520" y="1310046"/>
                </a:cubicBezTo>
                <a:cubicBezTo>
                  <a:pt x="10080197" y="1335221"/>
                  <a:pt x="10042654" y="1285681"/>
                  <a:pt x="9891844" y="1310046"/>
                </a:cubicBezTo>
                <a:cubicBezTo>
                  <a:pt x="9741034" y="1334411"/>
                  <a:pt x="9553086" y="1282880"/>
                  <a:pt x="9424602" y="1310046"/>
                </a:cubicBezTo>
                <a:cubicBezTo>
                  <a:pt x="9296118" y="1337212"/>
                  <a:pt x="8944290" y="1225124"/>
                  <a:pt x="8649665" y="1310046"/>
                </a:cubicBezTo>
                <a:cubicBezTo>
                  <a:pt x="8355040" y="1394968"/>
                  <a:pt x="8425405" y="1290017"/>
                  <a:pt x="8284989" y="1310046"/>
                </a:cubicBezTo>
                <a:cubicBezTo>
                  <a:pt x="8144573" y="1330075"/>
                  <a:pt x="7966877" y="1296297"/>
                  <a:pt x="7817747" y="1310046"/>
                </a:cubicBezTo>
                <a:cubicBezTo>
                  <a:pt x="7668617" y="1323795"/>
                  <a:pt x="7620096" y="1294254"/>
                  <a:pt x="7555636" y="1310046"/>
                </a:cubicBezTo>
                <a:cubicBezTo>
                  <a:pt x="7491176" y="1325838"/>
                  <a:pt x="7418609" y="1295648"/>
                  <a:pt x="7293525" y="1310046"/>
                </a:cubicBezTo>
                <a:cubicBezTo>
                  <a:pt x="7168441" y="1324444"/>
                  <a:pt x="6996471" y="1261240"/>
                  <a:pt x="6826284" y="1310046"/>
                </a:cubicBezTo>
                <a:cubicBezTo>
                  <a:pt x="6656097" y="1358852"/>
                  <a:pt x="6268018" y="1238716"/>
                  <a:pt x="6051347" y="1310046"/>
                </a:cubicBezTo>
                <a:cubicBezTo>
                  <a:pt x="5834676" y="1381376"/>
                  <a:pt x="5444031" y="1274696"/>
                  <a:pt x="5276410" y="1310046"/>
                </a:cubicBezTo>
                <a:cubicBezTo>
                  <a:pt x="5108789" y="1345396"/>
                  <a:pt x="5087699" y="1302001"/>
                  <a:pt x="5014299" y="1310046"/>
                </a:cubicBezTo>
                <a:cubicBezTo>
                  <a:pt x="4940899" y="1318091"/>
                  <a:pt x="4790550" y="1282651"/>
                  <a:pt x="4649622" y="1310046"/>
                </a:cubicBezTo>
                <a:cubicBezTo>
                  <a:pt x="4508694" y="1337441"/>
                  <a:pt x="4185007" y="1299439"/>
                  <a:pt x="3977251" y="1310046"/>
                </a:cubicBezTo>
                <a:cubicBezTo>
                  <a:pt x="3769495" y="1320653"/>
                  <a:pt x="3718057" y="1276487"/>
                  <a:pt x="3612574" y="1310046"/>
                </a:cubicBezTo>
                <a:cubicBezTo>
                  <a:pt x="3507091" y="1343605"/>
                  <a:pt x="3387440" y="1296676"/>
                  <a:pt x="3247898" y="1310046"/>
                </a:cubicBezTo>
                <a:cubicBezTo>
                  <a:pt x="3108356" y="1323416"/>
                  <a:pt x="2857005" y="1280139"/>
                  <a:pt x="2575526" y="1310046"/>
                </a:cubicBezTo>
                <a:cubicBezTo>
                  <a:pt x="2294047" y="1339953"/>
                  <a:pt x="2085990" y="1249990"/>
                  <a:pt x="1800589" y="1310046"/>
                </a:cubicBezTo>
                <a:cubicBezTo>
                  <a:pt x="1515188" y="1370102"/>
                  <a:pt x="1510418" y="1277069"/>
                  <a:pt x="1230782" y="1310046"/>
                </a:cubicBezTo>
                <a:cubicBezTo>
                  <a:pt x="951146" y="1343023"/>
                  <a:pt x="902008" y="1258853"/>
                  <a:pt x="660976" y="1310046"/>
                </a:cubicBezTo>
                <a:cubicBezTo>
                  <a:pt x="419944" y="1361239"/>
                  <a:pt x="247881" y="1241302"/>
                  <a:pt x="0" y="1310046"/>
                </a:cubicBezTo>
                <a:cubicBezTo>
                  <a:pt x="-31368" y="1132671"/>
                  <a:pt x="27137" y="1028338"/>
                  <a:pt x="0" y="886464"/>
                </a:cubicBezTo>
                <a:cubicBezTo>
                  <a:pt x="-27137" y="744590"/>
                  <a:pt x="10633" y="595389"/>
                  <a:pt x="0" y="423582"/>
                </a:cubicBezTo>
                <a:cubicBezTo>
                  <a:pt x="-10633" y="251775"/>
                  <a:pt x="32298" y="113624"/>
                  <a:pt x="0" y="0"/>
                </a:cubicBezTo>
                <a:close/>
              </a:path>
            </a:pathLst>
          </a:custGeom>
          <a:noFill/>
          <a:ln w="28575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305600870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7866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D900C1A-A2B0-465F-AA8D-FA79F3F9EBBB}"/>
              </a:ext>
            </a:extLst>
          </p:cNvPr>
          <p:cNvSpPr txBox="1"/>
          <p:nvPr/>
        </p:nvSpPr>
        <p:spPr>
          <a:xfrm>
            <a:off x="106680" y="0"/>
            <a:ext cx="28041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400" b="1" dirty="0">
                <a:solidFill>
                  <a:srgbClr val="7030A0"/>
                </a:solidFill>
              </a:rPr>
              <a:t>Activité 1 :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5707999-91D6-463E-8AF0-09E402F08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898706"/>
            <a:ext cx="7391400" cy="27212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732BFFFC-B298-4D08-9DC2-310955312DD4}"/>
              </a:ext>
            </a:extLst>
          </p:cNvPr>
          <p:cNvSpPr txBox="1"/>
          <p:nvPr/>
        </p:nvSpPr>
        <p:spPr>
          <a:xfrm>
            <a:off x="3013710" y="3914908"/>
            <a:ext cx="61645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b="1" dirty="0">
                <a:latin typeface="Bahnschrift" panose="020B0502040204020203" pitchFamily="34" charset="0"/>
              </a:rPr>
              <a:t>750g = 200g + x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F957515-B170-4954-A9D1-89D7333B3075}"/>
              </a:ext>
            </a:extLst>
          </p:cNvPr>
          <p:cNvSpPr txBox="1"/>
          <p:nvPr/>
        </p:nvSpPr>
        <p:spPr>
          <a:xfrm>
            <a:off x="389022" y="5324350"/>
            <a:ext cx="6168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2) Donner la valeur de 𝑥 </a:t>
            </a:r>
          </a:p>
        </p:txBody>
      </p:sp>
      <p:sp>
        <p:nvSpPr>
          <p:cNvPr id="2" name="Bouton d'action : Document 1">
            <a:hlinkClick r:id="rId3" action="ppaction://hlinkfile" highlightClick="1"/>
            <a:extLst>
              <a:ext uri="{FF2B5EF4-FFF2-40B4-BE49-F238E27FC236}">
                <a16:creationId xmlns:a16="http://schemas.microsoft.com/office/drawing/2014/main" id="{706098DB-F494-4C59-B9C1-0DD52E3EB273}"/>
              </a:ext>
            </a:extLst>
          </p:cNvPr>
          <p:cNvSpPr/>
          <p:nvPr/>
        </p:nvSpPr>
        <p:spPr>
          <a:xfrm>
            <a:off x="10805160" y="5501640"/>
            <a:ext cx="1386840" cy="1356360"/>
          </a:xfrm>
          <a:prstGeom prst="actionButtonDocumen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9530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0D70074-2B89-4356-B6DD-44F4DF05B63B}"/>
              </a:ext>
            </a:extLst>
          </p:cNvPr>
          <p:cNvSpPr/>
          <p:nvPr/>
        </p:nvSpPr>
        <p:spPr>
          <a:xfrm>
            <a:off x="1234438" y="856297"/>
            <a:ext cx="9444991" cy="2501499"/>
          </a:xfrm>
          <a:custGeom>
            <a:avLst/>
            <a:gdLst>
              <a:gd name="connsiteX0" fmla="*/ 0 w 9444991"/>
              <a:gd name="connsiteY0" fmla="*/ 0 h 2501499"/>
              <a:gd name="connsiteX1" fmla="*/ 495862 w 9444991"/>
              <a:gd name="connsiteY1" fmla="*/ 0 h 2501499"/>
              <a:gd name="connsiteX2" fmla="*/ 1180624 w 9444991"/>
              <a:gd name="connsiteY2" fmla="*/ 0 h 2501499"/>
              <a:gd name="connsiteX3" fmla="*/ 1770936 w 9444991"/>
              <a:gd name="connsiteY3" fmla="*/ 0 h 2501499"/>
              <a:gd name="connsiteX4" fmla="*/ 2266798 w 9444991"/>
              <a:gd name="connsiteY4" fmla="*/ 0 h 2501499"/>
              <a:gd name="connsiteX5" fmla="*/ 2668210 w 9444991"/>
              <a:gd name="connsiteY5" fmla="*/ 0 h 2501499"/>
              <a:gd name="connsiteX6" fmla="*/ 3164072 w 9444991"/>
              <a:gd name="connsiteY6" fmla="*/ 0 h 2501499"/>
              <a:gd name="connsiteX7" fmla="*/ 3659934 w 9444991"/>
              <a:gd name="connsiteY7" fmla="*/ 0 h 2501499"/>
              <a:gd name="connsiteX8" fmla="*/ 3966896 w 9444991"/>
              <a:gd name="connsiteY8" fmla="*/ 0 h 2501499"/>
              <a:gd name="connsiteX9" fmla="*/ 4746108 w 9444991"/>
              <a:gd name="connsiteY9" fmla="*/ 0 h 2501499"/>
              <a:gd name="connsiteX10" fmla="*/ 5430870 w 9444991"/>
              <a:gd name="connsiteY10" fmla="*/ 0 h 2501499"/>
              <a:gd name="connsiteX11" fmla="*/ 6115632 w 9444991"/>
              <a:gd name="connsiteY11" fmla="*/ 0 h 2501499"/>
              <a:gd name="connsiteX12" fmla="*/ 6422594 w 9444991"/>
              <a:gd name="connsiteY12" fmla="*/ 0 h 2501499"/>
              <a:gd name="connsiteX13" fmla="*/ 6729556 w 9444991"/>
              <a:gd name="connsiteY13" fmla="*/ 0 h 2501499"/>
              <a:gd name="connsiteX14" fmla="*/ 7130968 w 9444991"/>
              <a:gd name="connsiteY14" fmla="*/ 0 h 2501499"/>
              <a:gd name="connsiteX15" fmla="*/ 7721280 w 9444991"/>
              <a:gd name="connsiteY15" fmla="*/ 0 h 2501499"/>
              <a:gd name="connsiteX16" fmla="*/ 8122692 w 9444991"/>
              <a:gd name="connsiteY16" fmla="*/ 0 h 2501499"/>
              <a:gd name="connsiteX17" fmla="*/ 8524104 w 9444991"/>
              <a:gd name="connsiteY17" fmla="*/ 0 h 2501499"/>
              <a:gd name="connsiteX18" fmla="*/ 9444991 w 9444991"/>
              <a:gd name="connsiteY18" fmla="*/ 0 h 2501499"/>
              <a:gd name="connsiteX19" fmla="*/ 9444991 w 9444991"/>
              <a:gd name="connsiteY19" fmla="*/ 500300 h 2501499"/>
              <a:gd name="connsiteX20" fmla="*/ 9444991 w 9444991"/>
              <a:gd name="connsiteY20" fmla="*/ 1025615 h 2501499"/>
              <a:gd name="connsiteX21" fmla="*/ 9444991 w 9444991"/>
              <a:gd name="connsiteY21" fmla="*/ 1575944 h 2501499"/>
              <a:gd name="connsiteX22" fmla="*/ 9444991 w 9444991"/>
              <a:gd name="connsiteY22" fmla="*/ 2501499 h 2501499"/>
              <a:gd name="connsiteX23" fmla="*/ 9043579 w 9444991"/>
              <a:gd name="connsiteY23" fmla="*/ 2501499 h 2501499"/>
              <a:gd name="connsiteX24" fmla="*/ 8358817 w 9444991"/>
              <a:gd name="connsiteY24" fmla="*/ 2501499 h 2501499"/>
              <a:gd name="connsiteX25" fmla="*/ 7862955 w 9444991"/>
              <a:gd name="connsiteY25" fmla="*/ 2501499 h 2501499"/>
              <a:gd name="connsiteX26" fmla="*/ 7367093 w 9444991"/>
              <a:gd name="connsiteY26" fmla="*/ 2501499 h 2501499"/>
              <a:gd name="connsiteX27" fmla="*/ 6587881 w 9444991"/>
              <a:gd name="connsiteY27" fmla="*/ 2501499 h 2501499"/>
              <a:gd name="connsiteX28" fmla="*/ 6186469 w 9444991"/>
              <a:gd name="connsiteY28" fmla="*/ 2501499 h 2501499"/>
              <a:gd name="connsiteX29" fmla="*/ 5690607 w 9444991"/>
              <a:gd name="connsiteY29" fmla="*/ 2501499 h 2501499"/>
              <a:gd name="connsiteX30" fmla="*/ 5383645 w 9444991"/>
              <a:gd name="connsiteY30" fmla="*/ 2501499 h 2501499"/>
              <a:gd name="connsiteX31" fmla="*/ 5076683 w 9444991"/>
              <a:gd name="connsiteY31" fmla="*/ 2501499 h 2501499"/>
              <a:gd name="connsiteX32" fmla="*/ 4580821 w 9444991"/>
              <a:gd name="connsiteY32" fmla="*/ 2501499 h 2501499"/>
              <a:gd name="connsiteX33" fmla="*/ 3801609 w 9444991"/>
              <a:gd name="connsiteY33" fmla="*/ 2501499 h 2501499"/>
              <a:gd name="connsiteX34" fmla="*/ 3022397 w 9444991"/>
              <a:gd name="connsiteY34" fmla="*/ 2501499 h 2501499"/>
              <a:gd name="connsiteX35" fmla="*/ 2715435 w 9444991"/>
              <a:gd name="connsiteY35" fmla="*/ 2501499 h 2501499"/>
              <a:gd name="connsiteX36" fmla="*/ 2314023 w 9444991"/>
              <a:gd name="connsiteY36" fmla="*/ 2501499 h 2501499"/>
              <a:gd name="connsiteX37" fmla="*/ 1629261 w 9444991"/>
              <a:gd name="connsiteY37" fmla="*/ 2501499 h 2501499"/>
              <a:gd name="connsiteX38" fmla="*/ 1227849 w 9444991"/>
              <a:gd name="connsiteY38" fmla="*/ 2501499 h 2501499"/>
              <a:gd name="connsiteX39" fmla="*/ 826437 w 9444991"/>
              <a:gd name="connsiteY39" fmla="*/ 2501499 h 2501499"/>
              <a:gd name="connsiteX40" fmla="*/ 0 w 9444991"/>
              <a:gd name="connsiteY40" fmla="*/ 2501499 h 2501499"/>
              <a:gd name="connsiteX41" fmla="*/ 0 w 9444991"/>
              <a:gd name="connsiteY41" fmla="*/ 1951169 h 2501499"/>
              <a:gd name="connsiteX42" fmla="*/ 0 w 9444991"/>
              <a:gd name="connsiteY42" fmla="*/ 1400839 h 2501499"/>
              <a:gd name="connsiteX43" fmla="*/ 0 w 9444991"/>
              <a:gd name="connsiteY43" fmla="*/ 925555 h 2501499"/>
              <a:gd name="connsiteX44" fmla="*/ 0 w 9444991"/>
              <a:gd name="connsiteY44" fmla="*/ 450270 h 2501499"/>
              <a:gd name="connsiteX45" fmla="*/ 0 w 9444991"/>
              <a:gd name="connsiteY45" fmla="*/ 0 h 2501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9444991" h="2501499" extrusionOk="0">
                <a:moveTo>
                  <a:pt x="0" y="0"/>
                </a:moveTo>
                <a:cubicBezTo>
                  <a:pt x="238138" y="-18817"/>
                  <a:pt x="337721" y="58197"/>
                  <a:pt x="495862" y="0"/>
                </a:cubicBezTo>
                <a:cubicBezTo>
                  <a:pt x="654003" y="-58197"/>
                  <a:pt x="978836" y="62020"/>
                  <a:pt x="1180624" y="0"/>
                </a:cubicBezTo>
                <a:cubicBezTo>
                  <a:pt x="1382412" y="-62020"/>
                  <a:pt x="1579525" y="10101"/>
                  <a:pt x="1770936" y="0"/>
                </a:cubicBezTo>
                <a:cubicBezTo>
                  <a:pt x="1962347" y="-10101"/>
                  <a:pt x="2048441" y="53111"/>
                  <a:pt x="2266798" y="0"/>
                </a:cubicBezTo>
                <a:cubicBezTo>
                  <a:pt x="2485155" y="-53111"/>
                  <a:pt x="2493202" y="20141"/>
                  <a:pt x="2668210" y="0"/>
                </a:cubicBezTo>
                <a:cubicBezTo>
                  <a:pt x="2843218" y="-20141"/>
                  <a:pt x="3003381" y="14407"/>
                  <a:pt x="3164072" y="0"/>
                </a:cubicBezTo>
                <a:cubicBezTo>
                  <a:pt x="3324763" y="-14407"/>
                  <a:pt x="3510393" y="42899"/>
                  <a:pt x="3659934" y="0"/>
                </a:cubicBezTo>
                <a:cubicBezTo>
                  <a:pt x="3809475" y="-42899"/>
                  <a:pt x="3849137" y="8505"/>
                  <a:pt x="3966896" y="0"/>
                </a:cubicBezTo>
                <a:cubicBezTo>
                  <a:pt x="4084655" y="-8505"/>
                  <a:pt x="4561765" y="7588"/>
                  <a:pt x="4746108" y="0"/>
                </a:cubicBezTo>
                <a:cubicBezTo>
                  <a:pt x="4930451" y="-7588"/>
                  <a:pt x="5216935" y="20901"/>
                  <a:pt x="5430870" y="0"/>
                </a:cubicBezTo>
                <a:cubicBezTo>
                  <a:pt x="5644805" y="-20901"/>
                  <a:pt x="5860905" y="37261"/>
                  <a:pt x="6115632" y="0"/>
                </a:cubicBezTo>
                <a:cubicBezTo>
                  <a:pt x="6370359" y="-37261"/>
                  <a:pt x="6270127" y="34370"/>
                  <a:pt x="6422594" y="0"/>
                </a:cubicBezTo>
                <a:cubicBezTo>
                  <a:pt x="6575061" y="-34370"/>
                  <a:pt x="6650197" y="11765"/>
                  <a:pt x="6729556" y="0"/>
                </a:cubicBezTo>
                <a:cubicBezTo>
                  <a:pt x="6808915" y="-11765"/>
                  <a:pt x="7048505" y="12070"/>
                  <a:pt x="7130968" y="0"/>
                </a:cubicBezTo>
                <a:cubicBezTo>
                  <a:pt x="7213431" y="-12070"/>
                  <a:pt x="7569134" y="10287"/>
                  <a:pt x="7721280" y="0"/>
                </a:cubicBezTo>
                <a:cubicBezTo>
                  <a:pt x="7873426" y="-10287"/>
                  <a:pt x="8018086" y="29956"/>
                  <a:pt x="8122692" y="0"/>
                </a:cubicBezTo>
                <a:cubicBezTo>
                  <a:pt x="8227298" y="-29956"/>
                  <a:pt x="8324848" y="17640"/>
                  <a:pt x="8524104" y="0"/>
                </a:cubicBezTo>
                <a:cubicBezTo>
                  <a:pt x="8723360" y="-17640"/>
                  <a:pt x="9235603" y="30570"/>
                  <a:pt x="9444991" y="0"/>
                </a:cubicBezTo>
                <a:cubicBezTo>
                  <a:pt x="9467496" y="164077"/>
                  <a:pt x="9426771" y="367873"/>
                  <a:pt x="9444991" y="500300"/>
                </a:cubicBezTo>
                <a:cubicBezTo>
                  <a:pt x="9463211" y="632727"/>
                  <a:pt x="9412559" y="878676"/>
                  <a:pt x="9444991" y="1025615"/>
                </a:cubicBezTo>
                <a:cubicBezTo>
                  <a:pt x="9477423" y="1172555"/>
                  <a:pt x="9425945" y="1383115"/>
                  <a:pt x="9444991" y="1575944"/>
                </a:cubicBezTo>
                <a:cubicBezTo>
                  <a:pt x="9464037" y="1768773"/>
                  <a:pt x="9363888" y="2095648"/>
                  <a:pt x="9444991" y="2501499"/>
                </a:cubicBezTo>
                <a:cubicBezTo>
                  <a:pt x="9342322" y="2524689"/>
                  <a:pt x="9241496" y="2480716"/>
                  <a:pt x="9043579" y="2501499"/>
                </a:cubicBezTo>
                <a:cubicBezTo>
                  <a:pt x="8845662" y="2522282"/>
                  <a:pt x="8566669" y="2473839"/>
                  <a:pt x="8358817" y="2501499"/>
                </a:cubicBezTo>
                <a:cubicBezTo>
                  <a:pt x="8150965" y="2529159"/>
                  <a:pt x="8063218" y="2455903"/>
                  <a:pt x="7862955" y="2501499"/>
                </a:cubicBezTo>
                <a:cubicBezTo>
                  <a:pt x="7662692" y="2547095"/>
                  <a:pt x="7520172" y="2483587"/>
                  <a:pt x="7367093" y="2501499"/>
                </a:cubicBezTo>
                <a:cubicBezTo>
                  <a:pt x="7214014" y="2519411"/>
                  <a:pt x="6961597" y="2451631"/>
                  <a:pt x="6587881" y="2501499"/>
                </a:cubicBezTo>
                <a:cubicBezTo>
                  <a:pt x="6214165" y="2551367"/>
                  <a:pt x="6293132" y="2487311"/>
                  <a:pt x="6186469" y="2501499"/>
                </a:cubicBezTo>
                <a:cubicBezTo>
                  <a:pt x="6079806" y="2515687"/>
                  <a:pt x="5844308" y="2454051"/>
                  <a:pt x="5690607" y="2501499"/>
                </a:cubicBezTo>
                <a:cubicBezTo>
                  <a:pt x="5536906" y="2548947"/>
                  <a:pt x="5483143" y="2497381"/>
                  <a:pt x="5383645" y="2501499"/>
                </a:cubicBezTo>
                <a:cubicBezTo>
                  <a:pt x="5284147" y="2505617"/>
                  <a:pt x="5206582" y="2487369"/>
                  <a:pt x="5076683" y="2501499"/>
                </a:cubicBezTo>
                <a:cubicBezTo>
                  <a:pt x="4946784" y="2515629"/>
                  <a:pt x="4757152" y="2459807"/>
                  <a:pt x="4580821" y="2501499"/>
                </a:cubicBezTo>
                <a:cubicBezTo>
                  <a:pt x="4404490" y="2543191"/>
                  <a:pt x="3969476" y="2494028"/>
                  <a:pt x="3801609" y="2501499"/>
                </a:cubicBezTo>
                <a:cubicBezTo>
                  <a:pt x="3633742" y="2508970"/>
                  <a:pt x="3192629" y="2423830"/>
                  <a:pt x="3022397" y="2501499"/>
                </a:cubicBezTo>
                <a:cubicBezTo>
                  <a:pt x="2852165" y="2579168"/>
                  <a:pt x="2841446" y="2486313"/>
                  <a:pt x="2715435" y="2501499"/>
                </a:cubicBezTo>
                <a:cubicBezTo>
                  <a:pt x="2589424" y="2516685"/>
                  <a:pt x="2514118" y="2453621"/>
                  <a:pt x="2314023" y="2501499"/>
                </a:cubicBezTo>
                <a:cubicBezTo>
                  <a:pt x="2113928" y="2549377"/>
                  <a:pt x="1944022" y="2493926"/>
                  <a:pt x="1629261" y="2501499"/>
                </a:cubicBezTo>
                <a:cubicBezTo>
                  <a:pt x="1314500" y="2509072"/>
                  <a:pt x="1369511" y="2487884"/>
                  <a:pt x="1227849" y="2501499"/>
                </a:cubicBezTo>
                <a:cubicBezTo>
                  <a:pt x="1086187" y="2515114"/>
                  <a:pt x="967743" y="2461252"/>
                  <a:pt x="826437" y="2501499"/>
                </a:cubicBezTo>
                <a:cubicBezTo>
                  <a:pt x="685131" y="2541746"/>
                  <a:pt x="173588" y="2470183"/>
                  <a:pt x="0" y="2501499"/>
                </a:cubicBezTo>
                <a:cubicBezTo>
                  <a:pt x="-39189" y="2251308"/>
                  <a:pt x="6998" y="2120857"/>
                  <a:pt x="0" y="1951169"/>
                </a:cubicBezTo>
                <a:cubicBezTo>
                  <a:pt x="-6998" y="1781481"/>
                  <a:pt x="57967" y="1648623"/>
                  <a:pt x="0" y="1400839"/>
                </a:cubicBezTo>
                <a:cubicBezTo>
                  <a:pt x="-57967" y="1153055"/>
                  <a:pt x="10722" y="1115140"/>
                  <a:pt x="0" y="925555"/>
                </a:cubicBezTo>
                <a:cubicBezTo>
                  <a:pt x="-10722" y="735970"/>
                  <a:pt x="35008" y="642901"/>
                  <a:pt x="0" y="450270"/>
                </a:cubicBezTo>
                <a:cubicBezTo>
                  <a:pt x="-35008" y="257640"/>
                  <a:pt x="33915" y="120749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accent6"/>
            </a:solidFill>
            <a:extLst>
              <a:ext uri="{C807C97D-BFC1-408E-A445-0C87EB9F89A2}">
                <ask:lineSketchStyleProps xmlns:ask="http://schemas.microsoft.com/office/drawing/2018/sketchyshapes" sd="305600870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5BC4189-478B-4E56-8EBD-56DE0B56A17F}"/>
              </a:ext>
            </a:extLst>
          </p:cNvPr>
          <p:cNvSpPr txBox="1"/>
          <p:nvPr/>
        </p:nvSpPr>
        <p:spPr>
          <a:xfrm>
            <a:off x="1373505" y="954926"/>
            <a:ext cx="944499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/>
              <a:t>Résoudre une équation à une inconnue, c'est </a:t>
            </a:r>
            <a:r>
              <a:rPr lang="fr-FR" sz="3200" b="1" dirty="0"/>
              <a:t>trouver les valeurs de l'inconnue pour lesquelles l'égalité est vraie. </a:t>
            </a:r>
          </a:p>
          <a:p>
            <a:r>
              <a:rPr lang="fr-FR" sz="3200" dirty="0"/>
              <a:t>Ces valeurs s'appellent solutions de l'équation.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5EDB242-E0BB-49C8-89AB-75B1663124EC}"/>
              </a:ext>
            </a:extLst>
          </p:cNvPr>
          <p:cNvSpPr txBox="1"/>
          <p:nvPr/>
        </p:nvSpPr>
        <p:spPr>
          <a:xfrm>
            <a:off x="159832" y="147550"/>
            <a:ext cx="94638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i="1" u="sng" dirty="0">
                <a:solidFill>
                  <a:schemeClr val="accent6"/>
                </a:solidFill>
              </a:rPr>
              <a:t>2. Résoudre une équation du premier degré à une inconnue :</a:t>
            </a:r>
          </a:p>
        </p:txBody>
      </p:sp>
    </p:spTree>
    <p:extLst>
      <p:ext uri="{BB962C8B-B14F-4D97-AF65-F5344CB8AC3E}">
        <p14:creationId xmlns:p14="http://schemas.microsoft.com/office/powerpoint/2010/main" val="3950001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0694BA70-7DB5-4697-9946-E8BD47D720B8}"/>
              </a:ext>
            </a:extLst>
          </p:cNvPr>
          <p:cNvSpPr txBox="1"/>
          <p:nvPr/>
        </p:nvSpPr>
        <p:spPr>
          <a:xfrm>
            <a:off x="0" y="0"/>
            <a:ext cx="1638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i="1" u="sng" dirty="0">
                <a:solidFill>
                  <a:srgbClr val="7030A0"/>
                </a:solidFill>
              </a:rPr>
              <a:t>Exemples </a:t>
            </a:r>
            <a:endParaRPr lang="fr-FR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9B988BF-EA96-44A4-96E7-97881A7DBCAF}"/>
              </a:ext>
            </a:extLst>
          </p:cNvPr>
          <p:cNvSpPr/>
          <p:nvPr/>
        </p:nvSpPr>
        <p:spPr>
          <a:xfrm>
            <a:off x="1508760" y="689738"/>
            <a:ext cx="3550451" cy="1893738"/>
          </a:xfrm>
          <a:custGeom>
            <a:avLst/>
            <a:gdLst>
              <a:gd name="connsiteX0" fmla="*/ 0 w 3550451"/>
              <a:gd name="connsiteY0" fmla="*/ 889489 h 1893738"/>
              <a:gd name="connsiteX1" fmla="*/ 889489 w 3550451"/>
              <a:gd name="connsiteY1" fmla="*/ 0 h 1893738"/>
              <a:gd name="connsiteX2" fmla="*/ 1497695 w 3550451"/>
              <a:gd name="connsiteY2" fmla="*/ 0 h 1893738"/>
              <a:gd name="connsiteX3" fmla="*/ 2105900 w 3550451"/>
              <a:gd name="connsiteY3" fmla="*/ 0 h 1893738"/>
              <a:gd name="connsiteX4" fmla="*/ 2660962 w 3550451"/>
              <a:gd name="connsiteY4" fmla="*/ 0 h 1893738"/>
              <a:gd name="connsiteX5" fmla="*/ 3550451 w 3550451"/>
              <a:gd name="connsiteY5" fmla="*/ 889489 h 1893738"/>
              <a:gd name="connsiteX6" fmla="*/ 3550451 w 3550451"/>
              <a:gd name="connsiteY6" fmla="*/ 1004249 h 1893738"/>
              <a:gd name="connsiteX7" fmla="*/ 2660962 w 3550451"/>
              <a:gd name="connsiteY7" fmla="*/ 1893738 h 1893738"/>
              <a:gd name="connsiteX8" fmla="*/ 2035042 w 3550451"/>
              <a:gd name="connsiteY8" fmla="*/ 1893738 h 1893738"/>
              <a:gd name="connsiteX9" fmla="*/ 1497695 w 3550451"/>
              <a:gd name="connsiteY9" fmla="*/ 1893738 h 1893738"/>
              <a:gd name="connsiteX10" fmla="*/ 889489 w 3550451"/>
              <a:gd name="connsiteY10" fmla="*/ 1893738 h 1893738"/>
              <a:gd name="connsiteX11" fmla="*/ 0 w 3550451"/>
              <a:gd name="connsiteY11" fmla="*/ 1004249 h 1893738"/>
              <a:gd name="connsiteX12" fmla="*/ 0 w 3550451"/>
              <a:gd name="connsiteY12" fmla="*/ 889489 h 1893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50451" h="1893738" fill="none" extrusionOk="0">
                <a:moveTo>
                  <a:pt x="0" y="889489"/>
                </a:moveTo>
                <a:cubicBezTo>
                  <a:pt x="10705" y="369706"/>
                  <a:pt x="370967" y="15485"/>
                  <a:pt x="889489" y="0"/>
                </a:cubicBezTo>
                <a:cubicBezTo>
                  <a:pt x="1175028" y="-37067"/>
                  <a:pt x="1238864" y="3945"/>
                  <a:pt x="1497695" y="0"/>
                </a:cubicBezTo>
                <a:cubicBezTo>
                  <a:pt x="1756526" y="-3945"/>
                  <a:pt x="1836895" y="67393"/>
                  <a:pt x="2105900" y="0"/>
                </a:cubicBezTo>
                <a:cubicBezTo>
                  <a:pt x="2374905" y="-67393"/>
                  <a:pt x="2390908" y="2538"/>
                  <a:pt x="2660962" y="0"/>
                </a:cubicBezTo>
                <a:cubicBezTo>
                  <a:pt x="3158946" y="95498"/>
                  <a:pt x="3627073" y="490836"/>
                  <a:pt x="3550451" y="889489"/>
                </a:cubicBezTo>
                <a:cubicBezTo>
                  <a:pt x="3561095" y="939474"/>
                  <a:pt x="3547858" y="980810"/>
                  <a:pt x="3550451" y="1004249"/>
                </a:cubicBezTo>
                <a:cubicBezTo>
                  <a:pt x="3501297" y="1436290"/>
                  <a:pt x="3264457" y="1956498"/>
                  <a:pt x="2660962" y="1893738"/>
                </a:cubicBezTo>
                <a:cubicBezTo>
                  <a:pt x="2368736" y="1964249"/>
                  <a:pt x="2286982" y="1840419"/>
                  <a:pt x="2035042" y="1893738"/>
                </a:cubicBezTo>
                <a:cubicBezTo>
                  <a:pt x="1783102" y="1947057"/>
                  <a:pt x="1729536" y="1836817"/>
                  <a:pt x="1497695" y="1893738"/>
                </a:cubicBezTo>
                <a:cubicBezTo>
                  <a:pt x="1265854" y="1950659"/>
                  <a:pt x="1050295" y="1852262"/>
                  <a:pt x="889489" y="1893738"/>
                </a:cubicBezTo>
                <a:cubicBezTo>
                  <a:pt x="313574" y="1892901"/>
                  <a:pt x="14493" y="1388926"/>
                  <a:pt x="0" y="1004249"/>
                </a:cubicBezTo>
                <a:cubicBezTo>
                  <a:pt x="-11425" y="962618"/>
                  <a:pt x="12282" y="937607"/>
                  <a:pt x="0" y="889489"/>
                </a:cubicBezTo>
                <a:close/>
              </a:path>
              <a:path w="3550451" h="1893738" stroke="0" extrusionOk="0">
                <a:moveTo>
                  <a:pt x="0" y="889489"/>
                </a:moveTo>
                <a:cubicBezTo>
                  <a:pt x="-58122" y="470619"/>
                  <a:pt x="394092" y="-59851"/>
                  <a:pt x="889489" y="0"/>
                </a:cubicBezTo>
                <a:cubicBezTo>
                  <a:pt x="1148602" y="-45789"/>
                  <a:pt x="1168023" y="66452"/>
                  <a:pt x="1444551" y="0"/>
                </a:cubicBezTo>
                <a:cubicBezTo>
                  <a:pt x="1721079" y="-66452"/>
                  <a:pt x="1901280" y="29571"/>
                  <a:pt x="2052756" y="0"/>
                </a:cubicBezTo>
                <a:cubicBezTo>
                  <a:pt x="2204233" y="-29571"/>
                  <a:pt x="2415059" y="57994"/>
                  <a:pt x="2660962" y="0"/>
                </a:cubicBezTo>
                <a:cubicBezTo>
                  <a:pt x="3064232" y="78620"/>
                  <a:pt x="3690576" y="418664"/>
                  <a:pt x="3550451" y="889489"/>
                </a:cubicBezTo>
                <a:cubicBezTo>
                  <a:pt x="3558726" y="915270"/>
                  <a:pt x="3549996" y="981099"/>
                  <a:pt x="3550451" y="1004249"/>
                </a:cubicBezTo>
                <a:cubicBezTo>
                  <a:pt x="3524239" y="1496289"/>
                  <a:pt x="3118792" y="1949578"/>
                  <a:pt x="2660962" y="1893738"/>
                </a:cubicBezTo>
                <a:cubicBezTo>
                  <a:pt x="2486969" y="1962387"/>
                  <a:pt x="2224854" y="1887842"/>
                  <a:pt x="2052756" y="1893738"/>
                </a:cubicBezTo>
                <a:cubicBezTo>
                  <a:pt x="1880658" y="1899634"/>
                  <a:pt x="1671415" y="1835466"/>
                  <a:pt x="1515409" y="1893738"/>
                </a:cubicBezTo>
                <a:cubicBezTo>
                  <a:pt x="1359403" y="1952010"/>
                  <a:pt x="1161508" y="1845246"/>
                  <a:pt x="889489" y="1893738"/>
                </a:cubicBezTo>
                <a:cubicBezTo>
                  <a:pt x="398239" y="1934430"/>
                  <a:pt x="10225" y="1634499"/>
                  <a:pt x="0" y="1004249"/>
                </a:cubicBezTo>
                <a:cubicBezTo>
                  <a:pt x="-13703" y="955856"/>
                  <a:pt x="8553" y="942674"/>
                  <a:pt x="0" y="88948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8575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428321725">
                  <a:prstGeom prst="roundRect">
                    <a:avLst>
                      <a:gd name="adj" fmla="val 46970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x + 4 = 1</a:t>
            </a:r>
          </a:p>
          <a:p>
            <a:pPr algn="ctr"/>
            <a:r>
              <a:rPr lang="fr-FR" sz="2800" b="1" dirty="0">
                <a:solidFill>
                  <a:schemeClr val="tx1"/>
                </a:solidFill>
              </a:rPr>
              <a:t>x = 1 - 4</a:t>
            </a:r>
          </a:p>
          <a:p>
            <a:pPr algn="ctr"/>
            <a:r>
              <a:rPr lang="fr-FR" sz="2800" b="1" dirty="0">
                <a:solidFill>
                  <a:schemeClr val="tx1"/>
                </a:solidFill>
              </a:rPr>
              <a:t>x = -3</a:t>
            </a:r>
          </a:p>
          <a:p>
            <a:pPr algn="ctr"/>
            <a:r>
              <a:rPr lang="fr-FR" sz="2800" b="1" dirty="0">
                <a:solidFill>
                  <a:schemeClr val="accent6"/>
                </a:solidFill>
              </a:rPr>
              <a:t>Solution : x = -3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44231625-92CE-47A6-8439-12DC4EE4C095}"/>
                  </a:ext>
                </a:extLst>
              </p:cNvPr>
              <p:cNvSpPr/>
              <p:nvPr/>
            </p:nvSpPr>
            <p:spPr>
              <a:xfrm>
                <a:off x="6939025" y="290100"/>
                <a:ext cx="3744215" cy="2693015"/>
              </a:xfrm>
              <a:custGeom>
                <a:avLst/>
                <a:gdLst>
                  <a:gd name="connsiteX0" fmla="*/ 0 w 3744215"/>
                  <a:gd name="connsiteY0" fmla="*/ 1148167 h 2693015"/>
                  <a:gd name="connsiteX1" fmla="*/ 1148167 w 3744215"/>
                  <a:gd name="connsiteY1" fmla="*/ 0 h 2693015"/>
                  <a:gd name="connsiteX2" fmla="*/ 1645273 w 3744215"/>
                  <a:gd name="connsiteY2" fmla="*/ 0 h 2693015"/>
                  <a:gd name="connsiteX3" fmla="*/ 2142379 w 3744215"/>
                  <a:gd name="connsiteY3" fmla="*/ 0 h 2693015"/>
                  <a:gd name="connsiteX4" fmla="*/ 2596048 w 3744215"/>
                  <a:gd name="connsiteY4" fmla="*/ 0 h 2693015"/>
                  <a:gd name="connsiteX5" fmla="*/ 3744215 w 3744215"/>
                  <a:gd name="connsiteY5" fmla="*/ 1148167 h 2693015"/>
                  <a:gd name="connsiteX6" fmla="*/ 3744215 w 3744215"/>
                  <a:gd name="connsiteY6" fmla="*/ 1544848 h 2693015"/>
                  <a:gd name="connsiteX7" fmla="*/ 2596048 w 3744215"/>
                  <a:gd name="connsiteY7" fmla="*/ 2693015 h 2693015"/>
                  <a:gd name="connsiteX8" fmla="*/ 2084463 w 3744215"/>
                  <a:gd name="connsiteY8" fmla="*/ 2693015 h 2693015"/>
                  <a:gd name="connsiteX9" fmla="*/ 1645273 w 3744215"/>
                  <a:gd name="connsiteY9" fmla="*/ 2693015 h 2693015"/>
                  <a:gd name="connsiteX10" fmla="*/ 1148167 w 3744215"/>
                  <a:gd name="connsiteY10" fmla="*/ 2693015 h 2693015"/>
                  <a:gd name="connsiteX11" fmla="*/ 0 w 3744215"/>
                  <a:gd name="connsiteY11" fmla="*/ 1544848 h 2693015"/>
                  <a:gd name="connsiteX12" fmla="*/ 0 w 3744215"/>
                  <a:gd name="connsiteY12" fmla="*/ 1148167 h 2693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44215" h="2693015" fill="none" extrusionOk="0">
                    <a:moveTo>
                      <a:pt x="0" y="1148167"/>
                    </a:moveTo>
                    <a:cubicBezTo>
                      <a:pt x="61200" y="350935"/>
                      <a:pt x="457835" y="31921"/>
                      <a:pt x="1148167" y="0"/>
                    </a:cubicBezTo>
                    <a:cubicBezTo>
                      <a:pt x="1322029" y="-34184"/>
                      <a:pt x="1469109" y="54293"/>
                      <a:pt x="1645273" y="0"/>
                    </a:cubicBezTo>
                    <a:cubicBezTo>
                      <a:pt x="1821437" y="-54293"/>
                      <a:pt x="1906027" y="3966"/>
                      <a:pt x="2142379" y="0"/>
                    </a:cubicBezTo>
                    <a:cubicBezTo>
                      <a:pt x="2378731" y="-3966"/>
                      <a:pt x="2461649" y="53210"/>
                      <a:pt x="2596048" y="0"/>
                    </a:cubicBezTo>
                    <a:cubicBezTo>
                      <a:pt x="3241643" y="162828"/>
                      <a:pt x="3795960" y="576587"/>
                      <a:pt x="3744215" y="1148167"/>
                    </a:cubicBezTo>
                    <a:cubicBezTo>
                      <a:pt x="3747383" y="1276862"/>
                      <a:pt x="3713564" y="1358637"/>
                      <a:pt x="3744215" y="1544848"/>
                    </a:cubicBezTo>
                    <a:cubicBezTo>
                      <a:pt x="3693662" y="2118068"/>
                      <a:pt x="3382076" y="2777956"/>
                      <a:pt x="2596048" y="2693015"/>
                    </a:cubicBezTo>
                    <a:cubicBezTo>
                      <a:pt x="2457629" y="2749475"/>
                      <a:pt x="2315171" y="2648069"/>
                      <a:pt x="2084463" y="2693015"/>
                    </a:cubicBezTo>
                    <a:cubicBezTo>
                      <a:pt x="1853755" y="2737961"/>
                      <a:pt x="1835196" y="2668758"/>
                      <a:pt x="1645273" y="2693015"/>
                    </a:cubicBezTo>
                    <a:cubicBezTo>
                      <a:pt x="1455350" y="2717272"/>
                      <a:pt x="1296453" y="2647748"/>
                      <a:pt x="1148167" y="2693015"/>
                    </a:cubicBezTo>
                    <a:cubicBezTo>
                      <a:pt x="438777" y="2692271"/>
                      <a:pt x="7968" y="2120371"/>
                      <a:pt x="0" y="1544848"/>
                    </a:cubicBezTo>
                    <a:cubicBezTo>
                      <a:pt x="-4341" y="1439481"/>
                      <a:pt x="46054" y="1335541"/>
                      <a:pt x="0" y="1148167"/>
                    </a:cubicBezTo>
                    <a:close/>
                  </a:path>
                  <a:path w="3744215" h="2693015" stroke="0" extrusionOk="0">
                    <a:moveTo>
                      <a:pt x="0" y="1148167"/>
                    </a:moveTo>
                    <a:cubicBezTo>
                      <a:pt x="-50622" y="577093"/>
                      <a:pt x="501811" y="-176686"/>
                      <a:pt x="1148167" y="0"/>
                    </a:cubicBezTo>
                    <a:cubicBezTo>
                      <a:pt x="1333070" y="-48340"/>
                      <a:pt x="1506378" y="47653"/>
                      <a:pt x="1601836" y="0"/>
                    </a:cubicBezTo>
                    <a:cubicBezTo>
                      <a:pt x="1697294" y="-47653"/>
                      <a:pt x="1890650" y="15118"/>
                      <a:pt x="2098942" y="0"/>
                    </a:cubicBezTo>
                    <a:cubicBezTo>
                      <a:pt x="2307234" y="-15118"/>
                      <a:pt x="2352872" y="25620"/>
                      <a:pt x="2596048" y="0"/>
                    </a:cubicBezTo>
                    <a:cubicBezTo>
                      <a:pt x="3157552" y="64885"/>
                      <a:pt x="3908072" y="537938"/>
                      <a:pt x="3744215" y="1148167"/>
                    </a:cubicBezTo>
                    <a:cubicBezTo>
                      <a:pt x="3755043" y="1310841"/>
                      <a:pt x="3703474" y="1400536"/>
                      <a:pt x="3744215" y="1544848"/>
                    </a:cubicBezTo>
                    <a:cubicBezTo>
                      <a:pt x="3653181" y="2181702"/>
                      <a:pt x="3168390" y="2796226"/>
                      <a:pt x="2596048" y="2693015"/>
                    </a:cubicBezTo>
                    <a:cubicBezTo>
                      <a:pt x="2452508" y="2711095"/>
                      <a:pt x="2267235" y="2660834"/>
                      <a:pt x="2098942" y="2693015"/>
                    </a:cubicBezTo>
                    <a:cubicBezTo>
                      <a:pt x="1930649" y="2725196"/>
                      <a:pt x="1799261" y="2647091"/>
                      <a:pt x="1659752" y="2693015"/>
                    </a:cubicBezTo>
                    <a:cubicBezTo>
                      <a:pt x="1520243" y="2738939"/>
                      <a:pt x="1320436" y="2647582"/>
                      <a:pt x="1148167" y="2693015"/>
                    </a:cubicBezTo>
                    <a:cubicBezTo>
                      <a:pt x="514055" y="2824720"/>
                      <a:pt x="10260" y="2318443"/>
                      <a:pt x="0" y="1544848"/>
                    </a:cubicBezTo>
                    <a:cubicBezTo>
                      <a:pt x="-19392" y="1362989"/>
                      <a:pt x="43458" y="1231932"/>
                      <a:pt x="0" y="1148167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28575">
                <a:solidFill>
                  <a:srgbClr val="7030A0"/>
                </a:solidFill>
                <a:extLst>
                  <a:ext uri="{C807C97D-BFC1-408E-A445-0C87EB9F89A2}">
                    <ask:lineSketchStyleProps xmlns:ask="http://schemas.microsoft.com/office/drawing/2018/sketchyshapes" sd="428321725">
                      <a:prstGeom prst="roundRect">
                        <a:avLst>
                          <a:gd name="adj" fmla="val 42635"/>
                        </a:avLst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2800" b="1" dirty="0">
                    <a:solidFill>
                      <a:schemeClr val="tx1"/>
                    </a:solidFill>
                  </a:rPr>
                  <a:t>-5x = -2</a:t>
                </a:r>
              </a:p>
              <a:p>
                <a:pPr algn="ctr"/>
                <a:r>
                  <a:rPr lang="fr-FR" sz="2800" b="1" dirty="0">
                    <a:solidFill>
                      <a:schemeClr val="tx1"/>
                    </a:solidFill>
                  </a:rPr>
                  <a:t>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sz="2800" b="1" dirty="0" smtClean="0">
                            <a:solidFill>
                              <a:schemeClr val="tx1"/>
                            </a:solidFill>
                          </a:rPr>
                          <m:t>−2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sz="2800" b="1" dirty="0" smtClean="0">
                            <a:solidFill>
                              <a:schemeClr val="tx1"/>
                            </a:solidFill>
                          </a:rPr>
                          <m:t>(−5)</m:t>
                        </m:r>
                      </m:den>
                    </m:f>
                  </m:oMath>
                </a14:m>
                <a:endParaRPr lang="fr-FR" sz="28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fr-FR" sz="2800" b="1" dirty="0">
                    <a:solidFill>
                      <a:schemeClr val="tx1"/>
                    </a:solidFill>
                  </a:rPr>
                  <a:t>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sz="2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sz="2800" b="1" dirty="0" smtClean="0">
                            <a:solidFill>
                              <a:schemeClr val="tx1"/>
                            </a:solidFill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fr-FR" sz="2800" b="1" i="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sz="2800" b="1" dirty="0" smtClean="0">
                            <a:solidFill>
                              <a:schemeClr val="tx1"/>
                            </a:solidFill>
                          </a:rPr>
                          <m:t>5</m:t>
                        </m:r>
                      </m:den>
                    </m:f>
                  </m:oMath>
                </a14:m>
                <a:endParaRPr lang="fr-FR" sz="28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fr-FR" sz="2800" b="1" dirty="0">
                    <a:solidFill>
                      <a:schemeClr val="accent6"/>
                    </a:solidFill>
                  </a:rPr>
                  <a:t>Solution : 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8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sz="2800" b="1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sz="2800" b="1" dirty="0" smtClean="0">
                            <a:solidFill>
                              <a:schemeClr val="accent6"/>
                            </a:solidFill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fr-FR" sz="2800" b="1" i="0" dirty="0" smtClean="0">
                            <a:solidFill>
                              <a:schemeClr val="accent6"/>
                            </a:solidFill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sz="2800" b="1" dirty="0" smtClean="0">
                            <a:solidFill>
                              <a:schemeClr val="accent6"/>
                            </a:solidFill>
                          </a:rPr>
                          <m:t>5</m:t>
                        </m:r>
                      </m:den>
                    </m:f>
                  </m:oMath>
                </a14:m>
                <a:endParaRPr lang="fr-FR" sz="28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44231625-92CE-47A6-8439-12DC4EE4C0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025" y="290100"/>
                <a:ext cx="3744215" cy="2693015"/>
              </a:xfrm>
              <a:prstGeom prst="roundRect">
                <a:avLst>
                  <a:gd name="adj" fmla="val 42635"/>
                </a:avLst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7030A0"/>
                </a:solidFill>
                <a:extLst>
                  <a:ext uri="{C807C97D-BFC1-408E-A445-0C87EB9F89A2}">
                    <ask:lineSketchStyleProps xmlns:ask="http://schemas.microsoft.com/office/drawing/2018/sketchyshapes" sd="428321725">
                      <a:custGeom>
                        <a:avLst/>
                        <a:gdLst>
                          <a:gd name="connsiteX0" fmla="*/ 0 w 3744215"/>
                          <a:gd name="connsiteY0" fmla="*/ 1148167 h 2693015"/>
                          <a:gd name="connsiteX1" fmla="*/ 1148167 w 3744215"/>
                          <a:gd name="connsiteY1" fmla="*/ 0 h 2693015"/>
                          <a:gd name="connsiteX2" fmla="*/ 1645273 w 3744215"/>
                          <a:gd name="connsiteY2" fmla="*/ 0 h 2693015"/>
                          <a:gd name="connsiteX3" fmla="*/ 2142379 w 3744215"/>
                          <a:gd name="connsiteY3" fmla="*/ 0 h 2693015"/>
                          <a:gd name="connsiteX4" fmla="*/ 2596048 w 3744215"/>
                          <a:gd name="connsiteY4" fmla="*/ 0 h 2693015"/>
                          <a:gd name="connsiteX5" fmla="*/ 3744215 w 3744215"/>
                          <a:gd name="connsiteY5" fmla="*/ 1148167 h 2693015"/>
                          <a:gd name="connsiteX6" fmla="*/ 3744215 w 3744215"/>
                          <a:gd name="connsiteY6" fmla="*/ 1544848 h 2693015"/>
                          <a:gd name="connsiteX7" fmla="*/ 2596048 w 3744215"/>
                          <a:gd name="connsiteY7" fmla="*/ 2693015 h 2693015"/>
                          <a:gd name="connsiteX8" fmla="*/ 2084463 w 3744215"/>
                          <a:gd name="connsiteY8" fmla="*/ 2693015 h 2693015"/>
                          <a:gd name="connsiteX9" fmla="*/ 1645273 w 3744215"/>
                          <a:gd name="connsiteY9" fmla="*/ 2693015 h 2693015"/>
                          <a:gd name="connsiteX10" fmla="*/ 1148167 w 3744215"/>
                          <a:gd name="connsiteY10" fmla="*/ 2693015 h 2693015"/>
                          <a:gd name="connsiteX11" fmla="*/ 0 w 3744215"/>
                          <a:gd name="connsiteY11" fmla="*/ 1544848 h 2693015"/>
                          <a:gd name="connsiteX12" fmla="*/ 0 w 3744215"/>
                          <a:gd name="connsiteY12" fmla="*/ 1148167 h 269301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</a:cxnLst>
                        <a:rect l="l" t="t" r="r" b="b"/>
                        <a:pathLst>
                          <a:path w="3744215" h="2693015" fill="none" extrusionOk="0">
                            <a:moveTo>
                              <a:pt x="0" y="1148167"/>
                            </a:moveTo>
                            <a:cubicBezTo>
                              <a:pt x="61200" y="350935"/>
                              <a:pt x="457835" y="31921"/>
                              <a:pt x="1148167" y="0"/>
                            </a:cubicBezTo>
                            <a:cubicBezTo>
                              <a:pt x="1322029" y="-34184"/>
                              <a:pt x="1469109" y="54293"/>
                              <a:pt x="1645273" y="0"/>
                            </a:cubicBezTo>
                            <a:cubicBezTo>
                              <a:pt x="1821437" y="-54293"/>
                              <a:pt x="1906027" y="3966"/>
                              <a:pt x="2142379" y="0"/>
                            </a:cubicBezTo>
                            <a:cubicBezTo>
                              <a:pt x="2378731" y="-3966"/>
                              <a:pt x="2461649" y="53210"/>
                              <a:pt x="2596048" y="0"/>
                            </a:cubicBezTo>
                            <a:cubicBezTo>
                              <a:pt x="3241643" y="162828"/>
                              <a:pt x="3795960" y="576587"/>
                              <a:pt x="3744215" y="1148167"/>
                            </a:cubicBezTo>
                            <a:cubicBezTo>
                              <a:pt x="3747383" y="1276862"/>
                              <a:pt x="3713564" y="1358637"/>
                              <a:pt x="3744215" y="1544848"/>
                            </a:cubicBezTo>
                            <a:cubicBezTo>
                              <a:pt x="3693662" y="2118068"/>
                              <a:pt x="3382076" y="2777956"/>
                              <a:pt x="2596048" y="2693015"/>
                            </a:cubicBezTo>
                            <a:cubicBezTo>
                              <a:pt x="2457629" y="2749475"/>
                              <a:pt x="2315171" y="2648069"/>
                              <a:pt x="2084463" y="2693015"/>
                            </a:cubicBezTo>
                            <a:cubicBezTo>
                              <a:pt x="1853755" y="2737961"/>
                              <a:pt x="1835196" y="2668758"/>
                              <a:pt x="1645273" y="2693015"/>
                            </a:cubicBezTo>
                            <a:cubicBezTo>
                              <a:pt x="1455350" y="2717272"/>
                              <a:pt x="1296453" y="2647748"/>
                              <a:pt x="1148167" y="2693015"/>
                            </a:cubicBezTo>
                            <a:cubicBezTo>
                              <a:pt x="438777" y="2692271"/>
                              <a:pt x="7968" y="2120371"/>
                              <a:pt x="0" y="1544848"/>
                            </a:cubicBezTo>
                            <a:cubicBezTo>
                              <a:pt x="-4341" y="1439481"/>
                              <a:pt x="46054" y="1335541"/>
                              <a:pt x="0" y="1148167"/>
                            </a:cubicBezTo>
                            <a:close/>
                          </a:path>
                          <a:path w="3744215" h="2693015" stroke="0" extrusionOk="0">
                            <a:moveTo>
                              <a:pt x="0" y="1148167"/>
                            </a:moveTo>
                            <a:cubicBezTo>
                              <a:pt x="-50622" y="577093"/>
                              <a:pt x="501811" y="-176686"/>
                              <a:pt x="1148167" y="0"/>
                            </a:cubicBezTo>
                            <a:cubicBezTo>
                              <a:pt x="1333070" y="-48340"/>
                              <a:pt x="1506378" y="47653"/>
                              <a:pt x="1601836" y="0"/>
                            </a:cubicBezTo>
                            <a:cubicBezTo>
                              <a:pt x="1697294" y="-47653"/>
                              <a:pt x="1890650" y="15118"/>
                              <a:pt x="2098942" y="0"/>
                            </a:cubicBezTo>
                            <a:cubicBezTo>
                              <a:pt x="2307234" y="-15118"/>
                              <a:pt x="2352872" y="25620"/>
                              <a:pt x="2596048" y="0"/>
                            </a:cubicBezTo>
                            <a:cubicBezTo>
                              <a:pt x="3157552" y="64885"/>
                              <a:pt x="3908072" y="537938"/>
                              <a:pt x="3744215" y="1148167"/>
                            </a:cubicBezTo>
                            <a:cubicBezTo>
                              <a:pt x="3755043" y="1310841"/>
                              <a:pt x="3703474" y="1400536"/>
                              <a:pt x="3744215" y="1544848"/>
                            </a:cubicBezTo>
                            <a:cubicBezTo>
                              <a:pt x="3653181" y="2181702"/>
                              <a:pt x="3168390" y="2796226"/>
                              <a:pt x="2596048" y="2693015"/>
                            </a:cubicBezTo>
                            <a:cubicBezTo>
                              <a:pt x="2452508" y="2711095"/>
                              <a:pt x="2267235" y="2660834"/>
                              <a:pt x="2098942" y="2693015"/>
                            </a:cubicBezTo>
                            <a:cubicBezTo>
                              <a:pt x="1930649" y="2725196"/>
                              <a:pt x="1799261" y="2647091"/>
                              <a:pt x="1659752" y="2693015"/>
                            </a:cubicBezTo>
                            <a:cubicBezTo>
                              <a:pt x="1520243" y="2738939"/>
                              <a:pt x="1320436" y="2647582"/>
                              <a:pt x="1148167" y="2693015"/>
                            </a:cubicBezTo>
                            <a:cubicBezTo>
                              <a:pt x="514055" y="2824720"/>
                              <a:pt x="10260" y="2318443"/>
                              <a:pt x="0" y="1544848"/>
                            </a:cubicBezTo>
                            <a:cubicBezTo>
                              <a:pt x="-19392" y="1362989"/>
                              <a:pt x="43458" y="1231932"/>
                              <a:pt x="0" y="1148167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 : coins arrondis 11">
                <a:extLst>
                  <a:ext uri="{FF2B5EF4-FFF2-40B4-BE49-F238E27FC236}">
                    <a16:creationId xmlns:a16="http://schemas.microsoft.com/office/drawing/2014/main" id="{36607ED9-3BAE-4B0E-A5AE-3DD43D6335A4}"/>
                  </a:ext>
                </a:extLst>
              </p:cNvPr>
              <p:cNvSpPr/>
              <p:nvPr/>
            </p:nvSpPr>
            <p:spPr>
              <a:xfrm>
                <a:off x="1508760" y="3429000"/>
                <a:ext cx="4053371" cy="3033534"/>
              </a:xfrm>
              <a:custGeom>
                <a:avLst/>
                <a:gdLst>
                  <a:gd name="connsiteX0" fmla="*/ 0 w 4053371"/>
                  <a:gd name="connsiteY0" fmla="*/ 1516767 h 3033534"/>
                  <a:gd name="connsiteX1" fmla="*/ 1516767 w 4053371"/>
                  <a:gd name="connsiteY1" fmla="*/ 0 h 3033534"/>
                  <a:gd name="connsiteX2" fmla="*/ 2047082 w 4053371"/>
                  <a:gd name="connsiteY2" fmla="*/ 0 h 3033534"/>
                  <a:gd name="connsiteX3" fmla="*/ 2536604 w 4053371"/>
                  <a:gd name="connsiteY3" fmla="*/ 0 h 3033534"/>
                  <a:gd name="connsiteX4" fmla="*/ 4053371 w 4053371"/>
                  <a:gd name="connsiteY4" fmla="*/ 1516767 h 3033534"/>
                  <a:gd name="connsiteX5" fmla="*/ 4053371 w 4053371"/>
                  <a:gd name="connsiteY5" fmla="*/ 1516767 h 3033534"/>
                  <a:gd name="connsiteX6" fmla="*/ 2536604 w 4053371"/>
                  <a:gd name="connsiteY6" fmla="*/ 3033534 h 3033534"/>
                  <a:gd name="connsiteX7" fmla="*/ 2016487 w 4053371"/>
                  <a:gd name="connsiteY7" fmla="*/ 3033534 h 3033534"/>
                  <a:gd name="connsiteX8" fmla="*/ 1516767 w 4053371"/>
                  <a:gd name="connsiteY8" fmla="*/ 3033534 h 3033534"/>
                  <a:gd name="connsiteX9" fmla="*/ 0 w 4053371"/>
                  <a:gd name="connsiteY9" fmla="*/ 1516767 h 3033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53371" h="3033534" fill="none" extrusionOk="0">
                    <a:moveTo>
                      <a:pt x="0" y="1516767"/>
                    </a:moveTo>
                    <a:cubicBezTo>
                      <a:pt x="-59916" y="571137"/>
                      <a:pt x="660166" y="31666"/>
                      <a:pt x="1516767" y="0"/>
                    </a:cubicBezTo>
                    <a:cubicBezTo>
                      <a:pt x="1741501" y="-17690"/>
                      <a:pt x="1886831" y="50461"/>
                      <a:pt x="2047082" y="0"/>
                    </a:cubicBezTo>
                    <a:cubicBezTo>
                      <a:pt x="2207333" y="-50461"/>
                      <a:pt x="2406853" y="47538"/>
                      <a:pt x="2536604" y="0"/>
                    </a:cubicBezTo>
                    <a:cubicBezTo>
                      <a:pt x="3358459" y="205029"/>
                      <a:pt x="3961794" y="513852"/>
                      <a:pt x="4053371" y="1516767"/>
                    </a:cubicBezTo>
                    <a:lnTo>
                      <a:pt x="4053371" y="1516767"/>
                    </a:lnTo>
                    <a:cubicBezTo>
                      <a:pt x="4063740" y="2326817"/>
                      <a:pt x="3157758" y="3156485"/>
                      <a:pt x="2536604" y="3033534"/>
                    </a:cubicBezTo>
                    <a:cubicBezTo>
                      <a:pt x="2412116" y="3095091"/>
                      <a:pt x="2158524" y="3008613"/>
                      <a:pt x="2016487" y="3033534"/>
                    </a:cubicBezTo>
                    <a:cubicBezTo>
                      <a:pt x="1874450" y="3058455"/>
                      <a:pt x="1627494" y="2984034"/>
                      <a:pt x="1516767" y="3033534"/>
                    </a:cubicBezTo>
                    <a:cubicBezTo>
                      <a:pt x="496159" y="3105223"/>
                      <a:pt x="-74643" y="2307703"/>
                      <a:pt x="0" y="1516767"/>
                    </a:cubicBezTo>
                    <a:close/>
                  </a:path>
                  <a:path w="4053371" h="3033534" stroke="0" extrusionOk="0">
                    <a:moveTo>
                      <a:pt x="0" y="1516767"/>
                    </a:moveTo>
                    <a:cubicBezTo>
                      <a:pt x="-32370" y="719391"/>
                      <a:pt x="664320" y="-213051"/>
                      <a:pt x="1516767" y="0"/>
                    </a:cubicBezTo>
                    <a:cubicBezTo>
                      <a:pt x="1696475" y="-2827"/>
                      <a:pt x="1854789" y="4016"/>
                      <a:pt x="2006289" y="0"/>
                    </a:cubicBezTo>
                    <a:cubicBezTo>
                      <a:pt x="2157789" y="-4016"/>
                      <a:pt x="2295797" y="23148"/>
                      <a:pt x="2536604" y="0"/>
                    </a:cubicBezTo>
                    <a:cubicBezTo>
                      <a:pt x="3467886" y="45884"/>
                      <a:pt x="4125444" y="653983"/>
                      <a:pt x="4053371" y="1516767"/>
                    </a:cubicBezTo>
                    <a:lnTo>
                      <a:pt x="4053371" y="1516767"/>
                    </a:lnTo>
                    <a:cubicBezTo>
                      <a:pt x="4069818" y="2465509"/>
                      <a:pt x="3370121" y="3069352"/>
                      <a:pt x="2536604" y="3033534"/>
                    </a:cubicBezTo>
                    <a:cubicBezTo>
                      <a:pt x="2298378" y="3046572"/>
                      <a:pt x="2226685" y="3011014"/>
                      <a:pt x="2036884" y="3033534"/>
                    </a:cubicBezTo>
                    <a:cubicBezTo>
                      <a:pt x="1847083" y="3056054"/>
                      <a:pt x="1768453" y="3029020"/>
                      <a:pt x="1516767" y="3033534"/>
                    </a:cubicBezTo>
                    <a:cubicBezTo>
                      <a:pt x="645013" y="2930571"/>
                      <a:pt x="-203109" y="2456076"/>
                      <a:pt x="0" y="1516767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28575">
                <a:solidFill>
                  <a:srgbClr val="7030A0"/>
                </a:solidFill>
                <a:extLst>
                  <a:ext uri="{C807C97D-BFC1-408E-A445-0C87EB9F89A2}">
                    <ask:lineSketchStyleProps xmlns:ask="http://schemas.microsoft.com/office/drawing/2018/sketchyshapes" sd="428321725">
                      <a:prstGeom prst="roundRect">
                        <a:avLst>
                          <a:gd name="adj" fmla="val 50000"/>
                        </a:avLst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2800" b="1" dirty="0">
                    <a:solidFill>
                      <a:schemeClr val="tx1"/>
                    </a:solidFill>
                  </a:rPr>
                  <a:t>2x + 3 = 0</a:t>
                </a:r>
              </a:p>
              <a:p>
                <a:pPr algn="ctr"/>
                <a:r>
                  <a:rPr lang="fr-FR" sz="2800" b="1" dirty="0">
                    <a:solidFill>
                      <a:schemeClr val="tx1"/>
                    </a:solidFill>
                  </a:rPr>
                  <a:t>2x = 0 - 3</a:t>
                </a:r>
              </a:p>
              <a:p>
                <a:pPr algn="ctr"/>
                <a:r>
                  <a:rPr lang="fr-FR" sz="2800" b="1" dirty="0">
                    <a:solidFill>
                      <a:schemeClr val="tx1"/>
                    </a:solidFill>
                  </a:rPr>
                  <a:t>2x = -3</a:t>
                </a:r>
              </a:p>
              <a:p>
                <a:pPr algn="ctr"/>
                <a:r>
                  <a:rPr lang="fr-FR" sz="2800" b="1" dirty="0">
                    <a:solidFill>
                      <a:schemeClr val="tx1"/>
                    </a:solidFill>
                  </a:rPr>
                  <a:t>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sz="2800" b="1">
                            <a:solidFill>
                              <a:schemeClr val="tx1"/>
                            </a:solidFill>
                          </a:rPr>
                          <m:t> −3 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sz="2800" b="1" i="0" dirty="0" smtClean="0">
                            <a:solidFill>
                              <a:schemeClr val="tx1"/>
                            </a:solidFill>
                          </a:rPr>
                          <m:t>2</m:t>
                        </m:r>
                      </m:den>
                    </m:f>
                  </m:oMath>
                </a14:m>
                <a:endParaRPr lang="fr-FR" sz="28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fr-FR" sz="2800" b="1" dirty="0">
                    <a:solidFill>
                      <a:schemeClr val="accent6"/>
                    </a:solidFill>
                  </a:rPr>
                  <a:t>Solution : x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sz="2800" b="1">
                            <a:solidFill>
                              <a:schemeClr val="accent6"/>
                            </a:solidFill>
                          </a:rPr>
                          <m:t> 3</m:t>
                        </m:r>
                        <m:r>
                          <m:rPr>
                            <m:nor/>
                          </m:rPr>
                          <a:rPr lang="fr-FR" sz="2800" b="1" dirty="0">
                            <a:solidFill>
                              <a:schemeClr val="accent6"/>
                            </a:solidFill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sz="2800" b="1" i="0" dirty="0" smtClean="0">
                            <a:solidFill>
                              <a:schemeClr val="accent6"/>
                            </a:solidFill>
                          </a:rPr>
                          <m:t>2</m:t>
                        </m:r>
                      </m:den>
                    </m:f>
                  </m:oMath>
                </a14:m>
                <a:endParaRPr lang="fr-FR" sz="28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2" name="Rectangle : coins arrondis 11">
                <a:extLst>
                  <a:ext uri="{FF2B5EF4-FFF2-40B4-BE49-F238E27FC236}">
                    <a16:creationId xmlns:a16="http://schemas.microsoft.com/office/drawing/2014/main" id="{36607ED9-3BAE-4B0E-A5AE-3DD43D6335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760" y="3429000"/>
                <a:ext cx="4053371" cy="3033534"/>
              </a:xfrm>
              <a:prstGeom prst="roundRect">
                <a:avLst>
                  <a:gd name="adj" fmla="val 50000"/>
                </a:avLst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7030A0"/>
                </a:solidFill>
                <a:extLst>
                  <a:ext uri="{C807C97D-BFC1-408E-A445-0C87EB9F89A2}">
                    <ask:lineSketchStyleProps xmlns:ask="http://schemas.microsoft.com/office/drawing/2018/sketchyshapes" sd="428321725">
                      <a:custGeom>
                        <a:avLst/>
                        <a:gdLst>
                          <a:gd name="connsiteX0" fmla="*/ 0 w 4053371"/>
                          <a:gd name="connsiteY0" fmla="*/ 1516767 h 3033534"/>
                          <a:gd name="connsiteX1" fmla="*/ 1516767 w 4053371"/>
                          <a:gd name="connsiteY1" fmla="*/ 0 h 3033534"/>
                          <a:gd name="connsiteX2" fmla="*/ 2047082 w 4053371"/>
                          <a:gd name="connsiteY2" fmla="*/ 0 h 3033534"/>
                          <a:gd name="connsiteX3" fmla="*/ 2536604 w 4053371"/>
                          <a:gd name="connsiteY3" fmla="*/ 0 h 3033534"/>
                          <a:gd name="connsiteX4" fmla="*/ 4053371 w 4053371"/>
                          <a:gd name="connsiteY4" fmla="*/ 1516767 h 3033534"/>
                          <a:gd name="connsiteX5" fmla="*/ 4053371 w 4053371"/>
                          <a:gd name="connsiteY5" fmla="*/ 1516767 h 3033534"/>
                          <a:gd name="connsiteX6" fmla="*/ 2536604 w 4053371"/>
                          <a:gd name="connsiteY6" fmla="*/ 3033534 h 3033534"/>
                          <a:gd name="connsiteX7" fmla="*/ 2016487 w 4053371"/>
                          <a:gd name="connsiteY7" fmla="*/ 3033534 h 3033534"/>
                          <a:gd name="connsiteX8" fmla="*/ 1516767 w 4053371"/>
                          <a:gd name="connsiteY8" fmla="*/ 3033534 h 3033534"/>
                          <a:gd name="connsiteX9" fmla="*/ 0 w 4053371"/>
                          <a:gd name="connsiteY9" fmla="*/ 1516767 h 30335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4053371" h="3033534" fill="none" extrusionOk="0">
                            <a:moveTo>
                              <a:pt x="0" y="1516767"/>
                            </a:moveTo>
                            <a:cubicBezTo>
                              <a:pt x="-59916" y="571137"/>
                              <a:pt x="660166" y="31666"/>
                              <a:pt x="1516767" y="0"/>
                            </a:cubicBezTo>
                            <a:cubicBezTo>
                              <a:pt x="1741501" y="-17690"/>
                              <a:pt x="1886831" y="50461"/>
                              <a:pt x="2047082" y="0"/>
                            </a:cubicBezTo>
                            <a:cubicBezTo>
                              <a:pt x="2207333" y="-50461"/>
                              <a:pt x="2406853" y="47538"/>
                              <a:pt x="2536604" y="0"/>
                            </a:cubicBezTo>
                            <a:cubicBezTo>
                              <a:pt x="3358459" y="205029"/>
                              <a:pt x="3961794" y="513852"/>
                              <a:pt x="4053371" y="1516767"/>
                            </a:cubicBezTo>
                            <a:lnTo>
                              <a:pt x="4053371" y="1516767"/>
                            </a:lnTo>
                            <a:cubicBezTo>
                              <a:pt x="4063740" y="2326817"/>
                              <a:pt x="3157758" y="3156485"/>
                              <a:pt x="2536604" y="3033534"/>
                            </a:cubicBezTo>
                            <a:cubicBezTo>
                              <a:pt x="2412116" y="3095091"/>
                              <a:pt x="2158524" y="3008613"/>
                              <a:pt x="2016487" y="3033534"/>
                            </a:cubicBezTo>
                            <a:cubicBezTo>
                              <a:pt x="1874450" y="3058455"/>
                              <a:pt x="1627494" y="2984034"/>
                              <a:pt x="1516767" y="3033534"/>
                            </a:cubicBezTo>
                            <a:cubicBezTo>
                              <a:pt x="496159" y="3105223"/>
                              <a:pt x="-74643" y="2307703"/>
                              <a:pt x="0" y="1516767"/>
                            </a:cubicBezTo>
                            <a:close/>
                          </a:path>
                          <a:path w="4053371" h="3033534" stroke="0" extrusionOk="0">
                            <a:moveTo>
                              <a:pt x="0" y="1516767"/>
                            </a:moveTo>
                            <a:cubicBezTo>
                              <a:pt x="-32370" y="719391"/>
                              <a:pt x="664320" y="-213051"/>
                              <a:pt x="1516767" y="0"/>
                            </a:cubicBezTo>
                            <a:cubicBezTo>
                              <a:pt x="1696475" y="-2827"/>
                              <a:pt x="1854789" y="4016"/>
                              <a:pt x="2006289" y="0"/>
                            </a:cubicBezTo>
                            <a:cubicBezTo>
                              <a:pt x="2157789" y="-4016"/>
                              <a:pt x="2295797" y="23148"/>
                              <a:pt x="2536604" y="0"/>
                            </a:cubicBezTo>
                            <a:cubicBezTo>
                              <a:pt x="3467886" y="45884"/>
                              <a:pt x="4125444" y="653983"/>
                              <a:pt x="4053371" y="1516767"/>
                            </a:cubicBezTo>
                            <a:lnTo>
                              <a:pt x="4053371" y="1516767"/>
                            </a:lnTo>
                            <a:cubicBezTo>
                              <a:pt x="4069818" y="2465509"/>
                              <a:pt x="3370121" y="3069352"/>
                              <a:pt x="2536604" y="3033534"/>
                            </a:cubicBezTo>
                            <a:cubicBezTo>
                              <a:pt x="2298378" y="3046572"/>
                              <a:pt x="2226685" y="3011014"/>
                              <a:pt x="2036884" y="3033534"/>
                            </a:cubicBezTo>
                            <a:cubicBezTo>
                              <a:pt x="1847083" y="3056054"/>
                              <a:pt x="1768453" y="3029020"/>
                              <a:pt x="1516767" y="3033534"/>
                            </a:cubicBezTo>
                            <a:cubicBezTo>
                              <a:pt x="645013" y="2930571"/>
                              <a:pt x="-203109" y="2456076"/>
                              <a:pt x="0" y="1516767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8BD902C4-3CA4-4794-8E2F-9472CF6B9EE7}"/>
              </a:ext>
            </a:extLst>
          </p:cNvPr>
          <p:cNvSpPr/>
          <p:nvPr/>
        </p:nvSpPr>
        <p:spPr>
          <a:xfrm>
            <a:off x="7089246" y="3429000"/>
            <a:ext cx="4053371" cy="3260820"/>
          </a:xfrm>
          <a:custGeom>
            <a:avLst/>
            <a:gdLst>
              <a:gd name="connsiteX0" fmla="*/ 0 w 4053371"/>
              <a:gd name="connsiteY0" fmla="*/ 1630410 h 3260820"/>
              <a:gd name="connsiteX1" fmla="*/ 1630410 w 4053371"/>
              <a:gd name="connsiteY1" fmla="*/ 0 h 3260820"/>
              <a:gd name="connsiteX2" fmla="*/ 2042537 w 4053371"/>
              <a:gd name="connsiteY2" fmla="*/ 0 h 3260820"/>
              <a:gd name="connsiteX3" fmla="*/ 2422961 w 4053371"/>
              <a:gd name="connsiteY3" fmla="*/ 0 h 3260820"/>
              <a:gd name="connsiteX4" fmla="*/ 4053371 w 4053371"/>
              <a:gd name="connsiteY4" fmla="*/ 1630410 h 3260820"/>
              <a:gd name="connsiteX5" fmla="*/ 4053371 w 4053371"/>
              <a:gd name="connsiteY5" fmla="*/ 1630410 h 3260820"/>
              <a:gd name="connsiteX6" fmla="*/ 2422961 w 4053371"/>
              <a:gd name="connsiteY6" fmla="*/ 3260820 h 3260820"/>
              <a:gd name="connsiteX7" fmla="*/ 2018760 w 4053371"/>
              <a:gd name="connsiteY7" fmla="*/ 3260820 h 3260820"/>
              <a:gd name="connsiteX8" fmla="*/ 1630410 w 4053371"/>
              <a:gd name="connsiteY8" fmla="*/ 3260820 h 3260820"/>
              <a:gd name="connsiteX9" fmla="*/ 0 w 4053371"/>
              <a:gd name="connsiteY9" fmla="*/ 1630410 h 3260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53371" h="3260820" fill="none" extrusionOk="0">
                <a:moveTo>
                  <a:pt x="0" y="1630410"/>
                </a:moveTo>
                <a:cubicBezTo>
                  <a:pt x="-29073" y="677581"/>
                  <a:pt x="671934" y="97144"/>
                  <a:pt x="1630410" y="0"/>
                </a:cubicBezTo>
                <a:cubicBezTo>
                  <a:pt x="1781924" y="-15509"/>
                  <a:pt x="1952133" y="36950"/>
                  <a:pt x="2042537" y="0"/>
                </a:cubicBezTo>
                <a:cubicBezTo>
                  <a:pt x="2132941" y="-36950"/>
                  <a:pt x="2298436" y="19200"/>
                  <a:pt x="2422961" y="0"/>
                </a:cubicBezTo>
                <a:cubicBezTo>
                  <a:pt x="3312276" y="144217"/>
                  <a:pt x="3941326" y="527802"/>
                  <a:pt x="4053371" y="1630410"/>
                </a:cubicBezTo>
                <a:lnTo>
                  <a:pt x="4053371" y="1630410"/>
                </a:lnTo>
                <a:cubicBezTo>
                  <a:pt x="4122697" y="2346086"/>
                  <a:pt x="3127217" y="3372223"/>
                  <a:pt x="2422961" y="3260820"/>
                </a:cubicBezTo>
                <a:cubicBezTo>
                  <a:pt x="2232152" y="3262875"/>
                  <a:pt x="2159020" y="3220641"/>
                  <a:pt x="2018760" y="3260820"/>
                </a:cubicBezTo>
                <a:cubicBezTo>
                  <a:pt x="1878500" y="3300999"/>
                  <a:pt x="1808859" y="3251340"/>
                  <a:pt x="1630410" y="3260820"/>
                </a:cubicBezTo>
                <a:cubicBezTo>
                  <a:pt x="507957" y="3347825"/>
                  <a:pt x="-127840" y="2450791"/>
                  <a:pt x="0" y="1630410"/>
                </a:cubicBezTo>
                <a:close/>
              </a:path>
              <a:path w="4053371" h="3260820" stroke="0" extrusionOk="0">
                <a:moveTo>
                  <a:pt x="0" y="1630410"/>
                </a:moveTo>
                <a:cubicBezTo>
                  <a:pt x="-16687" y="750740"/>
                  <a:pt x="719125" y="-156376"/>
                  <a:pt x="1630410" y="0"/>
                </a:cubicBezTo>
                <a:cubicBezTo>
                  <a:pt x="1723597" y="-19997"/>
                  <a:pt x="1837633" y="23388"/>
                  <a:pt x="2010834" y="0"/>
                </a:cubicBezTo>
                <a:cubicBezTo>
                  <a:pt x="2184035" y="-23388"/>
                  <a:pt x="2277520" y="16985"/>
                  <a:pt x="2422961" y="0"/>
                </a:cubicBezTo>
                <a:cubicBezTo>
                  <a:pt x="3340843" y="8545"/>
                  <a:pt x="4227019" y="669491"/>
                  <a:pt x="4053371" y="1630410"/>
                </a:cubicBezTo>
                <a:lnTo>
                  <a:pt x="4053371" y="1630410"/>
                </a:lnTo>
                <a:cubicBezTo>
                  <a:pt x="4084414" y="2740470"/>
                  <a:pt x="3310586" y="3371002"/>
                  <a:pt x="2422961" y="3260820"/>
                </a:cubicBezTo>
                <a:cubicBezTo>
                  <a:pt x="2249131" y="3293882"/>
                  <a:pt x="2122243" y="3260217"/>
                  <a:pt x="2034611" y="3260820"/>
                </a:cubicBezTo>
                <a:cubicBezTo>
                  <a:pt x="1946979" y="3261423"/>
                  <a:pt x="1821994" y="3236172"/>
                  <a:pt x="1630410" y="3260820"/>
                </a:cubicBezTo>
                <a:cubicBezTo>
                  <a:pt x="703462" y="3180735"/>
                  <a:pt x="-108658" y="2585227"/>
                  <a:pt x="0" y="16304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8575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428321725">
                  <a:prstGeom prst="roundRect">
                    <a:avLst>
                      <a:gd name="adj" fmla="val 50000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 2x - (x - 4) = 5</a:t>
            </a:r>
          </a:p>
          <a:p>
            <a:pPr algn="ctr"/>
            <a:r>
              <a:rPr lang="fr-FR" sz="2800" b="1" dirty="0">
                <a:solidFill>
                  <a:schemeClr val="tx1"/>
                </a:solidFill>
              </a:rPr>
              <a:t>2x - x + 4 = 5</a:t>
            </a:r>
          </a:p>
          <a:p>
            <a:pPr algn="ctr"/>
            <a:r>
              <a:rPr lang="fr-FR" sz="2800" b="1" dirty="0">
                <a:solidFill>
                  <a:schemeClr val="tx1"/>
                </a:solidFill>
              </a:rPr>
              <a:t>x + 4 = 5</a:t>
            </a:r>
          </a:p>
          <a:p>
            <a:pPr algn="ctr"/>
            <a:r>
              <a:rPr lang="fr-FR" sz="2800" b="1" dirty="0">
                <a:solidFill>
                  <a:schemeClr val="tx1"/>
                </a:solidFill>
              </a:rPr>
              <a:t>x = 5 – 4</a:t>
            </a:r>
          </a:p>
          <a:p>
            <a:pPr algn="ctr"/>
            <a:r>
              <a:rPr lang="fr-FR" sz="2800" b="1" dirty="0">
                <a:solidFill>
                  <a:schemeClr val="tx1"/>
                </a:solidFill>
              </a:rPr>
              <a:t>x = 1</a:t>
            </a:r>
          </a:p>
          <a:p>
            <a:pPr algn="ctr"/>
            <a:r>
              <a:rPr lang="fr-FR" sz="2800" b="1" dirty="0">
                <a:solidFill>
                  <a:schemeClr val="accent6"/>
                </a:solidFill>
              </a:rPr>
              <a:t>Solution : x = 1</a:t>
            </a:r>
          </a:p>
        </p:txBody>
      </p:sp>
    </p:spTree>
    <p:extLst>
      <p:ext uri="{BB962C8B-B14F-4D97-AF65-F5344CB8AC3E}">
        <p14:creationId xmlns:p14="http://schemas.microsoft.com/office/powerpoint/2010/main" val="3578296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5179B8D9-F2DF-460B-9342-44CDA8B81D6B}"/>
              </a:ext>
            </a:extLst>
          </p:cNvPr>
          <p:cNvSpPr txBox="1"/>
          <p:nvPr/>
        </p:nvSpPr>
        <p:spPr>
          <a:xfrm>
            <a:off x="0" y="0"/>
            <a:ext cx="52232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4000" i="1" dirty="0">
                <a:solidFill>
                  <a:srgbClr val="C00000"/>
                </a:solidFill>
                <a:effectLst/>
                <a:latin typeface="Segoe UI" panose="020B0502040204020203" pitchFamily="34" charset="0"/>
              </a:rPr>
              <a:t>Méthode de Résolution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9003228-6D2B-440F-A4A5-376486C3087A}"/>
              </a:ext>
            </a:extLst>
          </p:cNvPr>
          <p:cNvSpPr txBox="1"/>
          <p:nvPr/>
        </p:nvSpPr>
        <p:spPr>
          <a:xfrm>
            <a:off x="272321" y="999125"/>
            <a:ext cx="11647358" cy="5159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400" b="0" i="0" dirty="0">
                <a:solidFill>
                  <a:srgbClr val="333333"/>
                </a:solidFill>
                <a:effectLst/>
              </a:rPr>
              <a:t>Développer et réduire les deux membres de l'équation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400" b="0" i="0" dirty="0">
                <a:solidFill>
                  <a:srgbClr val="333333"/>
                </a:solidFill>
                <a:effectLst/>
              </a:rPr>
              <a:t>Regrouper les constantes à droite en ajoutant la même valeur aux deux côtés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400" b="0" i="0" dirty="0">
                <a:solidFill>
                  <a:srgbClr val="333333"/>
                </a:solidFill>
                <a:effectLst/>
              </a:rPr>
              <a:t>Regrouper les termes contenant l'inconnue à gauche en ajoutant la même valeur aux deux côtés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400" b="0" i="0" dirty="0">
                <a:solidFill>
                  <a:srgbClr val="333333"/>
                </a:solidFill>
                <a:effectLst/>
              </a:rPr>
              <a:t>Réduire les deux membres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400" b="0" i="0" dirty="0">
                <a:solidFill>
                  <a:srgbClr val="333333"/>
                </a:solidFill>
                <a:effectLst/>
              </a:rPr>
              <a:t>Diviser si possible les deux côtés par le coefficient de l'inconnue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400" b="0" i="0" dirty="0">
                <a:solidFill>
                  <a:srgbClr val="333333"/>
                </a:solidFill>
                <a:effectLst/>
              </a:rPr>
              <a:t>Conclure en donnant la solution</a:t>
            </a:r>
          </a:p>
        </p:txBody>
      </p:sp>
    </p:spTree>
    <p:extLst>
      <p:ext uri="{BB962C8B-B14F-4D97-AF65-F5344CB8AC3E}">
        <p14:creationId xmlns:p14="http://schemas.microsoft.com/office/powerpoint/2010/main" val="1224180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0694BA70-7DB5-4697-9946-E8BD47D720B8}"/>
              </a:ext>
            </a:extLst>
          </p:cNvPr>
          <p:cNvSpPr txBox="1"/>
          <p:nvPr/>
        </p:nvSpPr>
        <p:spPr>
          <a:xfrm>
            <a:off x="-1" y="0"/>
            <a:ext cx="37052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i="1" u="sng" dirty="0">
                <a:solidFill>
                  <a:srgbClr val="FF0000"/>
                </a:solidFill>
              </a:rPr>
              <a:t>Exercice d’application :</a:t>
            </a:r>
            <a:endParaRPr lang="fr-FR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F0EEC844-0213-467A-BF6F-7AD12A60D087}"/>
                  </a:ext>
                </a:extLst>
              </p:cNvPr>
              <p:cNvSpPr txBox="1"/>
              <p:nvPr/>
            </p:nvSpPr>
            <p:spPr>
              <a:xfrm>
                <a:off x="2219794" y="673122"/>
                <a:ext cx="7239000" cy="5840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fr-FR" sz="3200" b="1" dirty="0"/>
                  <a:t>𝑥 + 3 = 5 </a:t>
                </a: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fr-FR" sz="3200" b="1" dirty="0"/>
                  <a:t>𝑥 − 7 = 3</a:t>
                </a: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fr-FR" sz="3200" b="1" dirty="0"/>
                  <a:t>3𝑥 = 4</a:t>
                </a: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fr-FR" sz="3200" b="1" dirty="0"/>
                  <a:t>− 2𝑥 = −8 </a:t>
                </a: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fr-FR" sz="320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3200" b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3200" b="1" dirty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fr-FR" sz="3200" b="1" dirty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fr-FR" sz="3200" b="1" dirty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fr-FR" sz="3200" b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3200" b="1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320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3200" b="1" dirty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fr-FR" sz="3200" b="1" dirty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fr-FR" sz="3200" b="1" dirty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fr-FR" sz="3200" b="1" dirty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endParaRPr lang="fr-FR" sz="3200" b="1" dirty="0"/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fr-FR" sz="32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3200" b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3200" b="1" i="0" dirty="0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fr-FR" sz="3200" b="1" dirty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fr-FR" sz="3200" b="1" dirty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fr-FR" sz="3200" b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3200" b="1" dirty="0"/>
                  <a:t>𝑥 = 3 </a:t>
                </a: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fr-FR" sz="3200" b="1" dirty="0"/>
                  <a:t>16𝑥 + 32 = 0</a:t>
                </a:r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F0EEC844-0213-467A-BF6F-7AD12A60D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794" y="673122"/>
                <a:ext cx="7239000" cy="5840189"/>
              </a:xfrm>
              <a:prstGeom prst="rect">
                <a:avLst/>
              </a:prstGeom>
              <a:blipFill>
                <a:blip r:embed="rId2"/>
                <a:stretch>
                  <a:fillRect l="-1852" b="-261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148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5BC4189-478B-4E56-8EBD-56DE0B56A17F}"/>
              </a:ext>
            </a:extLst>
          </p:cNvPr>
          <p:cNvSpPr txBox="1"/>
          <p:nvPr/>
        </p:nvSpPr>
        <p:spPr>
          <a:xfrm>
            <a:off x="751256" y="644863"/>
            <a:ext cx="120853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On considère le produit </a:t>
            </a:r>
            <a:r>
              <a:rPr lang="fr-FR" sz="2800" b="1" dirty="0"/>
              <a:t>m × n </a:t>
            </a:r>
            <a:r>
              <a:rPr lang="fr-FR" sz="2800" dirty="0"/>
              <a:t>avec </a:t>
            </a:r>
            <a:r>
              <a:rPr lang="fr-FR" sz="2800" b="1" dirty="0"/>
              <a:t>m</a:t>
            </a:r>
            <a:r>
              <a:rPr lang="fr-FR" sz="2800" dirty="0"/>
              <a:t> et </a:t>
            </a:r>
            <a:r>
              <a:rPr lang="fr-FR" sz="2800" b="1" dirty="0"/>
              <a:t>n</a:t>
            </a:r>
            <a:r>
              <a:rPr lang="fr-FR" sz="2800" dirty="0"/>
              <a:t> deux nombres réels.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D900C1A-A2B0-465F-AA8D-FA79F3F9EBBB}"/>
              </a:ext>
            </a:extLst>
          </p:cNvPr>
          <p:cNvSpPr txBox="1"/>
          <p:nvPr/>
        </p:nvSpPr>
        <p:spPr>
          <a:xfrm>
            <a:off x="106680" y="0"/>
            <a:ext cx="28041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400" b="1" dirty="0">
                <a:solidFill>
                  <a:srgbClr val="7030A0"/>
                </a:solidFill>
              </a:rPr>
              <a:t>Activité 2 :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61FB5CE-84B4-4995-B13C-95A0647D6398}"/>
              </a:ext>
            </a:extLst>
          </p:cNvPr>
          <p:cNvSpPr txBox="1"/>
          <p:nvPr/>
        </p:nvSpPr>
        <p:spPr>
          <a:xfrm>
            <a:off x="1619936" y="1168083"/>
            <a:ext cx="67620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fr-FR" sz="2800" dirty="0"/>
              <a:t>Calculer </a:t>
            </a:r>
            <a:r>
              <a:rPr lang="fr-FR" sz="2800" b="1" dirty="0">
                <a:solidFill>
                  <a:srgbClr val="FF0000"/>
                </a:solidFill>
              </a:rPr>
              <a:t>𝑚×𝑛 </a:t>
            </a:r>
            <a:r>
              <a:rPr lang="fr-FR" sz="2800" dirty="0"/>
              <a:t>si </a:t>
            </a:r>
            <a:r>
              <a:rPr lang="fr-FR" sz="2800" b="1" dirty="0">
                <a:solidFill>
                  <a:schemeClr val="accent1"/>
                </a:solidFill>
              </a:rPr>
              <a:t>m = 0 </a:t>
            </a:r>
          </a:p>
          <a:p>
            <a:r>
              <a:rPr lang="fr-FR" sz="2800" dirty="0"/>
              <a:t>2) Calculer </a:t>
            </a:r>
            <a:r>
              <a:rPr lang="fr-FR" sz="2800" b="1" dirty="0">
                <a:solidFill>
                  <a:srgbClr val="FF0000"/>
                </a:solidFill>
              </a:rPr>
              <a:t>𝑚×𝑛 </a:t>
            </a:r>
            <a:r>
              <a:rPr lang="fr-FR" sz="2800" dirty="0"/>
              <a:t>si </a:t>
            </a:r>
            <a:r>
              <a:rPr lang="fr-FR" sz="2800" b="1" dirty="0">
                <a:solidFill>
                  <a:schemeClr val="accent1"/>
                </a:solidFill>
              </a:rPr>
              <a:t>n = 0 </a:t>
            </a:r>
          </a:p>
          <a:p>
            <a:r>
              <a:rPr lang="fr-FR" sz="2800" dirty="0"/>
              <a:t>3) Que peut-en déduire ?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E4E8B251-F69F-4DEF-9118-0ADA09DC31D8}"/>
              </a:ext>
            </a:extLst>
          </p:cNvPr>
          <p:cNvGrpSpPr/>
          <p:nvPr/>
        </p:nvGrpSpPr>
        <p:grpSpPr>
          <a:xfrm>
            <a:off x="670560" y="2676624"/>
            <a:ext cx="4480560" cy="2743200"/>
            <a:chOff x="502920" y="3721087"/>
            <a:chExt cx="4480560" cy="2743200"/>
          </a:xfrm>
        </p:grpSpPr>
        <p:sp>
          <p:nvSpPr>
            <p:cNvPr id="2" name="Rectangle : coins arrondis 1">
              <a:extLst>
                <a:ext uri="{FF2B5EF4-FFF2-40B4-BE49-F238E27FC236}">
                  <a16:creationId xmlns:a16="http://schemas.microsoft.com/office/drawing/2014/main" id="{98494A0D-5419-48FC-B82A-FDE8E987AF94}"/>
                </a:ext>
              </a:extLst>
            </p:cNvPr>
            <p:cNvSpPr/>
            <p:nvPr/>
          </p:nvSpPr>
          <p:spPr>
            <a:xfrm>
              <a:off x="502920" y="3721087"/>
              <a:ext cx="4480560" cy="2743200"/>
            </a:xfrm>
            <a:custGeom>
              <a:avLst/>
              <a:gdLst>
                <a:gd name="connsiteX0" fmla="*/ 0 w 4480560"/>
                <a:gd name="connsiteY0" fmla="*/ 0 h 2743200"/>
                <a:gd name="connsiteX1" fmla="*/ 0 w 4480560"/>
                <a:gd name="connsiteY1" fmla="*/ 0 h 2743200"/>
                <a:gd name="connsiteX2" fmla="*/ 425653 w 4480560"/>
                <a:gd name="connsiteY2" fmla="*/ 0 h 2743200"/>
                <a:gd name="connsiteX3" fmla="*/ 851306 w 4480560"/>
                <a:gd name="connsiteY3" fmla="*/ 0 h 2743200"/>
                <a:gd name="connsiteX4" fmla="*/ 1321765 w 4480560"/>
                <a:gd name="connsiteY4" fmla="*/ 0 h 2743200"/>
                <a:gd name="connsiteX5" fmla="*/ 1881835 w 4480560"/>
                <a:gd name="connsiteY5" fmla="*/ 0 h 2743200"/>
                <a:gd name="connsiteX6" fmla="*/ 2307488 w 4480560"/>
                <a:gd name="connsiteY6" fmla="*/ 0 h 2743200"/>
                <a:gd name="connsiteX7" fmla="*/ 2867558 w 4480560"/>
                <a:gd name="connsiteY7" fmla="*/ 0 h 2743200"/>
                <a:gd name="connsiteX8" fmla="*/ 3472434 w 4480560"/>
                <a:gd name="connsiteY8" fmla="*/ 0 h 2743200"/>
                <a:gd name="connsiteX9" fmla="*/ 4480560 w 4480560"/>
                <a:gd name="connsiteY9" fmla="*/ 0 h 2743200"/>
                <a:gd name="connsiteX10" fmla="*/ 4480560 w 4480560"/>
                <a:gd name="connsiteY10" fmla="*/ 0 h 2743200"/>
                <a:gd name="connsiteX11" fmla="*/ 4480560 w 4480560"/>
                <a:gd name="connsiteY11" fmla="*/ 576072 h 2743200"/>
                <a:gd name="connsiteX12" fmla="*/ 4480560 w 4480560"/>
                <a:gd name="connsiteY12" fmla="*/ 1152144 h 2743200"/>
                <a:gd name="connsiteX13" fmla="*/ 4480560 w 4480560"/>
                <a:gd name="connsiteY13" fmla="*/ 1645920 h 2743200"/>
                <a:gd name="connsiteX14" fmla="*/ 4480560 w 4480560"/>
                <a:gd name="connsiteY14" fmla="*/ 2194560 h 2743200"/>
                <a:gd name="connsiteX15" fmla="*/ 4480560 w 4480560"/>
                <a:gd name="connsiteY15" fmla="*/ 2743200 h 2743200"/>
                <a:gd name="connsiteX16" fmla="*/ 4480560 w 4480560"/>
                <a:gd name="connsiteY16" fmla="*/ 2743200 h 2743200"/>
                <a:gd name="connsiteX17" fmla="*/ 3965296 w 4480560"/>
                <a:gd name="connsiteY17" fmla="*/ 2743200 h 2743200"/>
                <a:gd name="connsiteX18" fmla="*/ 3450031 w 4480560"/>
                <a:gd name="connsiteY18" fmla="*/ 2743200 h 2743200"/>
                <a:gd name="connsiteX19" fmla="*/ 2800350 w 4480560"/>
                <a:gd name="connsiteY19" fmla="*/ 2743200 h 2743200"/>
                <a:gd name="connsiteX20" fmla="*/ 2329891 w 4480560"/>
                <a:gd name="connsiteY20" fmla="*/ 2743200 h 2743200"/>
                <a:gd name="connsiteX21" fmla="*/ 1859432 w 4480560"/>
                <a:gd name="connsiteY21" fmla="*/ 2743200 h 2743200"/>
                <a:gd name="connsiteX22" fmla="*/ 1344168 w 4480560"/>
                <a:gd name="connsiteY22" fmla="*/ 2743200 h 2743200"/>
                <a:gd name="connsiteX23" fmla="*/ 918515 w 4480560"/>
                <a:gd name="connsiteY23" fmla="*/ 2743200 h 2743200"/>
                <a:gd name="connsiteX24" fmla="*/ 0 w 4480560"/>
                <a:gd name="connsiteY24" fmla="*/ 2743200 h 2743200"/>
                <a:gd name="connsiteX25" fmla="*/ 0 w 4480560"/>
                <a:gd name="connsiteY25" fmla="*/ 2743200 h 2743200"/>
                <a:gd name="connsiteX26" fmla="*/ 0 w 4480560"/>
                <a:gd name="connsiteY26" fmla="*/ 2276856 h 2743200"/>
                <a:gd name="connsiteX27" fmla="*/ 0 w 4480560"/>
                <a:gd name="connsiteY27" fmla="*/ 1783080 h 2743200"/>
                <a:gd name="connsiteX28" fmla="*/ 0 w 4480560"/>
                <a:gd name="connsiteY28" fmla="*/ 1234440 h 2743200"/>
                <a:gd name="connsiteX29" fmla="*/ 0 w 4480560"/>
                <a:gd name="connsiteY29" fmla="*/ 685800 h 2743200"/>
                <a:gd name="connsiteX30" fmla="*/ 0 w 4480560"/>
                <a:gd name="connsiteY30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480560" h="2743200" extrusionOk="0">
                  <a:moveTo>
                    <a:pt x="0" y="0"/>
                  </a:moveTo>
                  <a:lnTo>
                    <a:pt x="0" y="0"/>
                  </a:lnTo>
                  <a:cubicBezTo>
                    <a:pt x="205177" y="-5694"/>
                    <a:pt x="311517" y="17072"/>
                    <a:pt x="425653" y="0"/>
                  </a:cubicBezTo>
                  <a:cubicBezTo>
                    <a:pt x="539789" y="-17072"/>
                    <a:pt x="738621" y="7845"/>
                    <a:pt x="851306" y="0"/>
                  </a:cubicBezTo>
                  <a:cubicBezTo>
                    <a:pt x="963991" y="-7845"/>
                    <a:pt x="1162209" y="17693"/>
                    <a:pt x="1321765" y="0"/>
                  </a:cubicBezTo>
                  <a:cubicBezTo>
                    <a:pt x="1481321" y="-17693"/>
                    <a:pt x="1730684" y="58095"/>
                    <a:pt x="1881835" y="0"/>
                  </a:cubicBezTo>
                  <a:cubicBezTo>
                    <a:pt x="2032986" y="-58095"/>
                    <a:pt x="2200088" y="8828"/>
                    <a:pt x="2307488" y="0"/>
                  </a:cubicBezTo>
                  <a:cubicBezTo>
                    <a:pt x="2414888" y="-8828"/>
                    <a:pt x="2634282" y="1845"/>
                    <a:pt x="2867558" y="0"/>
                  </a:cubicBezTo>
                  <a:cubicBezTo>
                    <a:pt x="3100834" y="-1845"/>
                    <a:pt x="3350326" y="54544"/>
                    <a:pt x="3472434" y="0"/>
                  </a:cubicBezTo>
                  <a:cubicBezTo>
                    <a:pt x="3594542" y="-54544"/>
                    <a:pt x="4215946" y="20818"/>
                    <a:pt x="4480560" y="0"/>
                  </a:cubicBezTo>
                  <a:lnTo>
                    <a:pt x="4480560" y="0"/>
                  </a:lnTo>
                  <a:cubicBezTo>
                    <a:pt x="4491486" y="176113"/>
                    <a:pt x="4418758" y="301992"/>
                    <a:pt x="4480560" y="576072"/>
                  </a:cubicBezTo>
                  <a:cubicBezTo>
                    <a:pt x="4542362" y="850152"/>
                    <a:pt x="4443367" y="913698"/>
                    <a:pt x="4480560" y="1152144"/>
                  </a:cubicBezTo>
                  <a:cubicBezTo>
                    <a:pt x="4517753" y="1390590"/>
                    <a:pt x="4467171" y="1515136"/>
                    <a:pt x="4480560" y="1645920"/>
                  </a:cubicBezTo>
                  <a:cubicBezTo>
                    <a:pt x="4493949" y="1776704"/>
                    <a:pt x="4420444" y="2055725"/>
                    <a:pt x="4480560" y="2194560"/>
                  </a:cubicBezTo>
                  <a:cubicBezTo>
                    <a:pt x="4540676" y="2333395"/>
                    <a:pt x="4469270" y="2556468"/>
                    <a:pt x="4480560" y="2743200"/>
                  </a:cubicBezTo>
                  <a:lnTo>
                    <a:pt x="4480560" y="2743200"/>
                  </a:lnTo>
                  <a:cubicBezTo>
                    <a:pt x="4241099" y="2781221"/>
                    <a:pt x="4176551" y="2685181"/>
                    <a:pt x="3965296" y="2743200"/>
                  </a:cubicBezTo>
                  <a:cubicBezTo>
                    <a:pt x="3754041" y="2801219"/>
                    <a:pt x="3704306" y="2694570"/>
                    <a:pt x="3450031" y="2743200"/>
                  </a:cubicBezTo>
                  <a:cubicBezTo>
                    <a:pt x="3195757" y="2791830"/>
                    <a:pt x="3100294" y="2689928"/>
                    <a:pt x="2800350" y="2743200"/>
                  </a:cubicBezTo>
                  <a:cubicBezTo>
                    <a:pt x="2500406" y="2796472"/>
                    <a:pt x="2479831" y="2734495"/>
                    <a:pt x="2329891" y="2743200"/>
                  </a:cubicBezTo>
                  <a:cubicBezTo>
                    <a:pt x="2179951" y="2751905"/>
                    <a:pt x="2073639" y="2739633"/>
                    <a:pt x="1859432" y="2743200"/>
                  </a:cubicBezTo>
                  <a:cubicBezTo>
                    <a:pt x="1645225" y="2746767"/>
                    <a:pt x="1545291" y="2704116"/>
                    <a:pt x="1344168" y="2743200"/>
                  </a:cubicBezTo>
                  <a:cubicBezTo>
                    <a:pt x="1143045" y="2782284"/>
                    <a:pt x="1080915" y="2710267"/>
                    <a:pt x="918515" y="2743200"/>
                  </a:cubicBezTo>
                  <a:cubicBezTo>
                    <a:pt x="756115" y="2776133"/>
                    <a:pt x="344672" y="2640040"/>
                    <a:pt x="0" y="2743200"/>
                  </a:cubicBezTo>
                  <a:lnTo>
                    <a:pt x="0" y="2743200"/>
                  </a:lnTo>
                  <a:cubicBezTo>
                    <a:pt x="-24288" y="2626651"/>
                    <a:pt x="3071" y="2374957"/>
                    <a:pt x="0" y="2276856"/>
                  </a:cubicBezTo>
                  <a:cubicBezTo>
                    <a:pt x="-3071" y="2178755"/>
                    <a:pt x="18455" y="1885553"/>
                    <a:pt x="0" y="1783080"/>
                  </a:cubicBezTo>
                  <a:cubicBezTo>
                    <a:pt x="-18455" y="1680607"/>
                    <a:pt x="27284" y="1404915"/>
                    <a:pt x="0" y="1234440"/>
                  </a:cubicBezTo>
                  <a:cubicBezTo>
                    <a:pt x="-27284" y="1063965"/>
                    <a:pt x="13939" y="940326"/>
                    <a:pt x="0" y="685800"/>
                  </a:cubicBezTo>
                  <a:cubicBezTo>
                    <a:pt x="-13939" y="431274"/>
                    <a:pt x="72281" y="252210"/>
                    <a:pt x="0" y="0"/>
                  </a:cubicBez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extLst>
                <a:ext uri="{C807C97D-BFC1-408E-A445-0C87EB9F89A2}">
                  <ask:lineSketchStyleProps xmlns:ask="http://schemas.microsoft.com/office/drawing/2018/sketchyshapes" sd="451804057">
                    <a:prstGeom prst="roundRect">
                      <a:avLst>
                        <a:gd name="adj" fmla="val 0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CC320BA5-A317-4ACA-9CFB-2529BAF79376}"/>
                </a:ext>
              </a:extLst>
            </p:cNvPr>
            <p:cNvSpPr txBox="1"/>
            <p:nvPr/>
          </p:nvSpPr>
          <p:spPr>
            <a:xfrm>
              <a:off x="595001" y="3938525"/>
              <a:ext cx="4296397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600" dirty="0"/>
                <a:t>Si </a:t>
              </a:r>
              <a:r>
                <a:rPr lang="fr-FR" sz="3600" b="1" dirty="0">
                  <a:solidFill>
                    <a:srgbClr val="00B050"/>
                  </a:solidFill>
                </a:rPr>
                <a:t>m=0</a:t>
              </a:r>
              <a:r>
                <a:rPr lang="fr-FR" sz="3600" dirty="0"/>
                <a:t>, alors :</a:t>
              </a:r>
            </a:p>
            <a:p>
              <a:r>
                <a:rPr lang="fr-FR" sz="3600" b="1" dirty="0">
                  <a:solidFill>
                    <a:srgbClr val="00B050"/>
                  </a:solidFill>
                </a:rPr>
                <a:t>𝑚</a:t>
              </a:r>
              <a:r>
                <a:rPr lang="fr-FR" sz="3600" dirty="0"/>
                <a:t> × 𝑛 = </a:t>
              </a:r>
              <a:r>
                <a:rPr lang="fr-FR" sz="3600" b="1" dirty="0">
                  <a:solidFill>
                    <a:srgbClr val="00B050"/>
                  </a:solidFill>
                </a:rPr>
                <a:t>0</a:t>
              </a:r>
              <a:r>
                <a:rPr lang="fr-FR" sz="3600" dirty="0"/>
                <a:t> × 𝑛 = 0</a:t>
              </a:r>
            </a:p>
            <a:p>
              <a:r>
                <a:rPr lang="fr-FR" sz="3600" dirty="0"/>
                <a:t>Donc :</a:t>
              </a:r>
            </a:p>
            <a:p>
              <a:pPr algn="ctr"/>
              <a:r>
                <a:rPr lang="fr-FR" sz="3600" dirty="0"/>
                <a:t>𝑚×𝑛 = 0</a:t>
              </a:r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F45BE50C-0073-40EC-8EF1-E3CE96281FC3}"/>
              </a:ext>
            </a:extLst>
          </p:cNvPr>
          <p:cNvGrpSpPr/>
          <p:nvPr/>
        </p:nvGrpSpPr>
        <p:grpSpPr>
          <a:xfrm>
            <a:off x="6793916" y="2676624"/>
            <a:ext cx="4480560" cy="2743200"/>
            <a:chOff x="502920" y="3721087"/>
            <a:chExt cx="4480560" cy="2743200"/>
          </a:xfrm>
        </p:grpSpPr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1B693144-58A3-4EBE-B90F-086893039CB1}"/>
                </a:ext>
              </a:extLst>
            </p:cNvPr>
            <p:cNvSpPr/>
            <p:nvPr/>
          </p:nvSpPr>
          <p:spPr>
            <a:xfrm>
              <a:off x="502920" y="3721087"/>
              <a:ext cx="4480560" cy="2743200"/>
            </a:xfrm>
            <a:custGeom>
              <a:avLst/>
              <a:gdLst>
                <a:gd name="connsiteX0" fmla="*/ 0 w 4480560"/>
                <a:gd name="connsiteY0" fmla="*/ 0 h 2743200"/>
                <a:gd name="connsiteX1" fmla="*/ 0 w 4480560"/>
                <a:gd name="connsiteY1" fmla="*/ 0 h 2743200"/>
                <a:gd name="connsiteX2" fmla="*/ 425653 w 4480560"/>
                <a:gd name="connsiteY2" fmla="*/ 0 h 2743200"/>
                <a:gd name="connsiteX3" fmla="*/ 851306 w 4480560"/>
                <a:gd name="connsiteY3" fmla="*/ 0 h 2743200"/>
                <a:gd name="connsiteX4" fmla="*/ 1321765 w 4480560"/>
                <a:gd name="connsiteY4" fmla="*/ 0 h 2743200"/>
                <a:gd name="connsiteX5" fmla="*/ 1881835 w 4480560"/>
                <a:gd name="connsiteY5" fmla="*/ 0 h 2743200"/>
                <a:gd name="connsiteX6" fmla="*/ 2307488 w 4480560"/>
                <a:gd name="connsiteY6" fmla="*/ 0 h 2743200"/>
                <a:gd name="connsiteX7" fmla="*/ 2867558 w 4480560"/>
                <a:gd name="connsiteY7" fmla="*/ 0 h 2743200"/>
                <a:gd name="connsiteX8" fmla="*/ 3472434 w 4480560"/>
                <a:gd name="connsiteY8" fmla="*/ 0 h 2743200"/>
                <a:gd name="connsiteX9" fmla="*/ 4480560 w 4480560"/>
                <a:gd name="connsiteY9" fmla="*/ 0 h 2743200"/>
                <a:gd name="connsiteX10" fmla="*/ 4480560 w 4480560"/>
                <a:gd name="connsiteY10" fmla="*/ 0 h 2743200"/>
                <a:gd name="connsiteX11" fmla="*/ 4480560 w 4480560"/>
                <a:gd name="connsiteY11" fmla="*/ 576072 h 2743200"/>
                <a:gd name="connsiteX12" fmla="*/ 4480560 w 4480560"/>
                <a:gd name="connsiteY12" fmla="*/ 1152144 h 2743200"/>
                <a:gd name="connsiteX13" fmla="*/ 4480560 w 4480560"/>
                <a:gd name="connsiteY13" fmla="*/ 1645920 h 2743200"/>
                <a:gd name="connsiteX14" fmla="*/ 4480560 w 4480560"/>
                <a:gd name="connsiteY14" fmla="*/ 2194560 h 2743200"/>
                <a:gd name="connsiteX15" fmla="*/ 4480560 w 4480560"/>
                <a:gd name="connsiteY15" fmla="*/ 2743200 h 2743200"/>
                <a:gd name="connsiteX16" fmla="*/ 4480560 w 4480560"/>
                <a:gd name="connsiteY16" fmla="*/ 2743200 h 2743200"/>
                <a:gd name="connsiteX17" fmla="*/ 3965296 w 4480560"/>
                <a:gd name="connsiteY17" fmla="*/ 2743200 h 2743200"/>
                <a:gd name="connsiteX18" fmla="*/ 3450031 w 4480560"/>
                <a:gd name="connsiteY18" fmla="*/ 2743200 h 2743200"/>
                <a:gd name="connsiteX19" fmla="*/ 2800350 w 4480560"/>
                <a:gd name="connsiteY19" fmla="*/ 2743200 h 2743200"/>
                <a:gd name="connsiteX20" fmla="*/ 2329891 w 4480560"/>
                <a:gd name="connsiteY20" fmla="*/ 2743200 h 2743200"/>
                <a:gd name="connsiteX21" fmla="*/ 1859432 w 4480560"/>
                <a:gd name="connsiteY21" fmla="*/ 2743200 h 2743200"/>
                <a:gd name="connsiteX22" fmla="*/ 1344168 w 4480560"/>
                <a:gd name="connsiteY22" fmla="*/ 2743200 h 2743200"/>
                <a:gd name="connsiteX23" fmla="*/ 918515 w 4480560"/>
                <a:gd name="connsiteY23" fmla="*/ 2743200 h 2743200"/>
                <a:gd name="connsiteX24" fmla="*/ 0 w 4480560"/>
                <a:gd name="connsiteY24" fmla="*/ 2743200 h 2743200"/>
                <a:gd name="connsiteX25" fmla="*/ 0 w 4480560"/>
                <a:gd name="connsiteY25" fmla="*/ 2743200 h 2743200"/>
                <a:gd name="connsiteX26" fmla="*/ 0 w 4480560"/>
                <a:gd name="connsiteY26" fmla="*/ 2276856 h 2743200"/>
                <a:gd name="connsiteX27" fmla="*/ 0 w 4480560"/>
                <a:gd name="connsiteY27" fmla="*/ 1783080 h 2743200"/>
                <a:gd name="connsiteX28" fmla="*/ 0 w 4480560"/>
                <a:gd name="connsiteY28" fmla="*/ 1234440 h 2743200"/>
                <a:gd name="connsiteX29" fmla="*/ 0 w 4480560"/>
                <a:gd name="connsiteY29" fmla="*/ 685800 h 2743200"/>
                <a:gd name="connsiteX30" fmla="*/ 0 w 4480560"/>
                <a:gd name="connsiteY30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480560" h="2743200" extrusionOk="0">
                  <a:moveTo>
                    <a:pt x="0" y="0"/>
                  </a:moveTo>
                  <a:lnTo>
                    <a:pt x="0" y="0"/>
                  </a:lnTo>
                  <a:cubicBezTo>
                    <a:pt x="205177" y="-5694"/>
                    <a:pt x="311517" y="17072"/>
                    <a:pt x="425653" y="0"/>
                  </a:cubicBezTo>
                  <a:cubicBezTo>
                    <a:pt x="539789" y="-17072"/>
                    <a:pt x="738621" y="7845"/>
                    <a:pt x="851306" y="0"/>
                  </a:cubicBezTo>
                  <a:cubicBezTo>
                    <a:pt x="963991" y="-7845"/>
                    <a:pt x="1162209" y="17693"/>
                    <a:pt x="1321765" y="0"/>
                  </a:cubicBezTo>
                  <a:cubicBezTo>
                    <a:pt x="1481321" y="-17693"/>
                    <a:pt x="1730684" y="58095"/>
                    <a:pt x="1881835" y="0"/>
                  </a:cubicBezTo>
                  <a:cubicBezTo>
                    <a:pt x="2032986" y="-58095"/>
                    <a:pt x="2200088" y="8828"/>
                    <a:pt x="2307488" y="0"/>
                  </a:cubicBezTo>
                  <a:cubicBezTo>
                    <a:pt x="2414888" y="-8828"/>
                    <a:pt x="2634282" y="1845"/>
                    <a:pt x="2867558" y="0"/>
                  </a:cubicBezTo>
                  <a:cubicBezTo>
                    <a:pt x="3100834" y="-1845"/>
                    <a:pt x="3350326" y="54544"/>
                    <a:pt x="3472434" y="0"/>
                  </a:cubicBezTo>
                  <a:cubicBezTo>
                    <a:pt x="3594542" y="-54544"/>
                    <a:pt x="4215946" y="20818"/>
                    <a:pt x="4480560" y="0"/>
                  </a:cubicBezTo>
                  <a:lnTo>
                    <a:pt x="4480560" y="0"/>
                  </a:lnTo>
                  <a:cubicBezTo>
                    <a:pt x="4491486" y="176113"/>
                    <a:pt x="4418758" y="301992"/>
                    <a:pt x="4480560" y="576072"/>
                  </a:cubicBezTo>
                  <a:cubicBezTo>
                    <a:pt x="4542362" y="850152"/>
                    <a:pt x="4443367" y="913698"/>
                    <a:pt x="4480560" y="1152144"/>
                  </a:cubicBezTo>
                  <a:cubicBezTo>
                    <a:pt x="4517753" y="1390590"/>
                    <a:pt x="4467171" y="1515136"/>
                    <a:pt x="4480560" y="1645920"/>
                  </a:cubicBezTo>
                  <a:cubicBezTo>
                    <a:pt x="4493949" y="1776704"/>
                    <a:pt x="4420444" y="2055725"/>
                    <a:pt x="4480560" y="2194560"/>
                  </a:cubicBezTo>
                  <a:cubicBezTo>
                    <a:pt x="4540676" y="2333395"/>
                    <a:pt x="4469270" y="2556468"/>
                    <a:pt x="4480560" y="2743200"/>
                  </a:cubicBezTo>
                  <a:lnTo>
                    <a:pt x="4480560" y="2743200"/>
                  </a:lnTo>
                  <a:cubicBezTo>
                    <a:pt x="4241099" y="2781221"/>
                    <a:pt x="4176551" y="2685181"/>
                    <a:pt x="3965296" y="2743200"/>
                  </a:cubicBezTo>
                  <a:cubicBezTo>
                    <a:pt x="3754041" y="2801219"/>
                    <a:pt x="3704306" y="2694570"/>
                    <a:pt x="3450031" y="2743200"/>
                  </a:cubicBezTo>
                  <a:cubicBezTo>
                    <a:pt x="3195757" y="2791830"/>
                    <a:pt x="3100294" y="2689928"/>
                    <a:pt x="2800350" y="2743200"/>
                  </a:cubicBezTo>
                  <a:cubicBezTo>
                    <a:pt x="2500406" y="2796472"/>
                    <a:pt x="2479831" y="2734495"/>
                    <a:pt x="2329891" y="2743200"/>
                  </a:cubicBezTo>
                  <a:cubicBezTo>
                    <a:pt x="2179951" y="2751905"/>
                    <a:pt x="2073639" y="2739633"/>
                    <a:pt x="1859432" y="2743200"/>
                  </a:cubicBezTo>
                  <a:cubicBezTo>
                    <a:pt x="1645225" y="2746767"/>
                    <a:pt x="1545291" y="2704116"/>
                    <a:pt x="1344168" y="2743200"/>
                  </a:cubicBezTo>
                  <a:cubicBezTo>
                    <a:pt x="1143045" y="2782284"/>
                    <a:pt x="1080915" y="2710267"/>
                    <a:pt x="918515" y="2743200"/>
                  </a:cubicBezTo>
                  <a:cubicBezTo>
                    <a:pt x="756115" y="2776133"/>
                    <a:pt x="344672" y="2640040"/>
                    <a:pt x="0" y="2743200"/>
                  </a:cubicBezTo>
                  <a:lnTo>
                    <a:pt x="0" y="2743200"/>
                  </a:lnTo>
                  <a:cubicBezTo>
                    <a:pt x="-24288" y="2626651"/>
                    <a:pt x="3071" y="2374957"/>
                    <a:pt x="0" y="2276856"/>
                  </a:cubicBezTo>
                  <a:cubicBezTo>
                    <a:pt x="-3071" y="2178755"/>
                    <a:pt x="18455" y="1885553"/>
                    <a:pt x="0" y="1783080"/>
                  </a:cubicBezTo>
                  <a:cubicBezTo>
                    <a:pt x="-18455" y="1680607"/>
                    <a:pt x="27284" y="1404915"/>
                    <a:pt x="0" y="1234440"/>
                  </a:cubicBezTo>
                  <a:cubicBezTo>
                    <a:pt x="-27284" y="1063965"/>
                    <a:pt x="13939" y="940326"/>
                    <a:pt x="0" y="685800"/>
                  </a:cubicBezTo>
                  <a:cubicBezTo>
                    <a:pt x="-13939" y="431274"/>
                    <a:pt x="72281" y="252210"/>
                    <a:pt x="0" y="0"/>
                  </a:cubicBez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extLst>
                <a:ext uri="{C807C97D-BFC1-408E-A445-0C87EB9F89A2}">
                  <ask:lineSketchStyleProps xmlns:ask="http://schemas.microsoft.com/office/drawing/2018/sketchyshapes" sd="451804057">
                    <a:prstGeom prst="roundRect">
                      <a:avLst>
                        <a:gd name="adj" fmla="val 0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69639F84-0CF0-4AA2-AA0F-F6DF32A1DB6F}"/>
                </a:ext>
              </a:extLst>
            </p:cNvPr>
            <p:cNvSpPr txBox="1"/>
            <p:nvPr/>
          </p:nvSpPr>
          <p:spPr>
            <a:xfrm>
              <a:off x="595001" y="3938525"/>
              <a:ext cx="4296397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600" dirty="0"/>
                <a:t>Si </a:t>
              </a:r>
              <a:r>
                <a:rPr lang="fr-FR" sz="3600" b="1" dirty="0">
                  <a:solidFill>
                    <a:srgbClr val="00B050"/>
                  </a:solidFill>
                </a:rPr>
                <a:t>n=0</a:t>
              </a:r>
              <a:r>
                <a:rPr lang="fr-FR" sz="3600" dirty="0"/>
                <a:t>, alors :</a:t>
              </a:r>
            </a:p>
            <a:p>
              <a:r>
                <a:rPr lang="fr-FR" sz="3600" dirty="0"/>
                <a:t>𝑚 × </a:t>
              </a:r>
              <a:r>
                <a:rPr lang="fr-FR" sz="3600" b="1" dirty="0">
                  <a:solidFill>
                    <a:srgbClr val="00B050"/>
                  </a:solidFill>
                </a:rPr>
                <a:t>𝑛</a:t>
              </a:r>
              <a:r>
                <a:rPr lang="fr-FR" sz="3600" dirty="0"/>
                <a:t> = 𝑚 × </a:t>
              </a:r>
              <a:r>
                <a:rPr lang="fr-FR" sz="3600" b="1" dirty="0">
                  <a:solidFill>
                    <a:srgbClr val="00B050"/>
                  </a:solidFill>
                </a:rPr>
                <a:t>0</a:t>
              </a:r>
              <a:r>
                <a:rPr lang="fr-FR" sz="3600" dirty="0"/>
                <a:t> = 0</a:t>
              </a:r>
            </a:p>
            <a:p>
              <a:r>
                <a:rPr lang="fr-FR" sz="3600" dirty="0"/>
                <a:t>Donc :</a:t>
              </a:r>
            </a:p>
            <a:p>
              <a:pPr algn="ctr"/>
              <a:r>
                <a:rPr lang="fr-FR" sz="3600" dirty="0"/>
                <a:t>𝑚×𝑛 = 0</a:t>
              </a:r>
            </a:p>
          </p:txBody>
        </p:sp>
      </p:grpSp>
      <p:sp>
        <p:nvSpPr>
          <p:cNvPr id="16" name="ZoneTexte 15">
            <a:extLst>
              <a:ext uri="{FF2B5EF4-FFF2-40B4-BE49-F238E27FC236}">
                <a16:creationId xmlns:a16="http://schemas.microsoft.com/office/drawing/2014/main" id="{30990182-07F7-4B8A-BE91-067EFFF4CFE7}"/>
              </a:ext>
            </a:extLst>
          </p:cNvPr>
          <p:cNvSpPr txBox="1"/>
          <p:nvPr/>
        </p:nvSpPr>
        <p:spPr>
          <a:xfrm>
            <a:off x="1261796" y="5951527"/>
            <a:ext cx="10012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3) Si l’un des deux facteurs est égal à 0, alors le produit est égal à 0.</a:t>
            </a:r>
          </a:p>
        </p:txBody>
      </p:sp>
    </p:spTree>
    <p:extLst>
      <p:ext uri="{BB962C8B-B14F-4D97-AF65-F5344CB8AC3E}">
        <p14:creationId xmlns:p14="http://schemas.microsoft.com/office/powerpoint/2010/main" val="752325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B6FD8DA0-8C4D-4AE4-9CDA-EED76D3A32D3}"/>
              </a:ext>
            </a:extLst>
          </p:cNvPr>
          <p:cNvSpPr txBox="1"/>
          <p:nvPr/>
        </p:nvSpPr>
        <p:spPr>
          <a:xfrm>
            <a:off x="106680" y="98941"/>
            <a:ext cx="46653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II. Équations "Produit Nul"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E7FF6DD-4F75-497B-8512-FE9C40ED7DEB}"/>
              </a:ext>
            </a:extLst>
          </p:cNvPr>
          <p:cNvSpPr txBox="1"/>
          <p:nvPr/>
        </p:nvSpPr>
        <p:spPr>
          <a:xfrm>
            <a:off x="529590" y="678041"/>
            <a:ext cx="23964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i="1" u="sng" dirty="0">
                <a:solidFill>
                  <a:srgbClr val="7030A0"/>
                </a:solidFill>
              </a:rPr>
              <a:t>a. Propriété</a:t>
            </a:r>
            <a:r>
              <a:rPr lang="fr-FR" b="1" i="0" dirty="0">
                <a:solidFill>
                  <a:srgbClr val="FF6B6B"/>
                </a:solidFill>
                <a:effectLst/>
                <a:latin typeface="Segoe UI" panose="020B0502040204020203" pitchFamily="34" charset="0"/>
              </a:rPr>
              <a:t> </a:t>
            </a:r>
            <a:endParaRPr lang="fr-FR" dirty="0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F091DE67-B09B-44B7-AA14-DC350F39F6D9}"/>
              </a:ext>
            </a:extLst>
          </p:cNvPr>
          <p:cNvGrpSpPr/>
          <p:nvPr/>
        </p:nvGrpSpPr>
        <p:grpSpPr>
          <a:xfrm>
            <a:off x="691208" y="1281836"/>
            <a:ext cx="10256520" cy="2269084"/>
            <a:chOff x="691208" y="1281836"/>
            <a:chExt cx="10256520" cy="2269084"/>
          </a:xfrm>
        </p:grpSpPr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878C6FDE-D8DD-4A36-B04E-52F522898C94}"/>
                </a:ext>
              </a:extLst>
            </p:cNvPr>
            <p:cNvSpPr/>
            <p:nvPr/>
          </p:nvSpPr>
          <p:spPr>
            <a:xfrm>
              <a:off x="1841582" y="2568778"/>
              <a:ext cx="7975436" cy="641738"/>
            </a:xfrm>
            <a:custGeom>
              <a:avLst/>
              <a:gdLst>
                <a:gd name="connsiteX0" fmla="*/ 0 w 7975436"/>
                <a:gd name="connsiteY0" fmla="*/ 301424 h 641738"/>
                <a:gd name="connsiteX1" fmla="*/ 301424 w 7975436"/>
                <a:gd name="connsiteY1" fmla="*/ 0 h 641738"/>
                <a:gd name="connsiteX2" fmla="*/ 868546 w 7975436"/>
                <a:gd name="connsiteY2" fmla="*/ 0 h 641738"/>
                <a:gd name="connsiteX3" fmla="*/ 1288217 w 7975436"/>
                <a:gd name="connsiteY3" fmla="*/ 0 h 641738"/>
                <a:gd name="connsiteX4" fmla="*/ 1634161 w 7975436"/>
                <a:gd name="connsiteY4" fmla="*/ 0 h 641738"/>
                <a:gd name="connsiteX5" fmla="*/ 1980106 w 7975436"/>
                <a:gd name="connsiteY5" fmla="*/ 0 h 641738"/>
                <a:gd name="connsiteX6" fmla="*/ 2620954 w 7975436"/>
                <a:gd name="connsiteY6" fmla="*/ 0 h 641738"/>
                <a:gd name="connsiteX7" fmla="*/ 3040624 w 7975436"/>
                <a:gd name="connsiteY7" fmla="*/ 0 h 641738"/>
                <a:gd name="connsiteX8" fmla="*/ 3681472 w 7975436"/>
                <a:gd name="connsiteY8" fmla="*/ 0 h 641738"/>
                <a:gd name="connsiteX9" fmla="*/ 4322320 w 7975436"/>
                <a:gd name="connsiteY9" fmla="*/ 0 h 641738"/>
                <a:gd name="connsiteX10" fmla="*/ 4963168 w 7975436"/>
                <a:gd name="connsiteY10" fmla="*/ 0 h 641738"/>
                <a:gd name="connsiteX11" fmla="*/ 5456564 w 7975436"/>
                <a:gd name="connsiteY11" fmla="*/ 0 h 641738"/>
                <a:gd name="connsiteX12" fmla="*/ 6171138 w 7975436"/>
                <a:gd name="connsiteY12" fmla="*/ 0 h 641738"/>
                <a:gd name="connsiteX13" fmla="*/ 6664535 w 7975436"/>
                <a:gd name="connsiteY13" fmla="*/ 0 h 641738"/>
                <a:gd name="connsiteX14" fmla="*/ 7157931 w 7975436"/>
                <a:gd name="connsiteY14" fmla="*/ 0 h 641738"/>
                <a:gd name="connsiteX15" fmla="*/ 7674012 w 7975436"/>
                <a:gd name="connsiteY15" fmla="*/ 0 h 641738"/>
                <a:gd name="connsiteX16" fmla="*/ 7975436 w 7975436"/>
                <a:gd name="connsiteY16" fmla="*/ 301424 h 641738"/>
                <a:gd name="connsiteX17" fmla="*/ 7975436 w 7975436"/>
                <a:gd name="connsiteY17" fmla="*/ 340314 h 641738"/>
                <a:gd name="connsiteX18" fmla="*/ 7674012 w 7975436"/>
                <a:gd name="connsiteY18" fmla="*/ 641738 h 641738"/>
                <a:gd name="connsiteX19" fmla="*/ 7033164 w 7975436"/>
                <a:gd name="connsiteY19" fmla="*/ 641738 h 641738"/>
                <a:gd name="connsiteX20" fmla="*/ 6687219 w 7975436"/>
                <a:gd name="connsiteY20" fmla="*/ 641738 h 641738"/>
                <a:gd name="connsiteX21" fmla="*/ 6120097 w 7975436"/>
                <a:gd name="connsiteY21" fmla="*/ 641738 h 641738"/>
                <a:gd name="connsiteX22" fmla="*/ 5700427 w 7975436"/>
                <a:gd name="connsiteY22" fmla="*/ 641738 h 641738"/>
                <a:gd name="connsiteX23" fmla="*/ 5133305 w 7975436"/>
                <a:gd name="connsiteY23" fmla="*/ 641738 h 641738"/>
                <a:gd name="connsiteX24" fmla="*/ 4787360 w 7975436"/>
                <a:gd name="connsiteY24" fmla="*/ 641738 h 641738"/>
                <a:gd name="connsiteX25" fmla="*/ 4146512 w 7975436"/>
                <a:gd name="connsiteY25" fmla="*/ 641738 h 641738"/>
                <a:gd name="connsiteX26" fmla="*/ 3800568 w 7975436"/>
                <a:gd name="connsiteY26" fmla="*/ 641738 h 641738"/>
                <a:gd name="connsiteX27" fmla="*/ 3159720 w 7975436"/>
                <a:gd name="connsiteY27" fmla="*/ 641738 h 641738"/>
                <a:gd name="connsiteX28" fmla="*/ 2740049 w 7975436"/>
                <a:gd name="connsiteY28" fmla="*/ 641738 h 641738"/>
                <a:gd name="connsiteX29" fmla="*/ 2394105 w 7975436"/>
                <a:gd name="connsiteY29" fmla="*/ 641738 h 641738"/>
                <a:gd name="connsiteX30" fmla="*/ 1826983 w 7975436"/>
                <a:gd name="connsiteY30" fmla="*/ 641738 h 641738"/>
                <a:gd name="connsiteX31" fmla="*/ 1112409 w 7975436"/>
                <a:gd name="connsiteY31" fmla="*/ 641738 h 641738"/>
                <a:gd name="connsiteX32" fmla="*/ 301424 w 7975436"/>
                <a:gd name="connsiteY32" fmla="*/ 641738 h 641738"/>
                <a:gd name="connsiteX33" fmla="*/ 0 w 7975436"/>
                <a:gd name="connsiteY33" fmla="*/ 340314 h 641738"/>
                <a:gd name="connsiteX34" fmla="*/ 0 w 7975436"/>
                <a:gd name="connsiteY34" fmla="*/ 301424 h 64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7975436" h="641738" fill="none" extrusionOk="0">
                  <a:moveTo>
                    <a:pt x="0" y="301424"/>
                  </a:moveTo>
                  <a:cubicBezTo>
                    <a:pt x="13729" y="133579"/>
                    <a:pt x="107017" y="-2602"/>
                    <a:pt x="301424" y="0"/>
                  </a:cubicBezTo>
                  <a:cubicBezTo>
                    <a:pt x="575377" y="-1320"/>
                    <a:pt x="660444" y="19306"/>
                    <a:pt x="868546" y="0"/>
                  </a:cubicBezTo>
                  <a:cubicBezTo>
                    <a:pt x="1076648" y="-19306"/>
                    <a:pt x="1182023" y="44847"/>
                    <a:pt x="1288217" y="0"/>
                  </a:cubicBezTo>
                  <a:cubicBezTo>
                    <a:pt x="1394411" y="-44847"/>
                    <a:pt x="1469612" y="15479"/>
                    <a:pt x="1634161" y="0"/>
                  </a:cubicBezTo>
                  <a:cubicBezTo>
                    <a:pt x="1798710" y="-15479"/>
                    <a:pt x="1894352" y="11908"/>
                    <a:pt x="1980106" y="0"/>
                  </a:cubicBezTo>
                  <a:cubicBezTo>
                    <a:pt x="2065860" y="-11908"/>
                    <a:pt x="2347631" y="1613"/>
                    <a:pt x="2620954" y="0"/>
                  </a:cubicBezTo>
                  <a:cubicBezTo>
                    <a:pt x="2894277" y="-1613"/>
                    <a:pt x="2836557" y="39728"/>
                    <a:pt x="3040624" y="0"/>
                  </a:cubicBezTo>
                  <a:cubicBezTo>
                    <a:pt x="3244691" y="-39728"/>
                    <a:pt x="3509167" y="4775"/>
                    <a:pt x="3681472" y="0"/>
                  </a:cubicBezTo>
                  <a:cubicBezTo>
                    <a:pt x="3853777" y="-4775"/>
                    <a:pt x="4183031" y="43140"/>
                    <a:pt x="4322320" y="0"/>
                  </a:cubicBezTo>
                  <a:cubicBezTo>
                    <a:pt x="4461609" y="-43140"/>
                    <a:pt x="4742967" y="17523"/>
                    <a:pt x="4963168" y="0"/>
                  </a:cubicBezTo>
                  <a:cubicBezTo>
                    <a:pt x="5183369" y="-17523"/>
                    <a:pt x="5210768" y="37374"/>
                    <a:pt x="5456564" y="0"/>
                  </a:cubicBezTo>
                  <a:cubicBezTo>
                    <a:pt x="5702360" y="-37374"/>
                    <a:pt x="5840746" y="73667"/>
                    <a:pt x="6171138" y="0"/>
                  </a:cubicBezTo>
                  <a:cubicBezTo>
                    <a:pt x="6501530" y="-73667"/>
                    <a:pt x="6441890" y="10851"/>
                    <a:pt x="6664535" y="0"/>
                  </a:cubicBezTo>
                  <a:cubicBezTo>
                    <a:pt x="6887180" y="-10851"/>
                    <a:pt x="6971757" y="13668"/>
                    <a:pt x="7157931" y="0"/>
                  </a:cubicBezTo>
                  <a:cubicBezTo>
                    <a:pt x="7344105" y="-13668"/>
                    <a:pt x="7423654" y="13489"/>
                    <a:pt x="7674012" y="0"/>
                  </a:cubicBezTo>
                  <a:cubicBezTo>
                    <a:pt x="7837516" y="-17625"/>
                    <a:pt x="7967265" y="132559"/>
                    <a:pt x="7975436" y="301424"/>
                  </a:cubicBezTo>
                  <a:cubicBezTo>
                    <a:pt x="7977205" y="315093"/>
                    <a:pt x="7973799" y="325274"/>
                    <a:pt x="7975436" y="340314"/>
                  </a:cubicBezTo>
                  <a:cubicBezTo>
                    <a:pt x="7958801" y="535276"/>
                    <a:pt x="7797759" y="651828"/>
                    <a:pt x="7674012" y="641738"/>
                  </a:cubicBezTo>
                  <a:cubicBezTo>
                    <a:pt x="7361073" y="676357"/>
                    <a:pt x="7331858" y="591655"/>
                    <a:pt x="7033164" y="641738"/>
                  </a:cubicBezTo>
                  <a:cubicBezTo>
                    <a:pt x="6734470" y="691821"/>
                    <a:pt x="6758173" y="632707"/>
                    <a:pt x="6687219" y="641738"/>
                  </a:cubicBezTo>
                  <a:cubicBezTo>
                    <a:pt x="6616266" y="650769"/>
                    <a:pt x="6356916" y="599599"/>
                    <a:pt x="6120097" y="641738"/>
                  </a:cubicBezTo>
                  <a:cubicBezTo>
                    <a:pt x="5883278" y="683877"/>
                    <a:pt x="5909592" y="633111"/>
                    <a:pt x="5700427" y="641738"/>
                  </a:cubicBezTo>
                  <a:cubicBezTo>
                    <a:pt x="5491262" y="650365"/>
                    <a:pt x="5322229" y="641012"/>
                    <a:pt x="5133305" y="641738"/>
                  </a:cubicBezTo>
                  <a:cubicBezTo>
                    <a:pt x="4944381" y="642464"/>
                    <a:pt x="4921041" y="619850"/>
                    <a:pt x="4787360" y="641738"/>
                  </a:cubicBezTo>
                  <a:cubicBezTo>
                    <a:pt x="4653680" y="663626"/>
                    <a:pt x="4431763" y="605315"/>
                    <a:pt x="4146512" y="641738"/>
                  </a:cubicBezTo>
                  <a:cubicBezTo>
                    <a:pt x="3861261" y="678161"/>
                    <a:pt x="3904184" y="619603"/>
                    <a:pt x="3800568" y="641738"/>
                  </a:cubicBezTo>
                  <a:cubicBezTo>
                    <a:pt x="3696952" y="663873"/>
                    <a:pt x="3316164" y="630491"/>
                    <a:pt x="3159720" y="641738"/>
                  </a:cubicBezTo>
                  <a:cubicBezTo>
                    <a:pt x="3003276" y="652985"/>
                    <a:pt x="2939970" y="617319"/>
                    <a:pt x="2740049" y="641738"/>
                  </a:cubicBezTo>
                  <a:cubicBezTo>
                    <a:pt x="2540128" y="666157"/>
                    <a:pt x="2485676" y="638129"/>
                    <a:pt x="2394105" y="641738"/>
                  </a:cubicBezTo>
                  <a:cubicBezTo>
                    <a:pt x="2302534" y="645347"/>
                    <a:pt x="2057592" y="637635"/>
                    <a:pt x="1826983" y="641738"/>
                  </a:cubicBezTo>
                  <a:cubicBezTo>
                    <a:pt x="1596374" y="645841"/>
                    <a:pt x="1397908" y="608094"/>
                    <a:pt x="1112409" y="641738"/>
                  </a:cubicBezTo>
                  <a:cubicBezTo>
                    <a:pt x="826910" y="675382"/>
                    <a:pt x="527226" y="569910"/>
                    <a:pt x="301424" y="641738"/>
                  </a:cubicBezTo>
                  <a:cubicBezTo>
                    <a:pt x="106239" y="613714"/>
                    <a:pt x="-14032" y="462269"/>
                    <a:pt x="0" y="340314"/>
                  </a:cubicBezTo>
                  <a:cubicBezTo>
                    <a:pt x="-682" y="329183"/>
                    <a:pt x="1127" y="309781"/>
                    <a:pt x="0" y="301424"/>
                  </a:cubicBezTo>
                  <a:close/>
                </a:path>
                <a:path w="7975436" h="641738" stroke="0" extrusionOk="0">
                  <a:moveTo>
                    <a:pt x="0" y="301424"/>
                  </a:moveTo>
                  <a:cubicBezTo>
                    <a:pt x="-28250" y="170133"/>
                    <a:pt x="133528" y="-20557"/>
                    <a:pt x="301424" y="0"/>
                  </a:cubicBezTo>
                  <a:cubicBezTo>
                    <a:pt x="414463" y="-23026"/>
                    <a:pt x="594817" y="30944"/>
                    <a:pt x="721094" y="0"/>
                  </a:cubicBezTo>
                  <a:cubicBezTo>
                    <a:pt x="847371" y="-30944"/>
                    <a:pt x="1044906" y="44921"/>
                    <a:pt x="1361942" y="0"/>
                  </a:cubicBezTo>
                  <a:cubicBezTo>
                    <a:pt x="1678978" y="-44921"/>
                    <a:pt x="1671068" y="25465"/>
                    <a:pt x="1781613" y="0"/>
                  </a:cubicBezTo>
                  <a:cubicBezTo>
                    <a:pt x="1892158" y="-25465"/>
                    <a:pt x="2177996" y="79612"/>
                    <a:pt x="2496187" y="0"/>
                  </a:cubicBezTo>
                  <a:cubicBezTo>
                    <a:pt x="2814378" y="-79612"/>
                    <a:pt x="3056040" y="68179"/>
                    <a:pt x="3210761" y="0"/>
                  </a:cubicBezTo>
                  <a:cubicBezTo>
                    <a:pt x="3365482" y="-68179"/>
                    <a:pt x="3633144" y="61898"/>
                    <a:pt x="3851609" y="0"/>
                  </a:cubicBezTo>
                  <a:cubicBezTo>
                    <a:pt x="4070074" y="-61898"/>
                    <a:pt x="4216846" y="22509"/>
                    <a:pt x="4418731" y="0"/>
                  </a:cubicBezTo>
                  <a:cubicBezTo>
                    <a:pt x="4620616" y="-22509"/>
                    <a:pt x="4781222" y="32237"/>
                    <a:pt x="4912127" y="0"/>
                  </a:cubicBezTo>
                  <a:cubicBezTo>
                    <a:pt x="5043032" y="-32237"/>
                    <a:pt x="5318776" y="54752"/>
                    <a:pt x="5479249" y="0"/>
                  </a:cubicBezTo>
                  <a:cubicBezTo>
                    <a:pt x="5639722" y="-54752"/>
                    <a:pt x="5661364" y="6796"/>
                    <a:pt x="5825194" y="0"/>
                  </a:cubicBezTo>
                  <a:cubicBezTo>
                    <a:pt x="5989025" y="-6796"/>
                    <a:pt x="6395961" y="67839"/>
                    <a:pt x="6539768" y="0"/>
                  </a:cubicBezTo>
                  <a:cubicBezTo>
                    <a:pt x="6683575" y="-67839"/>
                    <a:pt x="6780513" y="2302"/>
                    <a:pt x="6885712" y="0"/>
                  </a:cubicBezTo>
                  <a:cubicBezTo>
                    <a:pt x="6990911" y="-2302"/>
                    <a:pt x="7394013" y="45114"/>
                    <a:pt x="7674012" y="0"/>
                  </a:cubicBezTo>
                  <a:cubicBezTo>
                    <a:pt x="7834640" y="8122"/>
                    <a:pt x="8012441" y="146777"/>
                    <a:pt x="7975436" y="301424"/>
                  </a:cubicBezTo>
                  <a:cubicBezTo>
                    <a:pt x="7976714" y="312538"/>
                    <a:pt x="7974572" y="328927"/>
                    <a:pt x="7975436" y="340314"/>
                  </a:cubicBezTo>
                  <a:cubicBezTo>
                    <a:pt x="8008677" y="509539"/>
                    <a:pt x="7863923" y="638264"/>
                    <a:pt x="7674012" y="641738"/>
                  </a:cubicBezTo>
                  <a:cubicBezTo>
                    <a:pt x="7562858" y="699425"/>
                    <a:pt x="7347765" y="608811"/>
                    <a:pt x="7180616" y="641738"/>
                  </a:cubicBezTo>
                  <a:cubicBezTo>
                    <a:pt x="7013467" y="674665"/>
                    <a:pt x="6776847" y="623629"/>
                    <a:pt x="6466042" y="641738"/>
                  </a:cubicBezTo>
                  <a:cubicBezTo>
                    <a:pt x="6155237" y="659847"/>
                    <a:pt x="6053469" y="589705"/>
                    <a:pt x="5898920" y="641738"/>
                  </a:cubicBezTo>
                  <a:cubicBezTo>
                    <a:pt x="5744371" y="693771"/>
                    <a:pt x="5686814" y="601450"/>
                    <a:pt x="5552975" y="641738"/>
                  </a:cubicBezTo>
                  <a:cubicBezTo>
                    <a:pt x="5419137" y="682026"/>
                    <a:pt x="5284329" y="600140"/>
                    <a:pt x="5133305" y="641738"/>
                  </a:cubicBezTo>
                  <a:cubicBezTo>
                    <a:pt x="4982281" y="683336"/>
                    <a:pt x="4658717" y="638268"/>
                    <a:pt x="4418731" y="641738"/>
                  </a:cubicBezTo>
                  <a:cubicBezTo>
                    <a:pt x="4178745" y="645208"/>
                    <a:pt x="4047883" y="608984"/>
                    <a:pt x="3851609" y="641738"/>
                  </a:cubicBezTo>
                  <a:cubicBezTo>
                    <a:pt x="3655335" y="674492"/>
                    <a:pt x="3596179" y="609078"/>
                    <a:pt x="3505664" y="641738"/>
                  </a:cubicBezTo>
                  <a:cubicBezTo>
                    <a:pt x="3415150" y="674398"/>
                    <a:pt x="3075052" y="597628"/>
                    <a:pt x="2938542" y="641738"/>
                  </a:cubicBezTo>
                  <a:cubicBezTo>
                    <a:pt x="2802032" y="685848"/>
                    <a:pt x="2680623" y="583446"/>
                    <a:pt x="2445146" y="641738"/>
                  </a:cubicBezTo>
                  <a:cubicBezTo>
                    <a:pt x="2209669" y="700030"/>
                    <a:pt x="1914257" y="635422"/>
                    <a:pt x="1730572" y="641738"/>
                  </a:cubicBezTo>
                  <a:cubicBezTo>
                    <a:pt x="1546887" y="648054"/>
                    <a:pt x="1198068" y="561078"/>
                    <a:pt x="1015998" y="641738"/>
                  </a:cubicBezTo>
                  <a:cubicBezTo>
                    <a:pt x="833928" y="722398"/>
                    <a:pt x="463551" y="596937"/>
                    <a:pt x="301424" y="641738"/>
                  </a:cubicBezTo>
                  <a:cubicBezTo>
                    <a:pt x="133637" y="645503"/>
                    <a:pt x="9715" y="550309"/>
                    <a:pt x="0" y="340314"/>
                  </a:cubicBezTo>
                  <a:cubicBezTo>
                    <a:pt x="-858" y="323174"/>
                    <a:pt x="2119" y="309207"/>
                    <a:pt x="0" y="301424"/>
                  </a:cubicBezTo>
                  <a:close/>
                </a:path>
              </a:pathLst>
            </a:custGeom>
            <a:solidFill>
              <a:srgbClr val="ECFCCE"/>
            </a:solidFill>
            <a:ln w="28575">
              <a:extLst>
                <a:ext uri="{C807C97D-BFC1-408E-A445-0C87EB9F89A2}">
                  <ask:lineSketchStyleProps xmlns:ask="http://schemas.microsoft.com/office/drawing/2018/sketchyshapes" sd="428321725">
                    <a:prstGeom prst="roundRect">
                      <a:avLst>
                        <a:gd name="adj" fmla="val 46970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4000" b="1" dirty="0">
                  <a:solidFill>
                    <a:schemeClr val="tx1"/>
                  </a:solidFill>
                </a:rPr>
                <a:t>Si A × B = 0 alors A=0 ou B=0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AF190705-C553-4DCD-BB36-EA85CFFDF48D}"/>
                </a:ext>
              </a:extLst>
            </p:cNvPr>
            <p:cNvSpPr txBox="1"/>
            <p:nvPr/>
          </p:nvSpPr>
          <p:spPr>
            <a:xfrm>
              <a:off x="979170" y="1333569"/>
              <a:ext cx="9700260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800" dirty="0"/>
                <a:t>Un produit est nul si et seulement si </a:t>
              </a:r>
              <a:r>
                <a:rPr lang="fr-FR" sz="2800" b="1" dirty="0"/>
                <a:t>au moins l'un de ses facteurs est nul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5740955-8D92-475C-884E-C8ED0C9EE1A0}"/>
                </a:ext>
              </a:extLst>
            </p:cNvPr>
            <p:cNvSpPr/>
            <p:nvPr/>
          </p:nvSpPr>
          <p:spPr>
            <a:xfrm>
              <a:off x="691208" y="1281836"/>
              <a:ext cx="10256520" cy="2269084"/>
            </a:xfrm>
            <a:custGeom>
              <a:avLst/>
              <a:gdLst>
                <a:gd name="connsiteX0" fmla="*/ 0 w 10256520"/>
                <a:gd name="connsiteY0" fmla="*/ 0 h 2269084"/>
                <a:gd name="connsiteX1" fmla="*/ 467241 w 10256520"/>
                <a:gd name="connsiteY1" fmla="*/ 0 h 2269084"/>
                <a:gd name="connsiteX2" fmla="*/ 1139613 w 10256520"/>
                <a:gd name="connsiteY2" fmla="*/ 0 h 2269084"/>
                <a:gd name="connsiteX3" fmla="*/ 1709420 w 10256520"/>
                <a:gd name="connsiteY3" fmla="*/ 0 h 2269084"/>
                <a:gd name="connsiteX4" fmla="*/ 2176661 w 10256520"/>
                <a:gd name="connsiteY4" fmla="*/ 0 h 2269084"/>
                <a:gd name="connsiteX5" fmla="*/ 2541338 w 10256520"/>
                <a:gd name="connsiteY5" fmla="*/ 0 h 2269084"/>
                <a:gd name="connsiteX6" fmla="*/ 3008579 w 10256520"/>
                <a:gd name="connsiteY6" fmla="*/ 0 h 2269084"/>
                <a:gd name="connsiteX7" fmla="*/ 3475821 w 10256520"/>
                <a:gd name="connsiteY7" fmla="*/ 0 h 2269084"/>
                <a:gd name="connsiteX8" fmla="*/ 3737932 w 10256520"/>
                <a:gd name="connsiteY8" fmla="*/ 0 h 2269084"/>
                <a:gd name="connsiteX9" fmla="*/ 4512869 w 10256520"/>
                <a:gd name="connsiteY9" fmla="*/ 0 h 2269084"/>
                <a:gd name="connsiteX10" fmla="*/ 5185241 w 10256520"/>
                <a:gd name="connsiteY10" fmla="*/ 0 h 2269084"/>
                <a:gd name="connsiteX11" fmla="*/ 5857613 w 10256520"/>
                <a:gd name="connsiteY11" fmla="*/ 0 h 2269084"/>
                <a:gd name="connsiteX12" fmla="*/ 6119724 w 10256520"/>
                <a:gd name="connsiteY12" fmla="*/ 0 h 2269084"/>
                <a:gd name="connsiteX13" fmla="*/ 6381835 w 10256520"/>
                <a:gd name="connsiteY13" fmla="*/ 0 h 2269084"/>
                <a:gd name="connsiteX14" fmla="*/ 6746511 w 10256520"/>
                <a:gd name="connsiteY14" fmla="*/ 0 h 2269084"/>
                <a:gd name="connsiteX15" fmla="*/ 7316318 w 10256520"/>
                <a:gd name="connsiteY15" fmla="*/ 0 h 2269084"/>
                <a:gd name="connsiteX16" fmla="*/ 7680994 w 10256520"/>
                <a:gd name="connsiteY16" fmla="*/ 0 h 2269084"/>
                <a:gd name="connsiteX17" fmla="*/ 8045670 w 10256520"/>
                <a:gd name="connsiteY17" fmla="*/ 0 h 2269084"/>
                <a:gd name="connsiteX18" fmla="*/ 8512912 w 10256520"/>
                <a:gd name="connsiteY18" fmla="*/ 0 h 2269084"/>
                <a:gd name="connsiteX19" fmla="*/ 9082718 w 10256520"/>
                <a:gd name="connsiteY19" fmla="*/ 0 h 2269084"/>
                <a:gd name="connsiteX20" fmla="*/ 9755090 w 10256520"/>
                <a:gd name="connsiteY20" fmla="*/ 0 h 2269084"/>
                <a:gd name="connsiteX21" fmla="*/ 10256520 w 10256520"/>
                <a:gd name="connsiteY21" fmla="*/ 0 h 2269084"/>
                <a:gd name="connsiteX22" fmla="*/ 10256520 w 10256520"/>
                <a:gd name="connsiteY22" fmla="*/ 499198 h 2269084"/>
                <a:gd name="connsiteX23" fmla="*/ 10256520 w 10256520"/>
                <a:gd name="connsiteY23" fmla="*/ 1021088 h 2269084"/>
                <a:gd name="connsiteX24" fmla="*/ 10256520 w 10256520"/>
                <a:gd name="connsiteY24" fmla="*/ 1542977 h 2269084"/>
                <a:gd name="connsiteX25" fmla="*/ 10256520 w 10256520"/>
                <a:gd name="connsiteY25" fmla="*/ 2269084 h 2269084"/>
                <a:gd name="connsiteX26" fmla="*/ 9789279 w 10256520"/>
                <a:gd name="connsiteY26" fmla="*/ 2269084 h 2269084"/>
                <a:gd name="connsiteX27" fmla="*/ 9014341 w 10256520"/>
                <a:gd name="connsiteY27" fmla="*/ 2269084 h 2269084"/>
                <a:gd name="connsiteX28" fmla="*/ 8649665 w 10256520"/>
                <a:gd name="connsiteY28" fmla="*/ 2269084 h 2269084"/>
                <a:gd name="connsiteX29" fmla="*/ 8182424 w 10256520"/>
                <a:gd name="connsiteY29" fmla="*/ 2269084 h 2269084"/>
                <a:gd name="connsiteX30" fmla="*/ 7920313 w 10256520"/>
                <a:gd name="connsiteY30" fmla="*/ 2269084 h 2269084"/>
                <a:gd name="connsiteX31" fmla="*/ 7658202 w 10256520"/>
                <a:gd name="connsiteY31" fmla="*/ 2269084 h 2269084"/>
                <a:gd name="connsiteX32" fmla="*/ 7190960 w 10256520"/>
                <a:gd name="connsiteY32" fmla="*/ 2269084 h 2269084"/>
                <a:gd name="connsiteX33" fmla="*/ 6416023 w 10256520"/>
                <a:gd name="connsiteY33" fmla="*/ 2269084 h 2269084"/>
                <a:gd name="connsiteX34" fmla="*/ 5641086 w 10256520"/>
                <a:gd name="connsiteY34" fmla="*/ 2269084 h 2269084"/>
                <a:gd name="connsiteX35" fmla="*/ 5378975 w 10256520"/>
                <a:gd name="connsiteY35" fmla="*/ 2269084 h 2269084"/>
                <a:gd name="connsiteX36" fmla="*/ 5014299 w 10256520"/>
                <a:gd name="connsiteY36" fmla="*/ 2269084 h 2269084"/>
                <a:gd name="connsiteX37" fmla="*/ 4341927 w 10256520"/>
                <a:gd name="connsiteY37" fmla="*/ 2269084 h 2269084"/>
                <a:gd name="connsiteX38" fmla="*/ 3977251 w 10256520"/>
                <a:gd name="connsiteY38" fmla="*/ 2269084 h 2269084"/>
                <a:gd name="connsiteX39" fmla="*/ 3612574 w 10256520"/>
                <a:gd name="connsiteY39" fmla="*/ 2269084 h 2269084"/>
                <a:gd name="connsiteX40" fmla="*/ 2940202 w 10256520"/>
                <a:gd name="connsiteY40" fmla="*/ 2269084 h 2269084"/>
                <a:gd name="connsiteX41" fmla="*/ 2165265 w 10256520"/>
                <a:gd name="connsiteY41" fmla="*/ 2269084 h 2269084"/>
                <a:gd name="connsiteX42" fmla="*/ 1595459 w 10256520"/>
                <a:gd name="connsiteY42" fmla="*/ 2269084 h 2269084"/>
                <a:gd name="connsiteX43" fmla="*/ 1025652 w 10256520"/>
                <a:gd name="connsiteY43" fmla="*/ 2269084 h 2269084"/>
                <a:gd name="connsiteX44" fmla="*/ 763541 w 10256520"/>
                <a:gd name="connsiteY44" fmla="*/ 2269084 h 2269084"/>
                <a:gd name="connsiteX45" fmla="*/ 0 w 10256520"/>
                <a:gd name="connsiteY45" fmla="*/ 2269084 h 2269084"/>
                <a:gd name="connsiteX46" fmla="*/ 0 w 10256520"/>
                <a:gd name="connsiteY46" fmla="*/ 1679122 h 2269084"/>
                <a:gd name="connsiteX47" fmla="*/ 0 w 10256520"/>
                <a:gd name="connsiteY47" fmla="*/ 1179924 h 2269084"/>
                <a:gd name="connsiteX48" fmla="*/ 0 w 10256520"/>
                <a:gd name="connsiteY48" fmla="*/ 567271 h 2269084"/>
                <a:gd name="connsiteX49" fmla="*/ 0 w 10256520"/>
                <a:gd name="connsiteY49" fmla="*/ 0 h 2269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256520" h="2269084" extrusionOk="0">
                  <a:moveTo>
                    <a:pt x="0" y="0"/>
                  </a:moveTo>
                  <a:cubicBezTo>
                    <a:pt x="99920" y="-10215"/>
                    <a:pt x="287631" y="43168"/>
                    <a:pt x="467241" y="0"/>
                  </a:cubicBezTo>
                  <a:cubicBezTo>
                    <a:pt x="646851" y="-43168"/>
                    <a:pt x="804349" y="45908"/>
                    <a:pt x="1139613" y="0"/>
                  </a:cubicBezTo>
                  <a:cubicBezTo>
                    <a:pt x="1474877" y="-45908"/>
                    <a:pt x="1508947" y="60700"/>
                    <a:pt x="1709420" y="0"/>
                  </a:cubicBezTo>
                  <a:cubicBezTo>
                    <a:pt x="1909893" y="-60700"/>
                    <a:pt x="2069233" y="30827"/>
                    <a:pt x="2176661" y="0"/>
                  </a:cubicBezTo>
                  <a:cubicBezTo>
                    <a:pt x="2284089" y="-30827"/>
                    <a:pt x="2420989" y="6197"/>
                    <a:pt x="2541338" y="0"/>
                  </a:cubicBezTo>
                  <a:cubicBezTo>
                    <a:pt x="2661687" y="-6197"/>
                    <a:pt x="2813373" y="33638"/>
                    <a:pt x="3008579" y="0"/>
                  </a:cubicBezTo>
                  <a:cubicBezTo>
                    <a:pt x="3203785" y="-33638"/>
                    <a:pt x="3242318" y="42443"/>
                    <a:pt x="3475821" y="0"/>
                  </a:cubicBezTo>
                  <a:cubicBezTo>
                    <a:pt x="3709324" y="-42443"/>
                    <a:pt x="3685404" y="1484"/>
                    <a:pt x="3737932" y="0"/>
                  </a:cubicBezTo>
                  <a:cubicBezTo>
                    <a:pt x="3790460" y="-1484"/>
                    <a:pt x="4180497" y="51962"/>
                    <a:pt x="4512869" y="0"/>
                  </a:cubicBezTo>
                  <a:cubicBezTo>
                    <a:pt x="4845241" y="-51962"/>
                    <a:pt x="4869612" y="12120"/>
                    <a:pt x="5185241" y="0"/>
                  </a:cubicBezTo>
                  <a:cubicBezTo>
                    <a:pt x="5500870" y="-12120"/>
                    <a:pt x="5570451" y="42916"/>
                    <a:pt x="5857613" y="0"/>
                  </a:cubicBezTo>
                  <a:cubicBezTo>
                    <a:pt x="6144775" y="-42916"/>
                    <a:pt x="6014177" y="24700"/>
                    <a:pt x="6119724" y="0"/>
                  </a:cubicBezTo>
                  <a:cubicBezTo>
                    <a:pt x="6225271" y="-24700"/>
                    <a:pt x="6324843" y="29348"/>
                    <a:pt x="6381835" y="0"/>
                  </a:cubicBezTo>
                  <a:cubicBezTo>
                    <a:pt x="6438827" y="-29348"/>
                    <a:pt x="6618656" y="34731"/>
                    <a:pt x="6746511" y="0"/>
                  </a:cubicBezTo>
                  <a:cubicBezTo>
                    <a:pt x="6874366" y="-34731"/>
                    <a:pt x="7149245" y="15384"/>
                    <a:pt x="7316318" y="0"/>
                  </a:cubicBezTo>
                  <a:cubicBezTo>
                    <a:pt x="7483391" y="-15384"/>
                    <a:pt x="7602302" y="39612"/>
                    <a:pt x="7680994" y="0"/>
                  </a:cubicBezTo>
                  <a:cubicBezTo>
                    <a:pt x="7759686" y="-39612"/>
                    <a:pt x="7940935" y="4495"/>
                    <a:pt x="8045670" y="0"/>
                  </a:cubicBezTo>
                  <a:cubicBezTo>
                    <a:pt x="8150405" y="-4495"/>
                    <a:pt x="8317279" y="37094"/>
                    <a:pt x="8512912" y="0"/>
                  </a:cubicBezTo>
                  <a:cubicBezTo>
                    <a:pt x="8708545" y="-37094"/>
                    <a:pt x="8890659" y="4187"/>
                    <a:pt x="9082718" y="0"/>
                  </a:cubicBezTo>
                  <a:cubicBezTo>
                    <a:pt x="9274777" y="-4187"/>
                    <a:pt x="9592989" y="76456"/>
                    <a:pt x="9755090" y="0"/>
                  </a:cubicBezTo>
                  <a:cubicBezTo>
                    <a:pt x="9917191" y="-76456"/>
                    <a:pt x="10011673" y="27328"/>
                    <a:pt x="10256520" y="0"/>
                  </a:cubicBezTo>
                  <a:cubicBezTo>
                    <a:pt x="10284886" y="206340"/>
                    <a:pt x="10234645" y="335116"/>
                    <a:pt x="10256520" y="499198"/>
                  </a:cubicBezTo>
                  <a:cubicBezTo>
                    <a:pt x="10278395" y="663280"/>
                    <a:pt x="10205325" y="887483"/>
                    <a:pt x="10256520" y="1021088"/>
                  </a:cubicBezTo>
                  <a:cubicBezTo>
                    <a:pt x="10307715" y="1154693"/>
                    <a:pt x="10252289" y="1377837"/>
                    <a:pt x="10256520" y="1542977"/>
                  </a:cubicBezTo>
                  <a:cubicBezTo>
                    <a:pt x="10260751" y="1708117"/>
                    <a:pt x="10181263" y="1918081"/>
                    <a:pt x="10256520" y="2269084"/>
                  </a:cubicBezTo>
                  <a:cubicBezTo>
                    <a:pt x="10106848" y="2274200"/>
                    <a:pt x="9914160" y="2239362"/>
                    <a:pt x="9789279" y="2269084"/>
                  </a:cubicBezTo>
                  <a:cubicBezTo>
                    <a:pt x="9664398" y="2298806"/>
                    <a:pt x="9310187" y="2185592"/>
                    <a:pt x="9014341" y="2269084"/>
                  </a:cubicBezTo>
                  <a:cubicBezTo>
                    <a:pt x="8718495" y="2352576"/>
                    <a:pt x="8790081" y="2249055"/>
                    <a:pt x="8649665" y="2269084"/>
                  </a:cubicBezTo>
                  <a:cubicBezTo>
                    <a:pt x="8509249" y="2289113"/>
                    <a:pt x="8325410" y="2254648"/>
                    <a:pt x="8182424" y="2269084"/>
                  </a:cubicBezTo>
                  <a:cubicBezTo>
                    <a:pt x="8039438" y="2283520"/>
                    <a:pt x="7984773" y="2253292"/>
                    <a:pt x="7920313" y="2269084"/>
                  </a:cubicBezTo>
                  <a:cubicBezTo>
                    <a:pt x="7855853" y="2284876"/>
                    <a:pt x="7783286" y="2254686"/>
                    <a:pt x="7658202" y="2269084"/>
                  </a:cubicBezTo>
                  <a:cubicBezTo>
                    <a:pt x="7533118" y="2283482"/>
                    <a:pt x="7362889" y="2227376"/>
                    <a:pt x="7190960" y="2269084"/>
                  </a:cubicBezTo>
                  <a:cubicBezTo>
                    <a:pt x="7019031" y="2310792"/>
                    <a:pt x="6632694" y="2197754"/>
                    <a:pt x="6416023" y="2269084"/>
                  </a:cubicBezTo>
                  <a:cubicBezTo>
                    <a:pt x="6199352" y="2340414"/>
                    <a:pt x="5808707" y="2233734"/>
                    <a:pt x="5641086" y="2269084"/>
                  </a:cubicBezTo>
                  <a:cubicBezTo>
                    <a:pt x="5473465" y="2304434"/>
                    <a:pt x="5452375" y="2261039"/>
                    <a:pt x="5378975" y="2269084"/>
                  </a:cubicBezTo>
                  <a:cubicBezTo>
                    <a:pt x="5305575" y="2277129"/>
                    <a:pt x="5149240" y="2233700"/>
                    <a:pt x="5014299" y="2269084"/>
                  </a:cubicBezTo>
                  <a:cubicBezTo>
                    <a:pt x="4879358" y="2304468"/>
                    <a:pt x="4555859" y="2259359"/>
                    <a:pt x="4341927" y="2269084"/>
                  </a:cubicBezTo>
                  <a:cubicBezTo>
                    <a:pt x="4127995" y="2278809"/>
                    <a:pt x="4082615" y="2227929"/>
                    <a:pt x="3977251" y="2269084"/>
                  </a:cubicBezTo>
                  <a:cubicBezTo>
                    <a:pt x="3871887" y="2310239"/>
                    <a:pt x="3763638" y="2262459"/>
                    <a:pt x="3612574" y="2269084"/>
                  </a:cubicBezTo>
                  <a:cubicBezTo>
                    <a:pt x="3461510" y="2275709"/>
                    <a:pt x="3221681" y="2239177"/>
                    <a:pt x="2940202" y="2269084"/>
                  </a:cubicBezTo>
                  <a:cubicBezTo>
                    <a:pt x="2658723" y="2298991"/>
                    <a:pt x="2450666" y="2209028"/>
                    <a:pt x="2165265" y="2269084"/>
                  </a:cubicBezTo>
                  <a:cubicBezTo>
                    <a:pt x="1879864" y="2329140"/>
                    <a:pt x="1870355" y="2230986"/>
                    <a:pt x="1595459" y="2269084"/>
                  </a:cubicBezTo>
                  <a:cubicBezTo>
                    <a:pt x="1320563" y="2307182"/>
                    <a:pt x="1267909" y="2221948"/>
                    <a:pt x="1025652" y="2269084"/>
                  </a:cubicBezTo>
                  <a:cubicBezTo>
                    <a:pt x="783395" y="2316220"/>
                    <a:pt x="828485" y="2263526"/>
                    <a:pt x="763541" y="2269084"/>
                  </a:cubicBezTo>
                  <a:cubicBezTo>
                    <a:pt x="698597" y="2274642"/>
                    <a:pt x="203380" y="2212483"/>
                    <a:pt x="0" y="2269084"/>
                  </a:cubicBezTo>
                  <a:cubicBezTo>
                    <a:pt x="-20150" y="2110703"/>
                    <a:pt x="46380" y="1962762"/>
                    <a:pt x="0" y="1679122"/>
                  </a:cubicBezTo>
                  <a:cubicBezTo>
                    <a:pt x="-46380" y="1395482"/>
                    <a:pt x="53096" y="1342562"/>
                    <a:pt x="0" y="1179924"/>
                  </a:cubicBezTo>
                  <a:cubicBezTo>
                    <a:pt x="-53096" y="1017286"/>
                    <a:pt x="29938" y="764186"/>
                    <a:pt x="0" y="567271"/>
                  </a:cubicBezTo>
                  <a:cubicBezTo>
                    <a:pt x="-29938" y="370356"/>
                    <a:pt x="59885" y="210172"/>
                    <a:pt x="0" y="0"/>
                  </a:cubicBezTo>
                  <a:close/>
                </a:path>
              </a:pathLst>
            </a:custGeom>
            <a:noFill/>
            <a:ln w="28575"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305600870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BBA84DDB-F619-49E8-9E7D-0E887C4CB735}"/>
              </a:ext>
            </a:extLst>
          </p:cNvPr>
          <p:cNvSpPr txBox="1"/>
          <p:nvPr/>
        </p:nvSpPr>
        <p:spPr>
          <a:xfrm>
            <a:off x="599768" y="3801542"/>
            <a:ext cx="74164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i="1" u="sng" dirty="0">
                <a:solidFill>
                  <a:srgbClr val="7030A0"/>
                </a:solidFill>
              </a:rPr>
              <a:t>b. Résolution d'une équation (</a:t>
            </a:r>
            <a:r>
              <a:rPr lang="fr-FR" sz="2800" b="1" i="1" u="sng" dirty="0" err="1">
                <a:solidFill>
                  <a:srgbClr val="7030A0"/>
                </a:solidFill>
              </a:rPr>
              <a:t>ax</a:t>
            </a:r>
            <a:r>
              <a:rPr lang="fr-FR" sz="2800" b="1" i="1" u="sng" dirty="0">
                <a:solidFill>
                  <a:srgbClr val="7030A0"/>
                </a:solidFill>
              </a:rPr>
              <a:t> + b)(cx + d) = 0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C8E4CA45-6088-4EA8-AD4C-558893B44D94}"/>
              </a:ext>
            </a:extLst>
          </p:cNvPr>
          <p:cNvGrpSpPr/>
          <p:nvPr/>
        </p:nvGrpSpPr>
        <p:grpSpPr>
          <a:xfrm>
            <a:off x="691208" y="4436056"/>
            <a:ext cx="10266352" cy="2134816"/>
            <a:chOff x="691208" y="4436056"/>
            <a:chExt cx="10266352" cy="2134816"/>
          </a:xfrm>
        </p:grpSpPr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9430C4A0-095B-40C6-8D72-5E0034F51EFB}"/>
                </a:ext>
              </a:extLst>
            </p:cNvPr>
            <p:cNvSpPr txBox="1"/>
            <p:nvPr/>
          </p:nvSpPr>
          <p:spPr>
            <a:xfrm>
              <a:off x="701040" y="4570324"/>
              <a:ext cx="10256520" cy="20005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800" dirty="0"/>
                <a:t>Les solutions de l’équation « produit nul » : </a:t>
              </a:r>
              <a:r>
                <a:rPr lang="fr-FR" sz="2800" b="1" dirty="0"/>
                <a:t>(𝒂𝒙+𝒃)(𝒄𝒙+𝒅)=𝟎</a:t>
              </a:r>
              <a:r>
                <a:rPr lang="fr-FR" sz="2800" dirty="0"/>
                <a:t>, sont les nombres 𝒙 tels que :</a:t>
              </a:r>
            </a:p>
            <a:p>
              <a:pPr algn="ctr"/>
              <a:r>
                <a:rPr lang="fr-FR" sz="4000" b="1" dirty="0" err="1">
                  <a:solidFill>
                    <a:srgbClr val="FF0000"/>
                  </a:solidFill>
                </a:rPr>
                <a:t>ax</a:t>
              </a:r>
              <a:r>
                <a:rPr lang="fr-FR" sz="4000" b="1" dirty="0">
                  <a:solidFill>
                    <a:srgbClr val="FF0000"/>
                  </a:solidFill>
                </a:rPr>
                <a:t> + b = 0 </a:t>
              </a:r>
              <a:r>
                <a:rPr lang="fr-FR" sz="4000" dirty="0"/>
                <a:t>ou</a:t>
              </a:r>
              <a:r>
                <a:rPr lang="fr-FR" sz="4000" b="1" dirty="0"/>
                <a:t> </a:t>
              </a:r>
              <a:r>
                <a:rPr lang="fr-FR" sz="4000" b="1" dirty="0">
                  <a:solidFill>
                    <a:srgbClr val="FF0000"/>
                  </a:solidFill>
                </a:rPr>
                <a:t>cx + d = 0</a:t>
              </a:r>
            </a:p>
            <a:p>
              <a:endParaRPr lang="fr-FR" sz="28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4EF7DA7-781C-4BF5-8656-B2192CA22A26}"/>
                </a:ext>
              </a:extLst>
            </p:cNvPr>
            <p:cNvSpPr/>
            <p:nvPr/>
          </p:nvSpPr>
          <p:spPr>
            <a:xfrm>
              <a:off x="691208" y="4436056"/>
              <a:ext cx="10256520" cy="2000548"/>
            </a:xfrm>
            <a:custGeom>
              <a:avLst/>
              <a:gdLst>
                <a:gd name="connsiteX0" fmla="*/ 0 w 10256520"/>
                <a:gd name="connsiteY0" fmla="*/ 0 h 2000548"/>
                <a:gd name="connsiteX1" fmla="*/ 467241 w 10256520"/>
                <a:gd name="connsiteY1" fmla="*/ 0 h 2000548"/>
                <a:gd name="connsiteX2" fmla="*/ 1139613 w 10256520"/>
                <a:gd name="connsiteY2" fmla="*/ 0 h 2000548"/>
                <a:gd name="connsiteX3" fmla="*/ 1709420 w 10256520"/>
                <a:gd name="connsiteY3" fmla="*/ 0 h 2000548"/>
                <a:gd name="connsiteX4" fmla="*/ 2176661 w 10256520"/>
                <a:gd name="connsiteY4" fmla="*/ 0 h 2000548"/>
                <a:gd name="connsiteX5" fmla="*/ 2541338 w 10256520"/>
                <a:gd name="connsiteY5" fmla="*/ 0 h 2000548"/>
                <a:gd name="connsiteX6" fmla="*/ 3008579 w 10256520"/>
                <a:gd name="connsiteY6" fmla="*/ 0 h 2000548"/>
                <a:gd name="connsiteX7" fmla="*/ 3475821 w 10256520"/>
                <a:gd name="connsiteY7" fmla="*/ 0 h 2000548"/>
                <a:gd name="connsiteX8" fmla="*/ 3737932 w 10256520"/>
                <a:gd name="connsiteY8" fmla="*/ 0 h 2000548"/>
                <a:gd name="connsiteX9" fmla="*/ 4512869 w 10256520"/>
                <a:gd name="connsiteY9" fmla="*/ 0 h 2000548"/>
                <a:gd name="connsiteX10" fmla="*/ 5185241 w 10256520"/>
                <a:gd name="connsiteY10" fmla="*/ 0 h 2000548"/>
                <a:gd name="connsiteX11" fmla="*/ 5857613 w 10256520"/>
                <a:gd name="connsiteY11" fmla="*/ 0 h 2000548"/>
                <a:gd name="connsiteX12" fmla="*/ 6119724 w 10256520"/>
                <a:gd name="connsiteY12" fmla="*/ 0 h 2000548"/>
                <a:gd name="connsiteX13" fmla="*/ 6381835 w 10256520"/>
                <a:gd name="connsiteY13" fmla="*/ 0 h 2000548"/>
                <a:gd name="connsiteX14" fmla="*/ 6746511 w 10256520"/>
                <a:gd name="connsiteY14" fmla="*/ 0 h 2000548"/>
                <a:gd name="connsiteX15" fmla="*/ 7316318 w 10256520"/>
                <a:gd name="connsiteY15" fmla="*/ 0 h 2000548"/>
                <a:gd name="connsiteX16" fmla="*/ 7680994 w 10256520"/>
                <a:gd name="connsiteY16" fmla="*/ 0 h 2000548"/>
                <a:gd name="connsiteX17" fmla="*/ 8045670 w 10256520"/>
                <a:gd name="connsiteY17" fmla="*/ 0 h 2000548"/>
                <a:gd name="connsiteX18" fmla="*/ 8512912 w 10256520"/>
                <a:gd name="connsiteY18" fmla="*/ 0 h 2000548"/>
                <a:gd name="connsiteX19" fmla="*/ 9082718 w 10256520"/>
                <a:gd name="connsiteY19" fmla="*/ 0 h 2000548"/>
                <a:gd name="connsiteX20" fmla="*/ 9755090 w 10256520"/>
                <a:gd name="connsiteY20" fmla="*/ 0 h 2000548"/>
                <a:gd name="connsiteX21" fmla="*/ 10256520 w 10256520"/>
                <a:gd name="connsiteY21" fmla="*/ 0 h 2000548"/>
                <a:gd name="connsiteX22" fmla="*/ 10256520 w 10256520"/>
                <a:gd name="connsiteY22" fmla="*/ 440121 h 2000548"/>
                <a:gd name="connsiteX23" fmla="*/ 10256520 w 10256520"/>
                <a:gd name="connsiteY23" fmla="*/ 900247 h 2000548"/>
                <a:gd name="connsiteX24" fmla="*/ 10256520 w 10256520"/>
                <a:gd name="connsiteY24" fmla="*/ 1360373 h 2000548"/>
                <a:gd name="connsiteX25" fmla="*/ 10256520 w 10256520"/>
                <a:gd name="connsiteY25" fmla="*/ 2000548 h 2000548"/>
                <a:gd name="connsiteX26" fmla="*/ 9789279 w 10256520"/>
                <a:gd name="connsiteY26" fmla="*/ 2000548 h 2000548"/>
                <a:gd name="connsiteX27" fmla="*/ 9014341 w 10256520"/>
                <a:gd name="connsiteY27" fmla="*/ 2000548 h 2000548"/>
                <a:gd name="connsiteX28" fmla="*/ 8649665 w 10256520"/>
                <a:gd name="connsiteY28" fmla="*/ 2000548 h 2000548"/>
                <a:gd name="connsiteX29" fmla="*/ 8182424 w 10256520"/>
                <a:gd name="connsiteY29" fmla="*/ 2000548 h 2000548"/>
                <a:gd name="connsiteX30" fmla="*/ 7920313 w 10256520"/>
                <a:gd name="connsiteY30" fmla="*/ 2000548 h 2000548"/>
                <a:gd name="connsiteX31" fmla="*/ 7658202 w 10256520"/>
                <a:gd name="connsiteY31" fmla="*/ 2000548 h 2000548"/>
                <a:gd name="connsiteX32" fmla="*/ 7190960 w 10256520"/>
                <a:gd name="connsiteY32" fmla="*/ 2000548 h 2000548"/>
                <a:gd name="connsiteX33" fmla="*/ 6416023 w 10256520"/>
                <a:gd name="connsiteY33" fmla="*/ 2000548 h 2000548"/>
                <a:gd name="connsiteX34" fmla="*/ 5641086 w 10256520"/>
                <a:gd name="connsiteY34" fmla="*/ 2000548 h 2000548"/>
                <a:gd name="connsiteX35" fmla="*/ 5378975 w 10256520"/>
                <a:gd name="connsiteY35" fmla="*/ 2000548 h 2000548"/>
                <a:gd name="connsiteX36" fmla="*/ 5014299 w 10256520"/>
                <a:gd name="connsiteY36" fmla="*/ 2000548 h 2000548"/>
                <a:gd name="connsiteX37" fmla="*/ 4341927 w 10256520"/>
                <a:gd name="connsiteY37" fmla="*/ 2000548 h 2000548"/>
                <a:gd name="connsiteX38" fmla="*/ 3977251 w 10256520"/>
                <a:gd name="connsiteY38" fmla="*/ 2000548 h 2000548"/>
                <a:gd name="connsiteX39" fmla="*/ 3612574 w 10256520"/>
                <a:gd name="connsiteY39" fmla="*/ 2000548 h 2000548"/>
                <a:gd name="connsiteX40" fmla="*/ 2940202 w 10256520"/>
                <a:gd name="connsiteY40" fmla="*/ 2000548 h 2000548"/>
                <a:gd name="connsiteX41" fmla="*/ 2165265 w 10256520"/>
                <a:gd name="connsiteY41" fmla="*/ 2000548 h 2000548"/>
                <a:gd name="connsiteX42" fmla="*/ 1595459 w 10256520"/>
                <a:gd name="connsiteY42" fmla="*/ 2000548 h 2000548"/>
                <a:gd name="connsiteX43" fmla="*/ 1025652 w 10256520"/>
                <a:gd name="connsiteY43" fmla="*/ 2000548 h 2000548"/>
                <a:gd name="connsiteX44" fmla="*/ 763541 w 10256520"/>
                <a:gd name="connsiteY44" fmla="*/ 2000548 h 2000548"/>
                <a:gd name="connsiteX45" fmla="*/ 0 w 10256520"/>
                <a:gd name="connsiteY45" fmla="*/ 2000548 h 2000548"/>
                <a:gd name="connsiteX46" fmla="*/ 0 w 10256520"/>
                <a:gd name="connsiteY46" fmla="*/ 1480406 h 2000548"/>
                <a:gd name="connsiteX47" fmla="*/ 0 w 10256520"/>
                <a:gd name="connsiteY47" fmla="*/ 1040285 h 2000548"/>
                <a:gd name="connsiteX48" fmla="*/ 0 w 10256520"/>
                <a:gd name="connsiteY48" fmla="*/ 500137 h 2000548"/>
                <a:gd name="connsiteX49" fmla="*/ 0 w 10256520"/>
                <a:gd name="connsiteY49" fmla="*/ 0 h 2000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256520" h="2000548" extrusionOk="0">
                  <a:moveTo>
                    <a:pt x="0" y="0"/>
                  </a:moveTo>
                  <a:cubicBezTo>
                    <a:pt x="99920" y="-10215"/>
                    <a:pt x="287631" y="43168"/>
                    <a:pt x="467241" y="0"/>
                  </a:cubicBezTo>
                  <a:cubicBezTo>
                    <a:pt x="646851" y="-43168"/>
                    <a:pt x="804349" y="45908"/>
                    <a:pt x="1139613" y="0"/>
                  </a:cubicBezTo>
                  <a:cubicBezTo>
                    <a:pt x="1474877" y="-45908"/>
                    <a:pt x="1508947" y="60700"/>
                    <a:pt x="1709420" y="0"/>
                  </a:cubicBezTo>
                  <a:cubicBezTo>
                    <a:pt x="1909893" y="-60700"/>
                    <a:pt x="2069233" y="30827"/>
                    <a:pt x="2176661" y="0"/>
                  </a:cubicBezTo>
                  <a:cubicBezTo>
                    <a:pt x="2284089" y="-30827"/>
                    <a:pt x="2420989" y="6197"/>
                    <a:pt x="2541338" y="0"/>
                  </a:cubicBezTo>
                  <a:cubicBezTo>
                    <a:pt x="2661687" y="-6197"/>
                    <a:pt x="2813373" y="33638"/>
                    <a:pt x="3008579" y="0"/>
                  </a:cubicBezTo>
                  <a:cubicBezTo>
                    <a:pt x="3203785" y="-33638"/>
                    <a:pt x="3242318" y="42443"/>
                    <a:pt x="3475821" y="0"/>
                  </a:cubicBezTo>
                  <a:cubicBezTo>
                    <a:pt x="3709324" y="-42443"/>
                    <a:pt x="3685404" y="1484"/>
                    <a:pt x="3737932" y="0"/>
                  </a:cubicBezTo>
                  <a:cubicBezTo>
                    <a:pt x="3790460" y="-1484"/>
                    <a:pt x="4180497" y="51962"/>
                    <a:pt x="4512869" y="0"/>
                  </a:cubicBezTo>
                  <a:cubicBezTo>
                    <a:pt x="4845241" y="-51962"/>
                    <a:pt x="4869612" y="12120"/>
                    <a:pt x="5185241" y="0"/>
                  </a:cubicBezTo>
                  <a:cubicBezTo>
                    <a:pt x="5500870" y="-12120"/>
                    <a:pt x="5570451" y="42916"/>
                    <a:pt x="5857613" y="0"/>
                  </a:cubicBezTo>
                  <a:cubicBezTo>
                    <a:pt x="6144775" y="-42916"/>
                    <a:pt x="6014177" y="24700"/>
                    <a:pt x="6119724" y="0"/>
                  </a:cubicBezTo>
                  <a:cubicBezTo>
                    <a:pt x="6225271" y="-24700"/>
                    <a:pt x="6324843" y="29348"/>
                    <a:pt x="6381835" y="0"/>
                  </a:cubicBezTo>
                  <a:cubicBezTo>
                    <a:pt x="6438827" y="-29348"/>
                    <a:pt x="6618656" y="34731"/>
                    <a:pt x="6746511" y="0"/>
                  </a:cubicBezTo>
                  <a:cubicBezTo>
                    <a:pt x="6874366" y="-34731"/>
                    <a:pt x="7149245" y="15384"/>
                    <a:pt x="7316318" y="0"/>
                  </a:cubicBezTo>
                  <a:cubicBezTo>
                    <a:pt x="7483391" y="-15384"/>
                    <a:pt x="7602302" y="39612"/>
                    <a:pt x="7680994" y="0"/>
                  </a:cubicBezTo>
                  <a:cubicBezTo>
                    <a:pt x="7759686" y="-39612"/>
                    <a:pt x="7940935" y="4495"/>
                    <a:pt x="8045670" y="0"/>
                  </a:cubicBezTo>
                  <a:cubicBezTo>
                    <a:pt x="8150405" y="-4495"/>
                    <a:pt x="8317279" y="37094"/>
                    <a:pt x="8512912" y="0"/>
                  </a:cubicBezTo>
                  <a:cubicBezTo>
                    <a:pt x="8708545" y="-37094"/>
                    <a:pt x="8890659" y="4187"/>
                    <a:pt x="9082718" y="0"/>
                  </a:cubicBezTo>
                  <a:cubicBezTo>
                    <a:pt x="9274777" y="-4187"/>
                    <a:pt x="9592989" y="76456"/>
                    <a:pt x="9755090" y="0"/>
                  </a:cubicBezTo>
                  <a:cubicBezTo>
                    <a:pt x="9917191" y="-76456"/>
                    <a:pt x="10011673" y="27328"/>
                    <a:pt x="10256520" y="0"/>
                  </a:cubicBezTo>
                  <a:cubicBezTo>
                    <a:pt x="10275718" y="174759"/>
                    <a:pt x="10204835" y="321422"/>
                    <a:pt x="10256520" y="440121"/>
                  </a:cubicBezTo>
                  <a:cubicBezTo>
                    <a:pt x="10308205" y="558820"/>
                    <a:pt x="10204842" y="757382"/>
                    <a:pt x="10256520" y="900247"/>
                  </a:cubicBezTo>
                  <a:cubicBezTo>
                    <a:pt x="10308198" y="1043112"/>
                    <a:pt x="10207901" y="1247262"/>
                    <a:pt x="10256520" y="1360373"/>
                  </a:cubicBezTo>
                  <a:cubicBezTo>
                    <a:pt x="10305139" y="1473484"/>
                    <a:pt x="10252726" y="1811944"/>
                    <a:pt x="10256520" y="2000548"/>
                  </a:cubicBezTo>
                  <a:cubicBezTo>
                    <a:pt x="10106848" y="2005664"/>
                    <a:pt x="9914160" y="1970826"/>
                    <a:pt x="9789279" y="2000548"/>
                  </a:cubicBezTo>
                  <a:cubicBezTo>
                    <a:pt x="9664398" y="2030270"/>
                    <a:pt x="9310187" y="1917056"/>
                    <a:pt x="9014341" y="2000548"/>
                  </a:cubicBezTo>
                  <a:cubicBezTo>
                    <a:pt x="8718495" y="2084040"/>
                    <a:pt x="8790081" y="1980519"/>
                    <a:pt x="8649665" y="2000548"/>
                  </a:cubicBezTo>
                  <a:cubicBezTo>
                    <a:pt x="8509249" y="2020577"/>
                    <a:pt x="8325410" y="1986112"/>
                    <a:pt x="8182424" y="2000548"/>
                  </a:cubicBezTo>
                  <a:cubicBezTo>
                    <a:pt x="8039438" y="2014984"/>
                    <a:pt x="7984773" y="1984756"/>
                    <a:pt x="7920313" y="2000548"/>
                  </a:cubicBezTo>
                  <a:cubicBezTo>
                    <a:pt x="7855853" y="2016340"/>
                    <a:pt x="7783286" y="1986150"/>
                    <a:pt x="7658202" y="2000548"/>
                  </a:cubicBezTo>
                  <a:cubicBezTo>
                    <a:pt x="7533118" y="2014946"/>
                    <a:pt x="7362889" y="1958840"/>
                    <a:pt x="7190960" y="2000548"/>
                  </a:cubicBezTo>
                  <a:cubicBezTo>
                    <a:pt x="7019031" y="2042256"/>
                    <a:pt x="6632694" y="1929218"/>
                    <a:pt x="6416023" y="2000548"/>
                  </a:cubicBezTo>
                  <a:cubicBezTo>
                    <a:pt x="6199352" y="2071878"/>
                    <a:pt x="5808707" y="1965198"/>
                    <a:pt x="5641086" y="2000548"/>
                  </a:cubicBezTo>
                  <a:cubicBezTo>
                    <a:pt x="5473465" y="2035898"/>
                    <a:pt x="5452375" y="1992503"/>
                    <a:pt x="5378975" y="2000548"/>
                  </a:cubicBezTo>
                  <a:cubicBezTo>
                    <a:pt x="5305575" y="2008593"/>
                    <a:pt x="5149240" y="1965164"/>
                    <a:pt x="5014299" y="2000548"/>
                  </a:cubicBezTo>
                  <a:cubicBezTo>
                    <a:pt x="4879358" y="2035932"/>
                    <a:pt x="4555859" y="1990823"/>
                    <a:pt x="4341927" y="2000548"/>
                  </a:cubicBezTo>
                  <a:cubicBezTo>
                    <a:pt x="4127995" y="2010273"/>
                    <a:pt x="4082615" y="1959393"/>
                    <a:pt x="3977251" y="2000548"/>
                  </a:cubicBezTo>
                  <a:cubicBezTo>
                    <a:pt x="3871887" y="2041703"/>
                    <a:pt x="3763638" y="1993923"/>
                    <a:pt x="3612574" y="2000548"/>
                  </a:cubicBezTo>
                  <a:cubicBezTo>
                    <a:pt x="3461510" y="2007173"/>
                    <a:pt x="3221681" y="1970641"/>
                    <a:pt x="2940202" y="2000548"/>
                  </a:cubicBezTo>
                  <a:cubicBezTo>
                    <a:pt x="2658723" y="2030455"/>
                    <a:pt x="2450666" y="1940492"/>
                    <a:pt x="2165265" y="2000548"/>
                  </a:cubicBezTo>
                  <a:cubicBezTo>
                    <a:pt x="1879864" y="2060604"/>
                    <a:pt x="1870355" y="1962450"/>
                    <a:pt x="1595459" y="2000548"/>
                  </a:cubicBezTo>
                  <a:cubicBezTo>
                    <a:pt x="1320563" y="2038646"/>
                    <a:pt x="1267909" y="1953412"/>
                    <a:pt x="1025652" y="2000548"/>
                  </a:cubicBezTo>
                  <a:cubicBezTo>
                    <a:pt x="783395" y="2047684"/>
                    <a:pt x="828485" y="1994990"/>
                    <a:pt x="763541" y="2000548"/>
                  </a:cubicBezTo>
                  <a:cubicBezTo>
                    <a:pt x="698597" y="2006106"/>
                    <a:pt x="203380" y="1943947"/>
                    <a:pt x="0" y="2000548"/>
                  </a:cubicBezTo>
                  <a:cubicBezTo>
                    <a:pt x="-37463" y="1846537"/>
                    <a:pt x="6710" y="1719741"/>
                    <a:pt x="0" y="1480406"/>
                  </a:cubicBezTo>
                  <a:cubicBezTo>
                    <a:pt x="-6710" y="1241071"/>
                    <a:pt x="21674" y="1141818"/>
                    <a:pt x="0" y="1040285"/>
                  </a:cubicBezTo>
                  <a:cubicBezTo>
                    <a:pt x="-21674" y="938752"/>
                    <a:pt x="39121" y="717705"/>
                    <a:pt x="0" y="500137"/>
                  </a:cubicBezTo>
                  <a:cubicBezTo>
                    <a:pt x="-39121" y="282569"/>
                    <a:pt x="17715" y="146603"/>
                    <a:pt x="0" y="0"/>
                  </a:cubicBezTo>
                  <a:close/>
                </a:path>
              </a:pathLst>
            </a:custGeom>
            <a:noFill/>
            <a:ln w="28575"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305600870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683683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0694BA70-7DB5-4697-9946-E8BD47D720B8}"/>
              </a:ext>
            </a:extLst>
          </p:cNvPr>
          <p:cNvSpPr txBox="1"/>
          <p:nvPr/>
        </p:nvSpPr>
        <p:spPr>
          <a:xfrm>
            <a:off x="0" y="0"/>
            <a:ext cx="1638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i="1" u="sng" dirty="0">
                <a:solidFill>
                  <a:srgbClr val="7030A0"/>
                </a:solidFill>
              </a:rPr>
              <a:t>Exemple </a:t>
            </a:r>
            <a:endParaRPr lang="fr-FR" dirty="0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FEABA388-0F13-4F29-A0E7-F48A2FF431D7}"/>
              </a:ext>
            </a:extLst>
          </p:cNvPr>
          <p:cNvGrpSpPr/>
          <p:nvPr/>
        </p:nvGrpSpPr>
        <p:grpSpPr>
          <a:xfrm>
            <a:off x="0" y="661782"/>
            <a:ext cx="6096000" cy="5534435"/>
            <a:chOff x="0" y="661782"/>
            <a:chExt cx="6096000" cy="5534435"/>
          </a:xfrm>
        </p:grpSpPr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49B988BF-EA96-44A4-96E7-97881A7DBCAF}"/>
                </a:ext>
              </a:extLst>
            </p:cNvPr>
            <p:cNvSpPr/>
            <p:nvPr/>
          </p:nvSpPr>
          <p:spPr>
            <a:xfrm>
              <a:off x="0" y="661782"/>
              <a:ext cx="6096000" cy="2081417"/>
            </a:xfrm>
            <a:custGeom>
              <a:avLst/>
              <a:gdLst>
                <a:gd name="connsiteX0" fmla="*/ 0 w 6096000"/>
                <a:gd name="connsiteY0" fmla="*/ 977642 h 2081417"/>
                <a:gd name="connsiteX1" fmla="*/ 977642 w 6096000"/>
                <a:gd name="connsiteY1" fmla="*/ 0 h 2081417"/>
                <a:gd name="connsiteX2" fmla="*/ 1651987 w 6096000"/>
                <a:gd name="connsiteY2" fmla="*/ 0 h 2081417"/>
                <a:gd name="connsiteX3" fmla="*/ 2119297 w 6096000"/>
                <a:gd name="connsiteY3" fmla="*/ 0 h 2081417"/>
                <a:gd name="connsiteX4" fmla="*/ 2710827 w 6096000"/>
                <a:gd name="connsiteY4" fmla="*/ 0 h 2081417"/>
                <a:gd name="connsiteX5" fmla="*/ 3260951 w 6096000"/>
                <a:gd name="connsiteY5" fmla="*/ 0 h 2081417"/>
                <a:gd name="connsiteX6" fmla="*/ 3935296 w 6096000"/>
                <a:gd name="connsiteY6" fmla="*/ 0 h 2081417"/>
                <a:gd name="connsiteX7" fmla="*/ 4609641 w 6096000"/>
                <a:gd name="connsiteY7" fmla="*/ 0 h 2081417"/>
                <a:gd name="connsiteX8" fmla="*/ 5118358 w 6096000"/>
                <a:gd name="connsiteY8" fmla="*/ 0 h 2081417"/>
                <a:gd name="connsiteX9" fmla="*/ 6096000 w 6096000"/>
                <a:gd name="connsiteY9" fmla="*/ 977642 h 2081417"/>
                <a:gd name="connsiteX10" fmla="*/ 6096000 w 6096000"/>
                <a:gd name="connsiteY10" fmla="*/ 1103775 h 2081417"/>
                <a:gd name="connsiteX11" fmla="*/ 5118358 w 6096000"/>
                <a:gd name="connsiteY11" fmla="*/ 2081417 h 2081417"/>
                <a:gd name="connsiteX12" fmla="*/ 4526827 w 6096000"/>
                <a:gd name="connsiteY12" fmla="*/ 2081417 h 2081417"/>
                <a:gd name="connsiteX13" fmla="*/ 4018111 w 6096000"/>
                <a:gd name="connsiteY13" fmla="*/ 2081417 h 2081417"/>
                <a:gd name="connsiteX14" fmla="*/ 3550801 w 6096000"/>
                <a:gd name="connsiteY14" fmla="*/ 2081417 h 2081417"/>
                <a:gd name="connsiteX15" fmla="*/ 3083492 w 6096000"/>
                <a:gd name="connsiteY15" fmla="*/ 2081417 h 2081417"/>
                <a:gd name="connsiteX16" fmla="*/ 2450554 w 6096000"/>
                <a:gd name="connsiteY16" fmla="*/ 2081417 h 2081417"/>
                <a:gd name="connsiteX17" fmla="*/ 1941837 w 6096000"/>
                <a:gd name="connsiteY17" fmla="*/ 2081417 h 2081417"/>
                <a:gd name="connsiteX18" fmla="*/ 977642 w 6096000"/>
                <a:gd name="connsiteY18" fmla="*/ 2081417 h 2081417"/>
                <a:gd name="connsiteX19" fmla="*/ 0 w 6096000"/>
                <a:gd name="connsiteY19" fmla="*/ 1103775 h 2081417"/>
                <a:gd name="connsiteX20" fmla="*/ 0 w 6096000"/>
                <a:gd name="connsiteY20" fmla="*/ 977642 h 2081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096000" h="2081417" fill="none" extrusionOk="0">
                  <a:moveTo>
                    <a:pt x="0" y="977642"/>
                  </a:moveTo>
                  <a:cubicBezTo>
                    <a:pt x="-8837" y="427060"/>
                    <a:pt x="483751" y="25746"/>
                    <a:pt x="977642" y="0"/>
                  </a:cubicBezTo>
                  <a:cubicBezTo>
                    <a:pt x="1176334" y="-61003"/>
                    <a:pt x="1498852" y="56662"/>
                    <a:pt x="1651987" y="0"/>
                  </a:cubicBezTo>
                  <a:cubicBezTo>
                    <a:pt x="1805123" y="-56662"/>
                    <a:pt x="2010448" y="35180"/>
                    <a:pt x="2119297" y="0"/>
                  </a:cubicBezTo>
                  <a:cubicBezTo>
                    <a:pt x="2228146" y="-35180"/>
                    <a:pt x="2534547" y="60312"/>
                    <a:pt x="2710827" y="0"/>
                  </a:cubicBezTo>
                  <a:cubicBezTo>
                    <a:pt x="2887107" y="-60312"/>
                    <a:pt x="3111677" y="15355"/>
                    <a:pt x="3260951" y="0"/>
                  </a:cubicBezTo>
                  <a:cubicBezTo>
                    <a:pt x="3410225" y="-15355"/>
                    <a:pt x="3636573" y="75651"/>
                    <a:pt x="3935296" y="0"/>
                  </a:cubicBezTo>
                  <a:cubicBezTo>
                    <a:pt x="4234019" y="-75651"/>
                    <a:pt x="4383673" y="23570"/>
                    <a:pt x="4609641" y="0"/>
                  </a:cubicBezTo>
                  <a:cubicBezTo>
                    <a:pt x="4835609" y="-23570"/>
                    <a:pt x="5010559" y="55348"/>
                    <a:pt x="5118358" y="0"/>
                  </a:cubicBezTo>
                  <a:cubicBezTo>
                    <a:pt x="5621552" y="105224"/>
                    <a:pt x="6109468" y="498040"/>
                    <a:pt x="6096000" y="977642"/>
                  </a:cubicBezTo>
                  <a:cubicBezTo>
                    <a:pt x="6110707" y="1034464"/>
                    <a:pt x="6082949" y="1051117"/>
                    <a:pt x="6096000" y="1103775"/>
                  </a:cubicBezTo>
                  <a:cubicBezTo>
                    <a:pt x="6116650" y="1641647"/>
                    <a:pt x="5612718" y="2077172"/>
                    <a:pt x="5118358" y="2081417"/>
                  </a:cubicBezTo>
                  <a:cubicBezTo>
                    <a:pt x="4910229" y="2088215"/>
                    <a:pt x="4696681" y="2019657"/>
                    <a:pt x="4526827" y="2081417"/>
                  </a:cubicBezTo>
                  <a:cubicBezTo>
                    <a:pt x="4356973" y="2143177"/>
                    <a:pt x="4202368" y="2075338"/>
                    <a:pt x="4018111" y="2081417"/>
                  </a:cubicBezTo>
                  <a:cubicBezTo>
                    <a:pt x="3833854" y="2087496"/>
                    <a:pt x="3717471" y="2050674"/>
                    <a:pt x="3550801" y="2081417"/>
                  </a:cubicBezTo>
                  <a:cubicBezTo>
                    <a:pt x="3384131" y="2112160"/>
                    <a:pt x="3260595" y="2058567"/>
                    <a:pt x="3083492" y="2081417"/>
                  </a:cubicBezTo>
                  <a:cubicBezTo>
                    <a:pt x="2906389" y="2104267"/>
                    <a:pt x="2675517" y="2033477"/>
                    <a:pt x="2450554" y="2081417"/>
                  </a:cubicBezTo>
                  <a:cubicBezTo>
                    <a:pt x="2225591" y="2129357"/>
                    <a:pt x="2194639" y="2065390"/>
                    <a:pt x="1941837" y="2081417"/>
                  </a:cubicBezTo>
                  <a:cubicBezTo>
                    <a:pt x="1689035" y="2097444"/>
                    <a:pt x="1195236" y="2025147"/>
                    <a:pt x="977642" y="2081417"/>
                  </a:cubicBezTo>
                  <a:cubicBezTo>
                    <a:pt x="467664" y="2132436"/>
                    <a:pt x="-84535" y="1647609"/>
                    <a:pt x="0" y="1103775"/>
                  </a:cubicBezTo>
                  <a:cubicBezTo>
                    <a:pt x="-11343" y="1048621"/>
                    <a:pt x="13227" y="1009042"/>
                    <a:pt x="0" y="977642"/>
                  </a:cubicBezTo>
                  <a:close/>
                </a:path>
                <a:path w="6096000" h="2081417" stroke="0" extrusionOk="0">
                  <a:moveTo>
                    <a:pt x="0" y="977642"/>
                  </a:moveTo>
                  <a:cubicBezTo>
                    <a:pt x="-41832" y="489800"/>
                    <a:pt x="433418" y="-61885"/>
                    <a:pt x="977642" y="0"/>
                  </a:cubicBezTo>
                  <a:cubicBezTo>
                    <a:pt x="1228454" y="-48408"/>
                    <a:pt x="1266251" y="53623"/>
                    <a:pt x="1486359" y="0"/>
                  </a:cubicBezTo>
                  <a:cubicBezTo>
                    <a:pt x="1706467" y="-53623"/>
                    <a:pt x="1843250" y="14981"/>
                    <a:pt x="2119297" y="0"/>
                  </a:cubicBezTo>
                  <a:cubicBezTo>
                    <a:pt x="2395344" y="-14981"/>
                    <a:pt x="2508487" y="11173"/>
                    <a:pt x="2628013" y="0"/>
                  </a:cubicBezTo>
                  <a:cubicBezTo>
                    <a:pt x="2747539" y="-11173"/>
                    <a:pt x="2969178" y="56496"/>
                    <a:pt x="3302358" y="0"/>
                  </a:cubicBezTo>
                  <a:cubicBezTo>
                    <a:pt x="3635538" y="-56496"/>
                    <a:pt x="3734115" y="1861"/>
                    <a:pt x="3976703" y="0"/>
                  </a:cubicBezTo>
                  <a:cubicBezTo>
                    <a:pt x="4219291" y="-1861"/>
                    <a:pt x="4311525" y="46577"/>
                    <a:pt x="4609641" y="0"/>
                  </a:cubicBezTo>
                  <a:cubicBezTo>
                    <a:pt x="4907757" y="-46577"/>
                    <a:pt x="4990212" y="39732"/>
                    <a:pt x="5118358" y="0"/>
                  </a:cubicBezTo>
                  <a:cubicBezTo>
                    <a:pt x="5633783" y="13581"/>
                    <a:pt x="6094159" y="383789"/>
                    <a:pt x="6096000" y="977642"/>
                  </a:cubicBezTo>
                  <a:cubicBezTo>
                    <a:pt x="6110727" y="1014314"/>
                    <a:pt x="6083762" y="1060693"/>
                    <a:pt x="6096000" y="1103775"/>
                  </a:cubicBezTo>
                  <a:cubicBezTo>
                    <a:pt x="6021488" y="1578541"/>
                    <a:pt x="5521510" y="2103197"/>
                    <a:pt x="5118358" y="2081417"/>
                  </a:cubicBezTo>
                  <a:cubicBezTo>
                    <a:pt x="4944159" y="2111165"/>
                    <a:pt x="4751647" y="2029542"/>
                    <a:pt x="4651049" y="2081417"/>
                  </a:cubicBezTo>
                  <a:cubicBezTo>
                    <a:pt x="4550451" y="2133292"/>
                    <a:pt x="4187961" y="2058334"/>
                    <a:pt x="4059518" y="2081417"/>
                  </a:cubicBezTo>
                  <a:cubicBezTo>
                    <a:pt x="3931075" y="2104500"/>
                    <a:pt x="3816295" y="2079404"/>
                    <a:pt x="3592208" y="2081417"/>
                  </a:cubicBezTo>
                  <a:cubicBezTo>
                    <a:pt x="3368121" y="2083430"/>
                    <a:pt x="3232371" y="2065710"/>
                    <a:pt x="2959270" y="2081417"/>
                  </a:cubicBezTo>
                  <a:cubicBezTo>
                    <a:pt x="2686169" y="2097124"/>
                    <a:pt x="2605226" y="2076086"/>
                    <a:pt x="2284925" y="2081417"/>
                  </a:cubicBezTo>
                  <a:cubicBezTo>
                    <a:pt x="1964624" y="2086748"/>
                    <a:pt x="1911777" y="2044933"/>
                    <a:pt x="1651987" y="2081417"/>
                  </a:cubicBezTo>
                  <a:cubicBezTo>
                    <a:pt x="1392197" y="2117901"/>
                    <a:pt x="1127520" y="2029628"/>
                    <a:pt x="977642" y="2081417"/>
                  </a:cubicBezTo>
                  <a:cubicBezTo>
                    <a:pt x="443414" y="2162386"/>
                    <a:pt x="30492" y="1680562"/>
                    <a:pt x="0" y="1103775"/>
                  </a:cubicBezTo>
                  <a:cubicBezTo>
                    <a:pt x="-4257" y="1075722"/>
                    <a:pt x="3377" y="1026714"/>
                    <a:pt x="0" y="97764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28575"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428321725">
                    <a:prstGeom prst="roundRect">
                      <a:avLst>
                        <a:gd name="adj" fmla="val 46970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fr-FR" sz="2800" b="1" i="0" dirty="0">
                  <a:solidFill>
                    <a:srgbClr val="000000"/>
                  </a:solidFill>
                  <a:effectLst/>
                  <a:latin typeface="Segoe UI" panose="020B0502040204020203" pitchFamily="34" charset="0"/>
                </a:rPr>
                <a:t>Résoudre : (x + 3)(x - 7) = 0</a:t>
              </a:r>
              <a:endParaRPr lang="fr-FR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endParaRPr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36607ED9-3BAE-4B0E-A5AE-3DD43D6335A4}"/>
                </a:ext>
              </a:extLst>
            </p:cNvPr>
            <p:cNvSpPr/>
            <p:nvPr/>
          </p:nvSpPr>
          <p:spPr>
            <a:xfrm>
              <a:off x="0" y="2227385"/>
              <a:ext cx="6096000" cy="3968832"/>
            </a:xfrm>
            <a:custGeom>
              <a:avLst/>
              <a:gdLst>
                <a:gd name="connsiteX0" fmla="*/ 0 w 6096000"/>
                <a:gd name="connsiteY0" fmla="*/ 873659 h 3968832"/>
                <a:gd name="connsiteX1" fmla="*/ 873659 w 6096000"/>
                <a:gd name="connsiteY1" fmla="*/ 0 h 3968832"/>
                <a:gd name="connsiteX2" fmla="*/ 1286784 w 6096000"/>
                <a:gd name="connsiteY2" fmla="*/ 0 h 3968832"/>
                <a:gd name="connsiteX3" fmla="*/ 1786882 w 6096000"/>
                <a:gd name="connsiteY3" fmla="*/ 0 h 3968832"/>
                <a:gd name="connsiteX4" fmla="*/ 2417441 w 6096000"/>
                <a:gd name="connsiteY4" fmla="*/ 0 h 3968832"/>
                <a:gd name="connsiteX5" fmla="*/ 2917540 w 6096000"/>
                <a:gd name="connsiteY5" fmla="*/ 0 h 3968832"/>
                <a:gd name="connsiteX6" fmla="*/ 3548098 w 6096000"/>
                <a:gd name="connsiteY6" fmla="*/ 0 h 3968832"/>
                <a:gd name="connsiteX7" fmla="*/ 4135171 w 6096000"/>
                <a:gd name="connsiteY7" fmla="*/ 0 h 3968832"/>
                <a:gd name="connsiteX8" fmla="*/ 4591782 w 6096000"/>
                <a:gd name="connsiteY8" fmla="*/ 0 h 3968832"/>
                <a:gd name="connsiteX9" fmla="*/ 5222341 w 6096000"/>
                <a:gd name="connsiteY9" fmla="*/ 0 h 3968832"/>
                <a:gd name="connsiteX10" fmla="*/ 6096000 w 6096000"/>
                <a:gd name="connsiteY10" fmla="*/ 873659 h 3968832"/>
                <a:gd name="connsiteX11" fmla="*/ 6096000 w 6096000"/>
                <a:gd name="connsiteY11" fmla="*/ 1362392 h 3968832"/>
                <a:gd name="connsiteX12" fmla="*/ 6096000 w 6096000"/>
                <a:gd name="connsiteY12" fmla="*/ 1939986 h 3968832"/>
                <a:gd name="connsiteX13" fmla="*/ 6096000 w 6096000"/>
                <a:gd name="connsiteY13" fmla="*/ 2517579 h 3968832"/>
                <a:gd name="connsiteX14" fmla="*/ 6096000 w 6096000"/>
                <a:gd name="connsiteY14" fmla="*/ 3095173 h 3968832"/>
                <a:gd name="connsiteX15" fmla="*/ 5222341 w 6096000"/>
                <a:gd name="connsiteY15" fmla="*/ 3968832 h 3968832"/>
                <a:gd name="connsiteX16" fmla="*/ 4678756 w 6096000"/>
                <a:gd name="connsiteY16" fmla="*/ 3968832 h 3968832"/>
                <a:gd name="connsiteX17" fmla="*/ 4178657 w 6096000"/>
                <a:gd name="connsiteY17" fmla="*/ 3968832 h 3968832"/>
                <a:gd name="connsiteX18" fmla="*/ 3635072 w 6096000"/>
                <a:gd name="connsiteY18" fmla="*/ 3968832 h 3968832"/>
                <a:gd name="connsiteX19" fmla="*/ 3134974 w 6096000"/>
                <a:gd name="connsiteY19" fmla="*/ 3968832 h 3968832"/>
                <a:gd name="connsiteX20" fmla="*/ 2721849 w 6096000"/>
                <a:gd name="connsiteY20" fmla="*/ 3968832 h 3968832"/>
                <a:gd name="connsiteX21" fmla="*/ 2091290 w 6096000"/>
                <a:gd name="connsiteY21" fmla="*/ 3968832 h 3968832"/>
                <a:gd name="connsiteX22" fmla="*/ 1634678 w 6096000"/>
                <a:gd name="connsiteY22" fmla="*/ 3968832 h 3968832"/>
                <a:gd name="connsiteX23" fmla="*/ 873659 w 6096000"/>
                <a:gd name="connsiteY23" fmla="*/ 3968832 h 3968832"/>
                <a:gd name="connsiteX24" fmla="*/ 0 w 6096000"/>
                <a:gd name="connsiteY24" fmla="*/ 3095173 h 3968832"/>
                <a:gd name="connsiteX25" fmla="*/ 0 w 6096000"/>
                <a:gd name="connsiteY25" fmla="*/ 2584225 h 3968832"/>
                <a:gd name="connsiteX26" fmla="*/ 0 w 6096000"/>
                <a:gd name="connsiteY26" fmla="*/ 2073277 h 3968832"/>
                <a:gd name="connsiteX27" fmla="*/ 0 w 6096000"/>
                <a:gd name="connsiteY27" fmla="*/ 1517898 h 3968832"/>
                <a:gd name="connsiteX28" fmla="*/ 0 w 6096000"/>
                <a:gd name="connsiteY28" fmla="*/ 873659 h 3968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096000" h="3968832" fill="none" extrusionOk="0">
                  <a:moveTo>
                    <a:pt x="0" y="873659"/>
                  </a:moveTo>
                  <a:cubicBezTo>
                    <a:pt x="56390" y="418233"/>
                    <a:pt x="483824" y="-24571"/>
                    <a:pt x="873659" y="0"/>
                  </a:cubicBezTo>
                  <a:cubicBezTo>
                    <a:pt x="959298" y="-25381"/>
                    <a:pt x="1123034" y="7000"/>
                    <a:pt x="1286784" y="0"/>
                  </a:cubicBezTo>
                  <a:cubicBezTo>
                    <a:pt x="1450534" y="-7000"/>
                    <a:pt x="1656990" y="44678"/>
                    <a:pt x="1786882" y="0"/>
                  </a:cubicBezTo>
                  <a:cubicBezTo>
                    <a:pt x="1916774" y="-44678"/>
                    <a:pt x="2273885" y="6735"/>
                    <a:pt x="2417441" y="0"/>
                  </a:cubicBezTo>
                  <a:cubicBezTo>
                    <a:pt x="2560997" y="-6735"/>
                    <a:pt x="2765818" y="25101"/>
                    <a:pt x="2917540" y="0"/>
                  </a:cubicBezTo>
                  <a:cubicBezTo>
                    <a:pt x="3069262" y="-25101"/>
                    <a:pt x="3379145" y="10504"/>
                    <a:pt x="3548098" y="0"/>
                  </a:cubicBezTo>
                  <a:cubicBezTo>
                    <a:pt x="3717051" y="-10504"/>
                    <a:pt x="3972663" y="9210"/>
                    <a:pt x="4135171" y="0"/>
                  </a:cubicBezTo>
                  <a:cubicBezTo>
                    <a:pt x="4297679" y="-9210"/>
                    <a:pt x="4425533" y="9015"/>
                    <a:pt x="4591782" y="0"/>
                  </a:cubicBezTo>
                  <a:cubicBezTo>
                    <a:pt x="4758031" y="-9015"/>
                    <a:pt x="4917539" y="27073"/>
                    <a:pt x="5222341" y="0"/>
                  </a:cubicBezTo>
                  <a:cubicBezTo>
                    <a:pt x="5815831" y="-43443"/>
                    <a:pt x="6065313" y="492153"/>
                    <a:pt x="6096000" y="873659"/>
                  </a:cubicBezTo>
                  <a:cubicBezTo>
                    <a:pt x="6101064" y="1042288"/>
                    <a:pt x="6069345" y="1138091"/>
                    <a:pt x="6096000" y="1362392"/>
                  </a:cubicBezTo>
                  <a:cubicBezTo>
                    <a:pt x="6122655" y="1586693"/>
                    <a:pt x="6065691" y="1754196"/>
                    <a:pt x="6096000" y="1939986"/>
                  </a:cubicBezTo>
                  <a:cubicBezTo>
                    <a:pt x="6126309" y="2125776"/>
                    <a:pt x="6061017" y="2344858"/>
                    <a:pt x="6096000" y="2517579"/>
                  </a:cubicBezTo>
                  <a:cubicBezTo>
                    <a:pt x="6130983" y="2690300"/>
                    <a:pt x="6060835" y="2952355"/>
                    <a:pt x="6096000" y="3095173"/>
                  </a:cubicBezTo>
                  <a:cubicBezTo>
                    <a:pt x="6104441" y="3625393"/>
                    <a:pt x="5703292" y="3980217"/>
                    <a:pt x="5222341" y="3968832"/>
                  </a:cubicBezTo>
                  <a:cubicBezTo>
                    <a:pt x="5092154" y="3985827"/>
                    <a:pt x="4837503" y="3916667"/>
                    <a:pt x="4678756" y="3968832"/>
                  </a:cubicBezTo>
                  <a:cubicBezTo>
                    <a:pt x="4520010" y="4020997"/>
                    <a:pt x="4306093" y="3967632"/>
                    <a:pt x="4178657" y="3968832"/>
                  </a:cubicBezTo>
                  <a:cubicBezTo>
                    <a:pt x="4051221" y="3970032"/>
                    <a:pt x="3882693" y="3967611"/>
                    <a:pt x="3635072" y="3968832"/>
                  </a:cubicBezTo>
                  <a:cubicBezTo>
                    <a:pt x="3387451" y="3970053"/>
                    <a:pt x="3270538" y="3966040"/>
                    <a:pt x="3134974" y="3968832"/>
                  </a:cubicBezTo>
                  <a:cubicBezTo>
                    <a:pt x="2999410" y="3971624"/>
                    <a:pt x="2853641" y="3947321"/>
                    <a:pt x="2721849" y="3968832"/>
                  </a:cubicBezTo>
                  <a:cubicBezTo>
                    <a:pt x="2590057" y="3990343"/>
                    <a:pt x="2245726" y="3961606"/>
                    <a:pt x="2091290" y="3968832"/>
                  </a:cubicBezTo>
                  <a:cubicBezTo>
                    <a:pt x="1936854" y="3976058"/>
                    <a:pt x="1818751" y="3926346"/>
                    <a:pt x="1634678" y="3968832"/>
                  </a:cubicBezTo>
                  <a:cubicBezTo>
                    <a:pt x="1450605" y="4011318"/>
                    <a:pt x="1247662" y="3886772"/>
                    <a:pt x="873659" y="3968832"/>
                  </a:cubicBezTo>
                  <a:cubicBezTo>
                    <a:pt x="408431" y="3954773"/>
                    <a:pt x="137554" y="3555666"/>
                    <a:pt x="0" y="3095173"/>
                  </a:cubicBezTo>
                  <a:cubicBezTo>
                    <a:pt x="-33096" y="2913663"/>
                    <a:pt x="50043" y="2792935"/>
                    <a:pt x="0" y="2584225"/>
                  </a:cubicBezTo>
                  <a:cubicBezTo>
                    <a:pt x="-50043" y="2375515"/>
                    <a:pt x="51261" y="2221249"/>
                    <a:pt x="0" y="2073277"/>
                  </a:cubicBezTo>
                  <a:cubicBezTo>
                    <a:pt x="-51261" y="1925305"/>
                    <a:pt x="38019" y="1680949"/>
                    <a:pt x="0" y="1517898"/>
                  </a:cubicBezTo>
                  <a:cubicBezTo>
                    <a:pt x="-38019" y="1354847"/>
                    <a:pt x="54968" y="1026327"/>
                    <a:pt x="0" y="873659"/>
                  </a:cubicBezTo>
                  <a:close/>
                </a:path>
                <a:path w="6096000" h="3968832" stroke="0" extrusionOk="0">
                  <a:moveTo>
                    <a:pt x="0" y="873659"/>
                  </a:moveTo>
                  <a:cubicBezTo>
                    <a:pt x="-35440" y="435284"/>
                    <a:pt x="385049" y="-88060"/>
                    <a:pt x="873659" y="0"/>
                  </a:cubicBezTo>
                  <a:cubicBezTo>
                    <a:pt x="998575" y="-42271"/>
                    <a:pt x="1180505" y="2988"/>
                    <a:pt x="1330271" y="0"/>
                  </a:cubicBezTo>
                  <a:cubicBezTo>
                    <a:pt x="1480037" y="-2988"/>
                    <a:pt x="1651875" y="25228"/>
                    <a:pt x="1917343" y="0"/>
                  </a:cubicBezTo>
                  <a:cubicBezTo>
                    <a:pt x="2182811" y="-25228"/>
                    <a:pt x="2212433" y="25004"/>
                    <a:pt x="2373954" y="0"/>
                  </a:cubicBezTo>
                  <a:cubicBezTo>
                    <a:pt x="2535475" y="-25004"/>
                    <a:pt x="2800579" y="40171"/>
                    <a:pt x="3004513" y="0"/>
                  </a:cubicBezTo>
                  <a:cubicBezTo>
                    <a:pt x="3208447" y="-40171"/>
                    <a:pt x="3508625" y="36856"/>
                    <a:pt x="3635072" y="0"/>
                  </a:cubicBezTo>
                  <a:cubicBezTo>
                    <a:pt x="3761519" y="-36856"/>
                    <a:pt x="4040752" y="51628"/>
                    <a:pt x="4222144" y="0"/>
                  </a:cubicBezTo>
                  <a:cubicBezTo>
                    <a:pt x="4403536" y="-51628"/>
                    <a:pt x="4846469" y="90494"/>
                    <a:pt x="5222341" y="0"/>
                  </a:cubicBezTo>
                  <a:cubicBezTo>
                    <a:pt x="5686086" y="10396"/>
                    <a:pt x="6091317" y="253990"/>
                    <a:pt x="6096000" y="873659"/>
                  </a:cubicBezTo>
                  <a:cubicBezTo>
                    <a:pt x="6133310" y="996087"/>
                    <a:pt x="6047290" y="1191557"/>
                    <a:pt x="6096000" y="1406822"/>
                  </a:cubicBezTo>
                  <a:cubicBezTo>
                    <a:pt x="6144710" y="1622087"/>
                    <a:pt x="6061488" y="1755258"/>
                    <a:pt x="6096000" y="2006631"/>
                  </a:cubicBezTo>
                  <a:cubicBezTo>
                    <a:pt x="6130512" y="2258004"/>
                    <a:pt x="6079304" y="2314281"/>
                    <a:pt x="6096000" y="2495364"/>
                  </a:cubicBezTo>
                  <a:cubicBezTo>
                    <a:pt x="6112696" y="2676447"/>
                    <a:pt x="6079442" y="2923634"/>
                    <a:pt x="6096000" y="3095173"/>
                  </a:cubicBezTo>
                  <a:cubicBezTo>
                    <a:pt x="6068550" y="3615834"/>
                    <a:pt x="5777598" y="3992079"/>
                    <a:pt x="5222341" y="3968832"/>
                  </a:cubicBezTo>
                  <a:cubicBezTo>
                    <a:pt x="5099497" y="4004210"/>
                    <a:pt x="4990927" y="3922552"/>
                    <a:pt x="4809216" y="3968832"/>
                  </a:cubicBezTo>
                  <a:cubicBezTo>
                    <a:pt x="4627506" y="4015112"/>
                    <a:pt x="4474737" y="3928548"/>
                    <a:pt x="4178657" y="3968832"/>
                  </a:cubicBezTo>
                  <a:cubicBezTo>
                    <a:pt x="3882577" y="4009116"/>
                    <a:pt x="3796520" y="3949080"/>
                    <a:pt x="3591585" y="3968832"/>
                  </a:cubicBezTo>
                  <a:cubicBezTo>
                    <a:pt x="3386650" y="3988584"/>
                    <a:pt x="3332925" y="3966156"/>
                    <a:pt x="3091487" y="3968832"/>
                  </a:cubicBezTo>
                  <a:cubicBezTo>
                    <a:pt x="2850049" y="3971508"/>
                    <a:pt x="2642340" y="3953367"/>
                    <a:pt x="2460928" y="3968832"/>
                  </a:cubicBezTo>
                  <a:cubicBezTo>
                    <a:pt x="2279516" y="3984297"/>
                    <a:pt x="2075131" y="3957158"/>
                    <a:pt x="1917343" y="3968832"/>
                  </a:cubicBezTo>
                  <a:cubicBezTo>
                    <a:pt x="1759555" y="3980506"/>
                    <a:pt x="1648147" y="3948271"/>
                    <a:pt x="1504218" y="3968832"/>
                  </a:cubicBezTo>
                  <a:cubicBezTo>
                    <a:pt x="1360290" y="3989393"/>
                    <a:pt x="1125157" y="3954545"/>
                    <a:pt x="873659" y="3968832"/>
                  </a:cubicBezTo>
                  <a:cubicBezTo>
                    <a:pt x="375254" y="3990838"/>
                    <a:pt x="-57352" y="3484695"/>
                    <a:pt x="0" y="3095173"/>
                  </a:cubicBezTo>
                  <a:cubicBezTo>
                    <a:pt x="-20982" y="2868353"/>
                    <a:pt x="21528" y="2693902"/>
                    <a:pt x="0" y="2539795"/>
                  </a:cubicBezTo>
                  <a:cubicBezTo>
                    <a:pt x="-21528" y="2385688"/>
                    <a:pt x="9875" y="2215692"/>
                    <a:pt x="0" y="1984416"/>
                  </a:cubicBezTo>
                  <a:cubicBezTo>
                    <a:pt x="-9875" y="1753140"/>
                    <a:pt x="33963" y="1670036"/>
                    <a:pt x="0" y="1451253"/>
                  </a:cubicBezTo>
                  <a:cubicBezTo>
                    <a:pt x="-33963" y="1232470"/>
                    <a:pt x="23730" y="1114305"/>
                    <a:pt x="0" y="87365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28575"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428321725">
                    <a:prstGeom prst="roundRect">
                      <a:avLst>
                        <a:gd name="adj" fmla="val 22013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>
                  <a:solidFill>
                    <a:schemeClr val="tx1"/>
                  </a:solidFill>
                </a:rPr>
                <a:t>x + 3 = 0   ou   x - 7 = 0</a:t>
              </a:r>
            </a:p>
            <a:p>
              <a:pPr algn="ctr"/>
              <a:r>
                <a:rPr lang="fr-FR" sz="3600" b="1" dirty="0">
                  <a:solidFill>
                    <a:schemeClr val="tx1"/>
                  </a:solidFill>
                </a:rPr>
                <a:t>x = -3   ou  x = 7</a:t>
              </a:r>
            </a:p>
            <a:p>
              <a:pPr algn="ctr"/>
              <a:r>
                <a:rPr lang="fr-FR" sz="3600" b="1" dirty="0">
                  <a:solidFill>
                    <a:schemeClr val="accent6"/>
                  </a:solidFill>
                </a:rPr>
                <a:t>Solution : x = - 3 ou x = 7 </a:t>
              </a:r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2ED56413-FC19-4863-AEB9-A6827B342397}"/>
              </a:ext>
            </a:extLst>
          </p:cNvPr>
          <p:cNvGrpSpPr/>
          <p:nvPr/>
        </p:nvGrpSpPr>
        <p:grpSpPr>
          <a:xfrm>
            <a:off x="6096000" y="661782"/>
            <a:ext cx="6096000" cy="5534435"/>
            <a:chOff x="0" y="661782"/>
            <a:chExt cx="6096000" cy="5534435"/>
          </a:xfrm>
        </p:grpSpPr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8D20DBE1-BA5A-41A5-B3F5-E5CE7B370A17}"/>
                </a:ext>
              </a:extLst>
            </p:cNvPr>
            <p:cNvSpPr/>
            <p:nvPr/>
          </p:nvSpPr>
          <p:spPr>
            <a:xfrm>
              <a:off x="0" y="661782"/>
              <a:ext cx="6096000" cy="2081417"/>
            </a:xfrm>
            <a:custGeom>
              <a:avLst/>
              <a:gdLst>
                <a:gd name="connsiteX0" fmla="*/ 0 w 6096000"/>
                <a:gd name="connsiteY0" fmla="*/ 977642 h 2081417"/>
                <a:gd name="connsiteX1" fmla="*/ 977642 w 6096000"/>
                <a:gd name="connsiteY1" fmla="*/ 0 h 2081417"/>
                <a:gd name="connsiteX2" fmla="*/ 1651987 w 6096000"/>
                <a:gd name="connsiteY2" fmla="*/ 0 h 2081417"/>
                <a:gd name="connsiteX3" fmla="*/ 2119297 w 6096000"/>
                <a:gd name="connsiteY3" fmla="*/ 0 h 2081417"/>
                <a:gd name="connsiteX4" fmla="*/ 2710827 w 6096000"/>
                <a:gd name="connsiteY4" fmla="*/ 0 h 2081417"/>
                <a:gd name="connsiteX5" fmla="*/ 3260951 w 6096000"/>
                <a:gd name="connsiteY5" fmla="*/ 0 h 2081417"/>
                <a:gd name="connsiteX6" fmla="*/ 3935296 w 6096000"/>
                <a:gd name="connsiteY6" fmla="*/ 0 h 2081417"/>
                <a:gd name="connsiteX7" fmla="*/ 4609641 w 6096000"/>
                <a:gd name="connsiteY7" fmla="*/ 0 h 2081417"/>
                <a:gd name="connsiteX8" fmla="*/ 5118358 w 6096000"/>
                <a:gd name="connsiteY8" fmla="*/ 0 h 2081417"/>
                <a:gd name="connsiteX9" fmla="*/ 6096000 w 6096000"/>
                <a:gd name="connsiteY9" fmla="*/ 977642 h 2081417"/>
                <a:gd name="connsiteX10" fmla="*/ 6096000 w 6096000"/>
                <a:gd name="connsiteY10" fmla="*/ 1103775 h 2081417"/>
                <a:gd name="connsiteX11" fmla="*/ 5118358 w 6096000"/>
                <a:gd name="connsiteY11" fmla="*/ 2081417 h 2081417"/>
                <a:gd name="connsiteX12" fmla="*/ 4526827 w 6096000"/>
                <a:gd name="connsiteY12" fmla="*/ 2081417 h 2081417"/>
                <a:gd name="connsiteX13" fmla="*/ 4018111 w 6096000"/>
                <a:gd name="connsiteY13" fmla="*/ 2081417 h 2081417"/>
                <a:gd name="connsiteX14" fmla="*/ 3550801 w 6096000"/>
                <a:gd name="connsiteY14" fmla="*/ 2081417 h 2081417"/>
                <a:gd name="connsiteX15" fmla="*/ 3083492 w 6096000"/>
                <a:gd name="connsiteY15" fmla="*/ 2081417 h 2081417"/>
                <a:gd name="connsiteX16" fmla="*/ 2450554 w 6096000"/>
                <a:gd name="connsiteY16" fmla="*/ 2081417 h 2081417"/>
                <a:gd name="connsiteX17" fmla="*/ 1941837 w 6096000"/>
                <a:gd name="connsiteY17" fmla="*/ 2081417 h 2081417"/>
                <a:gd name="connsiteX18" fmla="*/ 977642 w 6096000"/>
                <a:gd name="connsiteY18" fmla="*/ 2081417 h 2081417"/>
                <a:gd name="connsiteX19" fmla="*/ 0 w 6096000"/>
                <a:gd name="connsiteY19" fmla="*/ 1103775 h 2081417"/>
                <a:gd name="connsiteX20" fmla="*/ 0 w 6096000"/>
                <a:gd name="connsiteY20" fmla="*/ 977642 h 2081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096000" h="2081417" fill="none" extrusionOk="0">
                  <a:moveTo>
                    <a:pt x="0" y="977642"/>
                  </a:moveTo>
                  <a:cubicBezTo>
                    <a:pt x="-8837" y="427060"/>
                    <a:pt x="483751" y="25746"/>
                    <a:pt x="977642" y="0"/>
                  </a:cubicBezTo>
                  <a:cubicBezTo>
                    <a:pt x="1176334" y="-61003"/>
                    <a:pt x="1498852" y="56662"/>
                    <a:pt x="1651987" y="0"/>
                  </a:cubicBezTo>
                  <a:cubicBezTo>
                    <a:pt x="1805123" y="-56662"/>
                    <a:pt x="2010448" y="35180"/>
                    <a:pt x="2119297" y="0"/>
                  </a:cubicBezTo>
                  <a:cubicBezTo>
                    <a:pt x="2228146" y="-35180"/>
                    <a:pt x="2534547" y="60312"/>
                    <a:pt x="2710827" y="0"/>
                  </a:cubicBezTo>
                  <a:cubicBezTo>
                    <a:pt x="2887107" y="-60312"/>
                    <a:pt x="3111677" y="15355"/>
                    <a:pt x="3260951" y="0"/>
                  </a:cubicBezTo>
                  <a:cubicBezTo>
                    <a:pt x="3410225" y="-15355"/>
                    <a:pt x="3636573" y="75651"/>
                    <a:pt x="3935296" y="0"/>
                  </a:cubicBezTo>
                  <a:cubicBezTo>
                    <a:pt x="4234019" y="-75651"/>
                    <a:pt x="4383673" y="23570"/>
                    <a:pt x="4609641" y="0"/>
                  </a:cubicBezTo>
                  <a:cubicBezTo>
                    <a:pt x="4835609" y="-23570"/>
                    <a:pt x="5010559" y="55348"/>
                    <a:pt x="5118358" y="0"/>
                  </a:cubicBezTo>
                  <a:cubicBezTo>
                    <a:pt x="5621552" y="105224"/>
                    <a:pt x="6109468" y="498040"/>
                    <a:pt x="6096000" y="977642"/>
                  </a:cubicBezTo>
                  <a:cubicBezTo>
                    <a:pt x="6110707" y="1034464"/>
                    <a:pt x="6082949" y="1051117"/>
                    <a:pt x="6096000" y="1103775"/>
                  </a:cubicBezTo>
                  <a:cubicBezTo>
                    <a:pt x="6116650" y="1641647"/>
                    <a:pt x="5612718" y="2077172"/>
                    <a:pt x="5118358" y="2081417"/>
                  </a:cubicBezTo>
                  <a:cubicBezTo>
                    <a:pt x="4910229" y="2088215"/>
                    <a:pt x="4696681" y="2019657"/>
                    <a:pt x="4526827" y="2081417"/>
                  </a:cubicBezTo>
                  <a:cubicBezTo>
                    <a:pt x="4356973" y="2143177"/>
                    <a:pt x="4202368" y="2075338"/>
                    <a:pt x="4018111" y="2081417"/>
                  </a:cubicBezTo>
                  <a:cubicBezTo>
                    <a:pt x="3833854" y="2087496"/>
                    <a:pt x="3717471" y="2050674"/>
                    <a:pt x="3550801" y="2081417"/>
                  </a:cubicBezTo>
                  <a:cubicBezTo>
                    <a:pt x="3384131" y="2112160"/>
                    <a:pt x="3260595" y="2058567"/>
                    <a:pt x="3083492" y="2081417"/>
                  </a:cubicBezTo>
                  <a:cubicBezTo>
                    <a:pt x="2906389" y="2104267"/>
                    <a:pt x="2675517" y="2033477"/>
                    <a:pt x="2450554" y="2081417"/>
                  </a:cubicBezTo>
                  <a:cubicBezTo>
                    <a:pt x="2225591" y="2129357"/>
                    <a:pt x="2194639" y="2065390"/>
                    <a:pt x="1941837" y="2081417"/>
                  </a:cubicBezTo>
                  <a:cubicBezTo>
                    <a:pt x="1689035" y="2097444"/>
                    <a:pt x="1195236" y="2025147"/>
                    <a:pt x="977642" y="2081417"/>
                  </a:cubicBezTo>
                  <a:cubicBezTo>
                    <a:pt x="467664" y="2132436"/>
                    <a:pt x="-84535" y="1647609"/>
                    <a:pt x="0" y="1103775"/>
                  </a:cubicBezTo>
                  <a:cubicBezTo>
                    <a:pt x="-11343" y="1048621"/>
                    <a:pt x="13227" y="1009042"/>
                    <a:pt x="0" y="977642"/>
                  </a:cubicBezTo>
                  <a:close/>
                </a:path>
                <a:path w="6096000" h="2081417" stroke="0" extrusionOk="0">
                  <a:moveTo>
                    <a:pt x="0" y="977642"/>
                  </a:moveTo>
                  <a:cubicBezTo>
                    <a:pt x="-41832" y="489800"/>
                    <a:pt x="433418" y="-61885"/>
                    <a:pt x="977642" y="0"/>
                  </a:cubicBezTo>
                  <a:cubicBezTo>
                    <a:pt x="1228454" y="-48408"/>
                    <a:pt x="1266251" y="53623"/>
                    <a:pt x="1486359" y="0"/>
                  </a:cubicBezTo>
                  <a:cubicBezTo>
                    <a:pt x="1706467" y="-53623"/>
                    <a:pt x="1843250" y="14981"/>
                    <a:pt x="2119297" y="0"/>
                  </a:cubicBezTo>
                  <a:cubicBezTo>
                    <a:pt x="2395344" y="-14981"/>
                    <a:pt x="2508487" y="11173"/>
                    <a:pt x="2628013" y="0"/>
                  </a:cubicBezTo>
                  <a:cubicBezTo>
                    <a:pt x="2747539" y="-11173"/>
                    <a:pt x="2969178" y="56496"/>
                    <a:pt x="3302358" y="0"/>
                  </a:cubicBezTo>
                  <a:cubicBezTo>
                    <a:pt x="3635538" y="-56496"/>
                    <a:pt x="3734115" y="1861"/>
                    <a:pt x="3976703" y="0"/>
                  </a:cubicBezTo>
                  <a:cubicBezTo>
                    <a:pt x="4219291" y="-1861"/>
                    <a:pt x="4311525" y="46577"/>
                    <a:pt x="4609641" y="0"/>
                  </a:cubicBezTo>
                  <a:cubicBezTo>
                    <a:pt x="4907757" y="-46577"/>
                    <a:pt x="4990212" y="39732"/>
                    <a:pt x="5118358" y="0"/>
                  </a:cubicBezTo>
                  <a:cubicBezTo>
                    <a:pt x="5633783" y="13581"/>
                    <a:pt x="6094159" y="383789"/>
                    <a:pt x="6096000" y="977642"/>
                  </a:cubicBezTo>
                  <a:cubicBezTo>
                    <a:pt x="6110727" y="1014314"/>
                    <a:pt x="6083762" y="1060693"/>
                    <a:pt x="6096000" y="1103775"/>
                  </a:cubicBezTo>
                  <a:cubicBezTo>
                    <a:pt x="6021488" y="1578541"/>
                    <a:pt x="5521510" y="2103197"/>
                    <a:pt x="5118358" y="2081417"/>
                  </a:cubicBezTo>
                  <a:cubicBezTo>
                    <a:pt x="4944159" y="2111165"/>
                    <a:pt x="4751647" y="2029542"/>
                    <a:pt x="4651049" y="2081417"/>
                  </a:cubicBezTo>
                  <a:cubicBezTo>
                    <a:pt x="4550451" y="2133292"/>
                    <a:pt x="4187961" y="2058334"/>
                    <a:pt x="4059518" y="2081417"/>
                  </a:cubicBezTo>
                  <a:cubicBezTo>
                    <a:pt x="3931075" y="2104500"/>
                    <a:pt x="3816295" y="2079404"/>
                    <a:pt x="3592208" y="2081417"/>
                  </a:cubicBezTo>
                  <a:cubicBezTo>
                    <a:pt x="3368121" y="2083430"/>
                    <a:pt x="3232371" y="2065710"/>
                    <a:pt x="2959270" y="2081417"/>
                  </a:cubicBezTo>
                  <a:cubicBezTo>
                    <a:pt x="2686169" y="2097124"/>
                    <a:pt x="2605226" y="2076086"/>
                    <a:pt x="2284925" y="2081417"/>
                  </a:cubicBezTo>
                  <a:cubicBezTo>
                    <a:pt x="1964624" y="2086748"/>
                    <a:pt x="1911777" y="2044933"/>
                    <a:pt x="1651987" y="2081417"/>
                  </a:cubicBezTo>
                  <a:cubicBezTo>
                    <a:pt x="1392197" y="2117901"/>
                    <a:pt x="1127520" y="2029628"/>
                    <a:pt x="977642" y="2081417"/>
                  </a:cubicBezTo>
                  <a:cubicBezTo>
                    <a:pt x="443414" y="2162386"/>
                    <a:pt x="30492" y="1680562"/>
                    <a:pt x="0" y="1103775"/>
                  </a:cubicBezTo>
                  <a:cubicBezTo>
                    <a:pt x="-4257" y="1075722"/>
                    <a:pt x="3377" y="1026714"/>
                    <a:pt x="0" y="97764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28575"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428321725">
                    <a:prstGeom prst="roundRect">
                      <a:avLst>
                        <a:gd name="adj" fmla="val 46970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fr-FR" sz="2800" b="1" i="0" dirty="0">
                  <a:solidFill>
                    <a:srgbClr val="000000"/>
                  </a:solidFill>
                  <a:effectLst/>
                  <a:latin typeface="Segoe UI" panose="020B0502040204020203" pitchFamily="34" charset="0"/>
                </a:rPr>
                <a:t>Résoudre : (2x + 1)(x - 10) = 0</a:t>
              </a:r>
              <a:endParaRPr lang="fr-FR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 : coins arrondis 10">
                  <a:extLst>
                    <a:ext uri="{FF2B5EF4-FFF2-40B4-BE49-F238E27FC236}">
                      <a16:creationId xmlns:a16="http://schemas.microsoft.com/office/drawing/2014/main" id="{E47CB2C5-E254-420A-9F5A-AD2D9ECC9FAE}"/>
                    </a:ext>
                  </a:extLst>
                </p:cNvPr>
                <p:cNvSpPr/>
                <p:nvPr/>
              </p:nvSpPr>
              <p:spPr>
                <a:xfrm>
                  <a:off x="0" y="2227385"/>
                  <a:ext cx="6096000" cy="3968832"/>
                </a:xfrm>
                <a:custGeom>
                  <a:avLst/>
                  <a:gdLst>
                    <a:gd name="connsiteX0" fmla="*/ 0 w 6096000"/>
                    <a:gd name="connsiteY0" fmla="*/ 873659 h 3968832"/>
                    <a:gd name="connsiteX1" fmla="*/ 873659 w 6096000"/>
                    <a:gd name="connsiteY1" fmla="*/ 0 h 3968832"/>
                    <a:gd name="connsiteX2" fmla="*/ 1286784 w 6096000"/>
                    <a:gd name="connsiteY2" fmla="*/ 0 h 3968832"/>
                    <a:gd name="connsiteX3" fmla="*/ 1786882 w 6096000"/>
                    <a:gd name="connsiteY3" fmla="*/ 0 h 3968832"/>
                    <a:gd name="connsiteX4" fmla="*/ 2417441 w 6096000"/>
                    <a:gd name="connsiteY4" fmla="*/ 0 h 3968832"/>
                    <a:gd name="connsiteX5" fmla="*/ 2917540 w 6096000"/>
                    <a:gd name="connsiteY5" fmla="*/ 0 h 3968832"/>
                    <a:gd name="connsiteX6" fmla="*/ 3548098 w 6096000"/>
                    <a:gd name="connsiteY6" fmla="*/ 0 h 3968832"/>
                    <a:gd name="connsiteX7" fmla="*/ 4135171 w 6096000"/>
                    <a:gd name="connsiteY7" fmla="*/ 0 h 3968832"/>
                    <a:gd name="connsiteX8" fmla="*/ 4591782 w 6096000"/>
                    <a:gd name="connsiteY8" fmla="*/ 0 h 3968832"/>
                    <a:gd name="connsiteX9" fmla="*/ 5222341 w 6096000"/>
                    <a:gd name="connsiteY9" fmla="*/ 0 h 3968832"/>
                    <a:gd name="connsiteX10" fmla="*/ 6096000 w 6096000"/>
                    <a:gd name="connsiteY10" fmla="*/ 873659 h 3968832"/>
                    <a:gd name="connsiteX11" fmla="*/ 6096000 w 6096000"/>
                    <a:gd name="connsiteY11" fmla="*/ 1362392 h 3968832"/>
                    <a:gd name="connsiteX12" fmla="*/ 6096000 w 6096000"/>
                    <a:gd name="connsiteY12" fmla="*/ 1939986 h 3968832"/>
                    <a:gd name="connsiteX13" fmla="*/ 6096000 w 6096000"/>
                    <a:gd name="connsiteY13" fmla="*/ 2517579 h 3968832"/>
                    <a:gd name="connsiteX14" fmla="*/ 6096000 w 6096000"/>
                    <a:gd name="connsiteY14" fmla="*/ 3095173 h 3968832"/>
                    <a:gd name="connsiteX15" fmla="*/ 5222341 w 6096000"/>
                    <a:gd name="connsiteY15" fmla="*/ 3968832 h 3968832"/>
                    <a:gd name="connsiteX16" fmla="*/ 4678756 w 6096000"/>
                    <a:gd name="connsiteY16" fmla="*/ 3968832 h 3968832"/>
                    <a:gd name="connsiteX17" fmla="*/ 4178657 w 6096000"/>
                    <a:gd name="connsiteY17" fmla="*/ 3968832 h 3968832"/>
                    <a:gd name="connsiteX18" fmla="*/ 3635072 w 6096000"/>
                    <a:gd name="connsiteY18" fmla="*/ 3968832 h 3968832"/>
                    <a:gd name="connsiteX19" fmla="*/ 3134974 w 6096000"/>
                    <a:gd name="connsiteY19" fmla="*/ 3968832 h 3968832"/>
                    <a:gd name="connsiteX20" fmla="*/ 2721849 w 6096000"/>
                    <a:gd name="connsiteY20" fmla="*/ 3968832 h 3968832"/>
                    <a:gd name="connsiteX21" fmla="*/ 2091290 w 6096000"/>
                    <a:gd name="connsiteY21" fmla="*/ 3968832 h 3968832"/>
                    <a:gd name="connsiteX22" fmla="*/ 1634678 w 6096000"/>
                    <a:gd name="connsiteY22" fmla="*/ 3968832 h 3968832"/>
                    <a:gd name="connsiteX23" fmla="*/ 873659 w 6096000"/>
                    <a:gd name="connsiteY23" fmla="*/ 3968832 h 3968832"/>
                    <a:gd name="connsiteX24" fmla="*/ 0 w 6096000"/>
                    <a:gd name="connsiteY24" fmla="*/ 3095173 h 3968832"/>
                    <a:gd name="connsiteX25" fmla="*/ 0 w 6096000"/>
                    <a:gd name="connsiteY25" fmla="*/ 2584225 h 3968832"/>
                    <a:gd name="connsiteX26" fmla="*/ 0 w 6096000"/>
                    <a:gd name="connsiteY26" fmla="*/ 2073277 h 3968832"/>
                    <a:gd name="connsiteX27" fmla="*/ 0 w 6096000"/>
                    <a:gd name="connsiteY27" fmla="*/ 1517898 h 3968832"/>
                    <a:gd name="connsiteX28" fmla="*/ 0 w 6096000"/>
                    <a:gd name="connsiteY28" fmla="*/ 873659 h 3968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6096000" h="3968832" fill="none" extrusionOk="0">
                      <a:moveTo>
                        <a:pt x="0" y="873659"/>
                      </a:moveTo>
                      <a:cubicBezTo>
                        <a:pt x="56390" y="418233"/>
                        <a:pt x="483824" y="-24571"/>
                        <a:pt x="873659" y="0"/>
                      </a:cubicBezTo>
                      <a:cubicBezTo>
                        <a:pt x="959298" y="-25381"/>
                        <a:pt x="1123034" y="7000"/>
                        <a:pt x="1286784" y="0"/>
                      </a:cubicBezTo>
                      <a:cubicBezTo>
                        <a:pt x="1450534" y="-7000"/>
                        <a:pt x="1656990" y="44678"/>
                        <a:pt x="1786882" y="0"/>
                      </a:cubicBezTo>
                      <a:cubicBezTo>
                        <a:pt x="1916774" y="-44678"/>
                        <a:pt x="2273885" y="6735"/>
                        <a:pt x="2417441" y="0"/>
                      </a:cubicBezTo>
                      <a:cubicBezTo>
                        <a:pt x="2560997" y="-6735"/>
                        <a:pt x="2765818" y="25101"/>
                        <a:pt x="2917540" y="0"/>
                      </a:cubicBezTo>
                      <a:cubicBezTo>
                        <a:pt x="3069262" y="-25101"/>
                        <a:pt x="3379145" y="10504"/>
                        <a:pt x="3548098" y="0"/>
                      </a:cubicBezTo>
                      <a:cubicBezTo>
                        <a:pt x="3717051" y="-10504"/>
                        <a:pt x="3972663" y="9210"/>
                        <a:pt x="4135171" y="0"/>
                      </a:cubicBezTo>
                      <a:cubicBezTo>
                        <a:pt x="4297679" y="-9210"/>
                        <a:pt x="4425533" y="9015"/>
                        <a:pt x="4591782" y="0"/>
                      </a:cubicBezTo>
                      <a:cubicBezTo>
                        <a:pt x="4758031" y="-9015"/>
                        <a:pt x="4917539" y="27073"/>
                        <a:pt x="5222341" y="0"/>
                      </a:cubicBezTo>
                      <a:cubicBezTo>
                        <a:pt x="5815831" y="-43443"/>
                        <a:pt x="6065313" y="492153"/>
                        <a:pt x="6096000" y="873659"/>
                      </a:cubicBezTo>
                      <a:cubicBezTo>
                        <a:pt x="6101064" y="1042288"/>
                        <a:pt x="6069345" y="1138091"/>
                        <a:pt x="6096000" y="1362392"/>
                      </a:cubicBezTo>
                      <a:cubicBezTo>
                        <a:pt x="6122655" y="1586693"/>
                        <a:pt x="6065691" y="1754196"/>
                        <a:pt x="6096000" y="1939986"/>
                      </a:cubicBezTo>
                      <a:cubicBezTo>
                        <a:pt x="6126309" y="2125776"/>
                        <a:pt x="6061017" y="2344858"/>
                        <a:pt x="6096000" y="2517579"/>
                      </a:cubicBezTo>
                      <a:cubicBezTo>
                        <a:pt x="6130983" y="2690300"/>
                        <a:pt x="6060835" y="2952355"/>
                        <a:pt x="6096000" y="3095173"/>
                      </a:cubicBezTo>
                      <a:cubicBezTo>
                        <a:pt x="6104441" y="3625393"/>
                        <a:pt x="5703292" y="3980217"/>
                        <a:pt x="5222341" y="3968832"/>
                      </a:cubicBezTo>
                      <a:cubicBezTo>
                        <a:pt x="5092154" y="3985827"/>
                        <a:pt x="4837503" y="3916667"/>
                        <a:pt x="4678756" y="3968832"/>
                      </a:cubicBezTo>
                      <a:cubicBezTo>
                        <a:pt x="4520010" y="4020997"/>
                        <a:pt x="4306093" y="3967632"/>
                        <a:pt x="4178657" y="3968832"/>
                      </a:cubicBezTo>
                      <a:cubicBezTo>
                        <a:pt x="4051221" y="3970032"/>
                        <a:pt x="3882693" y="3967611"/>
                        <a:pt x="3635072" y="3968832"/>
                      </a:cubicBezTo>
                      <a:cubicBezTo>
                        <a:pt x="3387451" y="3970053"/>
                        <a:pt x="3270538" y="3966040"/>
                        <a:pt x="3134974" y="3968832"/>
                      </a:cubicBezTo>
                      <a:cubicBezTo>
                        <a:pt x="2999410" y="3971624"/>
                        <a:pt x="2853641" y="3947321"/>
                        <a:pt x="2721849" y="3968832"/>
                      </a:cubicBezTo>
                      <a:cubicBezTo>
                        <a:pt x="2590057" y="3990343"/>
                        <a:pt x="2245726" y="3961606"/>
                        <a:pt x="2091290" y="3968832"/>
                      </a:cubicBezTo>
                      <a:cubicBezTo>
                        <a:pt x="1936854" y="3976058"/>
                        <a:pt x="1818751" y="3926346"/>
                        <a:pt x="1634678" y="3968832"/>
                      </a:cubicBezTo>
                      <a:cubicBezTo>
                        <a:pt x="1450605" y="4011318"/>
                        <a:pt x="1247662" y="3886772"/>
                        <a:pt x="873659" y="3968832"/>
                      </a:cubicBezTo>
                      <a:cubicBezTo>
                        <a:pt x="408431" y="3954773"/>
                        <a:pt x="137554" y="3555666"/>
                        <a:pt x="0" y="3095173"/>
                      </a:cubicBezTo>
                      <a:cubicBezTo>
                        <a:pt x="-33096" y="2913663"/>
                        <a:pt x="50043" y="2792935"/>
                        <a:pt x="0" y="2584225"/>
                      </a:cubicBezTo>
                      <a:cubicBezTo>
                        <a:pt x="-50043" y="2375515"/>
                        <a:pt x="51261" y="2221249"/>
                        <a:pt x="0" y="2073277"/>
                      </a:cubicBezTo>
                      <a:cubicBezTo>
                        <a:pt x="-51261" y="1925305"/>
                        <a:pt x="38019" y="1680949"/>
                        <a:pt x="0" y="1517898"/>
                      </a:cubicBezTo>
                      <a:cubicBezTo>
                        <a:pt x="-38019" y="1354847"/>
                        <a:pt x="54968" y="1026327"/>
                        <a:pt x="0" y="873659"/>
                      </a:cubicBezTo>
                      <a:close/>
                    </a:path>
                    <a:path w="6096000" h="3968832" stroke="0" extrusionOk="0">
                      <a:moveTo>
                        <a:pt x="0" y="873659"/>
                      </a:moveTo>
                      <a:cubicBezTo>
                        <a:pt x="-35440" y="435284"/>
                        <a:pt x="385049" y="-88060"/>
                        <a:pt x="873659" y="0"/>
                      </a:cubicBezTo>
                      <a:cubicBezTo>
                        <a:pt x="998575" y="-42271"/>
                        <a:pt x="1180505" y="2988"/>
                        <a:pt x="1330271" y="0"/>
                      </a:cubicBezTo>
                      <a:cubicBezTo>
                        <a:pt x="1480037" y="-2988"/>
                        <a:pt x="1651875" y="25228"/>
                        <a:pt x="1917343" y="0"/>
                      </a:cubicBezTo>
                      <a:cubicBezTo>
                        <a:pt x="2182811" y="-25228"/>
                        <a:pt x="2212433" y="25004"/>
                        <a:pt x="2373954" y="0"/>
                      </a:cubicBezTo>
                      <a:cubicBezTo>
                        <a:pt x="2535475" y="-25004"/>
                        <a:pt x="2800579" y="40171"/>
                        <a:pt x="3004513" y="0"/>
                      </a:cubicBezTo>
                      <a:cubicBezTo>
                        <a:pt x="3208447" y="-40171"/>
                        <a:pt x="3508625" y="36856"/>
                        <a:pt x="3635072" y="0"/>
                      </a:cubicBezTo>
                      <a:cubicBezTo>
                        <a:pt x="3761519" y="-36856"/>
                        <a:pt x="4040752" y="51628"/>
                        <a:pt x="4222144" y="0"/>
                      </a:cubicBezTo>
                      <a:cubicBezTo>
                        <a:pt x="4403536" y="-51628"/>
                        <a:pt x="4846469" y="90494"/>
                        <a:pt x="5222341" y="0"/>
                      </a:cubicBezTo>
                      <a:cubicBezTo>
                        <a:pt x="5686086" y="10396"/>
                        <a:pt x="6091317" y="253990"/>
                        <a:pt x="6096000" y="873659"/>
                      </a:cubicBezTo>
                      <a:cubicBezTo>
                        <a:pt x="6133310" y="996087"/>
                        <a:pt x="6047290" y="1191557"/>
                        <a:pt x="6096000" y="1406822"/>
                      </a:cubicBezTo>
                      <a:cubicBezTo>
                        <a:pt x="6144710" y="1622087"/>
                        <a:pt x="6061488" y="1755258"/>
                        <a:pt x="6096000" y="2006631"/>
                      </a:cubicBezTo>
                      <a:cubicBezTo>
                        <a:pt x="6130512" y="2258004"/>
                        <a:pt x="6079304" y="2314281"/>
                        <a:pt x="6096000" y="2495364"/>
                      </a:cubicBezTo>
                      <a:cubicBezTo>
                        <a:pt x="6112696" y="2676447"/>
                        <a:pt x="6079442" y="2923634"/>
                        <a:pt x="6096000" y="3095173"/>
                      </a:cubicBezTo>
                      <a:cubicBezTo>
                        <a:pt x="6068550" y="3615834"/>
                        <a:pt x="5777598" y="3992079"/>
                        <a:pt x="5222341" y="3968832"/>
                      </a:cubicBezTo>
                      <a:cubicBezTo>
                        <a:pt x="5099497" y="4004210"/>
                        <a:pt x="4990927" y="3922552"/>
                        <a:pt x="4809216" y="3968832"/>
                      </a:cubicBezTo>
                      <a:cubicBezTo>
                        <a:pt x="4627506" y="4015112"/>
                        <a:pt x="4474737" y="3928548"/>
                        <a:pt x="4178657" y="3968832"/>
                      </a:cubicBezTo>
                      <a:cubicBezTo>
                        <a:pt x="3882577" y="4009116"/>
                        <a:pt x="3796520" y="3949080"/>
                        <a:pt x="3591585" y="3968832"/>
                      </a:cubicBezTo>
                      <a:cubicBezTo>
                        <a:pt x="3386650" y="3988584"/>
                        <a:pt x="3332925" y="3966156"/>
                        <a:pt x="3091487" y="3968832"/>
                      </a:cubicBezTo>
                      <a:cubicBezTo>
                        <a:pt x="2850049" y="3971508"/>
                        <a:pt x="2642340" y="3953367"/>
                        <a:pt x="2460928" y="3968832"/>
                      </a:cubicBezTo>
                      <a:cubicBezTo>
                        <a:pt x="2279516" y="3984297"/>
                        <a:pt x="2075131" y="3957158"/>
                        <a:pt x="1917343" y="3968832"/>
                      </a:cubicBezTo>
                      <a:cubicBezTo>
                        <a:pt x="1759555" y="3980506"/>
                        <a:pt x="1648147" y="3948271"/>
                        <a:pt x="1504218" y="3968832"/>
                      </a:cubicBezTo>
                      <a:cubicBezTo>
                        <a:pt x="1360290" y="3989393"/>
                        <a:pt x="1125157" y="3954545"/>
                        <a:pt x="873659" y="3968832"/>
                      </a:cubicBezTo>
                      <a:cubicBezTo>
                        <a:pt x="375254" y="3990838"/>
                        <a:pt x="-57352" y="3484695"/>
                        <a:pt x="0" y="3095173"/>
                      </a:cubicBezTo>
                      <a:cubicBezTo>
                        <a:pt x="-20982" y="2868353"/>
                        <a:pt x="21528" y="2693902"/>
                        <a:pt x="0" y="2539795"/>
                      </a:cubicBezTo>
                      <a:cubicBezTo>
                        <a:pt x="-21528" y="2385688"/>
                        <a:pt x="9875" y="2215692"/>
                        <a:pt x="0" y="1984416"/>
                      </a:cubicBezTo>
                      <a:cubicBezTo>
                        <a:pt x="-9875" y="1753140"/>
                        <a:pt x="33963" y="1670036"/>
                        <a:pt x="0" y="1451253"/>
                      </a:cubicBezTo>
                      <a:cubicBezTo>
                        <a:pt x="-33963" y="1232470"/>
                        <a:pt x="23730" y="1114305"/>
                        <a:pt x="0" y="873659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28575">
                  <a:solidFill>
                    <a:srgbClr val="7030A0"/>
                  </a:solidFill>
                  <a:extLst>
                    <a:ext uri="{C807C97D-BFC1-408E-A445-0C87EB9F89A2}">
                      <ask:lineSketchStyleProps xmlns:ask="http://schemas.microsoft.com/office/drawing/2018/sketchyshapes" sd="428321725">
                        <a:prstGeom prst="roundRect">
                          <a:avLst>
                            <a:gd name="adj" fmla="val 22013"/>
                          </a:avLst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3600" b="1" dirty="0">
                      <a:solidFill>
                        <a:schemeClr val="tx1"/>
                      </a:solidFill>
                    </a:rPr>
                    <a:t>2x + 1 = 0   ou   x - 10 = 0</a:t>
                  </a:r>
                </a:p>
                <a:p>
                  <a:pPr algn="ctr"/>
                  <a:r>
                    <a:rPr lang="fr-FR" sz="3600" b="1" dirty="0">
                      <a:solidFill>
                        <a:schemeClr val="tx1"/>
                      </a:solidFill>
                    </a:rPr>
                    <a:t>2x = -1   ou  x = 10</a:t>
                  </a:r>
                </a:p>
                <a:p>
                  <a:pPr algn="ctr"/>
                  <a:r>
                    <a:rPr lang="fr-FR" sz="3600" b="1" dirty="0">
                      <a:solidFill>
                        <a:schemeClr val="tx1"/>
                      </a:solidFill>
                    </a:rPr>
                    <a:t>x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fr-FR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a14:m>
                  <a:r>
                    <a:rPr lang="fr-FR" sz="3600" b="1" dirty="0">
                      <a:solidFill>
                        <a:schemeClr val="tx1"/>
                      </a:solidFill>
                    </a:rPr>
                    <a:t>   ou  x = 10</a:t>
                  </a:r>
                </a:p>
                <a:p>
                  <a:pPr algn="ctr"/>
                  <a:r>
                    <a:rPr lang="fr-FR" sz="3600" b="1" dirty="0">
                      <a:solidFill>
                        <a:schemeClr val="accent6"/>
                      </a:solidFill>
                    </a:rPr>
                    <a:t>Solution : x = - </a:t>
                  </a:r>
                  <a:r>
                    <a:rPr lang="fr-FR" sz="3600" b="1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fr-FR" sz="3600" b="1" i="1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3600" b="1" i="1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3600" b="1" i="1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3600" b="1" i="1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fr-FR" sz="3600" b="1" i="1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3600" b="1" i="1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3600" b="1" i="1" smtClean="0">
                              <a:solidFill>
                                <a:srgbClr val="70AD4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a14:m>
                  <a:r>
                    <a:rPr lang="fr-FR" sz="3600" b="1" dirty="0">
                      <a:solidFill>
                        <a:schemeClr val="accent6"/>
                      </a:solidFill>
                    </a:rPr>
                    <a:t> ou x = 10 </a:t>
                  </a:r>
                </a:p>
              </p:txBody>
            </p:sp>
          </mc:Choice>
          <mc:Fallback xmlns="">
            <p:sp>
              <p:nvSpPr>
                <p:cNvPr id="11" name="Rectangle : coins arrondis 10">
                  <a:extLst>
                    <a:ext uri="{FF2B5EF4-FFF2-40B4-BE49-F238E27FC236}">
                      <a16:creationId xmlns:a16="http://schemas.microsoft.com/office/drawing/2014/main" id="{E47CB2C5-E254-420A-9F5A-AD2D9ECC9F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2227385"/>
                  <a:ext cx="6096000" cy="3968832"/>
                </a:xfrm>
                <a:prstGeom prst="roundRect">
                  <a:avLst>
                    <a:gd name="adj" fmla="val 22013"/>
                  </a:avLst>
                </a:prstGeom>
                <a:blipFill>
                  <a:blip r:embed="rId2"/>
                  <a:stretch>
                    <a:fillRect/>
                  </a:stretch>
                </a:blipFill>
                <a:ln w="28575">
                  <a:solidFill>
                    <a:srgbClr val="7030A0"/>
                  </a:solidFill>
                  <a:extLst>
                    <a:ext uri="{C807C97D-BFC1-408E-A445-0C87EB9F89A2}">
                      <ask:lineSketchStyleProps xmlns:ask="http://schemas.microsoft.com/office/drawing/2018/sketchyshapes" sd="428321725">
                        <a:custGeom>
                          <a:avLst/>
                          <a:gdLst>
                            <a:gd name="connsiteX0" fmla="*/ 0 w 6096000"/>
                            <a:gd name="connsiteY0" fmla="*/ 873659 h 3968832"/>
                            <a:gd name="connsiteX1" fmla="*/ 873659 w 6096000"/>
                            <a:gd name="connsiteY1" fmla="*/ 0 h 3968832"/>
                            <a:gd name="connsiteX2" fmla="*/ 1286784 w 6096000"/>
                            <a:gd name="connsiteY2" fmla="*/ 0 h 3968832"/>
                            <a:gd name="connsiteX3" fmla="*/ 1786882 w 6096000"/>
                            <a:gd name="connsiteY3" fmla="*/ 0 h 3968832"/>
                            <a:gd name="connsiteX4" fmla="*/ 2417441 w 6096000"/>
                            <a:gd name="connsiteY4" fmla="*/ 0 h 3968832"/>
                            <a:gd name="connsiteX5" fmla="*/ 2917540 w 6096000"/>
                            <a:gd name="connsiteY5" fmla="*/ 0 h 3968832"/>
                            <a:gd name="connsiteX6" fmla="*/ 3548098 w 6096000"/>
                            <a:gd name="connsiteY6" fmla="*/ 0 h 3968832"/>
                            <a:gd name="connsiteX7" fmla="*/ 4135171 w 6096000"/>
                            <a:gd name="connsiteY7" fmla="*/ 0 h 3968832"/>
                            <a:gd name="connsiteX8" fmla="*/ 4591782 w 6096000"/>
                            <a:gd name="connsiteY8" fmla="*/ 0 h 3968832"/>
                            <a:gd name="connsiteX9" fmla="*/ 5222341 w 6096000"/>
                            <a:gd name="connsiteY9" fmla="*/ 0 h 3968832"/>
                            <a:gd name="connsiteX10" fmla="*/ 6096000 w 6096000"/>
                            <a:gd name="connsiteY10" fmla="*/ 873659 h 3968832"/>
                            <a:gd name="connsiteX11" fmla="*/ 6096000 w 6096000"/>
                            <a:gd name="connsiteY11" fmla="*/ 1362392 h 3968832"/>
                            <a:gd name="connsiteX12" fmla="*/ 6096000 w 6096000"/>
                            <a:gd name="connsiteY12" fmla="*/ 1939986 h 3968832"/>
                            <a:gd name="connsiteX13" fmla="*/ 6096000 w 6096000"/>
                            <a:gd name="connsiteY13" fmla="*/ 2517579 h 3968832"/>
                            <a:gd name="connsiteX14" fmla="*/ 6096000 w 6096000"/>
                            <a:gd name="connsiteY14" fmla="*/ 3095173 h 3968832"/>
                            <a:gd name="connsiteX15" fmla="*/ 5222341 w 6096000"/>
                            <a:gd name="connsiteY15" fmla="*/ 3968832 h 3968832"/>
                            <a:gd name="connsiteX16" fmla="*/ 4678756 w 6096000"/>
                            <a:gd name="connsiteY16" fmla="*/ 3968832 h 3968832"/>
                            <a:gd name="connsiteX17" fmla="*/ 4178657 w 6096000"/>
                            <a:gd name="connsiteY17" fmla="*/ 3968832 h 3968832"/>
                            <a:gd name="connsiteX18" fmla="*/ 3635072 w 6096000"/>
                            <a:gd name="connsiteY18" fmla="*/ 3968832 h 3968832"/>
                            <a:gd name="connsiteX19" fmla="*/ 3134974 w 6096000"/>
                            <a:gd name="connsiteY19" fmla="*/ 3968832 h 3968832"/>
                            <a:gd name="connsiteX20" fmla="*/ 2721849 w 6096000"/>
                            <a:gd name="connsiteY20" fmla="*/ 3968832 h 3968832"/>
                            <a:gd name="connsiteX21" fmla="*/ 2091290 w 6096000"/>
                            <a:gd name="connsiteY21" fmla="*/ 3968832 h 3968832"/>
                            <a:gd name="connsiteX22" fmla="*/ 1634678 w 6096000"/>
                            <a:gd name="connsiteY22" fmla="*/ 3968832 h 3968832"/>
                            <a:gd name="connsiteX23" fmla="*/ 873659 w 6096000"/>
                            <a:gd name="connsiteY23" fmla="*/ 3968832 h 3968832"/>
                            <a:gd name="connsiteX24" fmla="*/ 0 w 6096000"/>
                            <a:gd name="connsiteY24" fmla="*/ 3095173 h 3968832"/>
                            <a:gd name="connsiteX25" fmla="*/ 0 w 6096000"/>
                            <a:gd name="connsiteY25" fmla="*/ 2584225 h 3968832"/>
                            <a:gd name="connsiteX26" fmla="*/ 0 w 6096000"/>
                            <a:gd name="connsiteY26" fmla="*/ 2073277 h 3968832"/>
                            <a:gd name="connsiteX27" fmla="*/ 0 w 6096000"/>
                            <a:gd name="connsiteY27" fmla="*/ 1517898 h 3968832"/>
                            <a:gd name="connsiteX28" fmla="*/ 0 w 6096000"/>
                            <a:gd name="connsiteY28" fmla="*/ 873659 h 396883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</a:cxnLst>
                          <a:rect l="l" t="t" r="r" b="b"/>
                          <a:pathLst>
                            <a:path w="6096000" h="3968832" fill="none" extrusionOk="0">
                              <a:moveTo>
                                <a:pt x="0" y="873659"/>
                              </a:moveTo>
                              <a:cubicBezTo>
                                <a:pt x="56390" y="418233"/>
                                <a:pt x="483824" y="-24571"/>
                                <a:pt x="873659" y="0"/>
                              </a:cubicBezTo>
                              <a:cubicBezTo>
                                <a:pt x="959298" y="-25381"/>
                                <a:pt x="1123034" y="7000"/>
                                <a:pt x="1286784" y="0"/>
                              </a:cubicBezTo>
                              <a:cubicBezTo>
                                <a:pt x="1450534" y="-7000"/>
                                <a:pt x="1656990" y="44678"/>
                                <a:pt x="1786882" y="0"/>
                              </a:cubicBezTo>
                              <a:cubicBezTo>
                                <a:pt x="1916774" y="-44678"/>
                                <a:pt x="2273885" y="6735"/>
                                <a:pt x="2417441" y="0"/>
                              </a:cubicBezTo>
                              <a:cubicBezTo>
                                <a:pt x="2560997" y="-6735"/>
                                <a:pt x="2765818" y="25101"/>
                                <a:pt x="2917540" y="0"/>
                              </a:cubicBezTo>
                              <a:cubicBezTo>
                                <a:pt x="3069262" y="-25101"/>
                                <a:pt x="3379145" y="10504"/>
                                <a:pt x="3548098" y="0"/>
                              </a:cubicBezTo>
                              <a:cubicBezTo>
                                <a:pt x="3717051" y="-10504"/>
                                <a:pt x="3972663" y="9210"/>
                                <a:pt x="4135171" y="0"/>
                              </a:cubicBezTo>
                              <a:cubicBezTo>
                                <a:pt x="4297679" y="-9210"/>
                                <a:pt x="4425533" y="9015"/>
                                <a:pt x="4591782" y="0"/>
                              </a:cubicBezTo>
                              <a:cubicBezTo>
                                <a:pt x="4758031" y="-9015"/>
                                <a:pt x="4917539" y="27073"/>
                                <a:pt x="5222341" y="0"/>
                              </a:cubicBezTo>
                              <a:cubicBezTo>
                                <a:pt x="5815831" y="-43443"/>
                                <a:pt x="6065313" y="492153"/>
                                <a:pt x="6096000" y="873659"/>
                              </a:cubicBezTo>
                              <a:cubicBezTo>
                                <a:pt x="6101064" y="1042288"/>
                                <a:pt x="6069345" y="1138091"/>
                                <a:pt x="6096000" y="1362392"/>
                              </a:cubicBezTo>
                              <a:cubicBezTo>
                                <a:pt x="6122655" y="1586693"/>
                                <a:pt x="6065691" y="1754196"/>
                                <a:pt x="6096000" y="1939986"/>
                              </a:cubicBezTo>
                              <a:cubicBezTo>
                                <a:pt x="6126309" y="2125776"/>
                                <a:pt x="6061017" y="2344858"/>
                                <a:pt x="6096000" y="2517579"/>
                              </a:cubicBezTo>
                              <a:cubicBezTo>
                                <a:pt x="6130983" y="2690300"/>
                                <a:pt x="6060835" y="2952355"/>
                                <a:pt x="6096000" y="3095173"/>
                              </a:cubicBezTo>
                              <a:cubicBezTo>
                                <a:pt x="6104441" y="3625393"/>
                                <a:pt x="5703292" y="3980217"/>
                                <a:pt x="5222341" y="3968832"/>
                              </a:cubicBezTo>
                              <a:cubicBezTo>
                                <a:pt x="5092154" y="3985827"/>
                                <a:pt x="4837503" y="3916667"/>
                                <a:pt x="4678756" y="3968832"/>
                              </a:cubicBezTo>
                              <a:cubicBezTo>
                                <a:pt x="4520010" y="4020997"/>
                                <a:pt x="4306093" y="3967632"/>
                                <a:pt x="4178657" y="3968832"/>
                              </a:cubicBezTo>
                              <a:cubicBezTo>
                                <a:pt x="4051221" y="3970032"/>
                                <a:pt x="3882693" y="3967611"/>
                                <a:pt x="3635072" y="3968832"/>
                              </a:cubicBezTo>
                              <a:cubicBezTo>
                                <a:pt x="3387451" y="3970053"/>
                                <a:pt x="3270538" y="3966040"/>
                                <a:pt x="3134974" y="3968832"/>
                              </a:cubicBezTo>
                              <a:cubicBezTo>
                                <a:pt x="2999410" y="3971624"/>
                                <a:pt x="2853641" y="3947321"/>
                                <a:pt x="2721849" y="3968832"/>
                              </a:cubicBezTo>
                              <a:cubicBezTo>
                                <a:pt x="2590057" y="3990343"/>
                                <a:pt x="2245726" y="3961606"/>
                                <a:pt x="2091290" y="3968832"/>
                              </a:cubicBezTo>
                              <a:cubicBezTo>
                                <a:pt x="1936854" y="3976058"/>
                                <a:pt x="1818751" y="3926346"/>
                                <a:pt x="1634678" y="3968832"/>
                              </a:cubicBezTo>
                              <a:cubicBezTo>
                                <a:pt x="1450605" y="4011318"/>
                                <a:pt x="1247662" y="3886772"/>
                                <a:pt x="873659" y="3968832"/>
                              </a:cubicBezTo>
                              <a:cubicBezTo>
                                <a:pt x="408431" y="3954773"/>
                                <a:pt x="137554" y="3555666"/>
                                <a:pt x="0" y="3095173"/>
                              </a:cubicBezTo>
                              <a:cubicBezTo>
                                <a:pt x="-33096" y="2913663"/>
                                <a:pt x="50043" y="2792935"/>
                                <a:pt x="0" y="2584225"/>
                              </a:cubicBezTo>
                              <a:cubicBezTo>
                                <a:pt x="-50043" y="2375515"/>
                                <a:pt x="51261" y="2221249"/>
                                <a:pt x="0" y="2073277"/>
                              </a:cubicBezTo>
                              <a:cubicBezTo>
                                <a:pt x="-51261" y="1925305"/>
                                <a:pt x="38019" y="1680949"/>
                                <a:pt x="0" y="1517898"/>
                              </a:cubicBezTo>
                              <a:cubicBezTo>
                                <a:pt x="-38019" y="1354847"/>
                                <a:pt x="54968" y="1026327"/>
                                <a:pt x="0" y="873659"/>
                              </a:cubicBezTo>
                              <a:close/>
                            </a:path>
                            <a:path w="6096000" h="3968832" stroke="0" extrusionOk="0">
                              <a:moveTo>
                                <a:pt x="0" y="873659"/>
                              </a:moveTo>
                              <a:cubicBezTo>
                                <a:pt x="-35440" y="435284"/>
                                <a:pt x="385049" y="-88060"/>
                                <a:pt x="873659" y="0"/>
                              </a:cubicBezTo>
                              <a:cubicBezTo>
                                <a:pt x="998575" y="-42271"/>
                                <a:pt x="1180505" y="2988"/>
                                <a:pt x="1330271" y="0"/>
                              </a:cubicBezTo>
                              <a:cubicBezTo>
                                <a:pt x="1480037" y="-2988"/>
                                <a:pt x="1651875" y="25228"/>
                                <a:pt x="1917343" y="0"/>
                              </a:cubicBezTo>
                              <a:cubicBezTo>
                                <a:pt x="2182811" y="-25228"/>
                                <a:pt x="2212433" y="25004"/>
                                <a:pt x="2373954" y="0"/>
                              </a:cubicBezTo>
                              <a:cubicBezTo>
                                <a:pt x="2535475" y="-25004"/>
                                <a:pt x="2800579" y="40171"/>
                                <a:pt x="3004513" y="0"/>
                              </a:cubicBezTo>
                              <a:cubicBezTo>
                                <a:pt x="3208447" y="-40171"/>
                                <a:pt x="3508625" y="36856"/>
                                <a:pt x="3635072" y="0"/>
                              </a:cubicBezTo>
                              <a:cubicBezTo>
                                <a:pt x="3761519" y="-36856"/>
                                <a:pt x="4040752" y="51628"/>
                                <a:pt x="4222144" y="0"/>
                              </a:cubicBezTo>
                              <a:cubicBezTo>
                                <a:pt x="4403536" y="-51628"/>
                                <a:pt x="4846469" y="90494"/>
                                <a:pt x="5222341" y="0"/>
                              </a:cubicBezTo>
                              <a:cubicBezTo>
                                <a:pt x="5686086" y="10396"/>
                                <a:pt x="6091317" y="253990"/>
                                <a:pt x="6096000" y="873659"/>
                              </a:cubicBezTo>
                              <a:cubicBezTo>
                                <a:pt x="6133310" y="996087"/>
                                <a:pt x="6047290" y="1191557"/>
                                <a:pt x="6096000" y="1406822"/>
                              </a:cubicBezTo>
                              <a:cubicBezTo>
                                <a:pt x="6144710" y="1622087"/>
                                <a:pt x="6061488" y="1755258"/>
                                <a:pt x="6096000" y="2006631"/>
                              </a:cubicBezTo>
                              <a:cubicBezTo>
                                <a:pt x="6130512" y="2258004"/>
                                <a:pt x="6079304" y="2314281"/>
                                <a:pt x="6096000" y="2495364"/>
                              </a:cubicBezTo>
                              <a:cubicBezTo>
                                <a:pt x="6112696" y="2676447"/>
                                <a:pt x="6079442" y="2923634"/>
                                <a:pt x="6096000" y="3095173"/>
                              </a:cubicBezTo>
                              <a:cubicBezTo>
                                <a:pt x="6068550" y="3615834"/>
                                <a:pt x="5777598" y="3992079"/>
                                <a:pt x="5222341" y="3968832"/>
                              </a:cubicBezTo>
                              <a:cubicBezTo>
                                <a:pt x="5099497" y="4004210"/>
                                <a:pt x="4990927" y="3922552"/>
                                <a:pt x="4809216" y="3968832"/>
                              </a:cubicBezTo>
                              <a:cubicBezTo>
                                <a:pt x="4627506" y="4015112"/>
                                <a:pt x="4474737" y="3928548"/>
                                <a:pt x="4178657" y="3968832"/>
                              </a:cubicBezTo>
                              <a:cubicBezTo>
                                <a:pt x="3882577" y="4009116"/>
                                <a:pt x="3796520" y="3949080"/>
                                <a:pt x="3591585" y="3968832"/>
                              </a:cubicBezTo>
                              <a:cubicBezTo>
                                <a:pt x="3386650" y="3988584"/>
                                <a:pt x="3332925" y="3966156"/>
                                <a:pt x="3091487" y="3968832"/>
                              </a:cubicBezTo>
                              <a:cubicBezTo>
                                <a:pt x="2850049" y="3971508"/>
                                <a:pt x="2642340" y="3953367"/>
                                <a:pt x="2460928" y="3968832"/>
                              </a:cubicBezTo>
                              <a:cubicBezTo>
                                <a:pt x="2279516" y="3984297"/>
                                <a:pt x="2075131" y="3957158"/>
                                <a:pt x="1917343" y="3968832"/>
                              </a:cubicBezTo>
                              <a:cubicBezTo>
                                <a:pt x="1759555" y="3980506"/>
                                <a:pt x="1648147" y="3948271"/>
                                <a:pt x="1504218" y="3968832"/>
                              </a:cubicBezTo>
                              <a:cubicBezTo>
                                <a:pt x="1360290" y="3989393"/>
                                <a:pt x="1125157" y="3954545"/>
                                <a:pt x="873659" y="3968832"/>
                              </a:cubicBezTo>
                              <a:cubicBezTo>
                                <a:pt x="375254" y="3990838"/>
                                <a:pt x="-57352" y="3484695"/>
                                <a:pt x="0" y="3095173"/>
                              </a:cubicBezTo>
                              <a:cubicBezTo>
                                <a:pt x="-20982" y="2868353"/>
                                <a:pt x="21528" y="2693902"/>
                                <a:pt x="0" y="2539795"/>
                              </a:cubicBezTo>
                              <a:cubicBezTo>
                                <a:pt x="-21528" y="2385688"/>
                                <a:pt x="9875" y="2215692"/>
                                <a:pt x="0" y="1984416"/>
                              </a:cubicBezTo>
                              <a:cubicBezTo>
                                <a:pt x="-9875" y="1753140"/>
                                <a:pt x="33963" y="1670036"/>
                                <a:pt x="0" y="1451253"/>
                              </a:cubicBezTo>
                              <a:cubicBezTo>
                                <a:pt x="-33963" y="1232470"/>
                                <a:pt x="23730" y="1114305"/>
                                <a:pt x="0" y="873659"/>
                              </a:cubicBezTo>
                              <a:close/>
                            </a:path>
                          </a:pathLst>
                        </a:cu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59043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0694BA70-7DB5-4697-9946-E8BD47D720B8}"/>
              </a:ext>
            </a:extLst>
          </p:cNvPr>
          <p:cNvSpPr txBox="1"/>
          <p:nvPr/>
        </p:nvSpPr>
        <p:spPr>
          <a:xfrm>
            <a:off x="0" y="0"/>
            <a:ext cx="3600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i="1" u="sng" dirty="0">
                <a:solidFill>
                  <a:srgbClr val="FF0000"/>
                </a:solidFill>
              </a:rPr>
              <a:t>Exercice d’application :</a:t>
            </a:r>
            <a:endParaRPr lang="fr-FR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F0EEC844-0213-467A-BF6F-7AD12A60D087}"/>
                  </a:ext>
                </a:extLst>
              </p:cNvPr>
              <p:cNvSpPr txBox="1"/>
              <p:nvPr/>
            </p:nvSpPr>
            <p:spPr>
              <a:xfrm>
                <a:off x="238594" y="1192137"/>
                <a:ext cx="7239000" cy="44737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fr-FR" sz="3200" b="1" dirty="0"/>
                  <a:t>Résoudre les équations suivantes : </a:t>
                </a: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fr-FR" sz="32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(𝑥−5) (𝑥+2) = 0 </a:t>
                </a: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fr-FR" sz="32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(2𝑥+3) (𝑥−4) = 0</a:t>
                </a: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fr-FR" sz="32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𝑥 (5x−4) = 0</a:t>
                </a: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fr-FR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fr-FR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fr-FR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fr-FR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FR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fr-FR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fr-FR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fr-FR" sz="32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</a:t>
                </a: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fr-FR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  <m:r>
                          <a:rPr lang="fr-FR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fr-FR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fr-FR" sz="32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r>
                      <a:rPr lang="fr-FR" sz="32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fr-FR" sz="32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32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fr-FR" sz="32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F0EEC844-0213-467A-BF6F-7AD12A60D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94" y="1192137"/>
                <a:ext cx="7239000" cy="4473725"/>
              </a:xfrm>
              <a:prstGeom prst="rect">
                <a:avLst/>
              </a:prstGeom>
              <a:blipFill>
                <a:blip r:embed="rId2"/>
                <a:stretch>
                  <a:fillRect l="-21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5588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5BC4189-478B-4E56-8EBD-56DE0B56A17F}"/>
              </a:ext>
            </a:extLst>
          </p:cNvPr>
          <p:cNvSpPr txBox="1"/>
          <p:nvPr/>
        </p:nvSpPr>
        <p:spPr>
          <a:xfrm>
            <a:off x="0" y="514709"/>
            <a:ext cx="1104775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Situation 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/>
              <a:t>Deux enfants ont ensemble </a:t>
            </a:r>
            <a:r>
              <a:rPr lang="fr-FR" sz="2800" b="1" dirty="0"/>
              <a:t>200 DH</a:t>
            </a:r>
            <a:r>
              <a:rPr lang="fr-FR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/>
              <a:t>L’un des deux enfants a </a:t>
            </a:r>
            <a:r>
              <a:rPr lang="fr-FR" sz="2800" b="1" dirty="0"/>
              <a:t>20 DH </a:t>
            </a:r>
            <a:r>
              <a:rPr lang="fr-FR" sz="2800" dirty="0"/>
              <a:t>de plus que l’autre.</a:t>
            </a:r>
          </a:p>
          <a:p>
            <a:r>
              <a:rPr lang="fr-FR" sz="2800" b="1" dirty="0"/>
              <a:t>Question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/>
              <a:t>Combien a chaque enfant ?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D900C1A-A2B0-465F-AA8D-FA79F3F9EBBB}"/>
              </a:ext>
            </a:extLst>
          </p:cNvPr>
          <p:cNvSpPr txBox="1"/>
          <p:nvPr/>
        </p:nvSpPr>
        <p:spPr>
          <a:xfrm>
            <a:off x="0" y="-19947"/>
            <a:ext cx="87674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7030A0"/>
                </a:solidFill>
              </a:rPr>
              <a:t>Activité 3 : Mettre un problème en équation 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99A37109-060F-4D34-A615-A45CC7CA32D3}"/>
              </a:ext>
            </a:extLst>
          </p:cNvPr>
          <p:cNvGrpSpPr/>
          <p:nvPr/>
        </p:nvGrpSpPr>
        <p:grpSpPr>
          <a:xfrm>
            <a:off x="1050784" y="2893563"/>
            <a:ext cx="10586404" cy="2083171"/>
            <a:chOff x="502920" y="3716781"/>
            <a:chExt cx="4480560" cy="2747506"/>
          </a:xfrm>
        </p:grpSpPr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828662DD-78E7-46E0-BEAA-A7C4126CCA8E}"/>
                </a:ext>
              </a:extLst>
            </p:cNvPr>
            <p:cNvSpPr/>
            <p:nvPr/>
          </p:nvSpPr>
          <p:spPr>
            <a:xfrm>
              <a:off x="502920" y="3721087"/>
              <a:ext cx="4480560" cy="2743200"/>
            </a:xfrm>
            <a:custGeom>
              <a:avLst/>
              <a:gdLst>
                <a:gd name="connsiteX0" fmla="*/ 0 w 4480560"/>
                <a:gd name="connsiteY0" fmla="*/ 0 h 2743200"/>
                <a:gd name="connsiteX1" fmla="*/ 0 w 4480560"/>
                <a:gd name="connsiteY1" fmla="*/ 0 h 2743200"/>
                <a:gd name="connsiteX2" fmla="*/ 425653 w 4480560"/>
                <a:gd name="connsiteY2" fmla="*/ 0 h 2743200"/>
                <a:gd name="connsiteX3" fmla="*/ 851306 w 4480560"/>
                <a:gd name="connsiteY3" fmla="*/ 0 h 2743200"/>
                <a:gd name="connsiteX4" fmla="*/ 1321765 w 4480560"/>
                <a:gd name="connsiteY4" fmla="*/ 0 h 2743200"/>
                <a:gd name="connsiteX5" fmla="*/ 1881835 w 4480560"/>
                <a:gd name="connsiteY5" fmla="*/ 0 h 2743200"/>
                <a:gd name="connsiteX6" fmla="*/ 2307488 w 4480560"/>
                <a:gd name="connsiteY6" fmla="*/ 0 h 2743200"/>
                <a:gd name="connsiteX7" fmla="*/ 2867558 w 4480560"/>
                <a:gd name="connsiteY7" fmla="*/ 0 h 2743200"/>
                <a:gd name="connsiteX8" fmla="*/ 3472434 w 4480560"/>
                <a:gd name="connsiteY8" fmla="*/ 0 h 2743200"/>
                <a:gd name="connsiteX9" fmla="*/ 4480560 w 4480560"/>
                <a:gd name="connsiteY9" fmla="*/ 0 h 2743200"/>
                <a:gd name="connsiteX10" fmla="*/ 4480560 w 4480560"/>
                <a:gd name="connsiteY10" fmla="*/ 0 h 2743200"/>
                <a:gd name="connsiteX11" fmla="*/ 4480560 w 4480560"/>
                <a:gd name="connsiteY11" fmla="*/ 576072 h 2743200"/>
                <a:gd name="connsiteX12" fmla="*/ 4480560 w 4480560"/>
                <a:gd name="connsiteY12" fmla="*/ 1152144 h 2743200"/>
                <a:gd name="connsiteX13" fmla="*/ 4480560 w 4480560"/>
                <a:gd name="connsiteY13" fmla="*/ 1645920 h 2743200"/>
                <a:gd name="connsiteX14" fmla="*/ 4480560 w 4480560"/>
                <a:gd name="connsiteY14" fmla="*/ 2194560 h 2743200"/>
                <a:gd name="connsiteX15" fmla="*/ 4480560 w 4480560"/>
                <a:gd name="connsiteY15" fmla="*/ 2743200 h 2743200"/>
                <a:gd name="connsiteX16" fmla="*/ 4480560 w 4480560"/>
                <a:gd name="connsiteY16" fmla="*/ 2743200 h 2743200"/>
                <a:gd name="connsiteX17" fmla="*/ 3965296 w 4480560"/>
                <a:gd name="connsiteY17" fmla="*/ 2743200 h 2743200"/>
                <a:gd name="connsiteX18" fmla="*/ 3450031 w 4480560"/>
                <a:gd name="connsiteY18" fmla="*/ 2743200 h 2743200"/>
                <a:gd name="connsiteX19" fmla="*/ 2800350 w 4480560"/>
                <a:gd name="connsiteY19" fmla="*/ 2743200 h 2743200"/>
                <a:gd name="connsiteX20" fmla="*/ 2329891 w 4480560"/>
                <a:gd name="connsiteY20" fmla="*/ 2743200 h 2743200"/>
                <a:gd name="connsiteX21" fmla="*/ 1859432 w 4480560"/>
                <a:gd name="connsiteY21" fmla="*/ 2743200 h 2743200"/>
                <a:gd name="connsiteX22" fmla="*/ 1344168 w 4480560"/>
                <a:gd name="connsiteY22" fmla="*/ 2743200 h 2743200"/>
                <a:gd name="connsiteX23" fmla="*/ 918515 w 4480560"/>
                <a:gd name="connsiteY23" fmla="*/ 2743200 h 2743200"/>
                <a:gd name="connsiteX24" fmla="*/ 0 w 4480560"/>
                <a:gd name="connsiteY24" fmla="*/ 2743200 h 2743200"/>
                <a:gd name="connsiteX25" fmla="*/ 0 w 4480560"/>
                <a:gd name="connsiteY25" fmla="*/ 2743200 h 2743200"/>
                <a:gd name="connsiteX26" fmla="*/ 0 w 4480560"/>
                <a:gd name="connsiteY26" fmla="*/ 2276856 h 2743200"/>
                <a:gd name="connsiteX27" fmla="*/ 0 w 4480560"/>
                <a:gd name="connsiteY27" fmla="*/ 1783080 h 2743200"/>
                <a:gd name="connsiteX28" fmla="*/ 0 w 4480560"/>
                <a:gd name="connsiteY28" fmla="*/ 1234440 h 2743200"/>
                <a:gd name="connsiteX29" fmla="*/ 0 w 4480560"/>
                <a:gd name="connsiteY29" fmla="*/ 685800 h 2743200"/>
                <a:gd name="connsiteX30" fmla="*/ 0 w 4480560"/>
                <a:gd name="connsiteY30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480560" h="2743200" extrusionOk="0">
                  <a:moveTo>
                    <a:pt x="0" y="0"/>
                  </a:moveTo>
                  <a:lnTo>
                    <a:pt x="0" y="0"/>
                  </a:lnTo>
                  <a:cubicBezTo>
                    <a:pt x="205177" y="-5694"/>
                    <a:pt x="311517" y="17072"/>
                    <a:pt x="425653" y="0"/>
                  </a:cubicBezTo>
                  <a:cubicBezTo>
                    <a:pt x="539789" y="-17072"/>
                    <a:pt x="738621" y="7845"/>
                    <a:pt x="851306" y="0"/>
                  </a:cubicBezTo>
                  <a:cubicBezTo>
                    <a:pt x="963991" y="-7845"/>
                    <a:pt x="1162209" y="17693"/>
                    <a:pt x="1321765" y="0"/>
                  </a:cubicBezTo>
                  <a:cubicBezTo>
                    <a:pt x="1481321" y="-17693"/>
                    <a:pt x="1730684" y="58095"/>
                    <a:pt x="1881835" y="0"/>
                  </a:cubicBezTo>
                  <a:cubicBezTo>
                    <a:pt x="2032986" y="-58095"/>
                    <a:pt x="2200088" y="8828"/>
                    <a:pt x="2307488" y="0"/>
                  </a:cubicBezTo>
                  <a:cubicBezTo>
                    <a:pt x="2414888" y="-8828"/>
                    <a:pt x="2634282" y="1845"/>
                    <a:pt x="2867558" y="0"/>
                  </a:cubicBezTo>
                  <a:cubicBezTo>
                    <a:pt x="3100834" y="-1845"/>
                    <a:pt x="3350326" y="54544"/>
                    <a:pt x="3472434" y="0"/>
                  </a:cubicBezTo>
                  <a:cubicBezTo>
                    <a:pt x="3594542" y="-54544"/>
                    <a:pt x="4215946" y="20818"/>
                    <a:pt x="4480560" y="0"/>
                  </a:cubicBezTo>
                  <a:lnTo>
                    <a:pt x="4480560" y="0"/>
                  </a:lnTo>
                  <a:cubicBezTo>
                    <a:pt x="4491486" y="176113"/>
                    <a:pt x="4418758" y="301992"/>
                    <a:pt x="4480560" y="576072"/>
                  </a:cubicBezTo>
                  <a:cubicBezTo>
                    <a:pt x="4542362" y="850152"/>
                    <a:pt x="4443367" y="913698"/>
                    <a:pt x="4480560" y="1152144"/>
                  </a:cubicBezTo>
                  <a:cubicBezTo>
                    <a:pt x="4517753" y="1390590"/>
                    <a:pt x="4467171" y="1515136"/>
                    <a:pt x="4480560" y="1645920"/>
                  </a:cubicBezTo>
                  <a:cubicBezTo>
                    <a:pt x="4493949" y="1776704"/>
                    <a:pt x="4420444" y="2055725"/>
                    <a:pt x="4480560" y="2194560"/>
                  </a:cubicBezTo>
                  <a:cubicBezTo>
                    <a:pt x="4540676" y="2333395"/>
                    <a:pt x="4469270" y="2556468"/>
                    <a:pt x="4480560" y="2743200"/>
                  </a:cubicBezTo>
                  <a:lnTo>
                    <a:pt x="4480560" y="2743200"/>
                  </a:lnTo>
                  <a:cubicBezTo>
                    <a:pt x="4241099" y="2781221"/>
                    <a:pt x="4176551" y="2685181"/>
                    <a:pt x="3965296" y="2743200"/>
                  </a:cubicBezTo>
                  <a:cubicBezTo>
                    <a:pt x="3754041" y="2801219"/>
                    <a:pt x="3704306" y="2694570"/>
                    <a:pt x="3450031" y="2743200"/>
                  </a:cubicBezTo>
                  <a:cubicBezTo>
                    <a:pt x="3195757" y="2791830"/>
                    <a:pt x="3100294" y="2689928"/>
                    <a:pt x="2800350" y="2743200"/>
                  </a:cubicBezTo>
                  <a:cubicBezTo>
                    <a:pt x="2500406" y="2796472"/>
                    <a:pt x="2479831" y="2734495"/>
                    <a:pt x="2329891" y="2743200"/>
                  </a:cubicBezTo>
                  <a:cubicBezTo>
                    <a:pt x="2179951" y="2751905"/>
                    <a:pt x="2073639" y="2739633"/>
                    <a:pt x="1859432" y="2743200"/>
                  </a:cubicBezTo>
                  <a:cubicBezTo>
                    <a:pt x="1645225" y="2746767"/>
                    <a:pt x="1545291" y="2704116"/>
                    <a:pt x="1344168" y="2743200"/>
                  </a:cubicBezTo>
                  <a:cubicBezTo>
                    <a:pt x="1143045" y="2782284"/>
                    <a:pt x="1080915" y="2710267"/>
                    <a:pt x="918515" y="2743200"/>
                  </a:cubicBezTo>
                  <a:cubicBezTo>
                    <a:pt x="756115" y="2776133"/>
                    <a:pt x="344672" y="2640040"/>
                    <a:pt x="0" y="2743200"/>
                  </a:cubicBezTo>
                  <a:lnTo>
                    <a:pt x="0" y="2743200"/>
                  </a:lnTo>
                  <a:cubicBezTo>
                    <a:pt x="-24288" y="2626651"/>
                    <a:pt x="3071" y="2374957"/>
                    <a:pt x="0" y="2276856"/>
                  </a:cubicBezTo>
                  <a:cubicBezTo>
                    <a:pt x="-3071" y="2178755"/>
                    <a:pt x="18455" y="1885553"/>
                    <a:pt x="0" y="1783080"/>
                  </a:cubicBezTo>
                  <a:cubicBezTo>
                    <a:pt x="-18455" y="1680607"/>
                    <a:pt x="27284" y="1404915"/>
                    <a:pt x="0" y="1234440"/>
                  </a:cubicBezTo>
                  <a:cubicBezTo>
                    <a:pt x="-27284" y="1063965"/>
                    <a:pt x="13939" y="940326"/>
                    <a:pt x="0" y="685800"/>
                  </a:cubicBezTo>
                  <a:cubicBezTo>
                    <a:pt x="-13939" y="431274"/>
                    <a:pt x="72281" y="252210"/>
                    <a:pt x="0" y="0"/>
                  </a:cubicBez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extLst>
                <a:ext uri="{C807C97D-BFC1-408E-A445-0C87EB9F89A2}">
                  <ask:lineSketchStyleProps xmlns:ask="http://schemas.microsoft.com/office/drawing/2018/sketchyshapes" sd="451804057">
                    <a:prstGeom prst="roundRect">
                      <a:avLst>
                        <a:gd name="adj" fmla="val 0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88F25A48-16B0-486A-9492-32842C06B71D}"/>
                </a:ext>
              </a:extLst>
            </p:cNvPr>
            <p:cNvSpPr txBox="1"/>
            <p:nvPr/>
          </p:nvSpPr>
          <p:spPr>
            <a:xfrm>
              <a:off x="595001" y="3716781"/>
              <a:ext cx="429639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800" b="1" dirty="0">
                  <a:solidFill>
                    <a:srgbClr val="FF0000"/>
                  </a:solidFill>
                </a:rPr>
                <a:t>1) Choisir l’inconnue</a:t>
              </a:r>
            </a:p>
          </p:txBody>
        </p:sp>
      </p:grpSp>
      <p:sp>
        <p:nvSpPr>
          <p:cNvPr id="20" name="ZoneTexte 19">
            <a:extLst>
              <a:ext uri="{FF2B5EF4-FFF2-40B4-BE49-F238E27FC236}">
                <a16:creationId xmlns:a16="http://schemas.microsoft.com/office/drawing/2014/main" id="{84559422-CAC3-4DD9-8E7B-898C1ABF3A99}"/>
              </a:ext>
            </a:extLst>
          </p:cNvPr>
          <p:cNvSpPr txBox="1"/>
          <p:nvPr/>
        </p:nvSpPr>
        <p:spPr>
          <a:xfrm>
            <a:off x="2057640" y="3324557"/>
            <a:ext cx="92168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i="1" dirty="0"/>
              <a:t>On suppose que :</a:t>
            </a:r>
          </a:p>
          <a:p>
            <a:pPr algn="ctr"/>
            <a:r>
              <a:rPr lang="fr-FR" sz="2400" i="1" dirty="0"/>
              <a:t>x = la somme du premier enfant</a:t>
            </a:r>
          </a:p>
          <a:p>
            <a:r>
              <a:rPr lang="fr-FR" sz="2400" dirty="0"/>
              <a:t>Alors :</a:t>
            </a:r>
          </a:p>
          <a:p>
            <a:pPr algn="ctr"/>
            <a:r>
              <a:rPr lang="fr-FR" sz="2400" i="1" dirty="0"/>
              <a:t>x + 20 = la somme du deuxième enfant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D8461914-AA6E-484A-AE27-0426C4CE0626}"/>
              </a:ext>
            </a:extLst>
          </p:cNvPr>
          <p:cNvGrpSpPr/>
          <p:nvPr/>
        </p:nvGrpSpPr>
        <p:grpSpPr>
          <a:xfrm>
            <a:off x="1050783" y="5234528"/>
            <a:ext cx="10586404" cy="1513890"/>
            <a:chOff x="502920" y="3716781"/>
            <a:chExt cx="4480560" cy="2747506"/>
          </a:xfrm>
        </p:grpSpPr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64311798-F0AE-43EA-89EE-0122AD46EFA6}"/>
                </a:ext>
              </a:extLst>
            </p:cNvPr>
            <p:cNvSpPr/>
            <p:nvPr/>
          </p:nvSpPr>
          <p:spPr>
            <a:xfrm>
              <a:off x="502920" y="3721087"/>
              <a:ext cx="4480560" cy="2743200"/>
            </a:xfrm>
            <a:custGeom>
              <a:avLst/>
              <a:gdLst>
                <a:gd name="connsiteX0" fmla="*/ 0 w 4480560"/>
                <a:gd name="connsiteY0" fmla="*/ 0 h 2743200"/>
                <a:gd name="connsiteX1" fmla="*/ 0 w 4480560"/>
                <a:gd name="connsiteY1" fmla="*/ 0 h 2743200"/>
                <a:gd name="connsiteX2" fmla="*/ 425653 w 4480560"/>
                <a:gd name="connsiteY2" fmla="*/ 0 h 2743200"/>
                <a:gd name="connsiteX3" fmla="*/ 851306 w 4480560"/>
                <a:gd name="connsiteY3" fmla="*/ 0 h 2743200"/>
                <a:gd name="connsiteX4" fmla="*/ 1321765 w 4480560"/>
                <a:gd name="connsiteY4" fmla="*/ 0 h 2743200"/>
                <a:gd name="connsiteX5" fmla="*/ 1881835 w 4480560"/>
                <a:gd name="connsiteY5" fmla="*/ 0 h 2743200"/>
                <a:gd name="connsiteX6" fmla="*/ 2307488 w 4480560"/>
                <a:gd name="connsiteY6" fmla="*/ 0 h 2743200"/>
                <a:gd name="connsiteX7" fmla="*/ 2867558 w 4480560"/>
                <a:gd name="connsiteY7" fmla="*/ 0 h 2743200"/>
                <a:gd name="connsiteX8" fmla="*/ 3472434 w 4480560"/>
                <a:gd name="connsiteY8" fmla="*/ 0 h 2743200"/>
                <a:gd name="connsiteX9" fmla="*/ 4480560 w 4480560"/>
                <a:gd name="connsiteY9" fmla="*/ 0 h 2743200"/>
                <a:gd name="connsiteX10" fmla="*/ 4480560 w 4480560"/>
                <a:gd name="connsiteY10" fmla="*/ 0 h 2743200"/>
                <a:gd name="connsiteX11" fmla="*/ 4480560 w 4480560"/>
                <a:gd name="connsiteY11" fmla="*/ 576072 h 2743200"/>
                <a:gd name="connsiteX12" fmla="*/ 4480560 w 4480560"/>
                <a:gd name="connsiteY12" fmla="*/ 1152144 h 2743200"/>
                <a:gd name="connsiteX13" fmla="*/ 4480560 w 4480560"/>
                <a:gd name="connsiteY13" fmla="*/ 1645920 h 2743200"/>
                <a:gd name="connsiteX14" fmla="*/ 4480560 w 4480560"/>
                <a:gd name="connsiteY14" fmla="*/ 2194560 h 2743200"/>
                <a:gd name="connsiteX15" fmla="*/ 4480560 w 4480560"/>
                <a:gd name="connsiteY15" fmla="*/ 2743200 h 2743200"/>
                <a:gd name="connsiteX16" fmla="*/ 4480560 w 4480560"/>
                <a:gd name="connsiteY16" fmla="*/ 2743200 h 2743200"/>
                <a:gd name="connsiteX17" fmla="*/ 3965296 w 4480560"/>
                <a:gd name="connsiteY17" fmla="*/ 2743200 h 2743200"/>
                <a:gd name="connsiteX18" fmla="*/ 3450031 w 4480560"/>
                <a:gd name="connsiteY18" fmla="*/ 2743200 h 2743200"/>
                <a:gd name="connsiteX19" fmla="*/ 2800350 w 4480560"/>
                <a:gd name="connsiteY19" fmla="*/ 2743200 h 2743200"/>
                <a:gd name="connsiteX20" fmla="*/ 2329891 w 4480560"/>
                <a:gd name="connsiteY20" fmla="*/ 2743200 h 2743200"/>
                <a:gd name="connsiteX21" fmla="*/ 1859432 w 4480560"/>
                <a:gd name="connsiteY21" fmla="*/ 2743200 h 2743200"/>
                <a:gd name="connsiteX22" fmla="*/ 1344168 w 4480560"/>
                <a:gd name="connsiteY22" fmla="*/ 2743200 h 2743200"/>
                <a:gd name="connsiteX23" fmla="*/ 918515 w 4480560"/>
                <a:gd name="connsiteY23" fmla="*/ 2743200 h 2743200"/>
                <a:gd name="connsiteX24" fmla="*/ 0 w 4480560"/>
                <a:gd name="connsiteY24" fmla="*/ 2743200 h 2743200"/>
                <a:gd name="connsiteX25" fmla="*/ 0 w 4480560"/>
                <a:gd name="connsiteY25" fmla="*/ 2743200 h 2743200"/>
                <a:gd name="connsiteX26" fmla="*/ 0 w 4480560"/>
                <a:gd name="connsiteY26" fmla="*/ 2276856 h 2743200"/>
                <a:gd name="connsiteX27" fmla="*/ 0 w 4480560"/>
                <a:gd name="connsiteY27" fmla="*/ 1783080 h 2743200"/>
                <a:gd name="connsiteX28" fmla="*/ 0 w 4480560"/>
                <a:gd name="connsiteY28" fmla="*/ 1234440 h 2743200"/>
                <a:gd name="connsiteX29" fmla="*/ 0 w 4480560"/>
                <a:gd name="connsiteY29" fmla="*/ 685800 h 2743200"/>
                <a:gd name="connsiteX30" fmla="*/ 0 w 4480560"/>
                <a:gd name="connsiteY30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480560" h="2743200" extrusionOk="0">
                  <a:moveTo>
                    <a:pt x="0" y="0"/>
                  </a:moveTo>
                  <a:lnTo>
                    <a:pt x="0" y="0"/>
                  </a:lnTo>
                  <a:cubicBezTo>
                    <a:pt x="205177" y="-5694"/>
                    <a:pt x="311517" y="17072"/>
                    <a:pt x="425653" y="0"/>
                  </a:cubicBezTo>
                  <a:cubicBezTo>
                    <a:pt x="539789" y="-17072"/>
                    <a:pt x="738621" y="7845"/>
                    <a:pt x="851306" y="0"/>
                  </a:cubicBezTo>
                  <a:cubicBezTo>
                    <a:pt x="963991" y="-7845"/>
                    <a:pt x="1162209" y="17693"/>
                    <a:pt x="1321765" y="0"/>
                  </a:cubicBezTo>
                  <a:cubicBezTo>
                    <a:pt x="1481321" y="-17693"/>
                    <a:pt x="1730684" y="58095"/>
                    <a:pt x="1881835" y="0"/>
                  </a:cubicBezTo>
                  <a:cubicBezTo>
                    <a:pt x="2032986" y="-58095"/>
                    <a:pt x="2200088" y="8828"/>
                    <a:pt x="2307488" y="0"/>
                  </a:cubicBezTo>
                  <a:cubicBezTo>
                    <a:pt x="2414888" y="-8828"/>
                    <a:pt x="2634282" y="1845"/>
                    <a:pt x="2867558" y="0"/>
                  </a:cubicBezTo>
                  <a:cubicBezTo>
                    <a:pt x="3100834" y="-1845"/>
                    <a:pt x="3350326" y="54544"/>
                    <a:pt x="3472434" y="0"/>
                  </a:cubicBezTo>
                  <a:cubicBezTo>
                    <a:pt x="3594542" y="-54544"/>
                    <a:pt x="4215946" y="20818"/>
                    <a:pt x="4480560" y="0"/>
                  </a:cubicBezTo>
                  <a:lnTo>
                    <a:pt x="4480560" y="0"/>
                  </a:lnTo>
                  <a:cubicBezTo>
                    <a:pt x="4491486" y="176113"/>
                    <a:pt x="4418758" y="301992"/>
                    <a:pt x="4480560" y="576072"/>
                  </a:cubicBezTo>
                  <a:cubicBezTo>
                    <a:pt x="4542362" y="850152"/>
                    <a:pt x="4443367" y="913698"/>
                    <a:pt x="4480560" y="1152144"/>
                  </a:cubicBezTo>
                  <a:cubicBezTo>
                    <a:pt x="4517753" y="1390590"/>
                    <a:pt x="4467171" y="1515136"/>
                    <a:pt x="4480560" y="1645920"/>
                  </a:cubicBezTo>
                  <a:cubicBezTo>
                    <a:pt x="4493949" y="1776704"/>
                    <a:pt x="4420444" y="2055725"/>
                    <a:pt x="4480560" y="2194560"/>
                  </a:cubicBezTo>
                  <a:cubicBezTo>
                    <a:pt x="4540676" y="2333395"/>
                    <a:pt x="4469270" y="2556468"/>
                    <a:pt x="4480560" y="2743200"/>
                  </a:cubicBezTo>
                  <a:lnTo>
                    <a:pt x="4480560" y="2743200"/>
                  </a:lnTo>
                  <a:cubicBezTo>
                    <a:pt x="4241099" y="2781221"/>
                    <a:pt x="4176551" y="2685181"/>
                    <a:pt x="3965296" y="2743200"/>
                  </a:cubicBezTo>
                  <a:cubicBezTo>
                    <a:pt x="3754041" y="2801219"/>
                    <a:pt x="3704306" y="2694570"/>
                    <a:pt x="3450031" y="2743200"/>
                  </a:cubicBezTo>
                  <a:cubicBezTo>
                    <a:pt x="3195757" y="2791830"/>
                    <a:pt x="3100294" y="2689928"/>
                    <a:pt x="2800350" y="2743200"/>
                  </a:cubicBezTo>
                  <a:cubicBezTo>
                    <a:pt x="2500406" y="2796472"/>
                    <a:pt x="2479831" y="2734495"/>
                    <a:pt x="2329891" y="2743200"/>
                  </a:cubicBezTo>
                  <a:cubicBezTo>
                    <a:pt x="2179951" y="2751905"/>
                    <a:pt x="2073639" y="2739633"/>
                    <a:pt x="1859432" y="2743200"/>
                  </a:cubicBezTo>
                  <a:cubicBezTo>
                    <a:pt x="1645225" y="2746767"/>
                    <a:pt x="1545291" y="2704116"/>
                    <a:pt x="1344168" y="2743200"/>
                  </a:cubicBezTo>
                  <a:cubicBezTo>
                    <a:pt x="1143045" y="2782284"/>
                    <a:pt x="1080915" y="2710267"/>
                    <a:pt x="918515" y="2743200"/>
                  </a:cubicBezTo>
                  <a:cubicBezTo>
                    <a:pt x="756115" y="2776133"/>
                    <a:pt x="344672" y="2640040"/>
                    <a:pt x="0" y="2743200"/>
                  </a:cubicBezTo>
                  <a:lnTo>
                    <a:pt x="0" y="2743200"/>
                  </a:lnTo>
                  <a:cubicBezTo>
                    <a:pt x="-24288" y="2626651"/>
                    <a:pt x="3071" y="2374957"/>
                    <a:pt x="0" y="2276856"/>
                  </a:cubicBezTo>
                  <a:cubicBezTo>
                    <a:pt x="-3071" y="2178755"/>
                    <a:pt x="18455" y="1885553"/>
                    <a:pt x="0" y="1783080"/>
                  </a:cubicBezTo>
                  <a:cubicBezTo>
                    <a:pt x="-18455" y="1680607"/>
                    <a:pt x="27284" y="1404915"/>
                    <a:pt x="0" y="1234440"/>
                  </a:cubicBezTo>
                  <a:cubicBezTo>
                    <a:pt x="-27284" y="1063965"/>
                    <a:pt x="13939" y="940326"/>
                    <a:pt x="0" y="685800"/>
                  </a:cubicBezTo>
                  <a:cubicBezTo>
                    <a:pt x="-13939" y="431274"/>
                    <a:pt x="72281" y="252210"/>
                    <a:pt x="0" y="0"/>
                  </a:cubicBez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extLst>
                <a:ext uri="{C807C97D-BFC1-408E-A445-0C87EB9F89A2}">
                  <ask:lineSketchStyleProps xmlns:ask="http://schemas.microsoft.com/office/drawing/2018/sketchyshapes" sd="451804057">
                    <a:prstGeom prst="roundRect">
                      <a:avLst>
                        <a:gd name="adj" fmla="val 0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218AEF79-7E33-4119-834E-991396C18532}"/>
                </a:ext>
              </a:extLst>
            </p:cNvPr>
            <p:cNvSpPr txBox="1"/>
            <p:nvPr/>
          </p:nvSpPr>
          <p:spPr>
            <a:xfrm>
              <a:off x="595001" y="3716781"/>
              <a:ext cx="4296397" cy="6900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800" b="1" dirty="0">
                  <a:solidFill>
                    <a:srgbClr val="FF0000"/>
                  </a:solidFill>
                </a:rPr>
                <a:t>2) Traduire la phrase en équation</a:t>
              </a:r>
            </a:p>
          </p:txBody>
        </p:sp>
      </p:grpSp>
      <p:sp>
        <p:nvSpPr>
          <p:cNvPr id="24" name="ZoneTexte 23">
            <a:extLst>
              <a:ext uri="{FF2B5EF4-FFF2-40B4-BE49-F238E27FC236}">
                <a16:creationId xmlns:a16="http://schemas.microsoft.com/office/drawing/2014/main" id="{748F0B78-CB7D-49F3-AA6A-A603F7B58E98}"/>
              </a:ext>
            </a:extLst>
          </p:cNvPr>
          <p:cNvSpPr txBox="1"/>
          <p:nvPr/>
        </p:nvSpPr>
        <p:spPr>
          <a:xfrm>
            <a:off x="2057639" y="5605347"/>
            <a:ext cx="9361981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i="1" dirty="0"/>
              <a:t>Les deux enfants ont ensemble 200 DH :</a:t>
            </a:r>
          </a:p>
          <a:p>
            <a:pPr algn="ctr">
              <a:lnSpc>
                <a:spcPct val="150000"/>
              </a:lnSpc>
            </a:pPr>
            <a:r>
              <a:rPr lang="fr-FR" sz="2400" dirty="0"/>
              <a:t>x +( x + 20 ) = 200 </a:t>
            </a:r>
            <a:endParaRPr lang="fr-FR" sz="2400" i="1" dirty="0"/>
          </a:p>
        </p:txBody>
      </p:sp>
    </p:spTree>
    <p:extLst>
      <p:ext uri="{BB962C8B-B14F-4D97-AF65-F5344CB8AC3E}">
        <p14:creationId xmlns:p14="http://schemas.microsoft.com/office/powerpoint/2010/main" val="236448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D900C1A-A2B0-465F-AA8D-FA79F3F9EBBB}"/>
              </a:ext>
            </a:extLst>
          </p:cNvPr>
          <p:cNvSpPr txBox="1"/>
          <p:nvPr/>
        </p:nvSpPr>
        <p:spPr>
          <a:xfrm>
            <a:off x="0" y="-19947"/>
            <a:ext cx="87674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7030A0"/>
                </a:solidFill>
              </a:rPr>
              <a:t>Activité 3 : Mettre un problème en équation 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99A37109-060F-4D34-A615-A45CC7CA32D3}"/>
              </a:ext>
            </a:extLst>
          </p:cNvPr>
          <p:cNvGrpSpPr/>
          <p:nvPr/>
        </p:nvGrpSpPr>
        <p:grpSpPr>
          <a:xfrm>
            <a:off x="1050783" y="846098"/>
            <a:ext cx="10586404" cy="3137334"/>
            <a:chOff x="502920" y="3716781"/>
            <a:chExt cx="4480560" cy="2747506"/>
          </a:xfrm>
        </p:grpSpPr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828662DD-78E7-46E0-BEAA-A7C4126CCA8E}"/>
                </a:ext>
              </a:extLst>
            </p:cNvPr>
            <p:cNvSpPr/>
            <p:nvPr/>
          </p:nvSpPr>
          <p:spPr>
            <a:xfrm>
              <a:off x="502920" y="3721087"/>
              <a:ext cx="4480560" cy="2743200"/>
            </a:xfrm>
            <a:custGeom>
              <a:avLst/>
              <a:gdLst>
                <a:gd name="connsiteX0" fmla="*/ 0 w 4480560"/>
                <a:gd name="connsiteY0" fmla="*/ 0 h 2743200"/>
                <a:gd name="connsiteX1" fmla="*/ 0 w 4480560"/>
                <a:gd name="connsiteY1" fmla="*/ 0 h 2743200"/>
                <a:gd name="connsiteX2" fmla="*/ 425653 w 4480560"/>
                <a:gd name="connsiteY2" fmla="*/ 0 h 2743200"/>
                <a:gd name="connsiteX3" fmla="*/ 851306 w 4480560"/>
                <a:gd name="connsiteY3" fmla="*/ 0 h 2743200"/>
                <a:gd name="connsiteX4" fmla="*/ 1321765 w 4480560"/>
                <a:gd name="connsiteY4" fmla="*/ 0 h 2743200"/>
                <a:gd name="connsiteX5" fmla="*/ 1881835 w 4480560"/>
                <a:gd name="connsiteY5" fmla="*/ 0 h 2743200"/>
                <a:gd name="connsiteX6" fmla="*/ 2307488 w 4480560"/>
                <a:gd name="connsiteY6" fmla="*/ 0 h 2743200"/>
                <a:gd name="connsiteX7" fmla="*/ 2867558 w 4480560"/>
                <a:gd name="connsiteY7" fmla="*/ 0 h 2743200"/>
                <a:gd name="connsiteX8" fmla="*/ 3472434 w 4480560"/>
                <a:gd name="connsiteY8" fmla="*/ 0 h 2743200"/>
                <a:gd name="connsiteX9" fmla="*/ 4480560 w 4480560"/>
                <a:gd name="connsiteY9" fmla="*/ 0 h 2743200"/>
                <a:gd name="connsiteX10" fmla="*/ 4480560 w 4480560"/>
                <a:gd name="connsiteY10" fmla="*/ 0 h 2743200"/>
                <a:gd name="connsiteX11" fmla="*/ 4480560 w 4480560"/>
                <a:gd name="connsiteY11" fmla="*/ 576072 h 2743200"/>
                <a:gd name="connsiteX12" fmla="*/ 4480560 w 4480560"/>
                <a:gd name="connsiteY12" fmla="*/ 1152144 h 2743200"/>
                <a:gd name="connsiteX13" fmla="*/ 4480560 w 4480560"/>
                <a:gd name="connsiteY13" fmla="*/ 1645920 h 2743200"/>
                <a:gd name="connsiteX14" fmla="*/ 4480560 w 4480560"/>
                <a:gd name="connsiteY14" fmla="*/ 2194560 h 2743200"/>
                <a:gd name="connsiteX15" fmla="*/ 4480560 w 4480560"/>
                <a:gd name="connsiteY15" fmla="*/ 2743200 h 2743200"/>
                <a:gd name="connsiteX16" fmla="*/ 4480560 w 4480560"/>
                <a:gd name="connsiteY16" fmla="*/ 2743200 h 2743200"/>
                <a:gd name="connsiteX17" fmla="*/ 3965296 w 4480560"/>
                <a:gd name="connsiteY17" fmla="*/ 2743200 h 2743200"/>
                <a:gd name="connsiteX18" fmla="*/ 3450031 w 4480560"/>
                <a:gd name="connsiteY18" fmla="*/ 2743200 h 2743200"/>
                <a:gd name="connsiteX19" fmla="*/ 2800350 w 4480560"/>
                <a:gd name="connsiteY19" fmla="*/ 2743200 h 2743200"/>
                <a:gd name="connsiteX20" fmla="*/ 2329891 w 4480560"/>
                <a:gd name="connsiteY20" fmla="*/ 2743200 h 2743200"/>
                <a:gd name="connsiteX21" fmla="*/ 1859432 w 4480560"/>
                <a:gd name="connsiteY21" fmla="*/ 2743200 h 2743200"/>
                <a:gd name="connsiteX22" fmla="*/ 1344168 w 4480560"/>
                <a:gd name="connsiteY22" fmla="*/ 2743200 h 2743200"/>
                <a:gd name="connsiteX23" fmla="*/ 918515 w 4480560"/>
                <a:gd name="connsiteY23" fmla="*/ 2743200 h 2743200"/>
                <a:gd name="connsiteX24" fmla="*/ 0 w 4480560"/>
                <a:gd name="connsiteY24" fmla="*/ 2743200 h 2743200"/>
                <a:gd name="connsiteX25" fmla="*/ 0 w 4480560"/>
                <a:gd name="connsiteY25" fmla="*/ 2743200 h 2743200"/>
                <a:gd name="connsiteX26" fmla="*/ 0 w 4480560"/>
                <a:gd name="connsiteY26" fmla="*/ 2276856 h 2743200"/>
                <a:gd name="connsiteX27" fmla="*/ 0 w 4480560"/>
                <a:gd name="connsiteY27" fmla="*/ 1783080 h 2743200"/>
                <a:gd name="connsiteX28" fmla="*/ 0 w 4480560"/>
                <a:gd name="connsiteY28" fmla="*/ 1234440 h 2743200"/>
                <a:gd name="connsiteX29" fmla="*/ 0 w 4480560"/>
                <a:gd name="connsiteY29" fmla="*/ 685800 h 2743200"/>
                <a:gd name="connsiteX30" fmla="*/ 0 w 4480560"/>
                <a:gd name="connsiteY30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480560" h="2743200" extrusionOk="0">
                  <a:moveTo>
                    <a:pt x="0" y="0"/>
                  </a:moveTo>
                  <a:lnTo>
                    <a:pt x="0" y="0"/>
                  </a:lnTo>
                  <a:cubicBezTo>
                    <a:pt x="205177" y="-5694"/>
                    <a:pt x="311517" y="17072"/>
                    <a:pt x="425653" y="0"/>
                  </a:cubicBezTo>
                  <a:cubicBezTo>
                    <a:pt x="539789" y="-17072"/>
                    <a:pt x="738621" y="7845"/>
                    <a:pt x="851306" y="0"/>
                  </a:cubicBezTo>
                  <a:cubicBezTo>
                    <a:pt x="963991" y="-7845"/>
                    <a:pt x="1162209" y="17693"/>
                    <a:pt x="1321765" y="0"/>
                  </a:cubicBezTo>
                  <a:cubicBezTo>
                    <a:pt x="1481321" y="-17693"/>
                    <a:pt x="1730684" y="58095"/>
                    <a:pt x="1881835" y="0"/>
                  </a:cubicBezTo>
                  <a:cubicBezTo>
                    <a:pt x="2032986" y="-58095"/>
                    <a:pt x="2200088" y="8828"/>
                    <a:pt x="2307488" y="0"/>
                  </a:cubicBezTo>
                  <a:cubicBezTo>
                    <a:pt x="2414888" y="-8828"/>
                    <a:pt x="2634282" y="1845"/>
                    <a:pt x="2867558" y="0"/>
                  </a:cubicBezTo>
                  <a:cubicBezTo>
                    <a:pt x="3100834" y="-1845"/>
                    <a:pt x="3350326" y="54544"/>
                    <a:pt x="3472434" y="0"/>
                  </a:cubicBezTo>
                  <a:cubicBezTo>
                    <a:pt x="3594542" y="-54544"/>
                    <a:pt x="4215946" y="20818"/>
                    <a:pt x="4480560" y="0"/>
                  </a:cubicBezTo>
                  <a:lnTo>
                    <a:pt x="4480560" y="0"/>
                  </a:lnTo>
                  <a:cubicBezTo>
                    <a:pt x="4491486" y="176113"/>
                    <a:pt x="4418758" y="301992"/>
                    <a:pt x="4480560" y="576072"/>
                  </a:cubicBezTo>
                  <a:cubicBezTo>
                    <a:pt x="4542362" y="850152"/>
                    <a:pt x="4443367" y="913698"/>
                    <a:pt x="4480560" y="1152144"/>
                  </a:cubicBezTo>
                  <a:cubicBezTo>
                    <a:pt x="4517753" y="1390590"/>
                    <a:pt x="4467171" y="1515136"/>
                    <a:pt x="4480560" y="1645920"/>
                  </a:cubicBezTo>
                  <a:cubicBezTo>
                    <a:pt x="4493949" y="1776704"/>
                    <a:pt x="4420444" y="2055725"/>
                    <a:pt x="4480560" y="2194560"/>
                  </a:cubicBezTo>
                  <a:cubicBezTo>
                    <a:pt x="4540676" y="2333395"/>
                    <a:pt x="4469270" y="2556468"/>
                    <a:pt x="4480560" y="2743200"/>
                  </a:cubicBezTo>
                  <a:lnTo>
                    <a:pt x="4480560" y="2743200"/>
                  </a:lnTo>
                  <a:cubicBezTo>
                    <a:pt x="4241099" y="2781221"/>
                    <a:pt x="4176551" y="2685181"/>
                    <a:pt x="3965296" y="2743200"/>
                  </a:cubicBezTo>
                  <a:cubicBezTo>
                    <a:pt x="3754041" y="2801219"/>
                    <a:pt x="3704306" y="2694570"/>
                    <a:pt x="3450031" y="2743200"/>
                  </a:cubicBezTo>
                  <a:cubicBezTo>
                    <a:pt x="3195757" y="2791830"/>
                    <a:pt x="3100294" y="2689928"/>
                    <a:pt x="2800350" y="2743200"/>
                  </a:cubicBezTo>
                  <a:cubicBezTo>
                    <a:pt x="2500406" y="2796472"/>
                    <a:pt x="2479831" y="2734495"/>
                    <a:pt x="2329891" y="2743200"/>
                  </a:cubicBezTo>
                  <a:cubicBezTo>
                    <a:pt x="2179951" y="2751905"/>
                    <a:pt x="2073639" y="2739633"/>
                    <a:pt x="1859432" y="2743200"/>
                  </a:cubicBezTo>
                  <a:cubicBezTo>
                    <a:pt x="1645225" y="2746767"/>
                    <a:pt x="1545291" y="2704116"/>
                    <a:pt x="1344168" y="2743200"/>
                  </a:cubicBezTo>
                  <a:cubicBezTo>
                    <a:pt x="1143045" y="2782284"/>
                    <a:pt x="1080915" y="2710267"/>
                    <a:pt x="918515" y="2743200"/>
                  </a:cubicBezTo>
                  <a:cubicBezTo>
                    <a:pt x="756115" y="2776133"/>
                    <a:pt x="344672" y="2640040"/>
                    <a:pt x="0" y="2743200"/>
                  </a:cubicBezTo>
                  <a:lnTo>
                    <a:pt x="0" y="2743200"/>
                  </a:lnTo>
                  <a:cubicBezTo>
                    <a:pt x="-24288" y="2626651"/>
                    <a:pt x="3071" y="2374957"/>
                    <a:pt x="0" y="2276856"/>
                  </a:cubicBezTo>
                  <a:cubicBezTo>
                    <a:pt x="-3071" y="2178755"/>
                    <a:pt x="18455" y="1885553"/>
                    <a:pt x="0" y="1783080"/>
                  </a:cubicBezTo>
                  <a:cubicBezTo>
                    <a:pt x="-18455" y="1680607"/>
                    <a:pt x="27284" y="1404915"/>
                    <a:pt x="0" y="1234440"/>
                  </a:cubicBezTo>
                  <a:cubicBezTo>
                    <a:pt x="-27284" y="1063965"/>
                    <a:pt x="13939" y="940326"/>
                    <a:pt x="0" y="685800"/>
                  </a:cubicBezTo>
                  <a:cubicBezTo>
                    <a:pt x="-13939" y="431274"/>
                    <a:pt x="72281" y="252210"/>
                    <a:pt x="0" y="0"/>
                  </a:cubicBez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extLst>
                <a:ext uri="{C807C97D-BFC1-408E-A445-0C87EB9F89A2}">
                  <ask:lineSketchStyleProps xmlns:ask="http://schemas.microsoft.com/office/drawing/2018/sketchyshapes" sd="451804057">
                    <a:prstGeom prst="roundRect">
                      <a:avLst>
                        <a:gd name="adj" fmla="val 0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88F25A48-16B0-486A-9492-32842C06B71D}"/>
                </a:ext>
              </a:extLst>
            </p:cNvPr>
            <p:cNvSpPr txBox="1"/>
            <p:nvPr/>
          </p:nvSpPr>
          <p:spPr>
            <a:xfrm>
              <a:off x="595001" y="3716781"/>
              <a:ext cx="4296397" cy="6900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800" b="1" dirty="0">
                  <a:solidFill>
                    <a:srgbClr val="FF0000"/>
                  </a:solidFill>
                </a:rPr>
                <a:t>3) Résoudre l’équation</a:t>
              </a:r>
            </a:p>
          </p:txBody>
        </p:sp>
      </p:grpSp>
      <p:sp>
        <p:nvSpPr>
          <p:cNvPr id="20" name="ZoneTexte 19">
            <a:extLst>
              <a:ext uri="{FF2B5EF4-FFF2-40B4-BE49-F238E27FC236}">
                <a16:creationId xmlns:a16="http://schemas.microsoft.com/office/drawing/2014/main" id="{84559422-CAC3-4DD9-8E7B-898C1ABF3A99}"/>
              </a:ext>
            </a:extLst>
          </p:cNvPr>
          <p:cNvSpPr txBox="1"/>
          <p:nvPr/>
        </p:nvSpPr>
        <p:spPr>
          <a:xfrm>
            <a:off x="1268346" y="1243235"/>
            <a:ext cx="10151273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800" b="1" i="1" dirty="0"/>
              <a:t>x + x + 20 = 200</a:t>
            </a:r>
          </a:p>
          <a:p>
            <a:pPr algn="ctr">
              <a:lnSpc>
                <a:spcPct val="150000"/>
              </a:lnSpc>
            </a:pPr>
            <a:r>
              <a:rPr lang="fr-FR" sz="2800" b="1" i="1" dirty="0"/>
              <a:t>2x + 20 = 200</a:t>
            </a:r>
          </a:p>
          <a:p>
            <a:pPr algn="ctr">
              <a:lnSpc>
                <a:spcPct val="150000"/>
              </a:lnSpc>
            </a:pPr>
            <a:r>
              <a:rPr lang="fr-FR" sz="2800" b="1" i="1" dirty="0"/>
              <a:t>2x = 180</a:t>
            </a:r>
          </a:p>
          <a:p>
            <a:pPr algn="ctr">
              <a:lnSpc>
                <a:spcPct val="150000"/>
              </a:lnSpc>
            </a:pPr>
            <a:r>
              <a:rPr lang="fr-FR" sz="2800" b="1" i="1" dirty="0"/>
              <a:t>x = 90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D8461914-AA6E-484A-AE27-0426C4CE0626}"/>
              </a:ext>
            </a:extLst>
          </p:cNvPr>
          <p:cNvGrpSpPr/>
          <p:nvPr/>
        </p:nvGrpSpPr>
        <p:grpSpPr>
          <a:xfrm>
            <a:off x="1050783" y="4147309"/>
            <a:ext cx="10586404" cy="2462212"/>
            <a:chOff x="502920" y="3716781"/>
            <a:chExt cx="4480560" cy="2747506"/>
          </a:xfrm>
        </p:grpSpPr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64311798-F0AE-43EA-89EE-0122AD46EFA6}"/>
                </a:ext>
              </a:extLst>
            </p:cNvPr>
            <p:cNvSpPr/>
            <p:nvPr/>
          </p:nvSpPr>
          <p:spPr>
            <a:xfrm>
              <a:off x="502920" y="3721087"/>
              <a:ext cx="4480560" cy="2743200"/>
            </a:xfrm>
            <a:custGeom>
              <a:avLst/>
              <a:gdLst>
                <a:gd name="connsiteX0" fmla="*/ 0 w 4480560"/>
                <a:gd name="connsiteY0" fmla="*/ 0 h 2743200"/>
                <a:gd name="connsiteX1" fmla="*/ 0 w 4480560"/>
                <a:gd name="connsiteY1" fmla="*/ 0 h 2743200"/>
                <a:gd name="connsiteX2" fmla="*/ 425653 w 4480560"/>
                <a:gd name="connsiteY2" fmla="*/ 0 h 2743200"/>
                <a:gd name="connsiteX3" fmla="*/ 851306 w 4480560"/>
                <a:gd name="connsiteY3" fmla="*/ 0 h 2743200"/>
                <a:gd name="connsiteX4" fmla="*/ 1321765 w 4480560"/>
                <a:gd name="connsiteY4" fmla="*/ 0 h 2743200"/>
                <a:gd name="connsiteX5" fmla="*/ 1881835 w 4480560"/>
                <a:gd name="connsiteY5" fmla="*/ 0 h 2743200"/>
                <a:gd name="connsiteX6" fmla="*/ 2307488 w 4480560"/>
                <a:gd name="connsiteY6" fmla="*/ 0 h 2743200"/>
                <a:gd name="connsiteX7" fmla="*/ 2867558 w 4480560"/>
                <a:gd name="connsiteY7" fmla="*/ 0 h 2743200"/>
                <a:gd name="connsiteX8" fmla="*/ 3472434 w 4480560"/>
                <a:gd name="connsiteY8" fmla="*/ 0 h 2743200"/>
                <a:gd name="connsiteX9" fmla="*/ 4480560 w 4480560"/>
                <a:gd name="connsiteY9" fmla="*/ 0 h 2743200"/>
                <a:gd name="connsiteX10" fmla="*/ 4480560 w 4480560"/>
                <a:gd name="connsiteY10" fmla="*/ 0 h 2743200"/>
                <a:gd name="connsiteX11" fmla="*/ 4480560 w 4480560"/>
                <a:gd name="connsiteY11" fmla="*/ 576072 h 2743200"/>
                <a:gd name="connsiteX12" fmla="*/ 4480560 w 4480560"/>
                <a:gd name="connsiteY12" fmla="*/ 1152144 h 2743200"/>
                <a:gd name="connsiteX13" fmla="*/ 4480560 w 4480560"/>
                <a:gd name="connsiteY13" fmla="*/ 1645920 h 2743200"/>
                <a:gd name="connsiteX14" fmla="*/ 4480560 w 4480560"/>
                <a:gd name="connsiteY14" fmla="*/ 2194560 h 2743200"/>
                <a:gd name="connsiteX15" fmla="*/ 4480560 w 4480560"/>
                <a:gd name="connsiteY15" fmla="*/ 2743200 h 2743200"/>
                <a:gd name="connsiteX16" fmla="*/ 4480560 w 4480560"/>
                <a:gd name="connsiteY16" fmla="*/ 2743200 h 2743200"/>
                <a:gd name="connsiteX17" fmla="*/ 3965296 w 4480560"/>
                <a:gd name="connsiteY17" fmla="*/ 2743200 h 2743200"/>
                <a:gd name="connsiteX18" fmla="*/ 3450031 w 4480560"/>
                <a:gd name="connsiteY18" fmla="*/ 2743200 h 2743200"/>
                <a:gd name="connsiteX19" fmla="*/ 2800350 w 4480560"/>
                <a:gd name="connsiteY19" fmla="*/ 2743200 h 2743200"/>
                <a:gd name="connsiteX20" fmla="*/ 2329891 w 4480560"/>
                <a:gd name="connsiteY20" fmla="*/ 2743200 h 2743200"/>
                <a:gd name="connsiteX21" fmla="*/ 1859432 w 4480560"/>
                <a:gd name="connsiteY21" fmla="*/ 2743200 h 2743200"/>
                <a:gd name="connsiteX22" fmla="*/ 1344168 w 4480560"/>
                <a:gd name="connsiteY22" fmla="*/ 2743200 h 2743200"/>
                <a:gd name="connsiteX23" fmla="*/ 918515 w 4480560"/>
                <a:gd name="connsiteY23" fmla="*/ 2743200 h 2743200"/>
                <a:gd name="connsiteX24" fmla="*/ 0 w 4480560"/>
                <a:gd name="connsiteY24" fmla="*/ 2743200 h 2743200"/>
                <a:gd name="connsiteX25" fmla="*/ 0 w 4480560"/>
                <a:gd name="connsiteY25" fmla="*/ 2743200 h 2743200"/>
                <a:gd name="connsiteX26" fmla="*/ 0 w 4480560"/>
                <a:gd name="connsiteY26" fmla="*/ 2276856 h 2743200"/>
                <a:gd name="connsiteX27" fmla="*/ 0 w 4480560"/>
                <a:gd name="connsiteY27" fmla="*/ 1783080 h 2743200"/>
                <a:gd name="connsiteX28" fmla="*/ 0 w 4480560"/>
                <a:gd name="connsiteY28" fmla="*/ 1234440 h 2743200"/>
                <a:gd name="connsiteX29" fmla="*/ 0 w 4480560"/>
                <a:gd name="connsiteY29" fmla="*/ 685800 h 2743200"/>
                <a:gd name="connsiteX30" fmla="*/ 0 w 4480560"/>
                <a:gd name="connsiteY30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480560" h="2743200" extrusionOk="0">
                  <a:moveTo>
                    <a:pt x="0" y="0"/>
                  </a:moveTo>
                  <a:lnTo>
                    <a:pt x="0" y="0"/>
                  </a:lnTo>
                  <a:cubicBezTo>
                    <a:pt x="205177" y="-5694"/>
                    <a:pt x="311517" y="17072"/>
                    <a:pt x="425653" y="0"/>
                  </a:cubicBezTo>
                  <a:cubicBezTo>
                    <a:pt x="539789" y="-17072"/>
                    <a:pt x="738621" y="7845"/>
                    <a:pt x="851306" y="0"/>
                  </a:cubicBezTo>
                  <a:cubicBezTo>
                    <a:pt x="963991" y="-7845"/>
                    <a:pt x="1162209" y="17693"/>
                    <a:pt x="1321765" y="0"/>
                  </a:cubicBezTo>
                  <a:cubicBezTo>
                    <a:pt x="1481321" y="-17693"/>
                    <a:pt x="1730684" y="58095"/>
                    <a:pt x="1881835" y="0"/>
                  </a:cubicBezTo>
                  <a:cubicBezTo>
                    <a:pt x="2032986" y="-58095"/>
                    <a:pt x="2200088" y="8828"/>
                    <a:pt x="2307488" y="0"/>
                  </a:cubicBezTo>
                  <a:cubicBezTo>
                    <a:pt x="2414888" y="-8828"/>
                    <a:pt x="2634282" y="1845"/>
                    <a:pt x="2867558" y="0"/>
                  </a:cubicBezTo>
                  <a:cubicBezTo>
                    <a:pt x="3100834" y="-1845"/>
                    <a:pt x="3350326" y="54544"/>
                    <a:pt x="3472434" y="0"/>
                  </a:cubicBezTo>
                  <a:cubicBezTo>
                    <a:pt x="3594542" y="-54544"/>
                    <a:pt x="4215946" y="20818"/>
                    <a:pt x="4480560" y="0"/>
                  </a:cubicBezTo>
                  <a:lnTo>
                    <a:pt x="4480560" y="0"/>
                  </a:lnTo>
                  <a:cubicBezTo>
                    <a:pt x="4491486" y="176113"/>
                    <a:pt x="4418758" y="301992"/>
                    <a:pt x="4480560" y="576072"/>
                  </a:cubicBezTo>
                  <a:cubicBezTo>
                    <a:pt x="4542362" y="850152"/>
                    <a:pt x="4443367" y="913698"/>
                    <a:pt x="4480560" y="1152144"/>
                  </a:cubicBezTo>
                  <a:cubicBezTo>
                    <a:pt x="4517753" y="1390590"/>
                    <a:pt x="4467171" y="1515136"/>
                    <a:pt x="4480560" y="1645920"/>
                  </a:cubicBezTo>
                  <a:cubicBezTo>
                    <a:pt x="4493949" y="1776704"/>
                    <a:pt x="4420444" y="2055725"/>
                    <a:pt x="4480560" y="2194560"/>
                  </a:cubicBezTo>
                  <a:cubicBezTo>
                    <a:pt x="4540676" y="2333395"/>
                    <a:pt x="4469270" y="2556468"/>
                    <a:pt x="4480560" y="2743200"/>
                  </a:cubicBezTo>
                  <a:lnTo>
                    <a:pt x="4480560" y="2743200"/>
                  </a:lnTo>
                  <a:cubicBezTo>
                    <a:pt x="4241099" y="2781221"/>
                    <a:pt x="4176551" y="2685181"/>
                    <a:pt x="3965296" y="2743200"/>
                  </a:cubicBezTo>
                  <a:cubicBezTo>
                    <a:pt x="3754041" y="2801219"/>
                    <a:pt x="3704306" y="2694570"/>
                    <a:pt x="3450031" y="2743200"/>
                  </a:cubicBezTo>
                  <a:cubicBezTo>
                    <a:pt x="3195757" y="2791830"/>
                    <a:pt x="3100294" y="2689928"/>
                    <a:pt x="2800350" y="2743200"/>
                  </a:cubicBezTo>
                  <a:cubicBezTo>
                    <a:pt x="2500406" y="2796472"/>
                    <a:pt x="2479831" y="2734495"/>
                    <a:pt x="2329891" y="2743200"/>
                  </a:cubicBezTo>
                  <a:cubicBezTo>
                    <a:pt x="2179951" y="2751905"/>
                    <a:pt x="2073639" y="2739633"/>
                    <a:pt x="1859432" y="2743200"/>
                  </a:cubicBezTo>
                  <a:cubicBezTo>
                    <a:pt x="1645225" y="2746767"/>
                    <a:pt x="1545291" y="2704116"/>
                    <a:pt x="1344168" y="2743200"/>
                  </a:cubicBezTo>
                  <a:cubicBezTo>
                    <a:pt x="1143045" y="2782284"/>
                    <a:pt x="1080915" y="2710267"/>
                    <a:pt x="918515" y="2743200"/>
                  </a:cubicBezTo>
                  <a:cubicBezTo>
                    <a:pt x="756115" y="2776133"/>
                    <a:pt x="344672" y="2640040"/>
                    <a:pt x="0" y="2743200"/>
                  </a:cubicBezTo>
                  <a:lnTo>
                    <a:pt x="0" y="2743200"/>
                  </a:lnTo>
                  <a:cubicBezTo>
                    <a:pt x="-24288" y="2626651"/>
                    <a:pt x="3071" y="2374957"/>
                    <a:pt x="0" y="2276856"/>
                  </a:cubicBezTo>
                  <a:cubicBezTo>
                    <a:pt x="-3071" y="2178755"/>
                    <a:pt x="18455" y="1885553"/>
                    <a:pt x="0" y="1783080"/>
                  </a:cubicBezTo>
                  <a:cubicBezTo>
                    <a:pt x="-18455" y="1680607"/>
                    <a:pt x="27284" y="1404915"/>
                    <a:pt x="0" y="1234440"/>
                  </a:cubicBezTo>
                  <a:cubicBezTo>
                    <a:pt x="-27284" y="1063965"/>
                    <a:pt x="13939" y="940326"/>
                    <a:pt x="0" y="685800"/>
                  </a:cubicBezTo>
                  <a:cubicBezTo>
                    <a:pt x="-13939" y="431274"/>
                    <a:pt x="72281" y="252210"/>
                    <a:pt x="0" y="0"/>
                  </a:cubicBez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extLst>
                <a:ext uri="{C807C97D-BFC1-408E-A445-0C87EB9F89A2}">
                  <ask:lineSketchStyleProps xmlns:ask="http://schemas.microsoft.com/office/drawing/2018/sketchyshapes" sd="451804057">
                    <a:prstGeom prst="roundRect">
                      <a:avLst>
                        <a:gd name="adj" fmla="val 0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218AEF79-7E33-4119-834E-991396C18532}"/>
                </a:ext>
              </a:extLst>
            </p:cNvPr>
            <p:cNvSpPr txBox="1"/>
            <p:nvPr/>
          </p:nvSpPr>
          <p:spPr>
            <a:xfrm>
              <a:off x="595001" y="3716781"/>
              <a:ext cx="4296397" cy="9495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800" b="1" dirty="0">
                  <a:solidFill>
                    <a:srgbClr val="FF0000"/>
                  </a:solidFill>
                </a:rPr>
                <a:t>4) Trouver les deux sommes</a:t>
              </a:r>
            </a:p>
          </p:txBody>
        </p:sp>
      </p:grpSp>
      <p:sp>
        <p:nvSpPr>
          <p:cNvPr id="24" name="ZoneTexte 23">
            <a:extLst>
              <a:ext uri="{FF2B5EF4-FFF2-40B4-BE49-F238E27FC236}">
                <a16:creationId xmlns:a16="http://schemas.microsoft.com/office/drawing/2014/main" id="{748F0B78-CB7D-49F3-AA6A-A603F7B58E98}"/>
              </a:ext>
            </a:extLst>
          </p:cNvPr>
          <p:cNvSpPr txBox="1"/>
          <p:nvPr/>
        </p:nvSpPr>
        <p:spPr>
          <a:xfrm>
            <a:off x="1662991" y="4834406"/>
            <a:ext cx="936198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i="1" dirty="0"/>
              <a:t>Premier enfant :</a:t>
            </a:r>
          </a:p>
          <a:p>
            <a:pPr algn="ctr"/>
            <a:r>
              <a:rPr lang="fr-FR" sz="2400" b="1" i="1" dirty="0"/>
              <a:t>90 DH</a:t>
            </a:r>
          </a:p>
          <a:p>
            <a:r>
              <a:rPr lang="fr-FR" sz="2400" i="1" dirty="0"/>
              <a:t>Deuxième enfant :</a:t>
            </a:r>
          </a:p>
          <a:p>
            <a:pPr algn="ctr"/>
            <a:r>
              <a:rPr lang="fr-FR" sz="2400" b="1" i="1" dirty="0"/>
              <a:t>90+20=110 DH </a:t>
            </a:r>
          </a:p>
          <a:p>
            <a:endParaRPr lang="fr-FR" sz="2400" i="1" dirty="0"/>
          </a:p>
        </p:txBody>
      </p:sp>
    </p:spTree>
    <p:extLst>
      <p:ext uri="{BB962C8B-B14F-4D97-AF65-F5344CB8AC3E}">
        <p14:creationId xmlns:p14="http://schemas.microsoft.com/office/powerpoint/2010/main" val="173356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B6FD8DA0-8C4D-4AE4-9CDA-EED76D3A32D3}"/>
              </a:ext>
            </a:extLst>
          </p:cNvPr>
          <p:cNvSpPr txBox="1"/>
          <p:nvPr/>
        </p:nvSpPr>
        <p:spPr>
          <a:xfrm>
            <a:off x="106680" y="98941"/>
            <a:ext cx="7559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III. Mettre en équation un problème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E7FF6DD-4F75-497B-8512-FE9C40ED7DEB}"/>
              </a:ext>
            </a:extLst>
          </p:cNvPr>
          <p:cNvSpPr txBox="1"/>
          <p:nvPr/>
        </p:nvSpPr>
        <p:spPr>
          <a:xfrm>
            <a:off x="529590" y="678041"/>
            <a:ext cx="69481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i="1" dirty="0">
                <a:solidFill>
                  <a:srgbClr val="00B050"/>
                </a:solidFill>
              </a:rPr>
              <a:t>Méthode pour résoudre un problème :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F091DE67-B09B-44B7-AA14-DC350F39F6D9}"/>
              </a:ext>
            </a:extLst>
          </p:cNvPr>
          <p:cNvGrpSpPr/>
          <p:nvPr/>
        </p:nvGrpSpPr>
        <p:grpSpPr>
          <a:xfrm>
            <a:off x="691208" y="1281836"/>
            <a:ext cx="10256520" cy="4661764"/>
            <a:chOff x="691208" y="1281836"/>
            <a:chExt cx="10256520" cy="2726313"/>
          </a:xfrm>
        </p:grpSpPr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AF190705-C553-4DCD-BB36-EA85CFFDF48D}"/>
                </a:ext>
              </a:extLst>
            </p:cNvPr>
            <p:cNvSpPr txBox="1"/>
            <p:nvPr/>
          </p:nvSpPr>
          <p:spPr>
            <a:xfrm>
              <a:off x="1371600" y="1333569"/>
              <a:ext cx="9307830" cy="25033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514350" indent="-514350">
                <a:lnSpc>
                  <a:spcPct val="200000"/>
                </a:lnSpc>
                <a:buAutoNum type="arabicParenR"/>
              </a:pPr>
              <a:r>
                <a:rPr lang="fr-FR" sz="2800" b="1" dirty="0"/>
                <a:t>Choix de l’inconnue.</a:t>
              </a:r>
            </a:p>
            <a:p>
              <a:pPr marL="514350" indent="-514350">
                <a:lnSpc>
                  <a:spcPct val="200000"/>
                </a:lnSpc>
                <a:buAutoNum type="arabicParenR"/>
              </a:pPr>
              <a:r>
                <a:rPr lang="fr-FR" sz="2800" b="1" dirty="0"/>
                <a:t>Mise en équation du problème.</a:t>
              </a:r>
            </a:p>
            <a:p>
              <a:pPr marL="514350" indent="-514350">
                <a:lnSpc>
                  <a:spcPct val="200000"/>
                </a:lnSpc>
                <a:buAutoNum type="arabicParenR"/>
              </a:pPr>
              <a:r>
                <a:rPr lang="fr-FR" sz="2800" b="1" dirty="0"/>
                <a:t>Résolution de l’équation.</a:t>
              </a:r>
            </a:p>
            <a:p>
              <a:pPr marL="514350" indent="-514350">
                <a:lnSpc>
                  <a:spcPct val="200000"/>
                </a:lnSpc>
                <a:buAutoNum type="arabicParenR"/>
              </a:pPr>
              <a:r>
                <a:rPr lang="fr-FR" sz="2800" b="1" dirty="0"/>
                <a:t>Vérification.</a:t>
              </a:r>
            </a:p>
            <a:p>
              <a:pPr marL="514350" indent="-514350">
                <a:lnSpc>
                  <a:spcPct val="200000"/>
                </a:lnSpc>
                <a:buAutoNum type="arabicParenR"/>
              </a:pPr>
              <a:r>
                <a:rPr lang="fr-FR" sz="2800" b="1" dirty="0"/>
                <a:t>Interprétation du résultat. 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5740955-8D92-475C-884E-C8ED0C9EE1A0}"/>
                </a:ext>
              </a:extLst>
            </p:cNvPr>
            <p:cNvSpPr/>
            <p:nvPr/>
          </p:nvSpPr>
          <p:spPr>
            <a:xfrm>
              <a:off x="691208" y="1281836"/>
              <a:ext cx="10256520" cy="2726313"/>
            </a:xfrm>
            <a:custGeom>
              <a:avLst/>
              <a:gdLst>
                <a:gd name="connsiteX0" fmla="*/ 0 w 10256520"/>
                <a:gd name="connsiteY0" fmla="*/ 0 h 2726313"/>
                <a:gd name="connsiteX1" fmla="*/ 467241 w 10256520"/>
                <a:gd name="connsiteY1" fmla="*/ 0 h 2726313"/>
                <a:gd name="connsiteX2" fmla="*/ 1139613 w 10256520"/>
                <a:gd name="connsiteY2" fmla="*/ 0 h 2726313"/>
                <a:gd name="connsiteX3" fmla="*/ 1709420 w 10256520"/>
                <a:gd name="connsiteY3" fmla="*/ 0 h 2726313"/>
                <a:gd name="connsiteX4" fmla="*/ 2176661 w 10256520"/>
                <a:gd name="connsiteY4" fmla="*/ 0 h 2726313"/>
                <a:gd name="connsiteX5" fmla="*/ 2541338 w 10256520"/>
                <a:gd name="connsiteY5" fmla="*/ 0 h 2726313"/>
                <a:gd name="connsiteX6" fmla="*/ 3008579 w 10256520"/>
                <a:gd name="connsiteY6" fmla="*/ 0 h 2726313"/>
                <a:gd name="connsiteX7" fmla="*/ 3475821 w 10256520"/>
                <a:gd name="connsiteY7" fmla="*/ 0 h 2726313"/>
                <a:gd name="connsiteX8" fmla="*/ 3737932 w 10256520"/>
                <a:gd name="connsiteY8" fmla="*/ 0 h 2726313"/>
                <a:gd name="connsiteX9" fmla="*/ 4512869 w 10256520"/>
                <a:gd name="connsiteY9" fmla="*/ 0 h 2726313"/>
                <a:gd name="connsiteX10" fmla="*/ 5185241 w 10256520"/>
                <a:gd name="connsiteY10" fmla="*/ 0 h 2726313"/>
                <a:gd name="connsiteX11" fmla="*/ 5857613 w 10256520"/>
                <a:gd name="connsiteY11" fmla="*/ 0 h 2726313"/>
                <a:gd name="connsiteX12" fmla="*/ 6119724 w 10256520"/>
                <a:gd name="connsiteY12" fmla="*/ 0 h 2726313"/>
                <a:gd name="connsiteX13" fmla="*/ 6381835 w 10256520"/>
                <a:gd name="connsiteY13" fmla="*/ 0 h 2726313"/>
                <a:gd name="connsiteX14" fmla="*/ 6746511 w 10256520"/>
                <a:gd name="connsiteY14" fmla="*/ 0 h 2726313"/>
                <a:gd name="connsiteX15" fmla="*/ 7316318 w 10256520"/>
                <a:gd name="connsiteY15" fmla="*/ 0 h 2726313"/>
                <a:gd name="connsiteX16" fmla="*/ 7680994 w 10256520"/>
                <a:gd name="connsiteY16" fmla="*/ 0 h 2726313"/>
                <a:gd name="connsiteX17" fmla="*/ 8045670 w 10256520"/>
                <a:gd name="connsiteY17" fmla="*/ 0 h 2726313"/>
                <a:gd name="connsiteX18" fmla="*/ 8512912 w 10256520"/>
                <a:gd name="connsiteY18" fmla="*/ 0 h 2726313"/>
                <a:gd name="connsiteX19" fmla="*/ 9082718 w 10256520"/>
                <a:gd name="connsiteY19" fmla="*/ 0 h 2726313"/>
                <a:gd name="connsiteX20" fmla="*/ 9755090 w 10256520"/>
                <a:gd name="connsiteY20" fmla="*/ 0 h 2726313"/>
                <a:gd name="connsiteX21" fmla="*/ 10256520 w 10256520"/>
                <a:gd name="connsiteY21" fmla="*/ 0 h 2726313"/>
                <a:gd name="connsiteX22" fmla="*/ 10256520 w 10256520"/>
                <a:gd name="connsiteY22" fmla="*/ 463473 h 2726313"/>
                <a:gd name="connsiteX23" fmla="*/ 10256520 w 10256520"/>
                <a:gd name="connsiteY23" fmla="*/ 954210 h 2726313"/>
                <a:gd name="connsiteX24" fmla="*/ 10256520 w 10256520"/>
                <a:gd name="connsiteY24" fmla="*/ 1444946 h 2726313"/>
                <a:gd name="connsiteX25" fmla="*/ 10256520 w 10256520"/>
                <a:gd name="connsiteY25" fmla="*/ 1935682 h 2726313"/>
                <a:gd name="connsiteX26" fmla="*/ 10256520 w 10256520"/>
                <a:gd name="connsiteY26" fmla="*/ 2726313 h 2726313"/>
                <a:gd name="connsiteX27" fmla="*/ 9994409 w 10256520"/>
                <a:gd name="connsiteY27" fmla="*/ 2726313 h 2726313"/>
                <a:gd name="connsiteX28" fmla="*/ 9629733 w 10256520"/>
                <a:gd name="connsiteY28" fmla="*/ 2726313 h 2726313"/>
                <a:gd name="connsiteX29" fmla="*/ 9162491 w 10256520"/>
                <a:gd name="connsiteY29" fmla="*/ 2726313 h 2726313"/>
                <a:gd name="connsiteX30" fmla="*/ 8900380 w 10256520"/>
                <a:gd name="connsiteY30" fmla="*/ 2726313 h 2726313"/>
                <a:gd name="connsiteX31" fmla="*/ 8638269 w 10256520"/>
                <a:gd name="connsiteY31" fmla="*/ 2726313 h 2726313"/>
                <a:gd name="connsiteX32" fmla="*/ 8171028 w 10256520"/>
                <a:gd name="connsiteY32" fmla="*/ 2726313 h 2726313"/>
                <a:gd name="connsiteX33" fmla="*/ 7396091 w 10256520"/>
                <a:gd name="connsiteY33" fmla="*/ 2726313 h 2726313"/>
                <a:gd name="connsiteX34" fmla="*/ 6621153 w 10256520"/>
                <a:gd name="connsiteY34" fmla="*/ 2726313 h 2726313"/>
                <a:gd name="connsiteX35" fmla="*/ 6359042 w 10256520"/>
                <a:gd name="connsiteY35" fmla="*/ 2726313 h 2726313"/>
                <a:gd name="connsiteX36" fmla="*/ 5994366 w 10256520"/>
                <a:gd name="connsiteY36" fmla="*/ 2726313 h 2726313"/>
                <a:gd name="connsiteX37" fmla="*/ 5321994 w 10256520"/>
                <a:gd name="connsiteY37" fmla="*/ 2726313 h 2726313"/>
                <a:gd name="connsiteX38" fmla="*/ 4957318 w 10256520"/>
                <a:gd name="connsiteY38" fmla="*/ 2726313 h 2726313"/>
                <a:gd name="connsiteX39" fmla="*/ 4592642 w 10256520"/>
                <a:gd name="connsiteY39" fmla="*/ 2726313 h 2726313"/>
                <a:gd name="connsiteX40" fmla="*/ 3920270 w 10256520"/>
                <a:gd name="connsiteY40" fmla="*/ 2726313 h 2726313"/>
                <a:gd name="connsiteX41" fmla="*/ 3145333 w 10256520"/>
                <a:gd name="connsiteY41" fmla="*/ 2726313 h 2726313"/>
                <a:gd name="connsiteX42" fmla="*/ 2575526 w 10256520"/>
                <a:gd name="connsiteY42" fmla="*/ 2726313 h 2726313"/>
                <a:gd name="connsiteX43" fmla="*/ 2005719 w 10256520"/>
                <a:gd name="connsiteY43" fmla="*/ 2726313 h 2726313"/>
                <a:gd name="connsiteX44" fmla="*/ 1743608 w 10256520"/>
                <a:gd name="connsiteY44" fmla="*/ 2726313 h 2726313"/>
                <a:gd name="connsiteX45" fmla="*/ 1276367 w 10256520"/>
                <a:gd name="connsiteY45" fmla="*/ 2726313 h 2726313"/>
                <a:gd name="connsiteX46" fmla="*/ 603995 w 10256520"/>
                <a:gd name="connsiteY46" fmla="*/ 2726313 h 2726313"/>
                <a:gd name="connsiteX47" fmla="*/ 0 w 10256520"/>
                <a:gd name="connsiteY47" fmla="*/ 2726313 h 2726313"/>
                <a:gd name="connsiteX48" fmla="*/ 0 w 10256520"/>
                <a:gd name="connsiteY48" fmla="*/ 2235577 h 2726313"/>
                <a:gd name="connsiteX49" fmla="*/ 0 w 10256520"/>
                <a:gd name="connsiteY49" fmla="*/ 1744840 h 2726313"/>
                <a:gd name="connsiteX50" fmla="*/ 0 w 10256520"/>
                <a:gd name="connsiteY50" fmla="*/ 1199578 h 2726313"/>
                <a:gd name="connsiteX51" fmla="*/ 0 w 10256520"/>
                <a:gd name="connsiteY51" fmla="*/ 654315 h 2726313"/>
                <a:gd name="connsiteX52" fmla="*/ 0 w 10256520"/>
                <a:gd name="connsiteY52" fmla="*/ 0 h 2726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0256520" h="2726313" extrusionOk="0">
                  <a:moveTo>
                    <a:pt x="0" y="0"/>
                  </a:moveTo>
                  <a:cubicBezTo>
                    <a:pt x="99920" y="-10215"/>
                    <a:pt x="287631" y="43168"/>
                    <a:pt x="467241" y="0"/>
                  </a:cubicBezTo>
                  <a:cubicBezTo>
                    <a:pt x="646851" y="-43168"/>
                    <a:pt x="804349" y="45908"/>
                    <a:pt x="1139613" y="0"/>
                  </a:cubicBezTo>
                  <a:cubicBezTo>
                    <a:pt x="1474877" y="-45908"/>
                    <a:pt x="1508947" y="60700"/>
                    <a:pt x="1709420" y="0"/>
                  </a:cubicBezTo>
                  <a:cubicBezTo>
                    <a:pt x="1909893" y="-60700"/>
                    <a:pt x="2069233" y="30827"/>
                    <a:pt x="2176661" y="0"/>
                  </a:cubicBezTo>
                  <a:cubicBezTo>
                    <a:pt x="2284089" y="-30827"/>
                    <a:pt x="2420989" y="6197"/>
                    <a:pt x="2541338" y="0"/>
                  </a:cubicBezTo>
                  <a:cubicBezTo>
                    <a:pt x="2661687" y="-6197"/>
                    <a:pt x="2813373" y="33638"/>
                    <a:pt x="3008579" y="0"/>
                  </a:cubicBezTo>
                  <a:cubicBezTo>
                    <a:pt x="3203785" y="-33638"/>
                    <a:pt x="3242318" y="42443"/>
                    <a:pt x="3475821" y="0"/>
                  </a:cubicBezTo>
                  <a:cubicBezTo>
                    <a:pt x="3709324" y="-42443"/>
                    <a:pt x="3685404" y="1484"/>
                    <a:pt x="3737932" y="0"/>
                  </a:cubicBezTo>
                  <a:cubicBezTo>
                    <a:pt x="3790460" y="-1484"/>
                    <a:pt x="4180497" y="51962"/>
                    <a:pt x="4512869" y="0"/>
                  </a:cubicBezTo>
                  <a:cubicBezTo>
                    <a:pt x="4845241" y="-51962"/>
                    <a:pt x="4869612" y="12120"/>
                    <a:pt x="5185241" y="0"/>
                  </a:cubicBezTo>
                  <a:cubicBezTo>
                    <a:pt x="5500870" y="-12120"/>
                    <a:pt x="5570451" y="42916"/>
                    <a:pt x="5857613" y="0"/>
                  </a:cubicBezTo>
                  <a:cubicBezTo>
                    <a:pt x="6144775" y="-42916"/>
                    <a:pt x="6014177" y="24700"/>
                    <a:pt x="6119724" y="0"/>
                  </a:cubicBezTo>
                  <a:cubicBezTo>
                    <a:pt x="6225271" y="-24700"/>
                    <a:pt x="6324843" y="29348"/>
                    <a:pt x="6381835" y="0"/>
                  </a:cubicBezTo>
                  <a:cubicBezTo>
                    <a:pt x="6438827" y="-29348"/>
                    <a:pt x="6618656" y="34731"/>
                    <a:pt x="6746511" y="0"/>
                  </a:cubicBezTo>
                  <a:cubicBezTo>
                    <a:pt x="6874366" y="-34731"/>
                    <a:pt x="7149245" y="15384"/>
                    <a:pt x="7316318" y="0"/>
                  </a:cubicBezTo>
                  <a:cubicBezTo>
                    <a:pt x="7483391" y="-15384"/>
                    <a:pt x="7602302" y="39612"/>
                    <a:pt x="7680994" y="0"/>
                  </a:cubicBezTo>
                  <a:cubicBezTo>
                    <a:pt x="7759686" y="-39612"/>
                    <a:pt x="7940935" y="4495"/>
                    <a:pt x="8045670" y="0"/>
                  </a:cubicBezTo>
                  <a:cubicBezTo>
                    <a:pt x="8150405" y="-4495"/>
                    <a:pt x="8317279" y="37094"/>
                    <a:pt x="8512912" y="0"/>
                  </a:cubicBezTo>
                  <a:cubicBezTo>
                    <a:pt x="8708545" y="-37094"/>
                    <a:pt x="8890659" y="4187"/>
                    <a:pt x="9082718" y="0"/>
                  </a:cubicBezTo>
                  <a:cubicBezTo>
                    <a:pt x="9274777" y="-4187"/>
                    <a:pt x="9592989" y="76456"/>
                    <a:pt x="9755090" y="0"/>
                  </a:cubicBezTo>
                  <a:cubicBezTo>
                    <a:pt x="9917191" y="-76456"/>
                    <a:pt x="10011673" y="27328"/>
                    <a:pt x="10256520" y="0"/>
                  </a:cubicBezTo>
                  <a:cubicBezTo>
                    <a:pt x="10302580" y="168135"/>
                    <a:pt x="10230213" y="252019"/>
                    <a:pt x="10256520" y="463473"/>
                  </a:cubicBezTo>
                  <a:cubicBezTo>
                    <a:pt x="10282827" y="674927"/>
                    <a:pt x="10204423" y="792928"/>
                    <a:pt x="10256520" y="954210"/>
                  </a:cubicBezTo>
                  <a:cubicBezTo>
                    <a:pt x="10308617" y="1115492"/>
                    <a:pt x="10204094" y="1219819"/>
                    <a:pt x="10256520" y="1444946"/>
                  </a:cubicBezTo>
                  <a:cubicBezTo>
                    <a:pt x="10308946" y="1670073"/>
                    <a:pt x="10215012" y="1751127"/>
                    <a:pt x="10256520" y="1935682"/>
                  </a:cubicBezTo>
                  <a:cubicBezTo>
                    <a:pt x="10298028" y="2120237"/>
                    <a:pt x="10218861" y="2449781"/>
                    <a:pt x="10256520" y="2726313"/>
                  </a:cubicBezTo>
                  <a:cubicBezTo>
                    <a:pt x="10192501" y="2744059"/>
                    <a:pt x="10115640" y="2706846"/>
                    <a:pt x="9994409" y="2726313"/>
                  </a:cubicBezTo>
                  <a:cubicBezTo>
                    <a:pt x="9873178" y="2745780"/>
                    <a:pt x="9770149" y="2706284"/>
                    <a:pt x="9629733" y="2726313"/>
                  </a:cubicBezTo>
                  <a:cubicBezTo>
                    <a:pt x="9489317" y="2746342"/>
                    <a:pt x="9311621" y="2712564"/>
                    <a:pt x="9162491" y="2726313"/>
                  </a:cubicBezTo>
                  <a:cubicBezTo>
                    <a:pt x="9013361" y="2740062"/>
                    <a:pt x="8964840" y="2710521"/>
                    <a:pt x="8900380" y="2726313"/>
                  </a:cubicBezTo>
                  <a:cubicBezTo>
                    <a:pt x="8835920" y="2742105"/>
                    <a:pt x="8763353" y="2711915"/>
                    <a:pt x="8638269" y="2726313"/>
                  </a:cubicBezTo>
                  <a:cubicBezTo>
                    <a:pt x="8513185" y="2740711"/>
                    <a:pt x="8341215" y="2677507"/>
                    <a:pt x="8171028" y="2726313"/>
                  </a:cubicBezTo>
                  <a:cubicBezTo>
                    <a:pt x="8000841" y="2775119"/>
                    <a:pt x="7612762" y="2654983"/>
                    <a:pt x="7396091" y="2726313"/>
                  </a:cubicBezTo>
                  <a:cubicBezTo>
                    <a:pt x="7179420" y="2797643"/>
                    <a:pt x="6790908" y="2692200"/>
                    <a:pt x="6621153" y="2726313"/>
                  </a:cubicBezTo>
                  <a:cubicBezTo>
                    <a:pt x="6451398" y="2760426"/>
                    <a:pt x="6432442" y="2718268"/>
                    <a:pt x="6359042" y="2726313"/>
                  </a:cubicBezTo>
                  <a:cubicBezTo>
                    <a:pt x="6285642" y="2734358"/>
                    <a:pt x="6129307" y="2690929"/>
                    <a:pt x="5994366" y="2726313"/>
                  </a:cubicBezTo>
                  <a:cubicBezTo>
                    <a:pt x="5859425" y="2761697"/>
                    <a:pt x="5535926" y="2716588"/>
                    <a:pt x="5321994" y="2726313"/>
                  </a:cubicBezTo>
                  <a:cubicBezTo>
                    <a:pt x="5108062" y="2736038"/>
                    <a:pt x="5062682" y="2685158"/>
                    <a:pt x="4957318" y="2726313"/>
                  </a:cubicBezTo>
                  <a:cubicBezTo>
                    <a:pt x="4851954" y="2767468"/>
                    <a:pt x="4732184" y="2712943"/>
                    <a:pt x="4592642" y="2726313"/>
                  </a:cubicBezTo>
                  <a:cubicBezTo>
                    <a:pt x="4453100" y="2739683"/>
                    <a:pt x="4201749" y="2696406"/>
                    <a:pt x="3920270" y="2726313"/>
                  </a:cubicBezTo>
                  <a:cubicBezTo>
                    <a:pt x="3638791" y="2756220"/>
                    <a:pt x="3430734" y="2666257"/>
                    <a:pt x="3145333" y="2726313"/>
                  </a:cubicBezTo>
                  <a:cubicBezTo>
                    <a:pt x="2859932" y="2786369"/>
                    <a:pt x="2855162" y="2693336"/>
                    <a:pt x="2575526" y="2726313"/>
                  </a:cubicBezTo>
                  <a:cubicBezTo>
                    <a:pt x="2295890" y="2759290"/>
                    <a:pt x="2247976" y="2679177"/>
                    <a:pt x="2005719" y="2726313"/>
                  </a:cubicBezTo>
                  <a:cubicBezTo>
                    <a:pt x="1763462" y="2773449"/>
                    <a:pt x="1808552" y="2720755"/>
                    <a:pt x="1743608" y="2726313"/>
                  </a:cubicBezTo>
                  <a:cubicBezTo>
                    <a:pt x="1678664" y="2731871"/>
                    <a:pt x="1505612" y="2711075"/>
                    <a:pt x="1276367" y="2726313"/>
                  </a:cubicBezTo>
                  <a:cubicBezTo>
                    <a:pt x="1047122" y="2741551"/>
                    <a:pt x="836026" y="2672386"/>
                    <a:pt x="603995" y="2726313"/>
                  </a:cubicBezTo>
                  <a:cubicBezTo>
                    <a:pt x="371964" y="2780240"/>
                    <a:pt x="246030" y="2705890"/>
                    <a:pt x="0" y="2726313"/>
                  </a:cubicBezTo>
                  <a:cubicBezTo>
                    <a:pt x="-3703" y="2543977"/>
                    <a:pt x="58047" y="2422805"/>
                    <a:pt x="0" y="2235577"/>
                  </a:cubicBezTo>
                  <a:cubicBezTo>
                    <a:pt x="-58047" y="2048349"/>
                    <a:pt x="56425" y="1955624"/>
                    <a:pt x="0" y="1744840"/>
                  </a:cubicBezTo>
                  <a:cubicBezTo>
                    <a:pt x="-56425" y="1534056"/>
                    <a:pt x="52689" y="1359517"/>
                    <a:pt x="0" y="1199578"/>
                  </a:cubicBezTo>
                  <a:cubicBezTo>
                    <a:pt x="-52689" y="1039639"/>
                    <a:pt x="42023" y="843280"/>
                    <a:pt x="0" y="654315"/>
                  </a:cubicBezTo>
                  <a:cubicBezTo>
                    <a:pt x="-42023" y="465350"/>
                    <a:pt x="9067" y="145701"/>
                    <a:pt x="0" y="0"/>
                  </a:cubicBezTo>
                  <a:close/>
                </a:path>
              </a:pathLst>
            </a:custGeom>
            <a:noFill/>
            <a:ln w="28575">
              <a:solidFill>
                <a:srgbClr val="70AD47"/>
              </a:solidFill>
              <a:extLst>
                <a:ext uri="{C807C97D-BFC1-408E-A445-0C87EB9F89A2}">
                  <ask:lineSketchStyleProps xmlns:ask="http://schemas.microsoft.com/office/drawing/2018/sketchyshapes" sd="305600870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55BA35EA-5A45-42AF-BF9A-EF3238FDE95D}"/>
              </a:ext>
            </a:extLst>
          </p:cNvPr>
          <p:cNvSpPr txBox="1"/>
          <p:nvPr/>
        </p:nvSpPr>
        <p:spPr>
          <a:xfrm>
            <a:off x="4552003" y="515028"/>
            <a:ext cx="6119812" cy="599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r" defTabSz="914400" rtl="1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اختيار المجهول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وضع معادلة للمسألة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حل المعادلة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التحقق من الحل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تفسير النتيجة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r" defTabSz="914400" rtl="1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83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0694BA70-7DB5-4697-9946-E8BD47D720B8}"/>
              </a:ext>
            </a:extLst>
          </p:cNvPr>
          <p:cNvSpPr txBox="1"/>
          <p:nvPr/>
        </p:nvSpPr>
        <p:spPr>
          <a:xfrm>
            <a:off x="0" y="0"/>
            <a:ext cx="1638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i="1" u="sng" dirty="0">
                <a:solidFill>
                  <a:srgbClr val="7030A0"/>
                </a:solidFill>
              </a:rPr>
              <a:t>Exemple </a:t>
            </a:r>
            <a:endParaRPr lang="fr-FR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9B988BF-EA96-44A4-96E7-97881A7DBCAF}"/>
              </a:ext>
            </a:extLst>
          </p:cNvPr>
          <p:cNvSpPr/>
          <p:nvPr/>
        </p:nvSpPr>
        <p:spPr>
          <a:xfrm>
            <a:off x="1399082" y="0"/>
            <a:ext cx="10792918" cy="1047097"/>
          </a:xfrm>
          <a:custGeom>
            <a:avLst/>
            <a:gdLst>
              <a:gd name="connsiteX0" fmla="*/ 0 w 10792918"/>
              <a:gd name="connsiteY0" fmla="*/ 491821 h 1047097"/>
              <a:gd name="connsiteX1" fmla="*/ 491821 w 10792918"/>
              <a:gd name="connsiteY1" fmla="*/ 0 h 1047097"/>
              <a:gd name="connsiteX2" fmla="*/ 1068837 w 10792918"/>
              <a:gd name="connsiteY2" fmla="*/ 0 h 1047097"/>
              <a:gd name="connsiteX3" fmla="*/ 1743946 w 10792918"/>
              <a:gd name="connsiteY3" fmla="*/ 0 h 1047097"/>
              <a:gd name="connsiteX4" fmla="*/ 2222870 w 10792918"/>
              <a:gd name="connsiteY4" fmla="*/ 0 h 1047097"/>
              <a:gd name="connsiteX5" fmla="*/ 2996071 w 10792918"/>
              <a:gd name="connsiteY5" fmla="*/ 0 h 1047097"/>
              <a:gd name="connsiteX6" fmla="*/ 3474995 w 10792918"/>
              <a:gd name="connsiteY6" fmla="*/ 0 h 1047097"/>
              <a:gd name="connsiteX7" fmla="*/ 3953918 w 10792918"/>
              <a:gd name="connsiteY7" fmla="*/ 0 h 1047097"/>
              <a:gd name="connsiteX8" fmla="*/ 4530935 w 10792918"/>
              <a:gd name="connsiteY8" fmla="*/ 0 h 1047097"/>
              <a:gd name="connsiteX9" fmla="*/ 5009858 w 10792918"/>
              <a:gd name="connsiteY9" fmla="*/ 0 h 1047097"/>
              <a:gd name="connsiteX10" fmla="*/ 5292596 w 10792918"/>
              <a:gd name="connsiteY10" fmla="*/ 0 h 1047097"/>
              <a:gd name="connsiteX11" fmla="*/ 6065798 w 10792918"/>
              <a:gd name="connsiteY11" fmla="*/ 0 h 1047097"/>
              <a:gd name="connsiteX12" fmla="*/ 6446629 w 10792918"/>
              <a:gd name="connsiteY12" fmla="*/ 0 h 1047097"/>
              <a:gd name="connsiteX13" fmla="*/ 7121738 w 10792918"/>
              <a:gd name="connsiteY13" fmla="*/ 0 h 1047097"/>
              <a:gd name="connsiteX14" fmla="*/ 7600661 w 10792918"/>
              <a:gd name="connsiteY14" fmla="*/ 0 h 1047097"/>
              <a:gd name="connsiteX15" fmla="*/ 7883399 w 10792918"/>
              <a:gd name="connsiteY15" fmla="*/ 0 h 1047097"/>
              <a:gd name="connsiteX16" fmla="*/ 8460415 w 10792918"/>
              <a:gd name="connsiteY16" fmla="*/ 0 h 1047097"/>
              <a:gd name="connsiteX17" fmla="*/ 8841246 w 10792918"/>
              <a:gd name="connsiteY17" fmla="*/ 0 h 1047097"/>
              <a:gd name="connsiteX18" fmla="*/ 9418262 w 10792918"/>
              <a:gd name="connsiteY18" fmla="*/ 0 h 1047097"/>
              <a:gd name="connsiteX19" fmla="*/ 9701000 w 10792918"/>
              <a:gd name="connsiteY19" fmla="*/ 0 h 1047097"/>
              <a:gd name="connsiteX20" fmla="*/ 10301097 w 10792918"/>
              <a:gd name="connsiteY20" fmla="*/ 0 h 1047097"/>
              <a:gd name="connsiteX21" fmla="*/ 10792918 w 10792918"/>
              <a:gd name="connsiteY21" fmla="*/ 491821 h 1047097"/>
              <a:gd name="connsiteX22" fmla="*/ 10792918 w 10792918"/>
              <a:gd name="connsiteY22" fmla="*/ 555276 h 1047097"/>
              <a:gd name="connsiteX23" fmla="*/ 10301097 w 10792918"/>
              <a:gd name="connsiteY23" fmla="*/ 1047097 h 1047097"/>
              <a:gd name="connsiteX24" fmla="*/ 9724081 w 10792918"/>
              <a:gd name="connsiteY24" fmla="*/ 1047097 h 1047097"/>
              <a:gd name="connsiteX25" fmla="*/ 9245157 w 10792918"/>
              <a:gd name="connsiteY25" fmla="*/ 1047097 h 1047097"/>
              <a:gd name="connsiteX26" fmla="*/ 8766234 w 10792918"/>
              <a:gd name="connsiteY26" fmla="*/ 1047097 h 1047097"/>
              <a:gd name="connsiteX27" fmla="*/ 8483496 w 10792918"/>
              <a:gd name="connsiteY27" fmla="*/ 1047097 h 1047097"/>
              <a:gd name="connsiteX28" fmla="*/ 7808387 w 10792918"/>
              <a:gd name="connsiteY28" fmla="*/ 1047097 h 1047097"/>
              <a:gd name="connsiteX29" fmla="*/ 7427556 w 10792918"/>
              <a:gd name="connsiteY29" fmla="*/ 1047097 h 1047097"/>
              <a:gd name="connsiteX30" fmla="*/ 6850540 w 10792918"/>
              <a:gd name="connsiteY30" fmla="*/ 1047097 h 1047097"/>
              <a:gd name="connsiteX31" fmla="*/ 6273524 w 10792918"/>
              <a:gd name="connsiteY31" fmla="*/ 1047097 h 1047097"/>
              <a:gd name="connsiteX32" fmla="*/ 5500322 w 10792918"/>
              <a:gd name="connsiteY32" fmla="*/ 1047097 h 1047097"/>
              <a:gd name="connsiteX33" fmla="*/ 4727120 w 10792918"/>
              <a:gd name="connsiteY33" fmla="*/ 1047097 h 1047097"/>
              <a:gd name="connsiteX34" fmla="*/ 4346289 w 10792918"/>
              <a:gd name="connsiteY34" fmla="*/ 1047097 h 1047097"/>
              <a:gd name="connsiteX35" fmla="*/ 3867366 w 10792918"/>
              <a:gd name="connsiteY35" fmla="*/ 1047097 h 1047097"/>
              <a:gd name="connsiteX36" fmla="*/ 3388443 w 10792918"/>
              <a:gd name="connsiteY36" fmla="*/ 1047097 h 1047097"/>
              <a:gd name="connsiteX37" fmla="*/ 3007612 w 10792918"/>
              <a:gd name="connsiteY37" fmla="*/ 1047097 h 1047097"/>
              <a:gd name="connsiteX38" fmla="*/ 2234410 w 10792918"/>
              <a:gd name="connsiteY38" fmla="*/ 1047097 h 1047097"/>
              <a:gd name="connsiteX39" fmla="*/ 1559301 w 10792918"/>
              <a:gd name="connsiteY39" fmla="*/ 1047097 h 1047097"/>
              <a:gd name="connsiteX40" fmla="*/ 491821 w 10792918"/>
              <a:gd name="connsiteY40" fmla="*/ 1047097 h 1047097"/>
              <a:gd name="connsiteX41" fmla="*/ 0 w 10792918"/>
              <a:gd name="connsiteY41" fmla="*/ 555276 h 1047097"/>
              <a:gd name="connsiteX42" fmla="*/ 0 w 10792918"/>
              <a:gd name="connsiteY42" fmla="*/ 491821 h 1047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0792918" h="1047097" fill="none" extrusionOk="0">
                <a:moveTo>
                  <a:pt x="0" y="491821"/>
                </a:moveTo>
                <a:cubicBezTo>
                  <a:pt x="-22730" y="267451"/>
                  <a:pt x="211774" y="-4816"/>
                  <a:pt x="491821" y="0"/>
                </a:cubicBezTo>
                <a:cubicBezTo>
                  <a:pt x="669538" y="-16612"/>
                  <a:pt x="836713" y="64906"/>
                  <a:pt x="1068837" y="0"/>
                </a:cubicBezTo>
                <a:cubicBezTo>
                  <a:pt x="1300961" y="-64906"/>
                  <a:pt x="1502558" y="54061"/>
                  <a:pt x="1743946" y="0"/>
                </a:cubicBezTo>
                <a:cubicBezTo>
                  <a:pt x="1985334" y="-54061"/>
                  <a:pt x="2025148" y="54857"/>
                  <a:pt x="2222870" y="0"/>
                </a:cubicBezTo>
                <a:cubicBezTo>
                  <a:pt x="2420592" y="-54857"/>
                  <a:pt x="2731705" y="30142"/>
                  <a:pt x="2996071" y="0"/>
                </a:cubicBezTo>
                <a:cubicBezTo>
                  <a:pt x="3260437" y="-30142"/>
                  <a:pt x="3249355" y="39739"/>
                  <a:pt x="3474995" y="0"/>
                </a:cubicBezTo>
                <a:cubicBezTo>
                  <a:pt x="3700635" y="-39739"/>
                  <a:pt x="3769246" y="53654"/>
                  <a:pt x="3953918" y="0"/>
                </a:cubicBezTo>
                <a:cubicBezTo>
                  <a:pt x="4138590" y="-53654"/>
                  <a:pt x="4245679" y="22455"/>
                  <a:pt x="4530935" y="0"/>
                </a:cubicBezTo>
                <a:cubicBezTo>
                  <a:pt x="4816191" y="-22455"/>
                  <a:pt x="4796080" y="56322"/>
                  <a:pt x="5009858" y="0"/>
                </a:cubicBezTo>
                <a:cubicBezTo>
                  <a:pt x="5223636" y="-56322"/>
                  <a:pt x="5178095" y="32540"/>
                  <a:pt x="5292596" y="0"/>
                </a:cubicBezTo>
                <a:cubicBezTo>
                  <a:pt x="5407097" y="-32540"/>
                  <a:pt x="5724092" y="72821"/>
                  <a:pt x="6065798" y="0"/>
                </a:cubicBezTo>
                <a:cubicBezTo>
                  <a:pt x="6407504" y="-72821"/>
                  <a:pt x="6324995" y="17253"/>
                  <a:pt x="6446629" y="0"/>
                </a:cubicBezTo>
                <a:cubicBezTo>
                  <a:pt x="6568263" y="-17253"/>
                  <a:pt x="6816992" y="71451"/>
                  <a:pt x="7121738" y="0"/>
                </a:cubicBezTo>
                <a:cubicBezTo>
                  <a:pt x="7426484" y="-71451"/>
                  <a:pt x="7363005" y="23958"/>
                  <a:pt x="7600661" y="0"/>
                </a:cubicBezTo>
                <a:cubicBezTo>
                  <a:pt x="7838317" y="-23958"/>
                  <a:pt x="7799716" y="4294"/>
                  <a:pt x="7883399" y="0"/>
                </a:cubicBezTo>
                <a:cubicBezTo>
                  <a:pt x="7967082" y="-4294"/>
                  <a:pt x="8245240" y="50840"/>
                  <a:pt x="8460415" y="0"/>
                </a:cubicBezTo>
                <a:cubicBezTo>
                  <a:pt x="8675590" y="-50840"/>
                  <a:pt x="8673179" y="2134"/>
                  <a:pt x="8841246" y="0"/>
                </a:cubicBezTo>
                <a:cubicBezTo>
                  <a:pt x="9009313" y="-2134"/>
                  <a:pt x="9293351" y="7917"/>
                  <a:pt x="9418262" y="0"/>
                </a:cubicBezTo>
                <a:cubicBezTo>
                  <a:pt x="9543173" y="-7917"/>
                  <a:pt x="9637054" y="12959"/>
                  <a:pt x="9701000" y="0"/>
                </a:cubicBezTo>
                <a:cubicBezTo>
                  <a:pt x="9764946" y="-12959"/>
                  <a:pt x="10115603" y="55949"/>
                  <a:pt x="10301097" y="0"/>
                </a:cubicBezTo>
                <a:cubicBezTo>
                  <a:pt x="10560021" y="28301"/>
                  <a:pt x="10791150" y="202189"/>
                  <a:pt x="10792918" y="491821"/>
                </a:cubicBezTo>
                <a:cubicBezTo>
                  <a:pt x="10797722" y="522837"/>
                  <a:pt x="10792390" y="530168"/>
                  <a:pt x="10792918" y="555276"/>
                </a:cubicBezTo>
                <a:cubicBezTo>
                  <a:pt x="10734891" y="821137"/>
                  <a:pt x="10607966" y="1047749"/>
                  <a:pt x="10301097" y="1047097"/>
                </a:cubicBezTo>
                <a:cubicBezTo>
                  <a:pt x="10184898" y="1069655"/>
                  <a:pt x="9924076" y="1005049"/>
                  <a:pt x="9724081" y="1047097"/>
                </a:cubicBezTo>
                <a:cubicBezTo>
                  <a:pt x="9524086" y="1089145"/>
                  <a:pt x="9452669" y="1042868"/>
                  <a:pt x="9245157" y="1047097"/>
                </a:cubicBezTo>
                <a:cubicBezTo>
                  <a:pt x="9037645" y="1051326"/>
                  <a:pt x="8986904" y="1044477"/>
                  <a:pt x="8766234" y="1047097"/>
                </a:cubicBezTo>
                <a:cubicBezTo>
                  <a:pt x="8545564" y="1049717"/>
                  <a:pt x="8544939" y="1014965"/>
                  <a:pt x="8483496" y="1047097"/>
                </a:cubicBezTo>
                <a:cubicBezTo>
                  <a:pt x="8422053" y="1079229"/>
                  <a:pt x="7956964" y="984308"/>
                  <a:pt x="7808387" y="1047097"/>
                </a:cubicBezTo>
                <a:cubicBezTo>
                  <a:pt x="7659810" y="1109886"/>
                  <a:pt x="7553756" y="1012172"/>
                  <a:pt x="7427556" y="1047097"/>
                </a:cubicBezTo>
                <a:cubicBezTo>
                  <a:pt x="7301356" y="1082022"/>
                  <a:pt x="7016902" y="1038923"/>
                  <a:pt x="6850540" y="1047097"/>
                </a:cubicBezTo>
                <a:cubicBezTo>
                  <a:pt x="6684178" y="1055271"/>
                  <a:pt x="6512632" y="983968"/>
                  <a:pt x="6273524" y="1047097"/>
                </a:cubicBezTo>
                <a:cubicBezTo>
                  <a:pt x="6034416" y="1110226"/>
                  <a:pt x="5824861" y="992070"/>
                  <a:pt x="5500322" y="1047097"/>
                </a:cubicBezTo>
                <a:cubicBezTo>
                  <a:pt x="5175783" y="1102124"/>
                  <a:pt x="4919941" y="1003015"/>
                  <a:pt x="4727120" y="1047097"/>
                </a:cubicBezTo>
                <a:cubicBezTo>
                  <a:pt x="4534299" y="1091179"/>
                  <a:pt x="4531633" y="1034637"/>
                  <a:pt x="4346289" y="1047097"/>
                </a:cubicBezTo>
                <a:cubicBezTo>
                  <a:pt x="4160945" y="1059557"/>
                  <a:pt x="4102384" y="995267"/>
                  <a:pt x="3867366" y="1047097"/>
                </a:cubicBezTo>
                <a:cubicBezTo>
                  <a:pt x="3632348" y="1098927"/>
                  <a:pt x="3541931" y="994955"/>
                  <a:pt x="3388443" y="1047097"/>
                </a:cubicBezTo>
                <a:cubicBezTo>
                  <a:pt x="3234955" y="1099239"/>
                  <a:pt x="3174028" y="1018554"/>
                  <a:pt x="3007612" y="1047097"/>
                </a:cubicBezTo>
                <a:cubicBezTo>
                  <a:pt x="2841196" y="1075640"/>
                  <a:pt x="2399836" y="1032601"/>
                  <a:pt x="2234410" y="1047097"/>
                </a:cubicBezTo>
                <a:cubicBezTo>
                  <a:pt x="2068984" y="1061593"/>
                  <a:pt x="1889470" y="1039467"/>
                  <a:pt x="1559301" y="1047097"/>
                </a:cubicBezTo>
                <a:cubicBezTo>
                  <a:pt x="1229132" y="1054727"/>
                  <a:pt x="872163" y="1045435"/>
                  <a:pt x="491821" y="1047097"/>
                </a:cubicBezTo>
                <a:cubicBezTo>
                  <a:pt x="227705" y="1031098"/>
                  <a:pt x="-8991" y="891790"/>
                  <a:pt x="0" y="555276"/>
                </a:cubicBezTo>
                <a:cubicBezTo>
                  <a:pt x="-1242" y="535408"/>
                  <a:pt x="3686" y="506384"/>
                  <a:pt x="0" y="491821"/>
                </a:cubicBezTo>
                <a:close/>
              </a:path>
              <a:path w="10792918" h="1047097" stroke="0" extrusionOk="0">
                <a:moveTo>
                  <a:pt x="0" y="491821"/>
                </a:moveTo>
                <a:cubicBezTo>
                  <a:pt x="-48639" y="280768"/>
                  <a:pt x="214709" y="-79194"/>
                  <a:pt x="491821" y="0"/>
                </a:cubicBezTo>
                <a:cubicBezTo>
                  <a:pt x="644136" y="-2411"/>
                  <a:pt x="760822" y="16545"/>
                  <a:pt x="872652" y="0"/>
                </a:cubicBezTo>
                <a:cubicBezTo>
                  <a:pt x="984482" y="-16545"/>
                  <a:pt x="1307988" y="28999"/>
                  <a:pt x="1547761" y="0"/>
                </a:cubicBezTo>
                <a:cubicBezTo>
                  <a:pt x="1787534" y="-28999"/>
                  <a:pt x="1850985" y="24235"/>
                  <a:pt x="1928591" y="0"/>
                </a:cubicBezTo>
                <a:cubicBezTo>
                  <a:pt x="2006197" y="-24235"/>
                  <a:pt x="2457437" y="27478"/>
                  <a:pt x="2701793" y="0"/>
                </a:cubicBezTo>
                <a:cubicBezTo>
                  <a:pt x="2946149" y="-27478"/>
                  <a:pt x="3183794" y="53848"/>
                  <a:pt x="3474995" y="0"/>
                </a:cubicBezTo>
                <a:cubicBezTo>
                  <a:pt x="3766196" y="-53848"/>
                  <a:pt x="3914036" y="51885"/>
                  <a:pt x="4150104" y="0"/>
                </a:cubicBezTo>
                <a:cubicBezTo>
                  <a:pt x="4386172" y="-51885"/>
                  <a:pt x="4525758" y="18661"/>
                  <a:pt x="4727120" y="0"/>
                </a:cubicBezTo>
                <a:cubicBezTo>
                  <a:pt x="4928482" y="-18661"/>
                  <a:pt x="5044236" y="36483"/>
                  <a:pt x="5206044" y="0"/>
                </a:cubicBezTo>
                <a:cubicBezTo>
                  <a:pt x="5367852" y="-36483"/>
                  <a:pt x="5513043" y="35556"/>
                  <a:pt x="5783060" y="0"/>
                </a:cubicBezTo>
                <a:cubicBezTo>
                  <a:pt x="6053077" y="-35556"/>
                  <a:pt x="5952106" y="6898"/>
                  <a:pt x="6065798" y="0"/>
                </a:cubicBezTo>
                <a:cubicBezTo>
                  <a:pt x="6179490" y="-6898"/>
                  <a:pt x="6582269" y="18985"/>
                  <a:pt x="6839000" y="0"/>
                </a:cubicBezTo>
                <a:cubicBezTo>
                  <a:pt x="7095731" y="-18985"/>
                  <a:pt x="7046377" y="11358"/>
                  <a:pt x="7121738" y="0"/>
                </a:cubicBezTo>
                <a:cubicBezTo>
                  <a:pt x="7197099" y="-11358"/>
                  <a:pt x="7329112" y="9778"/>
                  <a:pt x="7502568" y="0"/>
                </a:cubicBezTo>
                <a:cubicBezTo>
                  <a:pt x="7676024" y="-9778"/>
                  <a:pt x="7914930" y="49341"/>
                  <a:pt x="8079584" y="0"/>
                </a:cubicBezTo>
                <a:cubicBezTo>
                  <a:pt x="8244238" y="-49341"/>
                  <a:pt x="8252044" y="1825"/>
                  <a:pt x="8362322" y="0"/>
                </a:cubicBezTo>
                <a:cubicBezTo>
                  <a:pt x="8472600" y="-1825"/>
                  <a:pt x="8823730" y="4930"/>
                  <a:pt x="9037431" y="0"/>
                </a:cubicBezTo>
                <a:cubicBezTo>
                  <a:pt x="9251132" y="-4930"/>
                  <a:pt x="9985835" y="66172"/>
                  <a:pt x="10301097" y="0"/>
                </a:cubicBezTo>
                <a:cubicBezTo>
                  <a:pt x="10637124" y="-29104"/>
                  <a:pt x="10786045" y="197977"/>
                  <a:pt x="10792918" y="491821"/>
                </a:cubicBezTo>
                <a:cubicBezTo>
                  <a:pt x="10794004" y="514008"/>
                  <a:pt x="10792732" y="541487"/>
                  <a:pt x="10792918" y="555276"/>
                </a:cubicBezTo>
                <a:cubicBezTo>
                  <a:pt x="10758438" y="802197"/>
                  <a:pt x="10534465" y="1064810"/>
                  <a:pt x="10301097" y="1047097"/>
                </a:cubicBezTo>
                <a:cubicBezTo>
                  <a:pt x="10189303" y="1091365"/>
                  <a:pt x="10056087" y="997481"/>
                  <a:pt x="9822174" y="1047097"/>
                </a:cubicBezTo>
                <a:cubicBezTo>
                  <a:pt x="9588261" y="1096713"/>
                  <a:pt x="9361288" y="997917"/>
                  <a:pt x="9048972" y="1047097"/>
                </a:cubicBezTo>
                <a:cubicBezTo>
                  <a:pt x="8736656" y="1096277"/>
                  <a:pt x="8636839" y="1046032"/>
                  <a:pt x="8471956" y="1047097"/>
                </a:cubicBezTo>
                <a:cubicBezTo>
                  <a:pt x="8307073" y="1048162"/>
                  <a:pt x="8261533" y="1017211"/>
                  <a:pt x="8189218" y="1047097"/>
                </a:cubicBezTo>
                <a:cubicBezTo>
                  <a:pt x="8116903" y="1076983"/>
                  <a:pt x="7755306" y="1042357"/>
                  <a:pt x="7612201" y="1047097"/>
                </a:cubicBezTo>
                <a:cubicBezTo>
                  <a:pt x="7469096" y="1051837"/>
                  <a:pt x="7243699" y="991401"/>
                  <a:pt x="7133278" y="1047097"/>
                </a:cubicBezTo>
                <a:cubicBezTo>
                  <a:pt x="7022857" y="1102793"/>
                  <a:pt x="6560484" y="1039430"/>
                  <a:pt x="6360076" y="1047097"/>
                </a:cubicBezTo>
                <a:cubicBezTo>
                  <a:pt x="6159668" y="1054764"/>
                  <a:pt x="5924042" y="1039308"/>
                  <a:pt x="5586874" y="1047097"/>
                </a:cubicBezTo>
                <a:cubicBezTo>
                  <a:pt x="5249706" y="1054886"/>
                  <a:pt x="5131792" y="1037945"/>
                  <a:pt x="5009858" y="1047097"/>
                </a:cubicBezTo>
                <a:cubicBezTo>
                  <a:pt x="4887924" y="1056249"/>
                  <a:pt x="4691446" y="1007237"/>
                  <a:pt x="4530935" y="1047097"/>
                </a:cubicBezTo>
                <a:cubicBezTo>
                  <a:pt x="4370424" y="1086957"/>
                  <a:pt x="4163796" y="1011623"/>
                  <a:pt x="4052011" y="1047097"/>
                </a:cubicBezTo>
                <a:cubicBezTo>
                  <a:pt x="3940226" y="1082571"/>
                  <a:pt x="3558821" y="996178"/>
                  <a:pt x="3278809" y="1047097"/>
                </a:cubicBezTo>
                <a:cubicBezTo>
                  <a:pt x="2998797" y="1098016"/>
                  <a:pt x="2971230" y="1011996"/>
                  <a:pt x="2799886" y="1047097"/>
                </a:cubicBezTo>
                <a:cubicBezTo>
                  <a:pt x="2628542" y="1082198"/>
                  <a:pt x="2389522" y="1034982"/>
                  <a:pt x="2026684" y="1047097"/>
                </a:cubicBezTo>
                <a:cubicBezTo>
                  <a:pt x="1663846" y="1059212"/>
                  <a:pt x="1618776" y="993085"/>
                  <a:pt x="1351575" y="1047097"/>
                </a:cubicBezTo>
                <a:cubicBezTo>
                  <a:pt x="1084374" y="1101109"/>
                  <a:pt x="822252" y="1015134"/>
                  <a:pt x="491821" y="1047097"/>
                </a:cubicBezTo>
                <a:cubicBezTo>
                  <a:pt x="184908" y="1067489"/>
                  <a:pt x="-21477" y="820464"/>
                  <a:pt x="0" y="555276"/>
                </a:cubicBezTo>
                <a:cubicBezTo>
                  <a:pt x="-1711" y="526030"/>
                  <a:pt x="3134" y="512266"/>
                  <a:pt x="0" y="49182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8575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428321725">
                  <a:prstGeom prst="roundRect">
                    <a:avLst>
                      <a:gd name="adj" fmla="val 46970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2400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Problème : Trouver deux nombres consécutifs dont la somme est 101</a:t>
            </a:r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835392C9-A8CD-4188-9DD9-B5FF6065B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302205"/>
              </p:ext>
            </p:extLst>
          </p:nvPr>
        </p:nvGraphicFramePr>
        <p:xfrm>
          <a:off x="1044003" y="1229330"/>
          <a:ext cx="10674350" cy="5473179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4593652">
                  <a:extLst>
                    <a:ext uri="{9D8B030D-6E8A-4147-A177-3AD203B41FA5}">
                      <a16:colId xmlns:a16="http://schemas.microsoft.com/office/drawing/2014/main" val="3956258338"/>
                    </a:ext>
                  </a:extLst>
                </a:gridCol>
                <a:gridCol w="6080698">
                  <a:extLst>
                    <a:ext uri="{9D8B030D-6E8A-4147-A177-3AD203B41FA5}">
                      <a16:colId xmlns:a16="http://schemas.microsoft.com/office/drawing/2014/main" val="1728027446"/>
                    </a:ext>
                  </a:extLst>
                </a:gridCol>
              </a:tblGrid>
              <a:tr h="76197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Étape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Réalisation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117491"/>
                  </a:ext>
                </a:extLst>
              </a:tr>
              <a:tr h="8707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1" dirty="0"/>
                        <a:t>1. Choix de l’inconnue.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Soit x le premier nombre</a:t>
                      </a:r>
                    </a:p>
                    <a:p>
                      <a:pPr marL="0" algn="ctr" defTabSz="914400" rtl="0" eaLnBrk="1" latinLnBrk="0" hangingPunct="1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Soit x + 1 le second nombre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3860730"/>
                  </a:ext>
                </a:extLst>
              </a:tr>
              <a:tr h="7619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Mise en équation du problème.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 + (x + 1) = 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5525468"/>
                  </a:ext>
                </a:extLst>
              </a:tr>
              <a:tr h="7619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Résolution de l’équation.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2x + 1 = 101</a:t>
                      </a:r>
                    </a:p>
                    <a:p>
                      <a:pPr marL="0" algn="ctr" defTabSz="914400" rtl="0" eaLnBrk="1" latinLnBrk="0" hangingPunct="1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2x = 101 – 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2x = 100</a:t>
                      </a:r>
                    </a:p>
                    <a:p>
                      <a:pPr marL="0" algn="ctr" defTabSz="914400" rtl="0" eaLnBrk="1" latinLnBrk="0" hangingPunct="1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 = 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7153656"/>
                  </a:ext>
                </a:extLst>
              </a:tr>
              <a:tr h="7619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Vérification.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 + 51 = 101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430387"/>
                  </a:ext>
                </a:extLst>
              </a:tr>
              <a:tr h="7619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 Réponse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Les deux nombres sont 50 et 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9578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97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0694BA70-7DB5-4697-9946-E8BD47D720B8}"/>
              </a:ext>
            </a:extLst>
          </p:cNvPr>
          <p:cNvSpPr txBox="1"/>
          <p:nvPr/>
        </p:nvSpPr>
        <p:spPr>
          <a:xfrm>
            <a:off x="0" y="0"/>
            <a:ext cx="3600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i="1" u="sng" dirty="0">
                <a:solidFill>
                  <a:srgbClr val="FF0000"/>
                </a:solidFill>
              </a:rPr>
              <a:t>Exercice d’application :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0EEC844-0213-467A-BF6F-7AD12A60D087}"/>
              </a:ext>
            </a:extLst>
          </p:cNvPr>
          <p:cNvSpPr txBox="1"/>
          <p:nvPr/>
        </p:nvSpPr>
        <p:spPr>
          <a:xfrm>
            <a:off x="0" y="712452"/>
            <a:ext cx="11558665" cy="1490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b="1" dirty="0"/>
              <a:t>Déterminer trois nombres consécutifs entiers naturels dont la somme est 309.</a:t>
            </a:r>
            <a:endParaRPr lang="fr-FR" sz="3200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86975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983</Words>
  <Application>Microsoft Office PowerPoint</Application>
  <PresentationFormat>Grand écran</PresentationFormat>
  <Paragraphs>150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5" baseType="lpstr">
      <vt:lpstr>Arial</vt:lpstr>
      <vt:lpstr>Bahnschrift</vt:lpstr>
      <vt:lpstr>Calibri</vt:lpstr>
      <vt:lpstr>Calibri Light</vt:lpstr>
      <vt:lpstr>Cambria Math</vt:lpstr>
      <vt:lpstr>Segoe UI</vt:lpstr>
      <vt:lpstr>Wingdings</vt:lpstr>
      <vt:lpstr>Thème Office</vt:lpstr>
      <vt:lpstr>LES ÉQUATIONS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ÉQUATIONS</dc:title>
  <dc:creator>DELL</dc:creator>
  <cp:lastModifiedBy>DELL</cp:lastModifiedBy>
  <cp:revision>43</cp:revision>
  <dcterms:created xsi:type="dcterms:W3CDTF">2026-04-28T17:39:51Z</dcterms:created>
  <dcterms:modified xsi:type="dcterms:W3CDTF">2026-05-16T12:02:49Z</dcterms:modified>
</cp:coreProperties>
</file>