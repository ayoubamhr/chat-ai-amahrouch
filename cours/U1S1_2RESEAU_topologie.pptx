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9" r:id="rId3"/>
    <p:sldId id="308" r:id="rId4"/>
    <p:sldId id="263" r:id="rId5"/>
    <p:sldId id="302" r:id="rId6"/>
    <p:sldId id="262" r:id="rId7"/>
    <p:sldId id="309" r:id="rId8"/>
    <p:sldId id="264" r:id="rId9"/>
    <p:sldId id="265" r:id="rId10"/>
    <p:sldId id="266" r:id="rId11"/>
    <p:sldId id="267" r:id="rId12"/>
    <p:sldId id="310" r:id="rId13"/>
    <p:sldId id="273" r:id="rId14"/>
    <p:sldId id="274" r:id="rId15"/>
    <p:sldId id="270" r:id="rId16"/>
    <p:sldId id="271" r:id="rId17"/>
    <p:sldId id="268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7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E24583-B81B-4FCE-ACE5-4096393C82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57937" y="3115104"/>
            <a:ext cx="4876800" cy="4876800"/>
          </a:xfrm>
          <a:prstGeom prst="rect">
            <a:avLst/>
          </a:prstGeom>
        </p:spPr>
      </p:pic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10188482" y="2743200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8568229" y="5951579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59843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724" y="-6010"/>
            <a:ext cx="8242286" cy="1339192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118828" y="4231628"/>
            <a:ext cx="7350650" cy="1025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4AAD"/>
                </a:solidFill>
                <a:latin typeface="Courier New" panose="02070309020205020404" pitchFamily="49" charset="0"/>
                <a:ea typeface="Poppins Bold"/>
                <a:cs typeface="Courier New" panose="02070309020205020404" pitchFamily="49" charset="0"/>
                <a:sym typeface="Poppins Bold"/>
              </a:rPr>
              <a:t>TOPOLOGIE RÉSEAU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622917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89920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de l'Éducation Nationale et de la Formation —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-32084" y="2906281"/>
            <a:ext cx="10010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Unité I:  Environnement matériel d’un réseau informatique &amp;&amp; système d exploitation et réseau local.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Séquence 1: 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Environnement matériel d’un réseau informatique </a:t>
            </a:r>
            <a:endParaRPr lang="fr-FR" b="1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0C7410-9A8A-4D40-98B8-2BD141BBC8C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69478" y="5772452"/>
            <a:ext cx="1098751" cy="10987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421274-79A0-4435-97AB-E52E57E05D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3946" y="2170553"/>
            <a:ext cx="633839" cy="63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21DA8-E762-41E8-B759-21840CC66403}"/>
              </a:ext>
            </a:extLst>
          </p:cNvPr>
          <p:cNvSpPr txBox="1"/>
          <p:nvPr/>
        </p:nvSpPr>
        <p:spPr>
          <a:xfrm>
            <a:off x="282182" y="874861"/>
            <a:ext cx="8797650" cy="66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 comment peut-on relier ces deux ordinateurs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708B835-4D5B-46AD-A628-3E3E50EFB45B}"/>
              </a:ext>
            </a:extLst>
          </p:cNvPr>
          <p:cNvSpPr/>
          <p:nvPr/>
        </p:nvSpPr>
        <p:spPr>
          <a:xfrm>
            <a:off x="1036852" y="2933662"/>
            <a:ext cx="2208666" cy="2274044"/>
          </a:xfrm>
          <a:custGeom>
            <a:avLst/>
            <a:gdLst/>
            <a:ahLst/>
            <a:cxnLst/>
            <a:rect l="l" t="t" r="r" b="b"/>
            <a:pathLst>
              <a:path w="2208666" h="2274044">
                <a:moveTo>
                  <a:pt x="0" y="0"/>
                </a:moveTo>
                <a:lnTo>
                  <a:pt x="2208666" y="0"/>
                </a:lnTo>
                <a:lnTo>
                  <a:pt x="2208666" y="2274044"/>
                </a:lnTo>
                <a:lnTo>
                  <a:pt x="0" y="2274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22C261BE-1210-4A6B-9B73-AD0D7CBD1D19}"/>
              </a:ext>
            </a:extLst>
          </p:cNvPr>
          <p:cNvSpPr/>
          <p:nvPr/>
        </p:nvSpPr>
        <p:spPr>
          <a:xfrm>
            <a:off x="9395658" y="2949704"/>
            <a:ext cx="2208666" cy="2274044"/>
          </a:xfrm>
          <a:custGeom>
            <a:avLst/>
            <a:gdLst/>
            <a:ahLst/>
            <a:cxnLst/>
            <a:rect l="l" t="t" r="r" b="b"/>
            <a:pathLst>
              <a:path w="2208666" h="2274044">
                <a:moveTo>
                  <a:pt x="0" y="0"/>
                </a:moveTo>
                <a:lnTo>
                  <a:pt x="2208666" y="0"/>
                </a:lnTo>
                <a:lnTo>
                  <a:pt x="2208666" y="2274044"/>
                </a:lnTo>
                <a:lnTo>
                  <a:pt x="0" y="2274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83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21DA8-E762-41E8-B759-21840CC66403}"/>
              </a:ext>
            </a:extLst>
          </p:cNvPr>
          <p:cNvSpPr txBox="1"/>
          <p:nvPr/>
        </p:nvSpPr>
        <p:spPr>
          <a:xfrm>
            <a:off x="282182" y="377559"/>
            <a:ext cx="11781481" cy="130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 À votre avis, comment peut-on relier ces ordinateurs pour qu’ils puissent communiquer ?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DA0A6ED-53E6-4332-8D75-5A1F7B2C665D}"/>
              </a:ext>
            </a:extLst>
          </p:cNvPr>
          <p:cNvSpPr/>
          <p:nvPr/>
        </p:nvSpPr>
        <p:spPr>
          <a:xfrm>
            <a:off x="1887088" y="5086195"/>
            <a:ext cx="2347167" cy="1590674"/>
          </a:xfrm>
          <a:custGeom>
            <a:avLst/>
            <a:gdLst/>
            <a:ahLst/>
            <a:cxnLst/>
            <a:rect l="l" t="t" r="r" b="b"/>
            <a:pathLst>
              <a:path w="2208666" h="2274044">
                <a:moveTo>
                  <a:pt x="0" y="0"/>
                </a:moveTo>
                <a:lnTo>
                  <a:pt x="2208666" y="0"/>
                </a:lnTo>
                <a:lnTo>
                  <a:pt x="2208666" y="2274045"/>
                </a:lnTo>
                <a:lnTo>
                  <a:pt x="0" y="2274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C41152F-3AA7-4B5C-99E2-8E8FA6A96F4D}"/>
              </a:ext>
            </a:extLst>
          </p:cNvPr>
          <p:cNvSpPr/>
          <p:nvPr/>
        </p:nvSpPr>
        <p:spPr>
          <a:xfrm>
            <a:off x="1822920" y="1716219"/>
            <a:ext cx="2347167" cy="1590674"/>
          </a:xfrm>
          <a:custGeom>
            <a:avLst/>
            <a:gdLst/>
            <a:ahLst/>
            <a:cxnLst/>
            <a:rect l="l" t="t" r="r" b="b"/>
            <a:pathLst>
              <a:path w="2208666" h="2274044">
                <a:moveTo>
                  <a:pt x="0" y="0"/>
                </a:moveTo>
                <a:lnTo>
                  <a:pt x="2208666" y="0"/>
                </a:lnTo>
                <a:lnTo>
                  <a:pt x="2208666" y="2274045"/>
                </a:lnTo>
                <a:lnTo>
                  <a:pt x="0" y="2274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308453F-43D9-422C-A811-06E24834C22B}"/>
              </a:ext>
            </a:extLst>
          </p:cNvPr>
          <p:cNvSpPr/>
          <p:nvPr/>
        </p:nvSpPr>
        <p:spPr>
          <a:xfrm>
            <a:off x="8320832" y="1716219"/>
            <a:ext cx="2347167" cy="1590674"/>
          </a:xfrm>
          <a:custGeom>
            <a:avLst/>
            <a:gdLst/>
            <a:ahLst/>
            <a:cxnLst/>
            <a:rect l="l" t="t" r="r" b="b"/>
            <a:pathLst>
              <a:path w="2208666" h="2274044">
                <a:moveTo>
                  <a:pt x="0" y="0"/>
                </a:moveTo>
                <a:lnTo>
                  <a:pt x="2208666" y="0"/>
                </a:lnTo>
                <a:lnTo>
                  <a:pt x="2208666" y="2274045"/>
                </a:lnTo>
                <a:lnTo>
                  <a:pt x="0" y="2274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95FB9AFA-73AC-44DD-A829-E078C6243EDE}"/>
              </a:ext>
            </a:extLst>
          </p:cNvPr>
          <p:cNvSpPr/>
          <p:nvPr/>
        </p:nvSpPr>
        <p:spPr>
          <a:xfrm>
            <a:off x="8385000" y="5066589"/>
            <a:ext cx="2347167" cy="1590674"/>
          </a:xfrm>
          <a:custGeom>
            <a:avLst/>
            <a:gdLst/>
            <a:ahLst/>
            <a:cxnLst/>
            <a:rect l="l" t="t" r="r" b="b"/>
            <a:pathLst>
              <a:path w="2208666" h="2274044">
                <a:moveTo>
                  <a:pt x="0" y="0"/>
                </a:moveTo>
                <a:lnTo>
                  <a:pt x="2208666" y="0"/>
                </a:lnTo>
                <a:lnTo>
                  <a:pt x="2208666" y="2274044"/>
                </a:lnTo>
                <a:lnTo>
                  <a:pt x="0" y="2274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629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1" y="192506"/>
            <a:ext cx="11723077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III. </a:t>
            </a:r>
            <a:r>
              <a:rPr lang="fr-FR" sz="3600" b="0" i="0" dirty="0">
                <a:solidFill>
                  <a:srgbClr val="F44336"/>
                </a:solidFill>
                <a:effectLst/>
                <a:latin typeface="Roboto" panose="02000000000000000000" pitchFamily="2" charset="0"/>
              </a:rPr>
              <a:t>Configuration matérielle d'un réseau local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</a:t>
            </a:r>
            <a:r>
              <a:rPr lang="fr-FR" sz="3600" b="0" i="0" dirty="0">
                <a:solidFill>
                  <a:srgbClr val="4CAF50"/>
                </a:solidFill>
                <a:effectLst/>
                <a:latin typeface="Roboto" panose="02000000000000000000" pitchFamily="2" charset="0"/>
              </a:rPr>
              <a:t>Topologie des réseaux </a:t>
            </a:r>
            <a:r>
              <a:rPr lang="fr-FR" sz="3600" i="1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fr-FR" sz="2800" dirty="0">
                <a:latin typeface="Georgia" panose="02040502050405020303" pitchFamily="18" charset="0"/>
              </a:rPr>
              <a:t>La topologie d’un réseau, c’est la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manière</a:t>
            </a:r>
            <a:r>
              <a:rPr lang="fr-FR" sz="2800" dirty="0">
                <a:latin typeface="Georgia" panose="02040502050405020303" pitchFamily="18" charset="0"/>
              </a:rPr>
              <a:t> dont les ordinateurs sont connectés physiquement entre eux.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 dirty="0">
                <a:latin typeface="Georgia" panose="02040502050405020303" pitchFamily="18" charset="0"/>
                <a:sym typeface="DejaVu Serif"/>
              </a:rPr>
              <a:t>Il </a:t>
            </a:r>
            <a:r>
              <a:rPr lang="en-US" sz="2800" dirty="0" err="1">
                <a:latin typeface="Georgia" panose="02040502050405020303" pitchFamily="18" charset="0"/>
                <a:sym typeface="DejaVu Serif"/>
              </a:rPr>
              <a:t>existe</a:t>
            </a:r>
            <a:r>
              <a:rPr lang="en-US" sz="2800" dirty="0">
                <a:latin typeface="Georgia" panose="02040502050405020303" pitchFamily="18" charset="0"/>
                <a:sym typeface="DejaVu Serif"/>
              </a:rPr>
              <a:t> </a:t>
            </a:r>
            <a:r>
              <a:rPr lang="en-US" sz="2800" dirty="0" err="1">
                <a:latin typeface="Georgia" panose="02040502050405020303" pitchFamily="18" charset="0"/>
                <a:sym typeface="DejaVu Serif"/>
              </a:rPr>
              <a:t>plusieurs</a:t>
            </a:r>
            <a:r>
              <a:rPr lang="en-US" sz="2800" dirty="0">
                <a:latin typeface="Georgia" panose="02040502050405020303" pitchFamily="18" charset="0"/>
                <a:sym typeface="DejaVu Serif"/>
              </a:rPr>
              <a:t> types de topologies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D90FE-1086-4D2D-A150-3A29B1817964}"/>
              </a:ext>
            </a:extLst>
          </p:cNvPr>
          <p:cNvSpPr txBox="1"/>
          <p:nvPr/>
        </p:nvSpPr>
        <p:spPr>
          <a:xfrm>
            <a:off x="3593431" y="3669245"/>
            <a:ext cx="741145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En bus</a:t>
            </a:r>
          </a:p>
          <a:p>
            <a:endParaRPr lang="fr-FR" sz="2800" dirty="0">
              <a:latin typeface="Georgia" panose="02040502050405020303" pitchFamily="18" charset="0"/>
            </a:endParaRPr>
          </a:p>
          <a:p>
            <a:endParaRPr lang="fr-FR" sz="2800" dirty="0">
              <a:latin typeface="Georgia" panose="02040502050405020303" pitchFamily="18" charset="0"/>
            </a:endParaRPr>
          </a:p>
          <a:p>
            <a:r>
              <a:rPr lang="fr-FR" sz="2800" dirty="0">
                <a:latin typeface="Georgia" panose="02040502050405020303" pitchFamily="18" charset="0"/>
              </a:rPr>
              <a:t>En étoile</a:t>
            </a:r>
          </a:p>
          <a:p>
            <a:endParaRPr lang="fr-FR" sz="2800" dirty="0">
              <a:latin typeface="Georgia" panose="02040502050405020303" pitchFamily="18" charset="0"/>
            </a:endParaRPr>
          </a:p>
          <a:p>
            <a:endParaRPr lang="fr-FR" sz="2800" dirty="0">
              <a:latin typeface="Georgia" panose="02040502050405020303" pitchFamily="18" charset="0"/>
            </a:endParaRPr>
          </a:p>
          <a:p>
            <a:r>
              <a:rPr lang="fr-FR" sz="2800" dirty="0">
                <a:latin typeface="Georgia" panose="02040502050405020303" pitchFamily="18" charset="0"/>
              </a:rPr>
              <a:t>En anneau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03714FF4-5AD6-4F0A-A813-C5A62F861F49}"/>
              </a:ext>
            </a:extLst>
          </p:cNvPr>
          <p:cNvSpPr/>
          <p:nvPr/>
        </p:nvSpPr>
        <p:spPr>
          <a:xfrm rot="20400991">
            <a:off x="2489464" y="3813415"/>
            <a:ext cx="916546" cy="413376"/>
          </a:xfrm>
          <a:custGeom>
            <a:avLst/>
            <a:gdLst/>
            <a:ahLst/>
            <a:cxnLst/>
            <a:rect l="l" t="t" r="r" b="b"/>
            <a:pathLst>
              <a:path w="1542106" h="998163">
                <a:moveTo>
                  <a:pt x="0" y="0"/>
                </a:moveTo>
                <a:lnTo>
                  <a:pt x="1542106" y="0"/>
                </a:lnTo>
                <a:lnTo>
                  <a:pt x="1542106" y="998163"/>
                </a:lnTo>
                <a:lnTo>
                  <a:pt x="0" y="998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0AEBB04F-8971-4FCD-9313-24D11C6352B5}"/>
              </a:ext>
            </a:extLst>
          </p:cNvPr>
          <p:cNvSpPr/>
          <p:nvPr/>
        </p:nvSpPr>
        <p:spPr>
          <a:xfrm>
            <a:off x="2638411" y="4971457"/>
            <a:ext cx="802450" cy="494078"/>
          </a:xfrm>
          <a:custGeom>
            <a:avLst/>
            <a:gdLst/>
            <a:ahLst/>
            <a:cxnLst/>
            <a:rect l="l" t="t" r="r" b="b"/>
            <a:pathLst>
              <a:path w="1350137" h="1193031">
                <a:moveTo>
                  <a:pt x="0" y="0"/>
                </a:moveTo>
                <a:lnTo>
                  <a:pt x="1350138" y="0"/>
                </a:lnTo>
                <a:lnTo>
                  <a:pt x="1350138" y="1193031"/>
                </a:lnTo>
                <a:lnTo>
                  <a:pt x="0" y="1193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5AC95EA-EBB8-4C2D-8F13-A7B551087276}"/>
              </a:ext>
            </a:extLst>
          </p:cNvPr>
          <p:cNvSpPr/>
          <p:nvPr/>
        </p:nvSpPr>
        <p:spPr>
          <a:xfrm>
            <a:off x="2751809" y="6290618"/>
            <a:ext cx="575653" cy="396735"/>
          </a:xfrm>
          <a:custGeom>
            <a:avLst/>
            <a:gdLst/>
            <a:ahLst/>
            <a:cxnLst/>
            <a:rect l="l" t="t" r="r" b="b"/>
            <a:pathLst>
              <a:path w="968547" h="957981">
                <a:moveTo>
                  <a:pt x="0" y="0"/>
                </a:moveTo>
                <a:lnTo>
                  <a:pt x="968546" y="0"/>
                </a:lnTo>
                <a:lnTo>
                  <a:pt x="968546" y="957981"/>
                </a:lnTo>
                <a:lnTo>
                  <a:pt x="0" y="957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0378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1" y="0"/>
            <a:ext cx="511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LA TOPOLOGIE EN BUS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120F4296-53FE-4E33-987F-80CCD5997D71}"/>
              </a:ext>
            </a:extLst>
          </p:cNvPr>
          <p:cNvSpPr/>
          <p:nvPr/>
        </p:nvSpPr>
        <p:spPr>
          <a:xfrm>
            <a:off x="5809292" y="146701"/>
            <a:ext cx="5708940" cy="3719446"/>
          </a:xfrm>
          <a:custGeom>
            <a:avLst/>
            <a:gdLst/>
            <a:ahLst/>
            <a:cxnLst/>
            <a:rect l="l" t="t" r="r" b="b"/>
            <a:pathLst>
              <a:path w="7599856" h="4439667">
                <a:moveTo>
                  <a:pt x="0" y="0"/>
                </a:moveTo>
                <a:lnTo>
                  <a:pt x="7599856" y="0"/>
                </a:lnTo>
                <a:lnTo>
                  <a:pt x="7599856" y="4439667"/>
                </a:lnTo>
                <a:lnTo>
                  <a:pt x="0" y="4439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281"/>
            </a:stretch>
          </a:blipFill>
        </p:spPr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AC9117B0-3814-445B-8CC6-E5C5541FFBED}"/>
              </a:ext>
            </a:extLst>
          </p:cNvPr>
          <p:cNvSpPr txBox="1"/>
          <p:nvPr/>
        </p:nvSpPr>
        <p:spPr>
          <a:xfrm>
            <a:off x="-175846" y="4181660"/>
            <a:ext cx="9217223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Que </a:t>
            </a:r>
            <a:r>
              <a:rPr lang="en-US" sz="36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remarquez-vous</a:t>
            </a:r>
            <a:r>
              <a:rPr lang="en-US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sur </a:t>
            </a:r>
            <a:r>
              <a:rPr lang="en-US" sz="36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cette</a:t>
            </a:r>
            <a:r>
              <a:rPr lang="en-US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image ?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AF1D044-F72D-4130-9672-B196F768A3E7}"/>
              </a:ext>
            </a:extLst>
          </p:cNvPr>
          <p:cNvSpPr txBox="1"/>
          <p:nvPr/>
        </p:nvSpPr>
        <p:spPr>
          <a:xfrm>
            <a:off x="-66153" y="5321577"/>
            <a:ext cx="11484430" cy="608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Si un </a:t>
            </a:r>
            <a:r>
              <a:rPr lang="en-US" sz="36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ordinateur</a:t>
            </a:r>
            <a:r>
              <a:rPr lang="en-US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36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envoie</a:t>
            </a:r>
            <a:r>
              <a:rPr lang="en-US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un message, qui le </a:t>
            </a:r>
            <a:r>
              <a:rPr lang="en-US" sz="36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reçoit</a:t>
            </a:r>
            <a:r>
              <a:rPr lang="en-US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307161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42879" y="1177977"/>
            <a:ext cx="3853319" cy="2251023"/>
          </a:xfrm>
          <a:custGeom>
            <a:avLst/>
            <a:gdLst/>
            <a:ahLst/>
            <a:cxnLst/>
            <a:rect l="l" t="t" r="r" b="b"/>
            <a:pathLst>
              <a:path w="5779978" h="3376535">
                <a:moveTo>
                  <a:pt x="0" y="0"/>
                </a:moveTo>
                <a:lnTo>
                  <a:pt x="5779978" y="0"/>
                </a:lnTo>
                <a:lnTo>
                  <a:pt x="5779978" y="3376535"/>
                </a:lnTo>
                <a:lnTo>
                  <a:pt x="0" y="3376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281"/>
            </a:stretch>
          </a:blipFill>
        </p:spPr>
      </p:sp>
      <p:sp>
        <p:nvSpPr>
          <p:cNvPr id="6" name="Freeform 6"/>
          <p:cNvSpPr/>
          <p:nvPr/>
        </p:nvSpPr>
        <p:spPr>
          <a:xfrm rot="-669532">
            <a:off x="858141" y="3833511"/>
            <a:ext cx="519511" cy="554801"/>
          </a:xfrm>
          <a:custGeom>
            <a:avLst/>
            <a:gdLst/>
            <a:ahLst/>
            <a:cxnLst/>
            <a:rect l="l" t="t" r="r" b="b"/>
            <a:pathLst>
              <a:path w="779266" h="832201">
                <a:moveTo>
                  <a:pt x="0" y="0"/>
                </a:moveTo>
                <a:lnTo>
                  <a:pt x="779266" y="0"/>
                </a:lnTo>
                <a:lnTo>
                  <a:pt x="779266" y="832201"/>
                </a:lnTo>
                <a:lnTo>
                  <a:pt x="0" y="832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96" r="-3396"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6096000" y="3788484"/>
            <a:ext cx="0" cy="28114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621505">
            <a:off x="6474377" y="3866776"/>
            <a:ext cx="488271" cy="488271"/>
          </a:xfrm>
          <a:custGeom>
            <a:avLst/>
            <a:gdLst/>
            <a:ahLst/>
            <a:cxnLst/>
            <a:rect l="l" t="t" r="r" b="b"/>
            <a:pathLst>
              <a:path w="732407" h="732407">
                <a:moveTo>
                  <a:pt x="0" y="0"/>
                </a:moveTo>
                <a:lnTo>
                  <a:pt x="732406" y="0"/>
                </a:lnTo>
                <a:lnTo>
                  <a:pt x="732406" y="732406"/>
                </a:lnTo>
                <a:lnTo>
                  <a:pt x="0" y="732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28724" y="157057"/>
            <a:ext cx="3711669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LA TOPOLOGIE EN BUS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7861" y="1440169"/>
            <a:ext cx="6982522" cy="1317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Dans la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topologie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en</a:t>
            </a:r>
            <a:r>
              <a:rPr lang="en-US" sz="2466" b="1" dirty="0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bus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,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tous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les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ordinateurs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sont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reliés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à un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seul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câble</a:t>
            </a:r>
            <a:r>
              <a:rPr lang="en-US" sz="2466" b="1" dirty="0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principal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 Ce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câble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transporte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toutes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les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données</a:t>
            </a:r>
            <a:endParaRPr lang="en-US" sz="2466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23822" y="3872362"/>
            <a:ext cx="1843325" cy="40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 err="1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Avantages</a:t>
            </a:r>
            <a:r>
              <a:rPr lang="en-US" sz="2466" dirty="0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56145" y="3872362"/>
            <a:ext cx="2699055" cy="408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 err="1">
                <a:solidFill>
                  <a:srgbClr val="EB2540"/>
                </a:solidFill>
                <a:latin typeface="DejaVu Serif"/>
                <a:ea typeface="DejaVu Serif"/>
                <a:cs typeface="DejaVu Serif"/>
                <a:sym typeface="DejaVu Serif"/>
              </a:rPr>
              <a:t>Inconvénients</a:t>
            </a:r>
            <a:r>
              <a:rPr lang="en-US" sz="2466" dirty="0">
                <a:solidFill>
                  <a:srgbClr val="EB2540"/>
                </a:solidFill>
                <a:latin typeface="DejaVu Serif"/>
                <a:ea typeface="DejaVu Serif"/>
                <a:cs typeface="DejaVu Serif"/>
                <a:sym typeface="DejaVu Serif"/>
              </a:rPr>
              <a:t>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6426" y="4869603"/>
            <a:ext cx="4617879" cy="130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Facile à installer.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Moins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câbles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nécessaires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02565" y="4650528"/>
            <a:ext cx="4747240" cy="175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Si le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câble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principal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est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endommagé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, tout le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réseau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s’arrête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Moins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sécurisé</a:t>
            </a:r>
            <a:endParaRPr lang="en-US" sz="2466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EB2AE-7F1F-4C95-A5BB-5243E046F182}"/>
              </a:ext>
            </a:extLst>
          </p:cNvPr>
          <p:cNvSpPr txBox="1"/>
          <p:nvPr/>
        </p:nvSpPr>
        <p:spPr>
          <a:xfrm>
            <a:off x="1" y="0"/>
            <a:ext cx="511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0070C0"/>
                </a:solidFill>
                <a:latin typeface="Roboto" panose="02000000000000000000" pitchFamily="2" charset="0"/>
              </a:rPr>
              <a:t>a. La topologie en bus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3602283" y="1048335"/>
            <a:ext cx="4987435" cy="3265155"/>
          </a:xfrm>
          <a:custGeom>
            <a:avLst/>
            <a:gdLst/>
            <a:ahLst/>
            <a:cxnLst/>
            <a:rect l="l" t="t" r="r" b="b"/>
            <a:pathLst>
              <a:path w="7481153" h="4897733">
                <a:moveTo>
                  <a:pt x="0" y="0"/>
                </a:moveTo>
                <a:lnTo>
                  <a:pt x="7481152" y="0"/>
                </a:lnTo>
                <a:lnTo>
                  <a:pt x="7481152" y="4897733"/>
                </a:lnTo>
                <a:lnTo>
                  <a:pt x="0" y="489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17601" y="4565594"/>
            <a:ext cx="6144815" cy="40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Que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remarquez-vous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sur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cette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image 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9817" y="5337203"/>
            <a:ext cx="8580295" cy="408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Si un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ordinateur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envoie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un message, qui le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reçoit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7600" y="6108812"/>
            <a:ext cx="6704251" cy="40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Le message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va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-t-il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directement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à la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cible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8A86A-BD27-4ABF-BCD3-410BF713A2ED}"/>
              </a:ext>
            </a:extLst>
          </p:cNvPr>
          <p:cNvSpPr txBox="1"/>
          <p:nvPr/>
        </p:nvSpPr>
        <p:spPr>
          <a:xfrm>
            <a:off x="1" y="0"/>
            <a:ext cx="6846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LA TOPOLOGIE EN ANNEAU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6096000" y="3788484"/>
            <a:ext cx="0" cy="28114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85800" y="1209538"/>
            <a:ext cx="6470345" cy="175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Dans la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topologie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en</a:t>
            </a:r>
            <a:r>
              <a:rPr lang="en-US" sz="2466" b="1" dirty="0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2466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anneau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,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chaque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ordinateur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est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relié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au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suivant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, formant un </a:t>
            </a:r>
            <a:r>
              <a:rPr lang="en-US" sz="2466" b="1" dirty="0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cercle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 Les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données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passent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de machine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en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machine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jusqu’à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leur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destination.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8805" y="4650528"/>
            <a:ext cx="4617879" cy="175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Organisation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simple sans matériel central.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Le message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circule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dans un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seul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sens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84349" y="4744214"/>
            <a:ext cx="4747240" cy="130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Une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seule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panne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peut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bloquer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tout le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réseau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Plus difficile à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dépanner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</p:txBody>
      </p:sp>
      <p:sp>
        <p:nvSpPr>
          <p:cNvPr id="14" name="Freeform 14"/>
          <p:cNvSpPr/>
          <p:nvPr/>
        </p:nvSpPr>
        <p:spPr>
          <a:xfrm>
            <a:off x="7553518" y="631552"/>
            <a:ext cx="4416779" cy="2891560"/>
          </a:xfrm>
          <a:custGeom>
            <a:avLst/>
            <a:gdLst/>
            <a:ahLst/>
            <a:cxnLst/>
            <a:rect l="l" t="t" r="r" b="b"/>
            <a:pathLst>
              <a:path w="6625168" h="4337340">
                <a:moveTo>
                  <a:pt x="0" y="0"/>
                </a:moveTo>
                <a:lnTo>
                  <a:pt x="6625169" y="0"/>
                </a:lnTo>
                <a:lnTo>
                  <a:pt x="6625169" y="4337340"/>
                </a:lnTo>
                <a:lnTo>
                  <a:pt x="0" y="4337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8EAE0FF9-4893-45CF-916F-D01B63B13A82}"/>
              </a:ext>
            </a:extLst>
          </p:cNvPr>
          <p:cNvSpPr/>
          <p:nvPr/>
        </p:nvSpPr>
        <p:spPr>
          <a:xfrm rot="-669532">
            <a:off x="858141" y="3833511"/>
            <a:ext cx="519511" cy="554801"/>
          </a:xfrm>
          <a:custGeom>
            <a:avLst/>
            <a:gdLst/>
            <a:ahLst/>
            <a:cxnLst/>
            <a:rect l="l" t="t" r="r" b="b"/>
            <a:pathLst>
              <a:path w="779266" h="832201">
                <a:moveTo>
                  <a:pt x="0" y="0"/>
                </a:moveTo>
                <a:lnTo>
                  <a:pt x="779266" y="0"/>
                </a:lnTo>
                <a:lnTo>
                  <a:pt x="779266" y="832201"/>
                </a:lnTo>
                <a:lnTo>
                  <a:pt x="0" y="832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96" r="-3396"/>
            </a:stretch>
          </a:blipFill>
        </p:spPr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86E4A764-B0CD-43CF-B446-97B6A2B90330}"/>
              </a:ext>
            </a:extLst>
          </p:cNvPr>
          <p:cNvSpPr txBox="1"/>
          <p:nvPr/>
        </p:nvSpPr>
        <p:spPr>
          <a:xfrm>
            <a:off x="1523822" y="3872362"/>
            <a:ext cx="1843325" cy="40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 err="1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Avantages</a:t>
            </a:r>
            <a:r>
              <a:rPr lang="en-US" sz="2466" dirty="0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 :</a:t>
            </a:r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2F59DE26-4CBA-40D8-B930-AF7B3FB806EC}"/>
              </a:ext>
            </a:extLst>
          </p:cNvPr>
          <p:cNvSpPr/>
          <p:nvPr/>
        </p:nvSpPr>
        <p:spPr>
          <a:xfrm rot="-621505">
            <a:off x="6474377" y="3866776"/>
            <a:ext cx="488271" cy="488271"/>
          </a:xfrm>
          <a:custGeom>
            <a:avLst/>
            <a:gdLst/>
            <a:ahLst/>
            <a:cxnLst/>
            <a:rect l="l" t="t" r="r" b="b"/>
            <a:pathLst>
              <a:path w="732407" h="732407">
                <a:moveTo>
                  <a:pt x="0" y="0"/>
                </a:moveTo>
                <a:lnTo>
                  <a:pt x="732406" y="0"/>
                </a:lnTo>
                <a:lnTo>
                  <a:pt x="732406" y="732406"/>
                </a:lnTo>
                <a:lnTo>
                  <a:pt x="0" y="732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E1BC2AF0-4FE0-470F-A96F-47DFB51588FD}"/>
              </a:ext>
            </a:extLst>
          </p:cNvPr>
          <p:cNvSpPr txBox="1"/>
          <p:nvPr/>
        </p:nvSpPr>
        <p:spPr>
          <a:xfrm>
            <a:off x="7156145" y="3872362"/>
            <a:ext cx="2699055" cy="408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 err="1">
                <a:solidFill>
                  <a:srgbClr val="EB2540"/>
                </a:solidFill>
                <a:latin typeface="DejaVu Serif"/>
                <a:ea typeface="DejaVu Serif"/>
                <a:cs typeface="DejaVu Serif"/>
                <a:sym typeface="DejaVu Serif"/>
              </a:rPr>
              <a:t>Inconvénients</a:t>
            </a:r>
            <a:r>
              <a:rPr lang="en-US" sz="2466" dirty="0">
                <a:solidFill>
                  <a:srgbClr val="EB2540"/>
                </a:solidFill>
                <a:latin typeface="DejaVu Serif"/>
                <a:ea typeface="DejaVu Serif"/>
                <a:cs typeface="DejaVu Serif"/>
                <a:sym typeface="DejaVu Serif"/>
              </a:rPr>
              <a:t>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9AE9B3-343D-4695-AFF8-A2223552691C}"/>
              </a:ext>
            </a:extLst>
          </p:cNvPr>
          <p:cNvSpPr txBox="1"/>
          <p:nvPr/>
        </p:nvSpPr>
        <p:spPr>
          <a:xfrm>
            <a:off x="1" y="0"/>
            <a:ext cx="6846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0070C0"/>
                </a:solidFill>
                <a:latin typeface="Roboto" panose="02000000000000000000" pitchFamily="2" charset="0"/>
              </a:rPr>
              <a:t>b. La topologie en anneau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3803794" y="896006"/>
            <a:ext cx="4079118" cy="3569229"/>
          </a:xfrm>
          <a:custGeom>
            <a:avLst/>
            <a:gdLst/>
            <a:ahLst/>
            <a:cxnLst/>
            <a:rect l="l" t="t" r="r" b="b"/>
            <a:pathLst>
              <a:path w="6118677" h="5353843">
                <a:moveTo>
                  <a:pt x="0" y="0"/>
                </a:moveTo>
                <a:lnTo>
                  <a:pt x="6118678" y="0"/>
                </a:lnTo>
                <a:lnTo>
                  <a:pt x="6118678" y="5353842"/>
                </a:lnTo>
                <a:lnTo>
                  <a:pt x="0" y="5353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71150" y="4628472"/>
            <a:ext cx="6144815" cy="40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Que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remarquez-vous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sur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cette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image 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611" y="5373019"/>
            <a:ext cx="10811751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Si un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câble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d’un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seul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ordinateur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est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coupé, que se passe-t-il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FFED2-7B5C-4A0F-BC38-FE8C46E80ECF}"/>
              </a:ext>
            </a:extLst>
          </p:cNvPr>
          <p:cNvSpPr txBox="1"/>
          <p:nvPr/>
        </p:nvSpPr>
        <p:spPr>
          <a:xfrm>
            <a:off x="1" y="0"/>
            <a:ext cx="6846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LA TOPOLOGIE EN ÉTOILE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6096000" y="3788484"/>
            <a:ext cx="0" cy="28114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883842" y="157057"/>
            <a:ext cx="3711669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LA TOPOLOGIE EN ÉTOILE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9366" y="1215324"/>
            <a:ext cx="6470345" cy="130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Dans la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topologie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en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b="1" dirty="0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étoile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,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chaque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ordinateur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est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relié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à </a:t>
            </a:r>
            <a:r>
              <a:rPr lang="en-US" sz="2466" b="1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un point central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 Ce point central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gère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les communications.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1" y="4744214"/>
            <a:ext cx="5307471" cy="175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Facile à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repérer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une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panne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Si un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ordinateur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a un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problème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, le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reste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du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réseau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continue de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fonctionner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56145" y="4744214"/>
            <a:ext cx="4747240" cy="175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Si le point central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tombe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en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panne, tout le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réseau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est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bloqué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Besoin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de plus de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câbles</a:t>
            </a:r>
            <a:endParaRPr lang="en-US" sz="2466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7552472" y="0"/>
            <a:ext cx="4079118" cy="3569229"/>
          </a:xfrm>
          <a:custGeom>
            <a:avLst/>
            <a:gdLst/>
            <a:ahLst/>
            <a:cxnLst/>
            <a:rect l="l" t="t" r="r" b="b"/>
            <a:pathLst>
              <a:path w="6118677" h="5353843">
                <a:moveTo>
                  <a:pt x="0" y="0"/>
                </a:moveTo>
                <a:lnTo>
                  <a:pt x="6118677" y="0"/>
                </a:lnTo>
                <a:lnTo>
                  <a:pt x="6118677" y="5353843"/>
                </a:lnTo>
                <a:lnTo>
                  <a:pt x="0" y="5353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EF00AB62-BACE-4034-9528-E62FFBB7B623}"/>
              </a:ext>
            </a:extLst>
          </p:cNvPr>
          <p:cNvSpPr/>
          <p:nvPr/>
        </p:nvSpPr>
        <p:spPr>
          <a:xfrm rot="-669532">
            <a:off x="858141" y="3833511"/>
            <a:ext cx="519511" cy="554801"/>
          </a:xfrm>
          <a:custGeom>
            <a:avLst/>
            <a:gdLst/>
            <a:ahLst/>
            <a:cxnLst/>
            <a:rect l="l" t="t" r="r" b="b"/>
            <a:pathLst>
              <a:path w="779266" h="832201">
                <a:moveTo>
                  <a:pt x="0" y="0"/>
                </a:moveTo>
                <a:lnTo>
                  <a:pt x="779266" y="0"/>
                </a:lnTo>
                <a:lnTo>
                  <a:pt x="779266" y="832201"/>
                </a:lnTo>
                <a:lnTo>
                  <a:pt x="0" y="832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96" r="-3396"/>
            </a:stretch>
          </a:blipFill>
        </p:spPr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6006E0F8-AD0B-423B-9BB8-ED58C68DBF9F}"/>
              </a:ext>
            </a:extLst>
          </p:cNvPr>
          <p:cNvSpPr txBox="1"/>
          <p:nvPr/>
        </p:nvSpPr>
        <p:spPr>
          <a:xfrm>
            <a:off x="1523822" y="3872362"/>
            <a:ext cx="1843325" cy="40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 err="1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Avantages</a:t>
            </a:r>
            <a:r>
              <a:rPr lang="en-US" sz="2466" dirty="0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 :</a:t>
            </a:r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3B8BD233-B86A-47EE-9FCA-35BE001FBC42}"/>
              </a:ext>
            </a:extLst>
          </p:cNvPr>
          <p:cNvSpPr/>
          <p:nvPr/>
        </p:nvSpPr>
        <p:spPr>
          <a:xfrm rot="-621505">
            <a:off x="6474377" y="3866776"/>
            <a:ext cx="488271" cy="488271"/>
          </a:xfrm>
          <a:custGeom>
            <a:avLst/>
            <a:gdLst/>
            <a:ahLst/>
            <a:cxnLst/>
            <a:rect l="l" t="t" r="r" b="b"/>
            <a:pathLst>
              <a:path w="732407" h="732407">
                <a:moveTo>
                  <a:pt x="0" y="0"/>
                </a:moveTo>
                <a:lnTo>
                  <a:pt x="732406" y="0"/>
                </a:lnTo>
                <a:lnTo>
                  <a:pt x="732406" y="732406"/>
                </a:lnTo>
                <a:lnTo>
                  <a:pt x="0" y="732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866172B2-05DF-4475-B880-1F873871C8F4}"/>
              </a:ext>
            </a:extLst>
          </p:cNvPr>
          <p:cNvSpPr txBox="1"/>
          <p:nvPr/>
        </p:nvSpPr>
        <p:spPr>
          <a:xfrm>
            <a:off x="7156145" y="3872362"/>
            <a:ext cx="2699055" cy="408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dirty="0" err="1">
                <a:solidFill>
                  <a:srgbClr val="EB2540"/>
                </a:solidFill>
                <a:latin typeface="DejaVu Serif"/>
                <a:ea typeface="DejaVu Serif"/>
                <a:cs typeface="DejaVu Serif"/>
                <a:sym typeface="DejaVu Serif"/>
              </a:rPr>
              <a:t>Inconvénients</a:t>
            </a:r>
            <a:r>
              <a:rPr lang="en-US" sz="2466" dirty="0">
                <a:solidFill>
                  <a:srgbClr val="EB2540"/>
                </a:solidFill>
                <a:latin typeface="DejaVu Serif"/>
                <a:ea typeface="DejaVu Serif"/>
                <a:cs typeface="DejaVu Serif"/>
                <a:sym typeface="DejaVu Serif"/>
              </a:rPr>
              <a:t>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9C3470-0C5D-4527-B6AF-9C7B2D92D76B}"/>
              </a:ext>
            </a:extLst>
          </p:cNvPr>
          <p:cNvSpPr txBox="1"/>
          <p:nvPr/>
        </p:nvSpPr>
        <p:spPr>
          <a:xfrm>
            <a:off x="0" y="47136"/>
            <a:ext cx="6846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0070C0"/>
                </a:solidFill>
                <a:latin typeface="Roboto" panose="02000000000000000000" pitchFamily="2" charset="0"/>
              </a:rPr>
              <a:t>c. La topologie en étoile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2612" y="848082"/>
            <a:ext cx="928405" cy="928405"/>
          </a:xfrm>
          <a:custGeom>
            <a:avLst/>
            <a:gdLst/>
            <a:ahLst/>
            <a:cxnLst/>
            <a:rect l="l" t="t" r="r" b="b"/>
            <a:pathLst>
              <a:path w="1392607" h="1392607">
                <a:moveTo>
                  <a:pt x="0" y="0"/>
                </a:moveTo>
                <a:lnTo>
                  <a:pt x="1392607" y="0"/>
                </a:lnTo>
                <a:lnTo>
                  <a:pt x="1392607" y="1392606"/>
                </a:lnTo>
                <a:lnTo>
                  <a:pt x="0" y="1392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47959" y="912040"/>
            <a:ext cx="8112529" cy="85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53"/>
              </a:lnSpc>
            </a:pP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Peut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-on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utiliser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n’importe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quelle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topologie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pour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n’importe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quel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réseau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70969" y="2856833"/>
            <a:ext cx="7438231" cy="175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9188" lvl="1" indent="-342900" algn="ctr">
              <a:lnSpc>
                <a:spcPts val="3453"/>
              </a:lnSpc>
              <a:buFont typeface="Arial" panose="020B0604020202020204" pitchFamily="34" charset="0"/>
              <a:buChar char="•"/>
            </a:pP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Combien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d’ordinateurs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veut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-on connecter ?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Quel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est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le budget disponible ?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Si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une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panne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survient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?</a:t>
            </a:r>
          </a:p>
          <a:p>
            <a:pPr marL="532575" lvl="1" indent="-266287">
              <a:lnSpc>
                <a:spcPts val="3453"/>
              </a:lnSpc>
              <a:buFont typeface="Arial"/>
              <a:buChar char="•"/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La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sécurité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? La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vitesse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94082" y="2005086"/>
            <a:ext cx="7203837" cy="40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 b="1" dirty="0">
                <a:solidFill>
                  <a:srgbClr val="FF3131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Non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! </a:t>
            </a:r>
            <a:r>
              <a:rPr lang="en-US" sz="2466" dirty="0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Le </a:t>
            </a:r>
            <a:r>
              <a:rPr lang="en-US" sz="2466" dirty="0" err="1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choix</a:t>
            </a:r>
            <a:r>
              <a:rPr lang="en-US" sz="2466" dirty="0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dépend</a:t>
            </a:r>
            <a:r>
              <a:rPr lang="en-US" sz="2466" dirty="0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 de </a:t>
            </a:r>
            <a:r>
              <a:rPr lang="en-US" sz="2466" dirty="0" err="1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plusieurs</a:t>
            </a:r>
            <a:r>
              <a:rPr lang="en-US" sz="2466" dirty="0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facteurs</a:t>
            </a:r>
            <a:r>
              <a:rPr lang="en-US" sz="2466" dirty="0">
                <a:solidFill>
                  <a:srgbClr val="6BB576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5023031"/>
            <a:ext cx="10696724" cy="85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53"/>
              </a:lnSpc>
              <a:spcBef>
                <a:spcPct val="0"/>
              </a:spcBef>
            </a:pP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Le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choix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d’une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topologie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dépend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du </a:t>
            </a:r>
            <a:r>
              <a:rPr lang="en-US" sz="2466" b="1" dirty="0" err="1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nombre</a:t>
            </a:r>
            <a:r>
              <a:rPr lang="en-US" sz="2466" b="1" dirty="0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2466" b="1" dirty="0" err="1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d’ordinateurs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à connecter, du </a:t>
            </a:r>
            <a:r>
              <a:rPr lang="en-US" sz="2466" b="1" dirty="0" err="1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coût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, de la </a:t>
            </a:r>
            <a:r>
              <a:rPr lang="en-US" sz="2466" b="1" dirty="0" err="1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facilité</a:t>
            </a:r>
            <a:r>
              <a:rPr lang="en-US" sz="2466" b="1" dirty="0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de maintenance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et du </a:t>
            </a:r>
            <a:r>
              <a:rPr lang="en-US" sz="2466" b="1" dirty="0" err="1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niveau</a:t>
            </a:r>
            <a:r>
              <a:rPr lang="en-US" sz="2466" b="1" dirty="0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de </a:t>
            </a:r>
            <a:r>
              <a:rPr lang="en-US" sz="2466" b="1" dirty="0" err="1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sécurité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2466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souhaité</a:t>
            </a:r>
            <a:r>
              <a:rPr lang="en-US" sz="2466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BCEAA-00CC-4446-8B8E-DDDBF456E31E}"/>
              </a:ext>
            </a:extLst>
          </p:cNvPr>
          <p:cNvSpPr txBox="1"/>
          <p:nvPr/>
        </p:nvSpPr>
        <p:spPr>
          <a:xfrm>
            <a:off x="-1" y="47136"/>
            <a:ext cx="10696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COMMENT CHOISIR UNE TOPOLOGIE 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049566" y="2506183"/>
            <a:ext cx="10425414" cy="1845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53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Le </a:t>
            </a:r>
            <a:r>
              <a:rPr lang="en-US" sz="4000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choix</a:t>
            </a: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d’une</a:t>
            </a: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topologie</a:t>
            </a: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dépend</a:t>
            </a: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du </a:t>
            </a:r>
            <a:r>
              <a:rPr lang="en-US" sz="4000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nombre</a:t>
            </a:r>
            <a:r>
              <a:rPr lang="en-US" sz="4000" b="1" dirty="0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d’ordinateurs</a:t>
            </a:r>
            <a:r>
              <a:rPr lang="en-US" sz="4000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à connecter, du </a:t>
            </a:r>
            <a:r>
              <a:rPr lang="en-US" sz="4000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coût</a:t>
            </a: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, de la </a:t>
            </a:r>
            <a:r>
              <a:rPr lang="en-US" sz="4000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facilité</a:t>
            </a:r>
            <a:r>
              <a:rPr lang="en-US" sz="4000" b="1" dirty="0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de maintenance</a:t>
            </a:r>
            <a:r>
              <a:rPr lang="en-US" sz="4000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et du </a:t>
            </a:r>
            <a:r>
              <a:rPr lang="en-US" sz="4000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niveau</a:t>
            </a:r>
            <a:r>
              <a:rPr lang="en-US" sz="4000" b="1" dirty="0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de </a:t>
            </a:r>
            <a:r>
              <a:rPr lang="en-US" sz="4000" b="1" dirty="0" err="1">
                <a:solidFill>
                  <a:srgbClr val="7030A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sécurité</a:t>
            </a:r>
            <a:r>
              <a:rPr lang="en-US" sz="4000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souhaité</a:t>
            </a:r>
            <a:r>
              <a:rPr lang="en-US" sz="4000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BCEAA-00CC-4446-8B8E-DDDBF456E31E}"/>
              </a:ext>
            </a:extLst>
          </p:cNvPr>
          <p:cNvSpPr txBox="1"/>
          <p:nvPr/>
        </p:nvSpPr>
        <p:spPr>
          <a:xfrm>
            <a:off x="-1" y="47136"/>
            <a:ext cx="10696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0070C0"/>
                </a:solidFill>
                <a:latin typeface="Roboto" panose="02000000000000000000" pitchFamily="2" charset="0"/>
              </a:rPr>
              <a:t>d. comment choisir une topologie ?</a:t>
            </a:r>
          </a:p>
        </p:txBody>
      </p:sp>
    </p:spTree>
    <p:extLst>
      <p:ext uri="{BB962C8B-B14F-4D97-AF65-F5344CB8AC3E}">
        <p14:creationId xmlns:p14="http://schemas.microsoft.com/office/powerpoint/2010/main" val="3831075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00631-BDB1-4F3C-891D-EF62EC62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43000"/>
            <a:ext cx="5486400" cy="762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9595FF"/>
                </a:solidFill>
              </a:rPr>
              <a:t>Question N°.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D53AA5-BD6F-445D-8CE4-84DC9413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34989"/>
            <a:ext cx="7797799" cy="5500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Dans quelle topologie tous les ordinateurs sont reliés à un seul câble principal ?</a:t>
            </a:r>
          </a:p>
        </p:txBody>
      </p:sp>
      <p:sp>
        <p:nvSpPr>
          <p:cNvPr id="5" name="r1">
            <a:extLst>
              <a:ext uri="{FF2B5EF4-FFF2-40B4-BE49-F238E27FC236}">
                <a16:creationId xmlns:a16="http://schemas.microsoft.com/office/drawing/2014/main" id="{BBD956CA-9613-4633-BC63-EF43DCBB4523}"/>
              </a:ext>
            </a:extLst>
          </p:cNvPr>
          <p:cNvSpPr/>
          <p:nvPr/>
        </p:nvSpPr>
        <p:spPr>
          <a:xfrm>
            <a:off x="847163" y="5003800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 anneau</a:t>
            </a:r>
          </a:p>
        </p:txBody>
      </p:sp>
      <p:sp>
        <p:nvSpPr>
          <p:cNvPr id="7" name="r2">
            <a:extLst>
              <a:ext uri="{FF2B5EF4-FFF2-40B4-BE49-F238E27FC236}">
                <a16:creationId xmlns:a16="http://schemas.microsoft.com/office/drawing/2014/main" id="{3AD1FAAE-D5D0-4B0B-9686-219E0A4E5E39}"/>
              </a:ext>
            </a:extLst>
          </p:cNvPr>
          <p:cNvSpPr/>
          <p:nvPr/>
        </p:nvSpPr>
        <p:spPr>
          <a:xfrm>
            <a:off x="838200" y="3853518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 étoile</a:t>
            </a:r>
          </a:p>
        </p:txBody>
      </p:sp>
      <p:sp>
        <p:nvSpPr>
          <p:cNvPr id="8" name="r3">
            <a:extLst>
              <a:ext uri="{FF2B5EF4-FFF2-40B4-BE49-F238E27FC236}">
                <a16:creationId xmlns:a16="http://schemas.microsoft.com/office/drawing/2014/main" id="{43BF67A5-523A-4E8A-A2D0-AC6927A6C749}"/>
              </a:ext>
            </a:extLst>
          </p:cNvPr>
          <p:cNvSpPr/>
          <p:nvPr/>
        </p:nvSpPr>
        <p:spPr>
          <a:xfrm>
            <a:off x="873171" y="2768600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 bus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1771AED5-9335-4E1F-89E6-7B22B088A0C7}"/>
              </a:ext>
            </a:extLst>
          </p:cNvPr>
          <p:cNvSpPr txBox="1"/>
          <p:nvPr/>
        </p:nvSpPr>
        <p:spPr>
          <a:xfrm>
            <a:off x="0" y="324863"/>
            <a:ext cx="5760744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3600" dirty="0">
                <a:solidFill>
                  <a:srgbClr val="7030A0"/>
                </a:solidFill>
                <a:latin typeface="Roboto" panose="02000000000000000000" pitchFamily="2" charset="0"/>
                <a:sym typeface="DejaVu Serif"/>
              </a:rPr>
              <a:t>EXERCICE D'APPLICATION</a:t>
            </a:r>
          </a:p>
        </p:txBody>
      </p:sp>
    </p:spTree>
    <p:extLst>
      <p:ext uri="{BB962C8B-B14F-4D97-AF65-F5344CB8AC3E}">
        <p14:creationId xmlns:p14="http://schemas.microsoft.com/office/powerpoint/2010/main" val="3109430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00631-BDB1-4F3C-891D-EF62EC62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43000"/>
            <a:ext cx="5486400" cy="762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9595FF"/>
                </a:solidFill>
              </a:rPr>
              <a:t>Question N°.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D53AA5-BD6F-445D-8CE4-84DC9413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34989"/>
            <a:ext cx="7797799" cy="5500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Dans quelle topologie les ordinateurs sont connectés à un point central ?</a:t>
            </a:r>
          </a:p>
        </p:txBody>
      </p:sp>
      <p:sp>
        <p:nvSpPr>
          <p:cNvPr id="5" name="r1">
            <a:extLst>
              <a:ext uri="{FF2B5EF4-FFF2-40B4-BE49-F238E27FC236}">
                <a16:creationId xmlns:a16="http://schemas.microsoft.com/office/drawing/2014/main" id="{BBD956CA-9613-4633-BC63-EF43DCBB4523}"/>
              </a:ext>
            </a:extLst>
          </p:cNvPr>
          <p:cNvSpPr/>
          <p:nvPr/>
        </p:nvSpPr>
        <p:spPr>
          <a:xfrm>
            <a:off x="838200" y="2838264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 bus</a:t>
            </a:r>
          </a:p>
        </p:txBody>
      </p:sp>
      <p:sp>
        <p:nvSpPr>
          <p:cNvPr id="7" name="r2">
            <a:extLst>
              <a:ext uri="{FF2B5EF4-FFF2-40B4-BE49-F238E27FC236}">
                <a16:creationId xmlns:a16="http://schemas.microsoft.com/office/drawing/2014/main" id="{3AD1FAAE-D5D0-4B0B-9686-219E0A4E5E39}"/>
              </a:ext>
            </a:extLst>
          </p:cNvPr>
          <p:cNvSpPr/>
          <p:nvPr/>
        </p:nvSpPr>
        <p:spPr>
          <a:xfrm>
            <a:off x="838200" y="3853518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 anneau</a:t>
            </a:r>
          </a:p>
        </p:txBody>
      </p:sp>
      <p:sp>
        <p:nvSpPr>
          <p:cNvPr id="8" name="r3">
            <a:extLst>
              <a:ext uri="{FF2B5EF4-FFF2-40B4-BE49-F238E27FC236}">
                <a16:creationId xmlns:a16="http://schemas.microsoft.com/office/drawing/2014/main" id="{43BF67A5-523A-4E8A-A2D0-AC6927A6C749}"/>
              </a:ext>
            </a:extLst>
          </p:cNvPr>
          <p:cNvSpPr/>
          <p:nvPr/>
        </p:nvSpPr>
        <p:spPr>
          <a:xfrm>
            <a:off x="852851" y="4868772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 étoile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1BD7F386-48DF-4C9F-A746-27F68D502B17}"/>
              </a:ext>
            </a:extLst>
          </p:cNvPr>
          <p:cNvSpPr txBox="1"/>
          <p:nvPr/>
        </p:nvSpPr>
        <p:spPr>
          <a:xfrm rot="5400000">
            <a:off x="2620272" y="-1747101"/>
            <a:ext cx="685800" cy="418000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369E4CC6-FC66-46AE-9254-0933B947ED8D}"/>
              </a:ext>
            </a:extLst>
          </p:cNvPr>
          <p:cNvSpPr txBox="1"/>
          <p:nvPr/>
        </p:nvSpPr>
        <p:spPr>
          <a:xfrm>
            <a:off x="0" y="324863"/>
            <a:ext cx="5760744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3600" dirty="0">
                <a:solidFill>
                  <a:srgbClr val="7030A0"/>
                </a:solidFill>
                <a:latin typeface="Roboto" panose="02000000000000000000" pitchFamily="2" charset="0"/>
                <a:sym typeface="DejaVu Serif"/>
              </a:rPr>
              <a:t>EXERCICE D'APPLICATION</a:t>
            </a:r>
          </a:p>
        </p:txBody>
      </p:sp>
    </p:spTree>
    <p:extLst>
      <p:ext uri="{BB962C8B-B14F-4D97-AF65-F5344CB8AC3E}">
        <p14:creationId xmlns:p14="http://schemas.microsoft.com/office/powerpoint/2010/main" val="317842268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03200" y="177801"/>
            <a:ext cx="5760744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EXERCICE D'APPLICATION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5CEEF-9D5F-4A13-930F-E00E4ACC11A1}"/>
              </a:ext>
            </a:extLst>
          </p:cNvPr>
          <p:cNvSpPr txBox="1"/>
          <p:nvPr/>
        </p:nvSpPr>
        <p:spPr>
          <a:xfrm>
            <a:off x="873171" y="867508"/>
            <a:ext cx="11025753" cy="479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466" b="1" dirty="0">
                <a:solidFill>
                  <a:srgbClr val="004AAD"/>
                </a:solidFill>
                <a:latin typeface="DejaVu Serif Bold"/>
                <a:ea typeface="DejaVu Serif Bold"/>
                <a:cs typeface="DejaVu Serif Bold"/>
              </a:rPr>
              <a:t>Situation :</a:t>
            </a:r>
            <a:br>
              <a:rPr lang="fr-FR" sz="2133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</a:br>
            <a:r>
              <a:rPr lang="fr-FR" sz="2133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  <a:t>Un collège veut installer un réseau pour </a:t>
            </a:r>
            <a:r>
              <a:rPr lang="fr-FR" sz="2133" b="1" dirty="0">
                <a:solidFill>
                  <a:schemeClr val="tx2"/>
                </a:solidFill>
                <a:latin typeface="DejaVu Serif"/>
                <a:ea typeface="DejaVu Serif"/>
                <a:cs typeface="DejaVu Serif"/>
              </a:rPr>
              <a:t>10 ordinateurs </a:t>
            </a:r>
            <a:r>
              <a:rPr lang="fr-FR" sz="2133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  <a:t>dans une salle multimédia.</a:t>
            </a:r>
          </a:p>
          <a:p>
            <a:br>
              <a:rPr lang="fr-FR" sz="2133" b="1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</a:br>
            <a:r>
              <a:rPr lang="fr-FR" sz="2133" b="1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  <a:t>Ils souhaitent un réseau :</a:t>
            </a:r>
          </a:p>
          <a:p>
            <a:endParaRPr lang="fr-FR" sz="2133" dirty="0">
              <a:solidFill>
                <a:srgbClr val="000000"/>
              </a:solidFill>
              <a:latin typeface="DejaVu Serif"/>
              <a:ea typeface="DejaVu Serif"/>
              <a:cs typeface="DejaVu Serif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fr-FR" sz="2133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  <a:t> Facile à entretenir</a:t>
            </a:r>
          </a:p>
          <a:p>
            <a:pPr lvl="3">
              <a:buFont typeface="Arial" panose="020B0604020202020204" pitchFamily="34" charset="0"/>
              <a:buChar char="•"/>
            </a:pPr>
            <a:endParaRPr lang="fr-FR" sz="2133" dirty="0">
              <a:solidFill>
                <a:srgbClr val="000000"/>
              </a:solidFill>
              <a:latin typeface="DejaVu Serif"/>
              <a:ea typeface="DejaVu Serif"/>
              <a:cs typeface="DejaVu Serif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fr-FR" sz="2133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  <a:t> Rapide</a:t>
            </a:r>
          </a:p>
          <a:p>
            <a:pPr lvl="3"/>
            <a:endParaRPr lang="fr-FR" sz="2133" dirty="0">
              <a:solidFill>
                <a:srgbClr val="000000"/>
              </a:solidFill>
              <a:latin typeface="DejaVu Serif"/>
              <a:ea typeface="DejaVu Serif"/>
              <a:cs typeface="DejaVu Serif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fr-FR" sz="2133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  <a:t> Fonctionnel même si un ordinateur tombe en panne</a:t>
            </a:r>
          </a:p>
          <a:p>
            <a:pPr lvl="3">
              <a:buFont typeface="Arial" panose="020B0604020202020204" pitchFamily="34" charset="0"/>
              <a:buChar char="•"/>
            </a:pPr>
            <a:endParaRPr lang="fr-FR" sz="2133" dirty="0">
              <a:solidFill>
                <a:srgbClr val="000000"/>
              </a:solidFill>
              <a:latin typeface="DejaVu Serif"/>
              <a:ea typeface="DejaVu Serif"/>
              <a:cs typeface="DejaVu Serif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fr-FR" sz="2133" dirty="0">
                <a:solidFill>
                  <a:srgbClr val="000000"/>
                </a:solidFill>
                <a:latin typeface="DejaVu Serif"/>
                <a:ea typeface="DejaVu Serif"/>
                <a:cs typeface="DejaVu Serif"/>
              </a:rPr>
              <a:t> Avec un budget moyen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2F3EC-9118-4947-99A0-3413045E753F}"/>
              </a:ext>
            </a:extLst>
          </p:cNvPr>
          <p:cNvSpPr txBox="1"/>
          <p:nvPr/>
        </p:nvSpPr>
        <p:spPr>
          <a:xfrm>
            <a:off x="0" y="324863"/>
            <a:ext cx="5760744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3600" dirty="0">
                <a:solidFill>
                  <a:srgbClr val="7030A0"/>
                </a:solidFill>
                <a:latin typeface="Roboto" panose="02000000000000000000" pitchFamily="2" charset="0"/>
                <a:sym typeface="DejaVu Serif"/>
              </a:rPr>
              <a:t>EXERCICE D'APPLICATION</a:t>
            </a:r>
          </a:p>
        </p:txBody>
      </p:sp>
    </p:spTree>
    <p:extLst>
      <p:ext uri="{BB962C8B-B14F-4D97-AF65-F5344CB8AC3E}">
        <p14:creationId xmlns:p14="http://schemas.microsoft.com/office/powerpoint/2010/main" val="88894877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00631-BDB1-4F3C-891D-EF62EC62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43000"/>
            <a:ext cx="5486400" cy="762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9595FF"/>
                </a:solidFill>
              </a:rPr>
              <a:t>Question N°.3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D53AA5-BD6F-445D-8CE4-84DC9413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34989"/>
            <a:ext cx="6485965" cy="5500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/>
              <a:t>Quelle topologie est la plus adaptée à cette situation ?</a:t>
            </a:r>
          </a:p>
        </p:txBody>
      </p:sp>
      <p:sp>
        <p:nvSpPr>
          <p:cNvPr id="5" name="r1">
            <a:extLst>
              <a:ext uri="{FF2B5EF4-FFF2-40B4-BE49-F238E27FC236}">
                <a16:creationId xmlns:a16="http://schemas.microsoft.com/office/drawing/2014/main" id="{BBD956CA-9613-4633-BC63-EF43DCBB4523}"/>
              </a:ext>
            </a:extLst>
          </p:cNvPr>
          <p:cNvSpPr/>
          <p:nvPr/>
        </p:nvSpPr>
        <p:spPr>
          <a:xfrm>
            <a:off x="847163" y="2844988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Topologie en bus</a:t>
            </a:r>
          </a:p>
        </p:txBody>
      </p:sp>
      <p:sp>
        <p:nvSpPr>
          <p:cNvPr id="7" name="r2">
            <a:extLst>
              <a:ext uri="{FF2B5EF4-FFF2-40B4-BE49-F238E27FC236}">
                <a16:creationId xmlns:a16="http://schemas.microsoft.com/office/drawing/2014/main" id="{3AD1FAAE-D5D0-4B0B-9686-219E0A4E5E39}"/>
              </a:ext>
            </a:extLst>
          </p:cNvPr>
          <p:cNvSpPr/>
          <p:nvPr/>
        </p:nvSpPr>
        <p:spPr>
          <a:xfrm>
            <a:off x="838200" y="3853518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Topologie en anneau</a:t>
            </a:r>
          </a:p>
        </p:txBody>
      </p:sp>
      <p:sp>
        <p:nvSpPr>
          <p:cNvPr id="8" name="r3">
            <a:extLst>
              <a:ext uri="{FF2B5EF4-FFF2-40B4-BE49-F238E27FC236}">
                <a16:creationId xmlns:a16="http://schemas.microsoft.com/office/drawing/2014/main" id="{43BF67A5-523A-4E8A-A2D0-AC6927A6C749}"/>
              </a:ext>
            </a:extLst>
          </p:cNvPr>
          <p:cNvSpPr/>
          <p:nvPr/>
        </p:nvSpPr>
        <p:spPr>
          <a:xfrm>
            <a:off x="838198" y="4858966"/>
            <a:ext cx="10251141" cy="636494"/>
          </a:xfrm>
          <a:prstGeom prst="roundRect">
            <a:avLst/>
          </a:prstGeom>
          <a:ln>
            <a:solidFill>
              <a:srgbClr val="72C3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Topologie en étoile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1BD7F386-48DF-4C9F-A746-27F68D502B17}"/>
              </a:ext>
            </a:extLst>
          </p:cNvPr>
          <p:cNvSpPr txBox="1"/>
          <p:nvPr/>
        </p:nvSpPr>
        <p:spPr>
          <a:xfrm rot="5400000">
            <a:off x="2620272" y="-1747101"/>
            <a:ext cx="685800" cy="418000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1771AED5-9335-4E1F-89E6-7B22B088A0C7}"/>
              </a:ext>
            </a:extLst>
          </p:cNvPr>
          <p:cNvSpPr txBox="1"/>
          <p:nvPr/>
        </p:nvSpPr>
        <p:spPr>
          <a:xfrm>
            <a:off x="203200" y="177801"/>
            <a:ext cx="5760744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EXERCICE D'APPLICATION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E245C446-904E-40D3-A93D-6FFAC431EB4C}"/>
              </a:ext>
            </a:extLst>
          </p:cNvPr>
          <p:cNvSpPr txBox="1"/>
          <p:nvPr/>
        </p:nvSpPr>
        <p:spPr>
          <a:xfrm>
            <a:off x="0" y="324863"/>
            <a:ext cx="5760744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3600" dirty="0">
                <a:solidFill>
                  <a:srgbClr val="7030A0"/>
                </a:solidFill>
                <a:latin typeface="Roboto" panose="02000000000000000000" pitchFamily="2" charset="0"/>
                <a:sym typeface="DejaVu Serif"/>
              </a:rPr>
              <a:t>EXERCICE D'APPLICATION</a:t>
            </a:r>
          </a:p>
        </p:txBody>
      </p:sp>
    </p:spTree>
    <p:extLst>
      <p:ext uri="{BB962C8B-B14F-4D97-AF65-F5344CB8AC3E}">
        <p14:creationId xmlns:p14="http://schemas.microsoft.com/office/powerpoint/2010/main" val="146056356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-939683" y="308992"/>
            <a:ext cx="5760744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3600" dirty="0">
                <a:solidFill>
                  <a:srgbClr val="7030A0"/>
                </a:solidFill>
                <a:latin typeface="Roboto" panose="02000000000000000000" pitchFamily="2" charset="0"/>
                <a:sym typeface="DejaVu Serif"/>
              </a:rPr>
              <a:t>RÉCAPITULATIF</a:t>
            </a:r>
            <a:r>
              <a:rPr lang="en-US" sz="1866" dirty="0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F :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4AD15CDB-3C92-42B7-AF1C-CC2A19628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37793"/>
              </p:ext>
            </p:extLst>
          </p:nvPr>
        </p:nvGraphicFramePr>
        <p:xfrm>
          <a:off x="1331089" y="1143000"/>
          <a:ext cx="10302112" cy="5334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8758">
                  <a:extLst>
                    <a:ext uri="{9D8B030D-6E8A-4147-A177-3AD203B41FA5}">
                      <a16:colId xmlns:a16="http://schemas.microsoft.com/office/drawing/2014/main" val="3247828955"/>
                    </a:ext>
                  </a:extLst>
                </a:gridCol>
                <a:gridCol w="3586677">
                  <a:extLst>
                    <a:ext uri="{9D8B030D-6E8A-4147-A177-3AD203B41FA5}">
                      <a16:colId xmlns:a16="http://schemas.microsoft.com/office/drawing/2014/main" val="1871465975"/>
                    </a:ext>
                  </a:extLst>
                </a:gridCol>
                <a:gridCol w="3586677">
                  <a:extLst>
                    <a:ext uri="{9D8B030D-6E8A-4147-A177-3AD203B41FA5}">
                      <a16:colId xmlns:a16="http://schemas.microsoft.com/office/drawing/2014/main" val="2897269127"/>
                    </a:ext>
                  </a:extLst>
                </a:gridCol>
              </a:tblGrid>
              <a:tr h="1006633">
                <a:tc>
                  <a:txBody>
                    <a:bodyPr/>
                    <a:lstStyle/>
                    <a:p>
                      <a:r>
                        <a:rPr lang="fr-FR" sz="2100" b="1" dirty="0">
                          <a:latin typeface="Comic Sans MS" panose="030F0702030302020204" pitchFamily="66" charset="0"/>
                        </a:rPr>
                        <a:t>Topologie</a:t>
                      </a:r>
                      <a:endParaRPr lang="fr-FR" sz="2100" dirty="0">
                        <a:latin typeface="Comic Sans MS" panose="030F0702030302020204" pitchFamily="66" charset="0"/>
                      </a:endParaRPr>
                    </a:p>
                  </a:txBody>
                  <a:tcPr marL="49464" marR="49464" marT="24732" marB="24732" anchor="ctr">
                    <a:solidFill>
                      <a:srgbClr val="959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100" b="1" dirty="0">
                          <a:latin typeface="Comic Sans MS" panose="030F0702030302020204" pitchFamily="66" charset="0"/>
                        </a:rPr>
                        <a:t>Schéma simplifié</a:t>
                      </a:r>
                      <a:endParaRPr lang="fr-FR" sz="2100" dirty="0">
                        <a:latin typeface="Comic Sans MS" panose="030F0702030302020204" pitchFamily="66" charset="0"/>
                      </a:endParaRPr>
                    </a:p>
                  </a:txBody>
                  <a:tcPr marL="49464" marR="49464" marT="24732" marB="24732" anchor="ctr">
                    <a:solidFill>
                      <a:srgbClr val="959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100" b="1" dirty="0">
                          <a:latin typeface="Comic Sans MS" panose="030F0702030302020204" pitchFamily="66" charset="0"/>
                        </a:rPr>
                        <a:t>Description</a:t>
                      </a:r>
                      <a:endParaRPr lang="fr-FR" sz="2100" dirty="0">
                        <a:latin typeface="Comic Sans MS" panose="030F0702030302020204" pitchFamily="66" charset="0"/>
                      </a:endParaRPr>
                    </a:p>
                  </a:txBody>
                  <a:tcPr marL="49464" marR="49464" marT="24732" marB="24732" anchor="ctr">
                    <a:solidFill>
                      <a:srgbClr val="959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424262"/>
                  </a:ext>
                </a:extLst>
              </a:tr>
              <a:tr h="1442456">
                <a:tc>
                  <a:txBody>
                    <a:bodyPr/>
                    <a:lstStyle/>
                    <a:p>
                      <a:endParaRPr lang="fr-FR" sz="2100" b="1" kern="120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marL="49464" marR="49464" marT="24732" marB="24732" anchor="ctr"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 marL="49464" marR="49464" marT="24732" marB="24732" anchor="ctr"/>
                </a:tc>
                <a:tc>
                  <a:txBody>
                    <a:bodyPr/>
                    <a:lstStyle/>
                    <a:p>
                      <a:r>
                        <a:rPr lang="fr-FR" sz="2100" dirty="0">
                          <a:latin typeface="Georgia" panose="02040502050405020303" pitchFamily="18" charset="0"/>
                        </a:rPr>
                        <a:t>Tous les ordinateurs sont reliés à un seul câble principal.</a:t>
                      </a:r>
                    </a:p>
                  </a:txBody>
                  <a:tcPr marL="49464" marR="49464" marT="24732" marB="24732" anchor="ctr"/>
                </a:tc>
                <a:extLst>
                  <a:ext uri="{0D108BD9-81ED-4DB2-BD59-A6C34878D82A}">
                    <a16:rowId xmlns:a16="http://schemas.microsoft.com/office/drawing/2014/main" val="3584596146"/>
                  </a:ext>
                </a:extLst>
              </a:tr>
              <a:tr h="1442456">
                <a:tc>
                  <a:txBody>
                    <a:bodyPr/>
                    <a:lstStyle/>
                    <a:p>
                      <a:r>
                        <a:rPr lang="fr-FR" sz="2100" b="1" kern="12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Étoile</a:t>
                      </a:r>
                    </a:p>
                  </a:txBody>
                  <a:tcPr marL="49464" marR="49464" marT="24732" marB="24732" anchor="ctr"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 marL="49464" marR="49464" marT="24732" marB="24732" anchor="ctr"/>
                </a:tc>
                <a:tc>
                  <a:txBody>
                    <a:bodyPr/>
                    <a:lstStyle/>
                    <a:p>
                      <a:endParaRPr lang="fr-FR" sz="2100" dirty="0">
                        <a:latin typeface="Georgia" panose="02040502050405020303" pitchFamily="18" charset="0"/>
                      </a:endParaRPr>
                    </a:p>
                  </a:txBody>
                  <a:tcPr marL="49464" marR="49464" marT="24732" marB="24732" anchor="ctr"/>
                </a:tc>
                <a:extLst>
                  <a:ext uri="{0D108BD9-81ED-4DB2-BD59-A6C34878D82A}">
                    <a16:rowId xmlns:a16="http://schemas.microsoft.com/office/drawing/2014/main" val="1186070627"/>
                  </a:ext>
                </a:extLst>
              </a:tr>
              <a:tr h="1442456">
                <a:tc>
                  <a:txBody>
                    <a:bodyPr/>
                    <a:lstStyle/>
                    <a:p>
                      <a:r>
                        <a:rPr lang="fr-FR" sz="2100" b="1" kern="12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Anneau</a:t>
                      </a:r>
                    </a:p>
                  </a:txBody>
                  <a:tcPr marL="49464" marR="49464" marT="24732" marB="24732" anchor="ctr"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 marL="49464" marR="49464" marT="24732" marB="24732" anchor="ctr"/>
                </a:tc>
                <a:tc>
                  <a:txBody>
                    <a:bodyPr/>
                    <a:lstStyle/>
                    <a:p>
                      <a:r>
                        <a:rPr lang="fr-FR" sz="2100" dirty="0">
                          <a:latin typeface="Georgia" panose="02040502050405020303" pitchFamily="18" charset="0"/>
                        </a:rPr>
                        <a:t>Chaque ordinateur est relié au suivant. Données circulent en boucle.</a:t>
                      </a:r>
                    </a:p>
                  </a:txBody>
                  <a:tcPr marL="49464" marR="49464" marT="24732" marB="24732" anchor="ctr"/>
                </a:tc>
                <a:extLst>
                  <a:ext uri="{0D108BD9-81ED-4DB2-BD59-A6C34878D82A}">
                    <a16:rowId xmlns:a16="http://schemas.microsoft.com/office/drawing/2014/main" val="3362563680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870523E4-3B82-42CC-BC48-50B8C1BEFD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6" t="26042" r="68634" b="59375"/>
          <a:stretch/>
        </p:blipFill>
        <p:spPr>
          <a:xfrm>
            <a:off x="4470400" y="2159000"/>
            <a:ext cx="3556000" cy="1422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8E6960-D051-4C97-9248-BBFDD06443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0" t="43750" r="70800" b="34012"/>
          <a:stretch/>
        </p:blipFill>
        <p:spPr>
          <a:xfrm>
            <a:off x="4480689" y="3581400"/>
            <a:ext cx="3545711" cy="1422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7E4132-67CD-4056-AB9E-B47A8E346E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00" t="35416" r="6800" b="41666"/>
          <a:stretch/>
        </p:blipFill>
        <p:spPr>
          <a:xfrm>
            <a:off x="4470400" y="5039784"/>
            <a:ext cx="3555999" cy="14372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F96531-DA59-445D-B8ED-63B7AE292C52}"/>
              </a:ext>
            </a:extLst>
          </p:cNvPr>
          <p:cNvSpPr txBox="1"/>
          <p:nvPr/>
        </p:nvSpPr>
        <p:spPr>
          <a:xfrm>
            <a:off x="8018684" y="3909498"/>
            <a:ext cx="354571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00" dirty="0">
                <a:latin typeface="Georgia" panose="02040502050405020303" pitchFamily="18" charset="0"/>
              </a:rPr>
              <a:t>Chaque PC est relié à un point central .</a:t>
            </a:r>
          </a:p>
          <a:p>
            <a:endParaRPr lang="fr-FR" sz="2100" b="1" dirty="0">
              <a:latin typeface="Comic Sans MS" panose="030F07020303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71B4A-F97F-4BDB-BCD8-A283DAC20A4F}"/>
              </a:ext>
            </a:extLst>
          </p:cNvPr>
          <p:cNvSpPr txBox="1"/>
          <p:nvPr/>
        </p:nvSpPr>
        <p:spPr>
          <a:xfrm>
            <a:off x="1483489" y="2814851"/>
            <a:ext cx="914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00" b="1" dirty="0">
                <a:latin typeface="Comic Sans MS" panose="030F0702030302020204" pitchFamily="66" charset="0"/>
              </a:rPr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1049262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4258</TotalTime>
  <Words>671</Words>
  <Application>Microsoft Office PowerPoint</Application>
  <PresentationFormat>Widescreen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Abadi</vt:lpstr>
      <vt:lpstr>Aldhabi</vt:lpstr>
      <vt:lpstr>Arial</vt:lpstr>
      <vt:lpstr>Calibri</vt:lpstr>
      <vt:lpstr>Calibri Light</vt:lpstr>
      <vt:lpstr>Comic Sans MS</vt:lpstr>
      <vt:lpstr>Courier New</vt:lpstr>
      <vt:lpstr>DejaVu Serif</vt:lpstr>
      <vt:lpstr>DejaVu Serif Bold</vt:lpstr>
      <vt:lpstr>Georgia</vt:lpstr>
      <vt:lpstr>Poppins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N°. 1</vt:lpstr>
      <vt:lpstr>Question N°. 2</vt:lpstr>
      <vt:lpstr>PowerPoint Presentation</vt:lpstr>
      <vt:lpstr>Question N°.3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74</cp:revision>
  <dcterms:created xsi:type="dcterms:W3CDTF">2025-09-27T13:59:56Z</dcterms:created>
  <dcterms:modified xsi:type="dcterms:W3CDTF">2025-12-16T20:58:12Z</dcterms:modified>
</cp:coreProperties>
</file>