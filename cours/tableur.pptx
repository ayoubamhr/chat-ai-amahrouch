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59" r:id="rId3"/>
    <p:sldId id="298" r:id="rId4"/>
    <p:sldId id="300" r:id="rId5"/>
    <p:sldId id="301" r:id="rId6"/>
    <p:sldId id="263" r:id="rId7"/>
    <p:sldId id="365" r:id="rId8"/>
    <p:sldId id="366" r:id="rId9"/>
    <p:sldId id="367" r:id="rId10"/>
    <p:sldId id="368" r:id="rId11"/>
    <p:sldId id="373" r:id="rId12"/>
    <p:sldId id="372" r:id="rId13"/>
    <p:sldId id="371" r:id="rId14"/>
    <p:sldId id="369" r:id="rId15"/>
    <p:sldId id="370" r:id="rId16"/>
    <p:sldId id="360" r:id="rId17"/>
    <p:sldId id="363" r:id="rId18"/>
    <p:sldId id="377" r:id="rId19"/>
    <p:sldId id="362" r:id="rId20"/>
    <p:sldId id="364" r:id="rId21"/>
    <p:sldId id="289" r:id="rId22"/>
    <p:sldId id="374" r:id="rId23"/>
    <p:sldId id="375" r:id="rId24"/>
    <p:sldId id="376" r:id="rId25"/>
    <p:sldId id="322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96" autoAdjust="0"/>
    <p:restoredTop sz="94660"/>
  </p:normalViewPr>
  <p:slideViewPr>
    <p:cSldViewPr snapToGrid="0">
      <p:cViewPr>
        <p:scale>
          <a:sx n="66" d="100"/>
          <a:sy n="66" d="100"/>
        </p:scale>
        <p:origin x="1354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C2482-C93C-4244-AF51-3DB508796362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62455-04AA-4E95-B9B2-A90818A1A9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5587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7123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45CCB-5575-4915-8C1B-AF300811F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32EEA-B0D2-4264-A6E4-C44C4A43D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062AE-E14D-4433-B380-F589D315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FBAF7-F900-409F-9016-3D451D0BE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A68C1-8BF4-4941-8CEE-3B0ADE6A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968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60F18-502D-4669-862E-E90B49DD9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728C3-7358-4E8D-AC56-6F6BD7CDE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98E5B-A711-4AD3-A667-E08BCDE7D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E0DEF-7F51-4272-9853-FE98CC154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EB580-22DA-4E05-9302-889D5D1C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12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E5524-7CD6-4630-8442-EB8EDDC1A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A90A93-F76E-4C77-802B-138664B3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B49C3-B9AB-4187-9458-329B32628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9F963-DAD1-4AE9-A44B-383323CE6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DAE04-0442-4F76-A695-AE6023F5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111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701EC-2E2B-4695-813B-32B3D6CD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735C-B0E2-493B-8F46-B5BEA34942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5345F-7F6C-40AB-B348-B2C93E484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30901-C072-4F27-86CC-E5A2D792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704C2-85FC-485B-9C44-93D8D2F8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B511E-3467-4D5C-9D73-330BF58B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262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03F7-38B9-4630-8191-00C52A85C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AFDB5-37BF-41EE-8895-86DCD39D1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54FAF-60F7-4ADE-950E-655A384BC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4D5613-8287-45C3-8192-B9C8A6D5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248F4-3BAC-43EB-8833-4E478AAA94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88022-E433-4644-BA19-F503335B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3B30F1-B97E-4281-A6E9-57B6EC24B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1EB42D-9117-4E54-A38D-DB45087D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01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B2A7-F18D-4C6B-BD8E-BF46EE88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37EDCC-5123-4AE8-BF11-654F3BCC2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A4A97-B130-4692-B03F-971E67717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64C76B-1E98-43A9-B1D5-B63034445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307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82417-F527-448A-9794-6CF109DB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52EF4A-43DC-4613-AF20-0142A6F8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E6C80-7E1A-468D-B62E-8987E474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3999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8DFB-B2AC-45FC-91D2-A8565963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13A0A-9A79-4A39-88E1-9D77DF948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37A17-546A-4540-B1B4-F294A2DBF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22786-8D2A-4428-8D97-65DE0B60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40274-EB53-4A70-A935-BDEBE37C4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50857-6AD1-493C-8A20-938154040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649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B580-956D-4F97-B962-8CECC1942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2436C-199C-4F1B-9565-7B2E47956F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F96C8-D863-42E5-87EC-3BA1E8BA8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964B9-12AB-4197-BDE8-E4E0A8941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7B79E2-42F5-4375-9D6C-48E7EA31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EC6AC-83D2-4919-8889-A360D2BA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8409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535E-F29E-42D5-8A79-8D09B709B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4B4F6-106E-495D-9DC4-ADD4A2377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8F2D-0F6B-4090-A2C7-779AB956D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EED53-D1A7-4DF7-84F8-C36D8F58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CEE6D-6A65-4F0D-A30D-3CF6A384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2980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C65AA1-7AFC-443B-BEBD-FC51E7D314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735DB-FF04-4066-95B5-FF76AF2CA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A17F-0728-4926-84C9-99FDDC07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0F80-408F-4B84-B5F8-B495062EFBE8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68E41-355C-4DFC-802E-14218C77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34FBE-4628-4841-980D-ADCB478C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8352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6000">
              <a:schemeClr val="accent1">
                <a:lumMod val="5000"/>
                <a:lumOff val="95000"/>
              </a:schemeClr>
            </a:gs>
            <a:gs pos="66000">
              <a:schemeClr val="accent6">
                <a:lumMod val="40000"/>
                <a:lumOff val="60000"/>
              </a:schemeClr>
            </a:gs>
            <a:gs pos="88000">
              <a:srgbClr val="92D050"/>
            </a:gs>
            <a:gs pos="100000">
              <a:srgbClr val="00B050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17AC2-28D4-491D-B056-18C068D7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3BF4A-EE80-452F-BC60-232217112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3F9CD-CCB9-41F7-9239-54CC4E26D8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00F80-408F-4B84-B5F8-B495062EFBE8}" type="datetimeFigureOut">
              <a:rPr lang="fr-FR" smtClean="0"/>
              <a:t>06/04/2026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E1026-DBB6-4C08-A762-B54BBD550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DA5D9-6CAC-431F-A708-1F826FC63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6134C-E273-463E-BEED-E5806E145D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17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CF7BC0F-EFCF-4BB1-96CA-DD8FF908BF60}"/>
              </a:ext>
            </a:extLst>
          </p:cNvPr>
          <p:cNvGrpSpPr/>
          <p:nvPr/>
        </p:nvGrpSpPr>
        <p:grpSpPr>
          <a:xfrm>
            <a:off x="0" y="1846580"/>
            <a:ext cx="12192000" cy="966034"/>
            <a:chOff x="0" y="1300071"/>
            <a:chExt cx="12192000" cy="1194211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6" name="Group 2">
              <a:extLst>
                <a:ext uri="{FF2B5EF4-FFF2-40B4-BE49-F238E27FC236}">
                  <a16:creationId xmlns:a16="http://schemas.microsoft.com/office/drawing/2014/main" id="{ACDAF367-CC7A-4EB5-A3DB-DE06FD2A39F5}"/>
                </a:ext>
              </a:extLst>
            </p:cNvPr>
            <p:cNvGrpSpPr/>
            <p:nvPr/>
          </p:nvGrpSpPr>
          <p:grpSpPr>
            <a:xfrm>
              <a:off x="0" y="1700568"/>
              <a:ext cx="12192000" cy="783552"/>
              <a:chOff x="0" y="0"/>
              <a:chExt cx="4988065" cy="385799"/>
            </a:xfrm>
            <a:grpFill/>
          </p:grpSpPr>
          <p:sp>
            <p:nvSpPr>
              <p:cNvPr id="7" name="Freeform 3">
                <a:extLst>
                  <a:ext uri="{FF2B5EF4-FFF2-40B4-BE49-F238E27FC236}">
                    <a16:creationId xmlns:a16="http://schemas.microsoft.com/office/drawing/2014/main" id="{C9279D21-0EF3-4140-AEB6-6BE58791B678}"/>
                  </a:ext>
                </a:extLst>
              </p:cNvPr>
              <p:cNvSpPr/>
              <p:nvPr/>
            </p:nvSpPr>
            <p:spPr>
              <a:xfrm>
                <a:off x="0" y="0"/>
                <a:ext cx="4988065" cy="385799"/>
              </a:xfrm>
              <a:custGeom>
                <a:avLst/>
                <a:gdLst/>
                <a:ahLst/>
                <a:cxnLst/>
                <a:rect l="l" t="t" r="r" b="b"/>
                <a:pathLst>
                  <a:path w="4988065" h="385799">
                    <a:moveTo>
                      <a:pt x="0" y="0"/>
                    </a:moveTo>
                    <a:lnTo>
                      <a:pt x="4988065" y="0"/>
                    </a:lnTo>
                    <a:lnTo>
                      <a:pt x="4988065" y="385799"/>
                    </a:lnTo>
                    <a:lnTo>
                      <a:pt x="0" y="385799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8" name="TextBox 4">
                <a:extLst>
                  <a:ext uri="{FF2B5EF4-FFF2-40B4-BE49-F238E27FC236}">
                    <a16:creationId xmlns:a16="http://schemas.microsoft.com/office/drawing/2014/main" id="{81BF4A2C-89F2-4CD5-A915-8702FCB0702B}"/>
                  </a:ext>
                </a:extLst>
              </p:cNvPr>
              <p:cNvSpPr txBox="1"/>
              <p:nvPr/>
            </p:nvSpPr>
            <p:spPr>
              <a:xfrm>
                <a:off x="0" y="28575"/>
                <a:ext cx="4988065" cy="357224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1"/>
                  </a:lnSpc>
                </a:pPr>
                <a:endParaRPr dirty="0"/>
              </a:p>
            </p:txBody>
          </p:sp>
        </p:grpSp>
        <p:sp>
          <p:nvSpPr>
            <p:cNvPr id="12" name="TextBox 9">
              <a:extLst>
                <a:ext uri="{FF2B5EF4-FFF2-40B4-BE49-F238E27FC236}">
                  <a16:creationId xmlns:a16="http://schemas.microsoft.com/office/drawing/2014/main" id="{84B50431-556A-4CB1-9245-727D28A61EC4}"/>
                </a:ext>
              </a:extLst>
            </p:cNvPr>
            <p:cNvSpPr txBox="1"/>
            <p:nvPr/>
          </p:nvSpPr>
          <p:spPr>
            <a:xfrm>
              <a:off x="40640" y="1300071"/>
              <a:ext cx="3639820" cy="11942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743"/>
                </a:lnSpc>
                <a:spcBef>
                  <a:spcPct val="0"/>
                </a:spcBef>
              </a:pPr>
              <a:r>
                <a:rPr lang="en-US" sz="3600" b="1" dirty="0">
                  <a:latin typeface="Poppins Bold"/>
                  <a:ea typeface="Poppins Bold"/>
                  <a:cs typeface="Poppins Bold"/>
                  <a:sym typeface="Poppins Bold"/>
                </a:rPr>
                <a:t>INFORMATIQUE</a:t>
              </a:r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132FBDB5-A7F1-455A-B3AF-B3B12B5B321A}"/>
              </a:ext>
            </a:extLst>
          </p:cNvPr>
          <p:cNvSpPr txBox="1"/>
          <p:nvPr/>
        </p:nvSpPr>
        <p:spPr>
          <a:xfrm>
            <a:off x="165120" y="6321828"/>
            <a:ext cx="3257324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i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Pr. AMAHROUCH Ayoub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F1809D-6695-4FB7-BD39-1610A39BD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796" y="38909"/>
            <a:ext cx="9347139" cy="1276655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E6361432-DCD2-44DD-81A0-A091E3E123B7}"/>
              </a:ext>
            </a:extLst>
          </p:cNvPr>
          <p:cNvSpPr txBox="1"/>
          <p:nvPr/>
        </p:nvSpPr>
        <p:spPr>
          <a:xfrm>
            <a:off x="2364926" y="4138151"/>
            <a:ext cx="5454041" cy="1042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44"/>
              </a:lnSpc>
              <a:spcBef>
                <a:spcPct val="0"/>
              </a:spcBef>
            </a:pPr>
            <a:r>
              <a:rPr lang="en-US" sz="7000" b="1" i="1" dirty="0">
                <a:solidFill>
                  <a:schemeClr val="accent6">
                    <a:lumMod val="50000"/>
                  </a:schemeClr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Le </a:t>
            </a:r>
            <a:r>
              <a:rPr lang="en-US" sz="7000" b="1" i="1" dirty="0" err="1">
                <a:solidFill>
                  <a:schemeClr val="accent6">
                    <a:lumMod val="50000"/>
                  </a:schemeClr>
                </a:solidFill>
                <a:latin typeface="Comic Sans MS" panose="030F0702030302020204" pitchFamily="66" charset="0"/>
                <a:ea typeface="Poppins Bold"/>
                <a:cs typeface="Poppins Bold"/>
                <a:sym typeface="Poppins Bold"/>
              </a:rPr>
              <a:t>tableur</a:t>
            </a:r>
            <a:endParaRPr lang="en-US" sz="7000" b="1" i="1" dirty="0">
              <a:solidFill>
                <a:schemeClr val="accent6">
                  <a:lumMod val="50000"/>
                </a:schemeClr>
              </a:solidFill>
              <a:latin typeface="Comic Sans MS" panose="030F0702030302020204" pitchFamily="66" charset="0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5536A886-117E-4348-86DA-6A7D00A50486}"/>
              </a:ext>
            </a:extLst>
          </p:cNvPr>
          <p:cNvSpPr txBox="1"/>
          <p:nvPr/>
        </p:nvSpPr>
        <p:spPr>
          <a:xfrm>
            <a:off x="10622917" y="6306124"/>
            <a:ext cx="1283559" cy="53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00" b="1" dirty="0">
                <a:solidFill>
                  <a:srgbClr val="000000"/>
                </a:solidFill>
                <a:latin typeface="Aldhabi" panose="01000000000000000000" pitchFamily="2" charset="-78"/>
                <a:ea typeface="Open Sans Bold"/>
                <a:cs typeface="Aldhabi" panose="01000000000000000000" pitchFamily="2" charset="-78"/>
                <a:sym typeface="Open Sans Bold"/>
              </a:rPr>
              <a:t>2025/2026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3287DA-EBB1-4397-850B-2D3B184FFFFC}"/>
              </a:ext>
            </a:extLst>
          </p:cNvPr>
          <p:cNvSpPr txBox="1"/>
          <p:nvPr/>
        </p:nvSpPr>
        <p:spPr>
          <a:xfrm>
            <a:off x="2364926" y="1277766"/>
            <a:ext cx="728285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Académie Régionale de l'Éducation et de la Formation de Béni Mellal-</a:t>
            </a:r>
            <a:r>
              <a:rPr lang="fr-FR" sz="1600" dirty="0" err="1">
                <a:solidFill>
                  <a:srgbClr val="303030"/>
                </a:solidFill>
                <a:latin typeface="Abadi" panose="020B0604020104020204" pitchFamily="34" charset="0"/>
              </a:rPr>
              <a:t>Khénifra</a:t>
            </a:r>
            <a:endParaRPr lang="fr-FR" sz="1600" dirty="0">
              <a:solidFill>
                <a:srgbClr val="303030"/>
              </a:solidFill>
              <a:latin typeface="Abadi" panose="020B0604020104020204" pitchFamily="34" charset="0"/>
            </a:endParaRP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Direction Provinciale Khouribga</a:t>
            </a:r>
          </a:p>
          <a:p>
            <a:pPr algn="ctr"/>
            <a:r>
              <a:rPr lang="fr-FR" sz="1600" dirty="0">
                <a:solidFill>
                  <a:srgbClr val="303030"/>
                </a:solidFill>
                <a:latin typeface="Abadi" panose="020B0604020104020204" pitchFamily="34" charset="0"/>
              </a:rPr>
              <a:t>Collège Aït Ammar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D0C943-CF19-41F3-994D-661BA6C9A0AA}"/>
              </a:ext>
            </a:extLst>
          </p:cNvPr>
          <p:cNvSpPr txBox="1"/>
          <p:nvPr/>
        </p:nvSpPr>
        <p:spPr>
          <a:xfrm>
            <a:off x="0" y="2898278"/>
            <a:ext cx="2626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800" b="1" i="0" u="none" strike="noStrike" dirty="0">
                <a:solidFill>
                  <a:srgbClr val="00B050"/>
                </a:solidFill>
                <a:effectLst/>
                <a:latin typeface="Calibri" panose="020F0502020204030204" pitchFamily="34" charset="0"/>
              </a:rPr>
              <a:t>Unité 3 :  LE TABLEUR. </a:t>
            </a:r>
          </a:p>
          <a:p>
            <a:r>
              <a:rPr lang="fr-FR" b="1" dirty="0">
                <a:solidFill>
                  <a:srgbClr val="00B050"/>
                </a:solidFill>
                <a:latin typeface="Calibri" panose="020F0502020204030204" pitchFamily="34" charset="0"/>
              </a:rPr>
              <a:t>Séquence 1 : </a:t>
            </a:r>
            <a:r>
              <a:rPr lang="en-US" b="1" dirty="0">
                <a:solidFill>
                  <a:srgbClr val="00B050"/>
                </a:solidFill>
                <a:latin typeface="Calibri" panose="020F0502020204030204" pitchFamily="34" charset="0"/>
                <a:sym typeface="Poppins Bold"/>
              </a:rPr>
              <a:t>Le </a:t>
            </a:r>
            <a:r>
              <a:rPr lang="en-US" b="1" dirty="0" err="1">
                <a:solidFill>
                  <a:srgbClr val="00B050"/>
                </a:solidFill>
                <a:latin typeface="Calibri" panose="020F0502020204030204" pitchFamily="34" charset="0"/>
                <a:sym typeface="Poppins Bold"/>
              </a:rPr>
              <a:t>tableur</a:t>
            </a:r>
            <a:r>
              <a:rPr lang="fr-FR" b="1" dirty="0">
                <a:solidFill>
                  <a:srgbClr val="00B050"/>
                </a:solidFill>
                <a:latin typeface="Calibri" panose="020F0502020204030204" pitchFamily="34" charset="0"/>
              </a:rPr>
              <a:t>. </a:t>
            </a:r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F694E9F3-D746-47AD-9FB5-A655E469C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0176" y="2686150"/>
            <a:ext cx="4389518" cy="438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052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8ED6B3-DFE6-4A10-B465-359D8BFF0BAA}"/>
              </a:ext>
            </a:extLst>
          </p:cNvPr>
          <p:cNvSpPr txBox="1"/>
          <p:nvPr/>
        </p:nvSpPr>
        <p:spPr>
          <a:xfrm>
            <a:off x="5097680" y="-33367"/>
            <a:ext cx="1813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b="1" i="0" dirty="0">
                <a:solidFill>
                  <a:schemeClr val="accent6">
                    <a:lumMod val="50000"/>
                  </a:schemeClr>
                </a:solidFill>
                <a:effectLst/>
                <a:latin typeface="Roboto" panose="02000000000000000000" pitchFamily="2" charset="0"/>
              </a:rPr>
              <a:t> Activité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799E86-C7A6-4E50-9098-2912320AD594}"/>
              </a:ext>
            </a:extLst>
          </p:cNvPr>
          <p:cNvSpPr txBox="1"/>
          <p:nvPr/>
        </p:nvSpPr>
        <p:spPr>
          <a:xfrm>
            <a:off x="496121" y="3530184"/>
            <a:ext cx="50944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Avec la  calculatrice, le calcul se fait </a:t>
            </a:r>
          </a:p>
          <a:p>
            <a:r>
              <a:rPr lang="fr-FR" sz="2400" dirty="0"/>
              <a:t>plus vite et le  risque de commettre des erreurs est faible.  Mais elle a quelques</a:t>
            </a:r>
          </a:p>
          <a:p>
            <a:r>
              <a:rPr lang="fr-FR" sz="2400" dirty="0"/>
              <a:t>limites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A37C22-2726-467E-BC14-13784D3A8E21}"/>
              </a:ext>
            </a:extLst>
          </p:cNvPr>
          <p:cNvSpPr txBox="1"/>
          <p:nvPr/>
        </p:nvSpPr>
        <p:spPr>
          <a:xfrm>
            <a:off x="6474106" y="3518609"/>
            <a:ext cx="571017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Avec un logiciel de calcul, on peut effectuer un calcul plus complexe est représentée les résultat de calcul sous forme de graphique etc.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FB3C29-A5C9-4423-B8D9-452F6E24E046}"/>
              </a:ext>
            </a:extLst>
          </p:cNvPr>
          <p:cNvSpPr txBox="1"/>
          <p:nvPr/>
        </p:nvSpPr>
        <p:spPr>
          <a:xfrm>
            <a:off x="819150" y="105827"/>
            <a:ext cx="4159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Que représente cette image 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E2B86E-726F-4323-954F-4A0935D78BDE}"/>
              </a:ext>
            </a:extLst>
          </p:cNvPr>
          <p:cNvSpPr txBox="1"/>
          <p:nvPr/>
        </p:nvSpPr>
        <p:spPr>
          <a:xfrm>
            <a:off x="7479131" y="105827"/>
            <a:ext cx="4159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Que représente cette image 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E21DA8-E762-41E8-B759-21840CC66403}"/>
              </a:ext>
            </a:extLst>
          </p:cNvPr>
          <p:cNvSpPr txBox="1"/>
          <p:nvPr/>
        </p:nvSpPr>
        <p:spPr>
          <a:xfrm>
            <a:off x="1071526" y="5321458"/>
            <a:ext cx="10896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Avec  un calculatrice le risque de l’erreur de calcul est réduit 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Cite quelques limitations de calcul avec la calculatrice.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Ces limitations seront-elles surpassées avec l’outil informatique ?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5539CAD-A87D-476B-AC48-7D34FBADE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776715"/>
            <a:ext cx="2617560" cy="26175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598811F-08FA-4626-B995-A728CB672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944" y="651425"/>
            <a:ext cx="5054022" cy="284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839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numéro de diapositive 12">
            <a:extLst>
              <a:ext uri="{FF2B5EF4-FFF2-40B4-BE49-F238E27FC236}">
                <a16:creationId xmlns:a16="http://schemas.microsoft.com/office/drawing/2014/main" id="{6DEA2140-2EB1-415F-8469-0F516C27C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7CD49EA-5B67-4AAA-B86D-F1B0C798D823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21" name="AutoShape 4" descr="http://www.gelgabon.net/_/rsrc/1243686138086/materiels-et-logiciels/le-wifi/liaison-wifi-entre-2-PC.jpg">
            <a:extLst>
              <a:ext uri="{FF2B5EF4-FFF2-40B4-BE49-F238E27FC236}">
                <a16:creationId xmlns:a16="http://schemas.microsoft.com/office/drawing/2014/main" id="{618379B4-A1AD-4EB0-8D2F-DDB73470E9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2" name="Espace réservé du contenu 18">
            <a:extLst>
              <a:ext uri="{FF2B5EF4-FFF2-40B4-BE49-F238E27FC236}">
                <a16:creationId xmlns:a16="http://schemas.microsoft.com/office/drawing/2014/main" id="{232F1A58-F3AC-4921-A3B1-A2E79AB09F6D}"/>
              </a:ext>
            </a:extLst>
          </p:cNvPr>
          <p:cNvSpPr txBox="1">
            <a:spLocks/>
          </p:cNvSpPr>
          <p:nvPr/>
        </p:nvSpPr>
        <p:spPr>
          <a:xfrm>
            <a:off x="218890" y="1000395"/>
            <a:ext cx="12024360" cy="796925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Un tableur</a:t>
            </a:r>
            <a:r>
              <a:rPr lang="fr-FR" dirty="0"/>
              <a:t> est un </a:t>
            </a:r>
            <a:r>
              <a:rPr lang="fr-FR" b="1" dirty="0"/>
              <a:t>logiciel d’application </a:t>
            </a:r>
            <a:r>
              <a:rPr lang="fr-FR" dirty="0"/>
              <a:t>servant à la création et à la manipulation de </a:t>
            </a:r>
            <a:r>
              <a:rPr lang="fr-FR" b="1" dirty="0"/>
              <a:t>tableaux numériques de calcul</a:t>
            </a:r>
            <a:r>
              <a:rPr lang="fr-FR" dirty="0"/>
              <a:t>.</a:t>
            </a:r>
            <a:endParaRPr lang="fr-FR" sz="2000" dirty="0"/>
          </a:p>
          <a:p>
            <a:pPr lvl="1"/>
            <a:endParaRPr lang="fr-FR" sz="1800" dirty="0"/>
          </a:p>
        </p:txBody>
      </p:sp>
      <p:sp>
        <p:nvSpPr>
          <p:cNvPr id="23" name="Titre 7">
            <a:extLst>
              <a:ext uri="{FF2B5EF4-FFF2-40B4-BE49-F238E27FC236}">
                <a16:creationId xmlns:a16="http://schemas.microsoft.com/office/drawing/2014/main" id="{C21B134F-5217-4288-97BC-982A3EF6FBCF}"/>
              </a:ext>
            </a:extLst>
          </p:cNvPr>
          <p:cNvSpPr txBox="1">
            <a:spLocks/>
          </p:cNvSpPr>
          <p:nvPr/>
        </p:nvSpPr>
        <p:spPr>
          <a:xfrm>
            <a:off x="0" y="319827"/>
            <a:ext cx="10972800" cy="489790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Le tableur :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87E0B01-FE87-4C0E-90CD-41F81630D34A}"/>
              </a:ext>
            </a:extLst>
          </p:cNvPr>
          <p:cNvSpPr txBox="1"/>
          <p:nvPr/>
        </p:nvSpPr>
        <p:spPr>
          <a:xfrm>
            <a:off x="1546795" y="2085382"/>
            <a:ext cx="9334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Il existe plusieurs </a:t>
            </a:r>
            <a:r>
              <a:rPr lang="fr-FR" sz="2800" b="1" dirty="0"/>
              <a:t>tableurs</a:t>
            </a:r>
            <a:r>
              <a:rPr lang="fr-FR" sz="2800" dirty="0"/>
              <a:t> comme, par exemple: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F5DBE76E-8E60-4526-A38C-77805B44BAC9}"/>
              </a:ext>
            </a:extLst>
          </p:cNvPr>
          <p:cNvSpPr txBox="1"/>
          <p:nvPr/>
        </p:nvSpPr>
        <p:spPr>
          <a:xfrm>
            <a:off x="2195443" y="4583087"/>
            <a:ext cx="2286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Quattro pro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FDA5FCC-107C-4534-BA0A-B172AC96B6BC}"/>
              </a:ext>
            </a:extLst>
          </p:cNvPr>
          <p:cNvSpPr txBox="1"/>
          <p:nvPr/>
        </p:nvSpPr>
        <p:spPr>
          <a:xfrm>
            <a:off x="5655087" y="4583087"/>
            <a:ext cx="2667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Openoffice Calc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4A4AE0C-A82E-49D5-A802-1F6619DBB255}"/>
              </a:ext>
            </a:extLst>
          </p:cNvPr>
          <p:cNvSpPr txBox="1"/>
          <p:nvPr/>
        </p:nvSpPr>
        <p:spPr>
          <a:xfrm>
            <a:off x="8934507" y="4570673"/>
            <a:ext cx="2286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Microsoft Excel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110B282-3442-4AC5-9748-B41489108EAA}"/>
              </a:ext>
            </a:extLst>
          </p:cNvPr>
          <p:cNvSpPr txBox="1"/>
          <p:nvPr/>
        </p:nvSpPr>
        <p:spPr>
          <a:xfrm>
            <a:off x="1188686" y="5857892"/>
            <a:ext cx="9334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highlight>
                  <a:srgbClr val="FFFF00"/>
                </a:highlight>
              </a:rPr>
              <a:t>Dans ce qui suit, on va utiliser  Microsoft Excel </a:t>
            </a:r>
          </a:p>
          <a:p>
            <a:endParaRPr lang="fr-FR" sz="2000" b="1" dirty="0"/>
          </a:p>
        </p:txBody>
      </p:sp>
      <p:pic>
        <p:nvPicPr>
          <p:cNvPr id="30" name="Picture 3" descr="D:\my el mehdi salhi\indexd.jpg">
            <a:extLst>
              <a:ext uri="{FF2B5EF4-FFF2-40B4-BE49-F238E27FC236}">
                <a16:creationId xmlns:a16="http://schemas.microsoft.com/office/drawing/2014/main" id="{EF1A419C-14E0-4560-B740-E4FE20A91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38236" y="3070747"/>
            <a:ext cx="3400431" cy="1375174"/>
          </a:xfrm>
          <a:prstGeom prst="rect">
            <a:avLst/>
          </a:prstGeom>
          <a:noFill/>
        </p:spPr>
      </p:pic>
      <p:pic>
        <p:nvPicPr>
          <p:cNvPr id="31" name="Picture 4" descr="D:\my el mehdi salhi\LibreOffice_3.3.1_Calc_Icon.png">
            <a:extLst>
              <a:ext uri="{FF2B5EF4-FFF2-40B4-BE49-F238E27FC236}">
                <a16:creationId xmlns:a16="http://schemas.microsoft.com/office/drawing/2014/main" id="{2175555E-33BB-4F5A-94FB-B4D56493A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19766" y="3083109"/>
            <a:ext cx="1440666" cy="1329846"/>
          </a:xfrm>
          <a:prstGeom prst="rect">
            <a:avLst/>
          </a:prstGeom>
          <a:noFill/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9042D343-AFBB-4386-878A-23CFEADEE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4507" y="2771688"/>
            <a:ext cx="1990661" cy="2043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635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du numéro de diapositive 12">
            <a:extLst>
              <a:ext uri="{FF2B5EF4-FFF2-40B4-BE49-F238E27FC236}">
                <a16:creationId xmlns:a16="http://schemas.microsoft.com/office/drawing/2014/main" id="{6DEA2140-2EB1-415F-8469-0F516C27C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7CD49EA-5B67-4AAA-B86D-F1B0C798D823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21" name="AutoShape 4" descr="http://www.gelgabon.net/_/rsrc/1243686138086/materiels-et-logiciels/le-wifi/liaison-wifi-entre-2-PC.jpg">
            <a:extLst>
              <a:ext uri="{FF2B5EF4-FFF2-40B4-BE49-F238E27FC236}">
                <a16:creationId xmlns:a16="http://schemas.microsoft.com/office/drawing/2014/main" id="{618379B4-A1AD-4EB0-8D2F-DDB73470E9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2" name="Espace réservé du contenu 18">
            <a:extLst>
              <a:ext uri="{FF2B5EF4-FFF2-40B4-BE49-F238E27FC236}">
                <a16:creationId xmlns:a16="http://schemas.microsoft.com/office/drawing/2014/main" id="{232F1A58-F3AC-4921-A3B1-A2E79AB09F6D}"/>
              </a:ext>
            </a:extLst>
          </p:cNvPr>
          <p:cNvSpPr txBox="1">
            <a:spLocks/>
          </p:cNvSpPr>
          <p:nvPr/>
        </p:nvSpPr>
        <p:spPr>
          <a:xfrm>
            <a:off x="1007803" y="1075286"/>
            <a:ext cx="10176394" cy="41865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600" dirty="0"/>
              <a:t>Au moyen d’un tableur , on peut:</a:t>
            </a:r>
          </a:p>
          <a:p>
            <a:pPr marL="0" indent="0">
              <a:buNone/>
            </a:pPr>
            <a:endParaRPr lang="fr-FR" sz="3600" dirty="0"/>
          </a:p>
          <a:p>
            <a:pPr lvl="1"/>
            <a:r>
              <a:rPr lang="fr-FR" sz="3200" dirty="0"/>
              <a:t>Editer une feuille de calcul.</a:t>
            </a:r>
          </a:p>
          <a:p>
            <a:pPr lvl="1"/>
            <a:r>
              <a:rPr lang="fr-FR" sz="3200" dirty="0"/>
              <a:t>Mettre en forme une feuille de calcul.</a:t>
            </a:r>
          </a:p>
          <a:p>
            <a:pPr lvl="1"/>
            <a:r>
              <a:rPr lang="fr-FR" sz="3200" dirty="0"/>
              <a:t>Utiliser  des fonctions prédéfinies pour faire des calculs mathématiques.</a:t>
            </a:r>
          </a:p>
          <a:p>
            <a:pPr lvl="1"/>
            <a:r>
              <a:rPr lang="fr-FR" sz="3200" dirty="0"/>
              <a:t>Réaliser des graphiques. </a:t>
            </a:r>
          </a:p>
          <a:p>
            <a:pPr lvl="1"/>
            <a:r>
              <a:rPr lang="fr-FR" sz="3200" dirty="0"/>
              <a:t>Mettre en page et imprimer le document</a:t>
            </a:r>
          </a:p>
          <a:p>
            <a:pPr marL="0" indent="0">
              <a:buNone/>
            </a:pPr>
            <a:endParaRPr lang="fr-FR" sz="2800" dirty="0"/>
          </a:p>
          <a:p>
            <a:pPr lvl="1"/>
            <a:endParaRPr lang="fr-FR" sz="1800" dirty="0"/>
          </a:p>
        </p:txBody>
      </p:sp>
      <p:sp>
        <p:nvSpPr>
          <p:cNvPr id="23" name="Titre 7">
            <a:extLst>
              <a:ext uri="{FF2B5EF4-FFF2-40B4-BE49-F238E27FC236}">
                <a16:creationId xmlns:a16="http://schemas.microsoft.com/office/drawing/2014/main" id="{C21B134F-5217-4288-97BC-982A3EF6FBCF}"/>
              </a:ext>
            </a:extLst>
          </p:cNvPr>
          <p:cNvSpPr txBox="1">
            <a:spLocks/>
          </p:cNvSpPr>
          <p:nvPr/>
        </p:nvSpPr>
        <p:spPr>
          <a:xfrm>
            <a:off x="0" y="319827"/>
            <a:ext cx="10972800" cy="489790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Fonctionnalités d’un tableur: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18F75CE-8C96-4292-ABBA-E2C6AAE12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436" y="5454527"/>
            <a:ext cx="1182727" cy="11827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687278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7590D3E-2AF8-431E-A18D-EFA9CB489B49}"/>
              </a:ext>
            </a:extLst>
          </p:cNvPr>
          <p:cNvSpPr txBox="1"/>
          <p:nvPr/>
        </p:nvSpPr>
        <p:spPr>
          <a:xfrm>
            <a:off x="4555960" y="0"/>
            <a:ext cx="2069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indent="-400050" algn="ctr"/>
            <a:r>
              <a:rPr lang="fr-FR" sz="3600">
                <a:solidFill>
                  <a:srgbClr val="FF0000"/>
                </a:solidFill>
              </a:rPr>
              <a:t>le tableur</a:t>
            </a:r>
            <a:endParaRPr lang="fr-FR" sz="3600" dirty="0">
              <a:solidFill>
                <a:srgbClr val="FF000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020F6E9-244D-4028-8419-D390F3A034DE}"/>
              </a:ext>
            </a:extLst>
          </p:cNvPr>
          <p:cNvSpPr txBox="1"/>
          <p:nvPr/>
        </p:nvSpPr>
        <p:spPr>
          <a:xfrm>
            <a:off x="304800" y="73176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800" b="1" u="sng" dirty="0">
                <a:solidFill>
                  <a:srgbClr val="00B050"/>
                </a:solidFill>
              </a:rPr>
              <a:t>1. Définition: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D7EBA9F-1FDA-4078-87E0-860BBC9F9BFE}"/>
              </a:ext>
            </a:extLst>
          </p:cNvPr>
          <p:cNvSpPr txBox="1"/>
          <p:nvPr/>
        </p:nvSpPr>
        <p:spPr>
          <a:xfrm>
            <a:off x="320842" y="1225008"/>
            <a:ext cx="1171073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Un tableur </a:t>
            </a:r>
            <a:r>
              <a:rPr lang="fr-FR" sz="2800" dirty="0"/>
              <a:t>est un logiciel d’application servant à la création et à la manipulation de </a:t>
            </a:r>
            <a:r>
              <a:rPr lang="fr-FR" sz="2800" b="1" dirty="0">
                <a:solidFill>
                  <a:srgbClr val="7030A0"/>
                </a:solidFill>
              </a:rPr>
              <a:t>tableaux numériques de calcul</a:t>
            </a:r>
            <a:r>
              <a:rPr lang="fr-FR" sz="2800" dirty="0"/>
              <a:t>.</a:t>
            </a:r>
          </a:p>
          <a:p>
            <a:pPr lvl="1"/>
            <a:r>
              <a:rPr lang="fr-FR" sz="2400" dirty="0"/>
              <a:t>Il existe plusieurs tableurs, par exemple: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2400" b="1" dirty="0"/>
              <a:t>Microsoft Excel.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fr-FR" sz="2400" b="1" dirty="0"/>
              <a:t>Quattro Pro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720F7AC-8C12-429F-8AD0-CD4EE5045081}"/>
              </a:ext>
            </a:extLst>
          </p:cNvPr>
          <p:cNvSpPr txBox="1"/>
          <p:nvPr/>
        </p:nvSpPr>
        <p:spPr>
          <a:xfrm>
            <a:off x="304800" y="325618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800" b="1" u="sng" dirty="0">
                <a:solidFill>
                  <a:srgbClr val="00B050"/>
                </a:solidFill>
              </a:rPr>
              <a:t>2. Fonctionnalités d’un tableur: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FED071C-53FE-4FDE-9818-39B4069FBC97}"/>
              </a:ext>
            </a:extLst>
          </p:cNvPr>
          <p:cNvSpPr txBox="1"/>
          <p:nvPr/>
        </p:nvSpPr>
        <p:spPr>
          <a:xfrm>
            <a:off x="348918" y="3885200"/>
            <a:ext cx="11710738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Au moyen d’un tableur, on peut: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800" dirty="0"/>
              <a:t>Editer une feuille de calcul.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800" dirty="0"/>
              <a:t>Mettre en forme une feuille de calcul.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800" dirty="0"/>
              <a:t>Utiliser des fonctions prédéfinies pour faire des calculs mathématiques.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800" dirty="0"/>
              <a:t>Réaliser des graphiques.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800" dirty="0"/>
              <a:t>Mettre en page et imprimer le document</a:t>
            </a:r>
          </a:p>
        </p:txBody>
      </p:sp>
    </p:spTree>
    <p:extLst>
      <p:ext uri="{BB962C8B-B14F-4D97-AF65-F5344CB8AC3E}">
        <p14:creationId xmlns:p14="http://schemas.microsoft.com/office/powerpoint/2010/main" val="1462814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8A955401-AA51-4DA0-97AA-BFE6258788CE}"/>
              </a:ext>
            </a:extLst>
          </p:cNvPr>
          <p:cNvSpPr txBox="1">
            <a:spLocks/>
          </p:cNvSpPr>
          <p:nvPr/>
        </p:nvSpPr>
        <p:spPr>
          <a:xfrm>
            <a:off x="1928674" y="1671179"/>
            <a:ext cx="8334652" cy="255792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800" b="1" dirty="0">
                <a:solidFill>
                  <a:schemeClr val="accent6">
                    <a:lumMod val="75000"/>
                  </a:schemeClr>
                </a:solidFill>
              </a:rPr>
              <a:t>Pour démarrer Microsoft Excel:</a:t>
            </a:r>
          </a:p>
          <a:p>
            <a:pPr lvl="3">
              <a:buFont typeface="Wingdings" pitchFamily="2" charset="2"/>
              <a:buChar char="Ø"/>
            </a:pPr>
            <a:r>
              <a:rPr lang="fr-FR" sz="2800" dirty="0"/>
              <a:t>Cliquer sur le bouton «</a:t>
            </a:r>
            <a:r>
              <a:rPr lang="fr-FR" sz="2800" b="1" dirty="0"/>
              <a:t> </a:t>
            </a:r>
            <a:r>
              <a:rPr lang="fr-FR" sz="2800" b="1" dirty="0">
                <a:solidFill>
                  <a:srgbClr val="FF0000"/>
                </a:solidFill>
              </a:rPr>
              <a:t>Démarrer</a:t>
            </a:r>
            <a:r>
              <a:rPr lang="fr-FR" sz="2800" dirty="0"/>
              <a:t> » </a:t>
            </a:r>
          </a:p>
          <a:p>
            <a:pPr lvl="3">
              <a:buFont typeface="Wingdings" pitchFamily="2" charset="2"/>
              <a:buChar char="Ø"/>
            </a:pPr>
            <a:r>
              <a:rPr lang="fr-FR" sz="2800" dirty="0"/>
              <a:t>Cliquer sur « </a:t>
            </a:r>
            <a:r>
              <a:rPr lang="fr-FR" sz="2800" b="1" dirty="0">
                <a:solidFill>
                  <a:srgbClr val="FF0000"/>
                </a:solidFill>
              </a:rPr>
              <a:t>tous les programmes</a:t>
            </a:r>
            <a:r>
              <a:rPr lang="fr-FR" sz="2800" dirty="0"/>
              <a:t> »</a:t>
            </a:r>
          </a:p>
          <a:p>
            <a:pPr lvl="3">
              <a:buFont typeface="Wingdings" pitchFamily="2" charset="2"/>
              <a:buChar char="Ø"/>
            </a:pPr>
            <a:r>
              <a:rPr lang="fr-FR" sz="2800" dirty="0"/>
              <a:t>Choisir « </a:t>
            </a:r>
            <a:r>
              <a:rPr lang="fr-FR" sz="2800" b="1" dirty="0">
                <a:solidFill>
                  <a:srgbClr val="FF0000"/>
                </a:solidFill>
              </a:rPr>
              <a:t>Microsoft Office</a:t>
            </a:r>
            <a:r>
              <a:rPr lang="fr-FR" sz="2800" dirty="0"/>
              <a:t> » </a:t>
            </a:r>
          </a:p>
          <a:p>
            <a:pPr lvl="3">
              <a:buFont typeface="Wingdings" pitchFamily="2" charset="2"/>
              <a:buChar char="Ø"/>
            </a:pPr>
            <a:r>
              <a:rPr lang="fr-FR" sz="2800" dirty="0"/>
              <a:t>Cliquer sur « </a:t>
            </a:r>
            <a:r>
              <a:rPr lang="fr-FR" sz="2800" b="1" dirty="0">
                <a:solidFill>
                  <a:srgbClr val="FF0000"/>
                </a:solidFill>
              </a:rPr>
              <a:t>Microsoft Office Excel </a:t>
            </a:r>
            <a:r>
              <a:rPr lang="fr-FR" sz="2800" dirty="0"/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4203785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96;p10"/>
          <p:cNvSpPr txBox="1"/>
          <p:nvPr/>
        </p:nvSpPr>
        <p:spPr>
          <a:xfrm>
            <a:off x="8321592" y="5643937"/>
            <a:ext cx="3071399" cy="522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94996"/>
              </a:lnSpc>
            </a:pPr>
            <a:r>
              <a:rPr lang="en-US" sz="3571" dirty="0">
                <a:solidFill>
                  <a:srgbClr val="426BB2"/>
                </a:solidFill>
                <a:latin typeface="Mali"/>
                <a:ea typeface="Mali"/>
                <a:cs typeface="Mali"/>
                <a:sym typeface="Mali"/>
              </a:rPr>
              <a:t> </a:t>
            </a:r>
            <a:endParaRPr sz="1200" dirty="0">
              <a:latin typeface="Mali"/>
              <a:ea typeface="Mali"/>
              <a:cs typeface="Mali"/>
              <a:sym typeface="Mali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65" y="777241"/>
            <a:ext cx="11377914" cy="6080759"/>
          </a:xfrm>
          <a:prstGeom prst="rect">
            <a:avLst/>
          </a:prstGeom>
        </p:spPr>
      </p:pic>
      <p:sp>
        <p:nvSpPr>
          <p:cNvPr id="17" name="AutoShape 2"/>
          <p:cNvSpPr>
            <a:spLocks noChangeArrowheads="1"/>
          </p:cNvSpPr>
          <p:nvPr/>
        </p:nvSpPr>
        <p:spPr bwMode="auto">
          <a:xfrm>
            <a:off x="6096000" y="126999"/>
            <a:ext cx="1361440" cy="438151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38100">
            <a:noFill/>
            <a:round/>
            <a:headEnd/>
            <a:tailEnd/>
          </a:ln>
          <a:effectLst>
            <a:outerShdw dist="28398" dir="3806097" algn="ctr" rotWithShape="0">
              <a:srgbClr val="622423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Barre de titre</a:t>
            </a:r>
            <a:endParaRPr kumimoji="0" lang="fr-F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" name="AutoShape 3"/>
          <p:cNvCxnSpPr>
            <a:cxnSpLocks noChangeShapeType="1"/>
          </p:cNvCxnSpPr>
          <p:nvPr/>
        </p:nvCxnSpPr>
        <p:spPr bwMode="auto">
          <a:xfrm flipH="1">
            <a:off x="5801577" y="452123"/>
            <a:ext cx="385863" cy="325117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1176FFF-ACD2-422D-8E64-45A5AF7F7CB1}"/>
              </a:ext>
            </a:extLst>
          </p:cNvPr>
          <p:cNvSpPr/>
          <p:nvPr/>
        </p:nvSpPr>
        <p:spPr>
          <a:xfrm>
            <a:off x="4254532" y="777242"/>
            <a:ext cx="3614940" cy="3251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0179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18" y="823539"/>
            <a:ext cx="11755527" cy="5993951"/>
          </a:xfrm>
          <a:prstGeom prst="rect">
            <a:avLst/>
          </a:prstGeom>
        </p:spPr>
      </p:pic>
      <p:sp>
        <p:nvSpPr>
          <p:cNvPr id="3" name="AutoShape 2"/>
          <p:cNvSpPr>
            <a:spLocks noChangeArrowheads="1"/>
          </p:cNvSpPr>
          <p:nvPr/>
        </p:nvSpPr>
        <p:spPr bwMode="auto">
          <a:xfrm>
            <a:off x="6234895" y="191902"/>
            <a:ext cx="1323373" cy="386832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38100">
            <a:noFill/>
            <a:round/>
            <a:headEnd/>
            <a:tailEnd/>
          </a:ln>
          <a:effectLst>
            <a:outerShdw dist="28398" dir="3806097" algn="ctr" rotWithShape="0">
              <a:srgbClr val="622423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Les  Onglets</a:t>
            </a:r>
            <a:endParaRPr kumimoji="0" lang="fr-F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66218" y="1049157"/>
            <a:ext cx="7292050" cy="391921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cxnSp>
        <p:nvCxnSpPr>
          <p:cNvPr id="5" name="AutoShape 4"/>
          <p:cNvCxnSpPr>
            <a:cxnSpLocks noChangeShapeType="1"/>
            <a:stCxn id="3" idx="1"/>
          </p:cNvCxnSpPr>
          <p:nvPr/>
        </p:nvCxnSpPr>
        <p:spPr bwMode="auto">
          <a:xfrm flipH="1">
            <a:off x="5069711" y="385318"/>
            <a:ext cx="1165184" cy="66384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617909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70" y="777239"/>
            <a:ext cx="11713579" cy="6149547"/>
          </a:xfrm>
          <a:prstGeom prst="rect">
            <a:avLst/>
          </a:prstGeom>
        </p:spPr>
      </p:pic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6845346" y="187743"/>
            <a:ext cx="1180438" cy="400051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38100">
            <a:noFill/>
            <a:round/>
            <a:headEnd/>
            <a:tailEnd/>
          </a:ln>
          <a:effectLst>
            <a:outerShdw dist="28398" dir="3806097" algn="ctr" rotWithShape="0">
              <a:srgbClr val="622423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Le Ruban</a:t>
            </a:r>
            <a:endParaRPr kumimoji="0" lang="fr-F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96770" y="1365812"/>
            <a:ext cx="9983550" cy="818587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cxnSp>
        <p:nvCxnSpPr>
          <p:cNvPr id="8" name="AutoShape 4"/>
          <p:cNvCxnSpPr>
            <a:cxnSpLocks noChangeShapeType="1"/>
          </p:cNvCxnSpPr>
          <p:nvPr/>
        </p:nvCxnSpPr>
        <p:spPr bwMode="auto">
          <a:xfrm flipH="1">
            <a:off x="6217920" y="387769"/>
            <a:ext cx="627427" cy="689191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228459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80" y="13997"/>
            <a:ext cx="11927840" cy="6844003"/>
          </a:xfrm>
          <a:prstGeom prst="rect">
            <a:avLst/>
          </a:prstGeom>
        </p:spPr>
      </p:pic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4286088" y="2828928"/>
            <a:ext cx="1587824" cy="43898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38100">
            <a:noFill/>
            <a:round/>
            <a:headEnd/>
            <a:tailEnd/>
          </a:ln>
          <a:effectLst>
            <a:outerShdw dist="28398" dir="3806097" algn="ctr" rotWithShape="0">
              <a:srgbClr val="622423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Barre de formule</a:t>
            </a:r>
            <a:endParaRPr kumimoji="0" lang="fr-F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" name="AutoShape 4"/>
          <p:cNvCxnSpPr>
            <a:cxnSpLocks noChangeShapeType="1"/>
          </p:cNvCxnSpPr>
          <p:nvPr/>
        </p:nvCxnSpPr>
        <p:spPr bwMode="auto">
          <a:xfrm>
            <a:off x="4297360" y="1940560"/>
            <a:ext cx="782640" cy="822963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5" name="Rectangle 4"/>
          <p:cNvSpPr/>
          <p:nvPr/>
        </p:nvSpPr>
        <p:spPr>
          <a:xfrm>
            <a:off x="2622524" y="1655665"/>
            <a:ext cx="7703840" cy="28489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4318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90" y="1"/>
            <a:ext cx="11262810" cy="6862660"/>
          </a:xfrm>
          <a:prstGeom prst="rect">
            <a:avLst/>
          </a:prstGeom>
        </p:spPr>
      </p:pic>
      <p:sp>
        <p:nvSpPr>
          <p:cNvPr id="4" name="AutoShape 3"/>
          <p:cNvSpPr>
            <a:spLocks noChangeArrowheads="1"/>
          </p:cNvSpPr>
          <p:nvPr/>
        </p:nvSpPr>
        <p:spPr bwMode="auto">
          <a:xfrm>
            <a:off x="7103764" y="2929260"/>
            <a:ext cx="1285884" cy="428628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38100">
            <a:noFill/>
            <a:round/>
            <a:headEnd/>
            <a:tailEnd/>
          </a:ln>
          <a:effectLst>
            <a:outerShdw dist="28398" dir="3806097" algn="ctr" rotWithShape="0">
              <a:srgbClr val="622423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Les colonnes</a:t>
            </a:r>
            <a:endParaRPr kumimoji="0" lang="fr-F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" name="AutoShape 4"/>
          <p:cNvCxnSpPr>
            <a:cxnSpLocks noChangeShapeType="1"/>
          </p:cNvCxnSpPr>
          <p:nvPr/>
        </p:nvCxnSpPr>
        <p:spPr bwMode="auto">
          <a:xfrm rot="10800000">
            <a:off x="6818012" y="2214880"/>
            <a:ext cx="285752" cy="928694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6" name="Arrondir un rectangle à un seul coin 5"/>
          <p:cNvSpPr/>
          <p:nvPr/>
        </p:nvSpPr>
        <p:spPr>
          <a:xfrm>
            <a:off x="558800" y="1990618"/>
            <a:ext cx="11074400" cy="224262"/>
          </a:xfrm>
          <a:prstGeom prst="round1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255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69" y="-152233"/>
            <a:ext cx="11696089" cy="6868490"/>
          </a:xfrm>
          <a:prstGeom prst="rect">
            <a:avLst/>
          </a:prstGeom>
        </p:spPr>
      </p:pic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1239520" y="2853384"/>
            <a:ext cx="1094832" cy="428628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38100">
            <a:noFill/>
            <a:round/>
            <a:headEnd/>
            <a:tailEnd/>
          </a:ln>
          <a:effectLst>
            <a:outerShdw dist="28398" dir="3806097" algn="ctr" rotWithShape="0">
              <a:srgbClr val="622423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Les lignes</a:t>
            </a:r>
            <a:endParaRPr kumimoji="0" lang="fr-F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" name="AutoShape 4"/>
          <p:cNvCxnSpPr>
            <a:cxnSpLocks noChangeShapeType="1"/>
          </p:cNvCxnSpPr>
          <p:nvPr/>
        </p:nvCxnSpPr>
        <p:spPr bwMode="auto">
          <a:xfrm flipH="1">
            <a:off x="518160" y="3190240"/>
            <a:ext cx="721360" cy="385749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5" name="Arrondir un rectangle à un seul coin 4"/>
          <p:cNvSpPr/>
          <p:nvPr/>
        </p:nvSpPr>
        <p:spPr>
          <a:xfrm>
            <a:off x="172720" y="2075799"/>
            <a:ext cx="345440" cy="4196977"/>
          </a:xfrm>
          <a:prstGeom prst="round1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3186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10" y="18657"/>
            <a:ext cx="11181144" cy="6839343"/>
          </a:xfrm>
          <a:prstGeom prst="rect">
            <a:avLst/>
          </a:prstGeom>
        </p:spPr>
      </p:pic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296160" y="2874489"/>
            <a:ext cx="1483569" cy="3684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38100">
            <a:noFill/>
            <a:round/>
            <a:headEnd/>
            <a:tailEnd/>
          </a:ln>
          <a:effectLst>
            <a:outerShdw dist="28398" dir="3806097" algn="ctr" rotWithShape="0">
              <a:srgbClr val="622423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La cellule active</a:t>
            </a:r>
            <a:endParaRPr kumimoji="0" lang="fr-F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" name="AutoShape 4"/>
          <p:cNvCxnSpPr>
            <a:cxnSpLocks noChangeShapeType="1"/>
          </p:cNvCxnSpPr>
          <p:nvPr/>
        </p:nvCxnSpPr>
        <p:spPr bwMode="auto">
          <a:xfrm flipH="1" flipV="1">
            <a:off x="1094527" y="2416705"/>
            <a:ext cx="1201633" cy="641988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26262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830" y="0"/>
            <a:ext cx="11366340" cy="6862660"/>
          </a:xfrm>
          <a:prstGeom prst="rect">
            <a:avLst/>
          </a:prstGeom>
        </p:spPr>
      </p:pic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509394" y="2405635"/>
            <a:ext cx="1432686" cy="63449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38100">
            <a:noFill/>
            <a:round/>
            <a:headEnd/>
            <a:tailEnd/>
          </a:ln>
          <a:effectLst>
            <a:outerShdw dist="28398" dir="3806097" algn="ctr" rotWithShape="0">
              <a:srgbClr val="622423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Zone d’adresse de la cellule</a:t>
            </a:r>
            <a:endParaRPr kumimoji="0" lang="fr-F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" name="AutoShape 4"/>
          <p:cNvCxnSpPr>
            <a:cxnSpLocks noChangeShapeType="1"/>
          </p:cNvCxnSpPr>
          <p:nvPr/>
        </p:nvCxnSpPr>
        <p:spPr bwMode="auto">
          <a:xfrm>
            <a:off x="1125272" y="1940560"/>
            <a:ext cx="1302968" cy="782320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5" name="Rectangle 4"/>
          <p:cNvSpPr/>
          <p:nvPr/>
        </p:nvSpPr>
        <p:spPr>
          <a:xfrm>
            <a:off x="412830" y="1626015"/>
            <a:ext cx="1074472" cy="3145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4868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71" y="0"/>
            <a:ext cx="11157995" cy="6858000"/>
          </a:xfrm>
          <a:prstGeom prst="rect">
            <a:avLst/>
          </a:prstGeom>
        </p:spPr>
      </p:pic>
      <p:sp>
        <p:nvSpPr>
          <p:cNvPr id="3" name="AutoShape 3"/>
          <p:cNvSpPr>
            <a:spLocks noChangeArrowheads="1"/>
          </p:cNvSpPr>
          <p:nvPr/>
        </p:nvSpPr>
        <p:spPr bwMode="auto">
          <a:xfrm>
            <a:off x="2256845" y="5391593"/>
            <a:ext cx="1576019" cy="338175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38100">
            <a:noFill/>
            <a:round/>
            <a:headEnd/>
            <a:tailEnd/>
          </a:ln>
          <a:effectLst>
            <a:outerShdw dist="28398" dir="3806097" algn="ctr" rotWithShape="0">
              <a:srgbClr val="622423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fr-FR" sz="14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itchFamily="34" charset="0"/>
                <a:ea typeface="Arial" pitchFamily="34" charset="0"/>
                <a:cs typeface="Arial" pitchFamily="34" charset="0"/>
              </a:rPr>
              <a:t>La feuille active</a:t>
            </a:r>
            <a:endParaRPr kumimoji="0" lang="fr-F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" name="AutoShape 4"/>
          <p:cNvCxnSpPr>
            <a:cxnSpLocks noChangeShapeType="1"/>
          </p:cNvCxnSpPr>
          <p:nvPr/>
        </p:nvCxnSpPr>
        <p:spPr bwMode="auto">
          <a:xfrm rot="5400000">
            <a:off x="1685341" y="5729768"/>
            <a:ext cx="571504" cy="571504"/>
          </a:xfrm>
          <a:prstGeom prst="straightConnector1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</p:cxnSp>
      <p:sp>
        <p:nvSpPr>
          <p:cNvPr id="5" name="Arrondir un rectangle à un seul coin 4"/>
          <p:cNvSpPr/>
          <p:nvPr/>
        </p:nvSpPr>
        <p:spPr>
          <a:xfrm>
            <a:off x="966029" y="6301272"/>
            <a:ext cx="719312" cy="323047"/>
          </a:xfrm>
          <a:prstGeom prst="round1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8870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39" y="1045029"/>
            <a:ext cx="9805651" cy="5222030"/>
          </a:xfrm>
        </p:spPr>
      </p:pic>
      <p:cxnSp>
        <p:nvCxnSpPr>
          <p:cNvPr id="5" name="Connecteur en angle 4"/>
          <p:cNvCxnSpPr>
            <a:cxnSpLocks/>
          </p:cNvCxnSpPr>
          <p:nvPr/>
        </p:nvCxnSpPr>
        <p:spPr>
          <a:xfrm flipV="1">
            <a:off x="3972560" y="401217"/>
            <a:ext cx="926011" cy="643811"/>
          </a:xfrm>
          <a:prstGeom prst="bentConnector3">
            <a:avLst>
              <a:gd name="adj1" fmla="val -2665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rondir un rectangle à un seul coin 7"/>
          <p:cNvSpPr/>
          <p:nvPr/>
        </p:nvSpPr>
        <p:spPr>
          <a:xfrm>
            <a:off x="4898571" y="97970"/>
            <a:ext cx="2407298" cy="550507"/>
          </a:xfrm>
          <a:prstGeom prst="round1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 barre de titre</a:t>
            </a:r>
          </a:p>
        </p:txBody>
      </p:sp>
      <p:sp>
        <p:nvSpPr>
          <p:cNvPr id="13" name="Arrondir un rectangle à un seul coin 12"/>
          <p:cNvSpPr/>
          <p:nvPr/>
        </p:nvSpPr>
        <p:spPr>
          <a:xfrm>
            <a:off x="7184565" y="1688844"/>
            <a:ext cx="943435" cy="393956"/>
          </a:xfrm>
          <a:prstGeom prst="round1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onglets</a:t>
            </a:r>
            <a:endParaRPr lang="fr-FR" dirty="0"/>
          </a:p>
        </p:txBody>
      </p:sp>
      <p:sp>
        <p:nvSpPr>
          <p:cNvPr id="14" name="Arrondir un rectangle à un seul coin 13"/>
          <p:cNvSpPr/>
          <p:nvPr/>
        </p:nvSpPr>
        <p:spPr>
          <a:xfrm>
            <a:off x="886408" y="1548882"/>
            <a:ext cx="9778482" cy="625151"/>
          </a:xfrm>
          <a:prstGeom prst="round1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Connecteur en angle 15"/>
          <p:cNvCxnSpPr>
            <a:cxnSpLocks/>
            <a:stCxn id="14" idx="1"/>
          </p:cNvCxnSpPr>
          <p:nvPr/>
        </p:nvCxnSpPr>
        <p:spPr>
          <a:xfrm rot="10800000">
            <a:off x="354568" y="923732"/>
            <a:ext cx="531841" cy="937726"/>
          </a:xfrm>
          <a:prstGeom prst="bentConnector2">
            <a:avLst/>
          </a:prstGeom>
          <a:ln w="38100">
            <a:solidFill>
              <a:srgbClr val="7030A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rondir un rectangle à un seul coin 16"/>
          <p:cNvSpPr/>
          <p:nvPr/>
        </p:nvSpPr>
        <p:spPr>
          <a:xfrm>
            <a:off x="223935" y="373224"/>
            <a:ext cx="1539551" cy="410547"/>
          </a:xfrm>
          <a:prstGeom prst="round1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Ruban</a:t>
            </a:r>
          </a:p>
        </p:txBody>
      </p:sp>
    </p:spTree>
    <p:extLst>
      <p:ext uri="{BB962C8B-B14F-4D97-AF65-F5344CB8AC3E}">
        <p14:creationId xmlns:p14="http://schemas.microsoft.com/office/powerpoint/2010/main" val="465655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476211" y="1500174"/>
            <a:ext cx="10972800" cy="452451"/>
          </a:xfrm>
        </p:spPr>
        <p:txBody>
          <a:bodyPr>
            <a:normAutofit/>
          </a:bodyPr>
          <a:lstStyle/>
          <a:p>
            <a:r>
              <a:rPr lang="fr-FR" sz="2200" dirty="0">
                <a:latin typeface="+mj-lt"/>
              </a:rPr>
              <a:t>Une cellule est l’intersection d’une colonne et d’une ligne.</a:t>
            </a:r>
          </a:p>
          <a:p>
            <a:pPr marL="457200" lvl="1" indent="0">
              <a:buNone/>
            </a:pPr>
            <a:endParaRPr lang="fr-FR" sz="2000" dirty="0">
              <a:latin typeface="+mj-lt"/>
            </a:endParaRPr>
          </a:p>
          <a:p>
            <a:pPr lvl="1">
              <a:buNone/>
            </a:pPr>
            <a:endParaRPr lang="fr-FR" sz="1800" dirty="0"/>
          </a:p>
          <a:p>
            <a:pPr lvl="1"/>
            <a:endParaRPr lang="fr-FR" sz="1800" dirty="0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571461" y="642918"/>
            <a:ext cx="10972800" cy="489790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la cellule: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199958" y="2782669"/>
            <a:ext cx="2945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Une cellule est désignée par  son </a:t>
            </a:r>
            <a:r>
              <a:rPr lang="fr-FR" b="1" dirty="0"/>
              <a:t>adresse</a:t>
            </a:r>
            <a:r>
              <a:rPr lang="fr-FR" dirty="0"/>
              <a:t> ou sa </a:t>
            </a:r>
            <a:r>
              <a:rPr lang="fr-FR" b="1" dirty="0"/>
              <a:t>référence</a:t>
            </a:r>
          </a:p>
        </p:txBody>
      </p:sp>
      <p:cxnSp>
        <p:nvCxnSpPr>
          <p:cNvPr id="15" name="Connecteur droit avec flèche 14"/>
          <p:cNvCxnSpPr/>
          <p:nvPr/>
        </p:nvCxnSpPr>
        <p:spPr>
          <a:xfrm flipV="1">
            <a:off x="3990980" y="2980570"/>
            <a:ext cx="1428760" cy="1071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740" y="1952625"/>
            <a:ext cx="5572302" cy="388581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19739" y="2853690"/>
            <a:ext cx="539101" cy="2152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4860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381000" y="1271022"/>
            <a:ext cx="10972800" cy="1558285"/>
          </a:xfrm>
        </p:spPr>
        <p:txBody>
          <a:bodyPr>
            <a:normAutofit/>
          </a:bodyPr>
          <a:lstStyle/>
          <a:p>
            <a:r>
              <a:rPr lang="fr-FR" sz="2400" dirty="0"/>
              <a:t>Une feuille est organisée sous forme de tableau numérique constitué de plusieurs lignes et de plusieurs colonnes.</a:t>
            </a:r>
          </a:p>
          <a:p>
            <a:pPr lvl="1"/>
            <a:r>
              <a:rPr lang="fr-FR" sz="2000" dirty="0"/>
              <a:t>Chaque ligne est connue par son numéro allant de 1 à </a:t>
            </a:r>
            <a:r>
              <a:rPr lang="fr-FR" sz="2000" dirty="0">
                <a:latin typeface="+mj-lt"/>
              </a:rPr>
              <a:t>1048576.</a:t>
            </a:r>
          </a:p>
          <a:p>
            <a:pPr lvl="1"/>
            <a:r>
              <a:rPr lang="fr-FR" sz="2000" dirty="0">
                <a:latin typeface="+mj-lt"/>
              </a:rPr>
              <a:t>Chaque colonne est connue par un ou deux ou trois lettres allant de A, B, C, jusqu’à XFD.</a:t>
            </a:r>
          </a:p>
          <a:p>
            <a:pPr marL="457200" lvl="1" indent="0">
              <a:buNone/>
            </a:pPr>
            <a:endParaRPr lang="fr-FR" sz="2000" dirty="0">
              <a:latin typeface="+mj-lt"/>
            </a:endParaRPr>
          </a:p>
          <a:p>
            <a:pPr lvl="1">
              <a:buNone/>
            </a:pPr>
            <a:endParaRPr lang="fr-FR" sz="1800" dirty="0"/>
          </a:p>
          <a:p>
            <a:pPr lvl="1"/>
            <a:endParaRPr lang="fr-FR" sz="1800" dirty="0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571461" y="642918"/>
            <a:ext cx="10972800" cy="489790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La feuille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3757" y="4714884"/>
            <a:ext cx="1809763" cy="35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93" y="2793671"/>
            <a:ext cx="10848936" cy="3842426"/>
          </a:xfrm>
          <a:prstGeom prst="rect">
            <a:avLst/>
          </a:prstGeom>
        </p:spPr>
      </p:pic>
      <p:sp>
        <p:nvSpPr>
          <p:cNvPr id="12" name="Arrondir un rectangle à un seul coin 7">
            <a:extLst>
              <a:ext uri="{FF2B5EF4-FFF2-40B4-BE49-F238E27FC236}">
                <a16:creationId xmlns:a16="http://schemas.microsoft.com/office/drawing/2014/main" id="{DABB90AF-633F-439A-949A-AA79A8A38565}"/>
              </a:ext>
            </a:extLst>
          </p:cNvPr>
          <p:cNvSpPr/>
          <p:nvPr/>
        </p:nvSpPr>
        <p:spPr>
          <a:xfrm>
            <a:off x="571461" y="3977640"/>
            <a:ext cx="354369" cy="2446020"/>
          </a:xfrm>
          <a:prstGeom prst="round1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Arrondir un rectangle à un seul coin 7">
            <a:extLst>
              <a:ext uri="{FF2B5EF4-FFF2-40B4-BE49-F238E27FC236}">
                <a16:creationId xmlns:a16="http://schemas.microsoft.com/office/drawing/2014/main" id="{092DBDC2-81DE-4C02-BA9A-BE9757CE9A79}"/>
              </a:ext>
            </a:extLst>
          </p:cNvPr>
          <p:cNvSpPr/>
          <p:nvPr/>
        </p:nvSpPr>
        <p:spPr>
          <a:xfrm>
            <a:off x="1497291" y="6215082"/>
            <a:ext cx="670599" cy="365125"/>
          </a:xfrm>
          <a:prstGeom prst="round1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Arrondir un rectangle à un seul coin 7">
            <a:extLst>
              <a:ext uri="{FF2B5EF4-FFF2-40B4-BE49-F238E27FC236}">
                <a16:creationId xmlns:a16="http://schemas.microsoft.com/office/drawing/2014/main" id="{4CFAF6DA-08A5-45D4-9B2B-7DB66C713F9B}"/>
              </a:ext>
            </a:extLst>
          </p:cNvPr>
          <p:cNvSpPr/>
          <p:nvPr/>
        </p:nvSpPr>
        <p:spPr>
          <a:xfrm>
            <a:off x="987762" y="3876040"/>
            <a:ext cx="10462558" cy="195580"/>
          </a:xfrm>
          <a:prstGeom prst="round1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873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7172" name="AutoShape 4" descr="http://www.gelgabon.net/_/rsrc/1243686138086/materiels-et-logiciels/le-wifi/liaison-wifi-entre-2-PC.jpg"/>
          <p:cNvSpPr>
            <a:spLocks noChangeAspect="1" noChangeArrowheads="1"/>
          </p:cNvSpPr>
          <p:nvPr/>
        </p:nvSpPr>
        <p:spPr bwMode="auto">
          <a:xfrm>
            <a:off x="207434" y="-1790700"/>
            <a:ext cx="7683500" cy="374332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476211" y="1500174"/>
            <a:ext cx="10972800" cy="1643074"/>
          </a:xfrm>
        </p:spPr>
        <p:txBody>
          <a:bodyPr>
            <a:normAutofit fontScale="92500" lnSpcReduction="20000"/>
          </a:bodyPr>
          <a:lstStyle/>
          <a:p>
            <a:r>
              <a:rPr lang="fr-FR" sz="2400" dirty="0"/>
              <a:t>Un classeur est un fichier Excel regroupant plusieurs feuilles;</a:t>
            </a:r>
          </a:p>
          <a:p>
            <a:endParaRPr lang="fr-FR" sz="2400" dirty="0"/>
          </a:p>
          <a:p>
            <a:pPr lvl="1"/>
            <a:r>
              <a:rPr lang="fr-FR" sz="2200" dirty="0"/>
              <a:t>On peut ajouter une feuille dans un classeur.</a:t>
            </a:r>
          </a:p>
          <a:p>
            <a:pPr lvl="1"/>
            <a:r>
              <a:rPr lang="fr-FR" sz="2200" dirty="0"/>
              <a:t>On peut supprimer une feuille </a:t>
            </a:r>
          </a:p>
          <a:p>
            <a:pPr lvl="1"/>
            <a:r>
              <a:rPr lang="fr-FR" sz="2200" dirty="0"/>
              <a:t>On sélectionne la feuille à partir de l’onglet </a:t>
            </a:r>
            <a:r>
              <a:rPr lang="fr-FR" sz="2200" b="1" dirty="0">
                <a:solidFill>
                  <a:srgbClr val="FF0000"/>
                </a:solidFill>
              </a:rPr>
              <a:t>d’activation</a:t>
            </a:r>
            <a:r>
              <a:rPr lang="fr-FR" sz="2200" dirty="0">
                <a:solidFill>
                  <a:srgbClr val="FF0000"/>
                </a:solidFill>
              </a:rPr>
              <a:t> </a:t>
            </a:r>
            <a:r>
              <a:rPr lang="fr-FR" sz="2200" b="1" dirty="0">
                <a:solidFill>
                  <a:srgbClr val="FF0000"/>
                </a:solidFill>
              </a:rPr>
              <a:t>des</a:t>
            </a:r>
            <a:r>
              <a:rPr lang="fr-FR" sz="2200" dirty="0">
                <a:solidFill>
                  <a:srgbClr val="FF0000"/>
                </a:solidFill>
              </a:rPr>
              <a:t> </a:t>
            </a:r>
            <a:r>
              <a:rPr lang="fr-FR" sz="2200" b="1" dirty="0">
                <a:solidFill>
                  <a:srgbClr val="FF0000"/>
                </a:solidFill>
              </a:rPr>
              <a:t>feuilles</a:t>
            </a:r>
            <a:r>
              <a:rPr lang="fr-FR" sz="2200" dirty="0"/>
              <a:t>.</a:t>
            </a:r>
          </a:p>
          <a:p>
            <a:pPr lvl="1">
              <a:buNone/>
            </a:pPr>
            <a:endParaRPr lang="fr-FR" sz="1800" dirty="0"/>
          </a:p>
          <a:p>
            <a:pPr lvl="1"/>
            <a:endParaRPr lang="fr-FR" sz="1800" dirty="0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>
          <a:xfrm>
            <a:off x="571461" y="642918"/>
            <a:ext cx="10972800" cy="489790"/>
          </a:xfrm>
        </p:spPr>
        <p:txBody>
          <a:bodyPr>
            <a:normAutofit fontScale="90000"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chemeClr val="accent6">
                    <a:lumMod val="75000"/>
                  </a:schemeClr>
                </a:solidFill>
              </a:rPr>
              <a:t>Le classeur: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707" y="3149319"/>
            <a:ext cx="5840730" cy="3351317"/>
          </a:xfrm>
          <a:prstGeom prst="rect">
            <a:avLst/>
          </a:prstGeom>
        </p:spPr>
      </p:pic>
      <p:cxnSp>
        <p:nvCxnSpPr>
          <p:cNvPr id="4" name="Connecteur : en angle 3">
            <a:extLst>
              <a:ext uri="{FF2B5EF4-FFF2-40B4-BE49-F238E27FC236}">
                <a16:creationId xmlns:a16="http://schemas.microsoft.com/office/drawing/2014/main" id="{F2DC4F24-882A-4E9D-8EB8-AED956B45AD0}"/>
              </a:ext>
            </a:extLst>
          </p:cNvPr>
          <p:cNvCxnSpPr>
            <a:cxnSpLocks/>
          </p:cNvCxnSpPr>
          <p:nvPr/>
        </p:nvCxnSpPr>
        <p:spPr>
          <a:xfrm rot="5400000">
            <a:off x="4549036" y="4320646"/>
            <a:ext cx="3203659" cy="585217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185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D49EA-5B67-4AAA-B86D-F1B0C798D823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154366" y="214046"/>
            <a:ext cx="12005549" cy="60248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b="1" u="sng" dirty="0">
                <a:solidFill>
                  <a:srgbClr val="00B050"/>
                </a:solidFill>
              </a:rPr>
              <a:t>3. Environnement Excel:</a:t>
            </a:r>
          </a:p>
          <a:p>
            <a:pPr>
              <a:buNone/>
            </a:pPr>
            <a:endParaRPr lang="fr-FR" sz="2400" b="1" dirty="0">
              <a:solidFill>
                <a:srgbClr val="00B050"/>
              </a:solidFill>
              <a:latin typeface="+mj-lt"/>
              <a:cs typeface="Aharoni" pitchFamily="2" charset="-79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Un classeur est un document Excel regroupant plusieurs feuilles</a:t>
            </a:r>
          </a:p>
          <a:p>
            <a:pPr lvl="2">
              <a:buFont typeface="Wingdings" pitchFamily="2" charset="2"/>
              <a:buChar char="§"/>
            </a:pPr>
            <a:r>
              <a:rPr lang="fr-FR" sz="2400" dirty="0"/>
              <a:t>On sélectionne la feuille à partir de l’onglet </a:t>
            </a:r>
            <a:r>
              <a:rPr lang="fr-FR" sz="2400" b="1" dirty="0"/>
              <a:t>d’activation</a:t>
            </a:r>
            <a:r>
              <a:rPr lang="fr-FR" sz="2400" dirty="0"/>
              <a:t> </a:t>
            </a:r>
            <a:r>
              <a:rPr lang="fr-FR" sz="2400" b="1" dirty="0"/>
              <a:t>des</a:t>
            </a:r>
            <a:r>
              <a:rPr lang="fr-FR" sz="2400" dirty="0"/>
              <a:t> </a:t>
            </a:r>
            <a:r>
              <a:rPr lang="fr-FR" sz="2400" b="1" dirty="0"/>
              <a:t>feuilles</a:t>
            </a:r>
            <a:r>
              <a:rPr lang="fr-FR" sz="2400" dirty="0"/>
              <a:t>.</a:t>
            </a:r>
          </a:p>
          <a:p>
            <a:pPr>
              <a:buFont typeface="Wingdings" pitchFamily="2" charset="2"/>
              <a:buChar char="§"/>
            </a:pPr>
            <a:endParaRPr lang="fr-FR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Une feuille est organisée sous forme de tableau numérique constitué de plusieurs lignes et de plusieurs colonnes.</a:t>
            </a:r>
          </a:p>
          <a:p>
            <a:endParaRPr lang="fr-FR" sz="3200" b="1" dirty="0">
              <a:solidFill>
                <a:srgbClr val="00B050"/>
              </a:solidFill>
              <a:latin typeface="+mj-lt"/>
              <a:cs typeface="Aharoni" pitchFamily="2" charset="-79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Une cellule est l’intersection d’une colonne et d’une ligne.</a:t>
            </a:r>
          </a:p>
          <a:p>
            <a:pPr>
              <a:buFont typeface="Wingdings" panose="05000000000000000000" pitchFamily="2" charset="2"/>
              <a:buChar char="Ø"/>
            </a:pPr>
            <a:endParaRPr lang="fr-FR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fr-FR" sz="3200" dirty="0"/>
              <a:t>Une cellule est désignée par  son adresse ou sa référence</a:t>
            </a:r>
          </a:p>
          <a:p>
            <a:pPr marL="0" lvl="1" indent="0">
              <a:spcBef>
                <a:spcPts val="1000"/>
              </a:spcBef>
              <a:buNone/>
            </a:pPr>
            <a:r>
              <a:rPr lang="fr-FR" sz="3200" dirty="0"/>
              <a:t>Exemple: la cellule B2, C6 …</a:t>
            </a:r>
          </a:p>
        </p:txBody>
      </p:sp>
    </p:spTree>
    <p:extLst>
      <p:ext uri="{BB962C8B-B14F-4D97-AF65-F5344CB8AC3E}">
        <p14:creationId xmlns:p14="http://schemas.microsoft.com/office/powerpoint/2010/main" val="34767702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4808FD-2E36-4BFD-9B89-6C2E932E73EB}"/>
              </a:ext>
            </a:extLst>
          </p:cNvPr>
          <p:cNvSpPr txBox="1"/>
          <p:nvPr/>
        </p:nvSpPr>
        <p:spPr>
          <a:xfrm>
            <a:off x="5261810" y="-184666"/>
            <a:ext cx="16683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i="1" dirty="0">
                <a:solidFill>
                  <a:srgbClr val="7030A0"/>
                </a:solidFill>
              </a:rPr>
              <a:t>QUIZ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97102-DA54-41E0-A025-2951AF64F92E}"/>
              </a:ext>
            </a:extLst>
          </p:cNvPr>
          <p:cNvSpPr txBox="1"/>
          <p:nvPr/>
        </p:nvSpPr>
        <p:spPr>
          <a:xfrm>
            <a:off x="534400" y="1071271"/>
            <a:ext cx="11400926" cy="471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solidFill>
                  <a:srgbClr val="C00000"/>
                </a:solidFill>
              </a:rPr>
              <a:t>Question N°.1</a:t>
            </a:r>
          </a:p>
          <a:p>
            <a:endParaRPr lang="fr-FR" sz="3600" b="1" dirty="0"/>
          </a:p>
          <a:p>
            <a:r>
              <a:rPr lang="fr-FR" sz="3600" b="1" dirty="0"/>
              <a:t>Un tableur est :</a:t>
            </a:r>
          </a:p>
          <a:p>
            <a:endParaRPr lang="fr-FR" sz="3600" b="1" dirty="0"/>
          </a:p>
          <a:p>
            <a:pPr lvl="2">
              <a:lnSpc>
                <a:spcPct val="150000"/>
              </a:lnSpc>
            </a:pPr>
            <a:r>
              <a:rPr lang="fr-FR" sz="3600" dirty="0"/>
              <a:t>a) Un logiciel pour écrire des textes</a:t>
            </a:r>
            <a:br>
              <a:rPr lang="fr-FR" sz="3600" dirty="0"/>
            </a:br>
            <a:r>
              <a:rPr lang="fr-FR" sz="3600" dirty="0"/>
              <a:t>b) Un logiciel pour faire des calculs et tableaux</a:t>
            </a:r>
            <a:br>
              <a:rPr lang="fr-FR" sz="3600" dirty="0"/>
            </a:br>
            <a:r>
              <a:rPr lang="fr-FR" sz="3600" dirty="0"/>
              <a:t>c) Un logiciel pour dessiner</a:t>
            </a:r>
          </a:p>
        </p:txBody>
      </p:sp>
    </p:spTree>
    <p:extLst>
      <p:ext uri="{BB962C8B-B14F-4D97-AF65-F5344CB8AC3E}">
        <p14:creationId xmlns:p14="http://schemas.microsoft.com/office/powerpoint/2010/main" val="2946752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4808FD-2E36-4BFD-9B89-6C2E932E73EB}"/>
              </a:ext>
            </a:extLst>
          </p:cNvPr>
          <p:cNvSpPr txBox="1"/>
          <p:nvPr/>
        </p:nvSpPr>
        <p:spPr>
          <a:xfrm>
            <a:off x="5261810" y="168258"/>
            <a:ext cx="16683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i="1" dirty="0">
                <a:solidFill>
                  <a:srgbClr val="7030A0"/>
                </a:solidFill>
              </a:rPr>
              <a:t>QUIZ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97102-DA54-41E0-A025-2951AF64F92E}"/>
              </a:ext>
            </a:extLst>
          </p:cNvPr>
          <p:cNvSpPr txBox="1"/>
          <p:nvPr/>
        </p:nvSpPr>
        <p:spPr>
          <a:xfrm>
            <a:off x="531894" y="1071271"/>
            <a:ext cx="10582778" cy="471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solidFill>
                  <a:srgbClr val="C00000"/>
                </a:solidFill>
              </a:rPr>
              <a:t>Question N°.1</a:t>
            </a:r>
          </a:p>
          <a:p>
            <a:endParaRPr lang="fr-FR" sz="3600" b="1" dirty="0"/>
          </a:p>
          <a:p>
            <a:r>
              <a:rPr lang="fr-FR" sz="3600" b="1" dirty="0"/>
              <a:t>Un tableur est :</a:t>
            </a:r>
          </a:p>
          <a:p>
            <a:endParaRPr lang="fr-FR" sz="3600" b="1" dirty="0"/>
          </a:p>
          <a:p>
            <a:pPr lvl="2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a) Un logiciel pour écrire des textes</a:t>
            </a:r>
            <a:br>
              <a:rPr lang="fr-FR" sz="3600" dirty="0"/>
            </a:br>
            <a:r>
              <a:rPr lang="fr-FR" sz="3600" b="1" i="1" dirty="0">
                <a:solidFill>
                  <a:srgbClr val="00B050"/>
                </a:solidFill>
              </a:rPr>
              <a:t>b) Un logiciel pour faire des calculs et tableaux</a:t>
            </a:r>
            <a:br>
              <a:rPr lang="fr-FR" sz="3600" dirty="0"/>
            </a:br>
            <a:r>
              <a:rPr lang="fr-FR" sz="3600" dirty="0">
                <a:solidFill>
                  <a:srgbClr val="FF0000"/>
                </a:solidFill>
              </a:rPr>
              <a:t>c) Un logiciel pour dessiner</a:t>
            </a:r>
          </a:p>
        </p:txBody>
      </p:sp>
    </p:spTree>
    <p:extLst>
      <p:ext uri="{BB962C8B-B14F-4D97-AF65-F5344CB8AC3E}">
        <p14:creationId xmlns:p14="http://schemas.microsoft.com/office/powerpoint/2010/main" val="1720514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4808FD-2E36-4BFD-9B89-6C2E932E73EB}"/>
              </a:ext>
            </a:extLst>
          </p:cNvPr>
          <p:cNvSpPr txBox="1"/>
          <p:nvPr/>
        </p:nvSpPr>
        <p:spPr>
          <a:xfrm>
            <a:off x="5261810" y="-184666"/>
            <a:ext cx="16683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i="1" dirty="0">
                <a:solidFill>
                  <a:srgbClr val="7030A0"/>
                </a:solidFill>
              </a:rPr>
              <a:t>QUIZ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97102-DA54-41E0-A025-2951AF64F92E}"/>
              </a:ext>
            </a:extLst>
          </p:cNvPr>
          <p:cNvSpPr txBox="1"/>
          <p:nvPr/>
        </p:nvSpPr>
        <p:spPr>
          <a:xfrm>
            <a:off x="344904" y="1161298"/>
            <a:ext cx="11430001" cy="416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solidFill>
                  <a:srgbClr val="C00000"/>
                </a:solidFill>
              </a:rPr>
              <a:t>Question N°.2</a:t>
            </a:r>
          </a:p>
          <a:p>
            <a:endParaRPr lang="fr-FR" sz="3600" b="1" dirty="0">
              <a:solidFill>
                <a:srgbClr val="C00000"/>
              </a:solidFill>
            </a:endParaRPr>
          </a:p>
          <a:p>
            <a:r>
              <a:rPr lang="fr-FR" sz="3600" b="1" dirty="0"/>
              <a:t>Une cellule est :</a:t>
            </a:r>
          </a:p>
          <a:p>
            <a:pPr lvl="2">
              <a:lnSpc>
                <a:spcPct val="150000"/>
              </a:lnSpc>
            </a:pPr>
            <a:r>
              <a:rPr lang="fr-FR" sz="3600" dirty="0"/>
              <a:t>a) Une ligne</a:t>
            </a:r>
            <a:br>
              <a:rPr lang="fr-FR" sz="3600" dirty="0"/>
            </a:br>
            <a:r>
              <a:rPr lang="fr-FR" sz="3600" dirty="0"/>
              <a:t>b) Une colonne</a:t>
            </a:r>
            <a:br>
              <a:rPr lang="fr-FR" sz="3600" dirty="0"/>
            </a:br>
            <a:r>
              <a:rPr lang="fr-FR" sz="3600" dirty="0"/>
              <a:t>c) L’intersection d’une ligne et d’une colonne</a:t>
            </a:r>
          </a:p>
        </p:txBody>
      </p:sp>
    </p:spTree>
    <p:extLst>
      <p:ext uri="{BB962C8B-B14F-4D97-AF65-F5344CB8AC3E}">
        <p14:creationId xmlns:p14="http://schemas.microsoft.com/office/powerpoint/2010/main" val="2128766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4808FD-2E36-4BFD-9B89-6C2E932E73EB}"/>
              </a:ext>
            </a:extLst>
          </p:cNvPr>
          <p:cNvSpPr txBox="1"/>
          <p:nvPr/>
        </p:nvSpPr>
        <p:spPr>
          <a:xfrm>
            <a:off x="5261810" y="-184666"/>
            <a:ext cx="16683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b="1" i="1" dirty="0">
                <a:solidFill>
                  <a:srgbClr val="7030A0"/>
                </a:solidFill>
              </a:rPr>
              <a:t>QUIZ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497102-DA54-41E0-A025-2951AF64F92E}"/>
              </a:ext>
            </a:extLst>
          </p:cNvPr>
          <p:cNvSpPr txBox="1"/>
          <p:nvPr/>
        </p:nvSpPr>
        <p:spPr>
          <a:xfrm>
            <a:off x="344904" y="1113171"/>
            <a:ext cx="11109159" cy="416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dirty="0">
                <a:solidFill>
                  <a:srgbClr val="C00000"/>
                </a:solidFill>
              </a:rPr>
              <a:t>Question N°.2</a:t>
            </a:r>
          </a:p>
          <a:p>
            <a:endParaRPr lang="fr-FR" sz="3600" b="1" dirty="0">
              <a:solidFill>
                <a:srgbClr val="C00000"/>
              </a:solidFill>
            </a:endParaRPr>
          </a:p>
          <a:p>
            <a:r>
              <a:rPr lang="fr-FR" sz="3600" b="1" dirty="0"/>
              <a:t>Une cellule est :</a:t>
            </a:r>
          </a:p>
          <a:p>
            <a:pPr lvl="2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a) Une ligne</a:t>
            </a:r>
            <a:br>
              <a:rPr lang="fr-FR" sz="3600" dirty="0">
                <a:solidFill>
                  <a:srgbClr val="FF0000"/>
                </a:solidFill>
              </a:rPr>
            </a:br>
            <a:r>
              <a:rPr lang="fr-FR" sz="3600" dirty="0">
                <a:solidFill>
                  <a:srgbClr val="FF0000"/>
                </a:solidFill>
              </a:rPr>
              <a:t>b) Une colonne</a:t>
            </a:r>
            <a:br>
              <a:rPr lang="fr-FR" sz="3600" dirty="0"/>
            </a:br>
            <a:r>
              <a:rPr lang="fr-FR" sz="3600" b="1" i="1" dirty="0">
                <a:solidFill>
                  <a:srgbClr val="00B050"/>
                </a:solidFill>
              </a:rPr>
              <a:t>c) L’intersection d’une ligne et d’une colonne</a:t>
            </a:r>
          </a:p>
        </p:txBody>
      </p:sp>
    </p:spTree>
    <p:extLst>
      <p:ext uri="{BB962C8B-B14F-4D97-AF65-F5344CB8AC3E}">
        <p14:creationId xmlns:p14="http://schemas.microsoft.com/office/powerpoint/2010/main" val="641491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D53AA5-BD6F-445D-8CE4-84DC94136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3449" y="822780"/>
            <a:ext cx="2557690" cy="5500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Vrai ou Faux :</a:t>
            </a:r>
          </a:p>
        </p:txBody>
      </p:sp>
      <p:sp>
        <p:nvSpPr>
          <p:cNvPr id="5" name="r1">
            <a:extLst>
              <a:ext uri="{FF2B5EF4-FFF2-40B4-BE49-F238E27FC236}">
                <a16:creationId xmlns:a16="http://schemas.microsoft.com/office/drawing/2014/main" id="{BBD956CA-9613-4633-BC63-EF43DCBB4523}"/>
              </a:ext>
            </a:extLst>
          </p:cNvPr>
          <p:cNvSpPr/>
          <p:nvPr/>
        </p:nvSpPr>
        <p:spPr>
          <a:xfrm>
            <a:off x="6738718" y="1820204"/>
            <a:ext cx="2275897" cy="62894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/>
              <a:t>VRAI</a:t>
            </a:r>
          </a:p>
        </p:txBody>
      </p:sp>
      <p:sp>
        <p:nvSpPr>
          <p:cNvPr id="9" name="r2">
            <a:extLst>
              <a:ext uri="{FF2B5EF4-FFF2-40B4-BE49-F238E27FC236}">
                <a16:creationId xmlns:a16="http://schemas.microsoft.com/office/drawing/2014/main" id="{5E0D03DF-75CF-48C9-92F9-A28FEFE9A7BB}"/>
              </a:ext>
            </a:extLst>
          </p:cNvPr>
          <p:cNvSpPr/>
          <p:nvPr/>
        </p:nvSpPr>
        <p:spPr>
          <a:xfrm>
            <a:off x="9464835" y="1820203"/>
            <a:ext cx="2097117" cy="62894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/>
              <a:t>FAUX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88935-FD1B-4C49-8719-ADBC65C76222}"/>
              </a:ext>
            </a:extLst>
          </p:cNvPr>
          <p:cNvSpPr/>
          <p:nvPr/>
        </p:nvSpPr>
        <p:spPr>
          <a:xfrm>
            <a:off x="291828" y="1918748"/>
            <a:ext cx="45047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/>
              <a:t>A) Excel peut créer des graphiques</a:t>
            </a:r>
          </a:p>
        </p:txBody>
      </p:sp>
      <p:sp>
        <p:nvSpPr>
          <p:cNvPr id="22" name="Titre 1">
            <a:extLst>
              <a:ext uri="{FF2B5EF4-FFF2-40B4-BE49-F238E27FC236}">
                <a16:creationId xmlns:a16="http://schemas.microsoft.com/office/drawing/2014/main" id="{2F866AE3-BB07-427D-BE5D-2FC209F36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345" y="19783"/>
            <a:ext cx="4124960" cy="763600"/>
          </a:xfrm>
        </p:spPr>
        <p:txBody>
          <a:bodyPr>
            <a:normAutofit/>
          </a:bodyPr>
          <a:lstStyle/>
          <a:p>
            <a:r>
              <a:rPr lang="fr-FR" sz="3200" dirty="0">
                <a:solidFill>
                  <a:srgbClr val="C00000"/>
                </a:solidFill>
              </a:rPr>
              <a:t>Question N°.3</a:t>
            </a:r>
          </a:p>
        </p:txBody>
      </p:sp>
      <p:sp>
        <p:nvSpPr>
          <p:cNvPr id="28" name="r1">
            <a:extLst>
              <a:ext uri="{FF2B5EF4-FFF2-40B4-BE49-F238E27FC236}">
                <a16:creationId xmlns:a16="http://schemas.microsoft.com/office/drawing/2014/main" id="{A129BA26-BB14-4DF1-B9BD-AA03FAFA0C2E}"/>
              </a:ext>
            </a:extLst>
          </p:cNvPr>
          <p:cNvSpPr/>
          <p:nvPr/>
        </p:nvSpPr>
        <p:spPr>
          <a:xfrm>
            <a:off x="6738718" y="2838638"/>
            <a:ext cx="2275897" cy="62894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/>
              <a:t>VRAI</a:t>
            </a:r>
          </a:p>
        </p:txBody>
      </p:sp>
      <p:sp>
        <p:nvSpPr>
          <p:cNvPr id="29" name="r2">
            <a:extLst>
              <a:ext uri="{FF2B5EF4-FFF2-40B4-BE49-F238E27FC236}">
                <a16:creationId xmlns:a16="http://schemas.microsoft.com/office/drawing/2014/main" id="{37244469-DD3C-4181-8F28-70D32A19B39A}"/>
              </a:ext>
            </a:extLst>
          </p:cNvPr>
          <p:cNvSpPr/>
          <p:nvPr/>
        </p:nvSpPr>
        <p:spPr>
          <a:xfrm>
            <a:off x="9464835" y="2838637"/>
            <a:ext cx="2097117" cy="62894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/>
              <a:t>FAUX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609E30-1522-460A-96F5-2A55325348E7}"/>
              </a:ext>
            </a:extLst>
          </p:cNvPr>
          <p:cNvSpPr/>
          <p:nvPr/>
        </p:nvSpPr>
        <p:spPr>
          <a:xfrm>
            <a:off x="291828" y="2922280"/>
            <a:ext cx="55154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/>
              <a:t>B) Un classeur contient plusieurs feuilles</a:t>
            </a:r>
          </a:p>
        </p:txBody>
      </p:sp>
      <p:sp>
        <p:nvSpPr>
          <p:cNvPr id="33" name="r1">
            <a:extLst>
              <a:ext uri="{FF2B5EF4-FFF2-40B4-BE49-F238E27FC236}">
                <a16:creationId xmlns:a16="http://schemas.microsoft.com/office/drawing/2014/main" id="{199B4A91-8E1D-4A3E-8C8B-F37794F8484D}"/>
              </a:ext>
            </a:extLst>
          </p:cNvPr>
          <p:cNvSpPr/>
          <p:nvPr/>
        </p:nvSpPr>
        <p:spPr>
          <a:xfrm>
            <a:off x="6738718" y="3925811"/>
            <a:ext cx="2275897" cy="62894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/>
              <a:t>VRAI</a:t>
            </a:r>
          </a:p>
        </p:txBody>
      </p:sp>
      <p:sp>
        <p:nvSpPr>
          <p:cNvPr id="34" name="r2">
            <a:extLst>
              <a:ext uri="{FF2B5EF4-FFF2-40B4-BE49-F238E27FC236}">
                <a16:creationId xmlns:a16="http://schemas.microsoft.com/office/drawing/2014/main" id="{AC956269-8D4B-48BD-9299-E906C9DA19C8}"/>
              </a:ext>
            </a:extLst>
          </p:cNvPr>
          <p:cNvSpPr/>
          <p:nvPr/>
        </p:nvSpPr>
        <p:spPr>
          <a:xfrm>
            <a:off x="9464835" y="3925810"/>
            <a:ext cx="2097117" cy="62894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/>
              <a:t>FAUX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19D9C7B-9FE8-456C-9BCA-0942F5B37434}"/>
              </a:ext>
            </a:extLst>
          </p:cNvPr>
          <p:cNvSpPr/>
          <p:nvPr/>
        </p:nvSpPr>
        <p:spPr>
          <a:xfrm>
            <a:off x="291827" y="4009453"/>
            <a:ext cx="63014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/>
              <a:t>C) Les colonnes sont désignées par des nombres</a:t>
            </a:r>
          </a:p>
        </p:txBody>
      </p:sp>
      <p:sp>
        <p:nvSpPr>
          <p:cNvPr id="41" name="r1">
            <a:extLst>
              <a:ext uri="{FF2B5EF4-FFF2-40B4-BE49-F238E27FC236}">
                <a16:creationId xmlns:a16="http://schemas.microsoft.com/office/drawing/2014/main" id="{15E4D9BC-13FC-4C1C-90DE-18C6BC487F56}"/>
              </a:ext>
            </a:extLst>
          </p:cNvPr>
          <p:cNvSpPr/>
          <p:nvPr/>
        </p:nvSpPr>
        <p:spPr>
          <a:xfrm>
            <a:off x="6738718" y="5027887"/>
            <a:ext cx="2275897" cy="62894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/>
              <a:t>VRAI</a:t>
            </a:r>
          </a:p>
        </p:txBody>
      </p:sp>
      <p:sp>
        <p:nvSpPr>
          <p:cNvPr id="42" name="r2">
            <a:extLst>
              <a:ext uri="{FF2B5EF4-FFF2-40B4-BE49-F238E27FC236}">
                <a16:creationId xmlns:a16="http://schemas.microsoft.com/office/drawing/2014/main" id="{99F46B07-8756-4E74-B06E-DBD7C0543F20}"/>
              </a:ext>
            </a:extLst>
          </p:cNvPr>
          <p:cNvSpPr/>
          <p:nvPr/>
        </p:nvSpPr>
        <p:spPr>
          <a:xfrm>
            <a:off x="9464835" y="5027886"/>
            <a:ext cx="2097117" cy="62894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/>
              <a:t>FAUX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DE4D9D9-233A-45A9-88A2-76EA36A0EDD1}"/>
              </a:ext>
            </a:extLst>
          </p:cNvPr>
          <p:cNvSpPr/>
          <p:nvPr/>
        </p:nvSpPr>
        <p:spPr>
          <a:xfrm>
            <a:off x="291828" y="5111529"/>
            <a:ext cx="61410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/>
              <a:t>D) Les lignes sont désignées par des nombres</a:t>
            </a:r>
          </a:p>
        </p:txBody>
      </p:sp>
    </p:spTree>
    <p:extLst>
      <p:ext uri="{BB962C8B-B14F-4D97-AF65-F5344CB8AC3E}">
        <p14:creationId xmlns:p14="http://schemas.microsoft.com/office/powerpoint/2010/main" val="193916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21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3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2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B050"/>
                                      </p:to>
                                    </p:animClr>
                                    <p:set>
                                      <p:cBhvr>
                                        <p:cTn id="49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3157</TotalTime>
  <Words>742</Words>
  <Application>Microsoft Office PowerPoint</Application>
  <PresentationFormat>Grand écran</PresentationFormat>
  <Paragraphs>133</Paragraphs>
  <Slides>25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6" baseType="lpstr">
      <vt:lpstr>Abadi</vt:lpstr>
      <vt:lpstr>Aldhabi</vt:lpstr>
      <vt:lpstr>Arial</vt:lpstr>
      <vt:lpstr>Calibri</vt:lpstr>
      <vt:lpstr>Calibri Light</vt:lpstr>
      <vt:lpstr>Comic Sans MS</vt:lpstr>
      <vt:lpstr>Mali</vt:lpstr>
      <vt:lpstr>Poppins Bold</vt:lpstr>
      <vt:lpstr>Roboto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la cellule:</vt:lpstr>
      <vt:lpstr>La feuille</vt:lpstr>
      <vt:lpstr>Le classeur: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Question N°.3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94</cp:revision>
  <dcterms:created xsi:type="dcterms:W3CDTF">2025-09-27T13:59:56Z</dcterms:created>
  <dcterms:modified xsi:type="dcterms:W3CDTF">2026-04-06T17:45:10Z</dcterms:modified>
</cp:coreProperties>
</file>