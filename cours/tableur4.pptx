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75" r:id="rId3"/>
    <p:sldId id="391" r:id="rId4"/>
    <p:sldId id="404" r:id="rId5"/>
    <p:sldId id="376" r:id="rId6"/>
    <p:sldId id="405" r:id="rId7"/>
    <p:sldId id="392" r:id="rId8"/>
    <p:sldId id="406" r:id="rId9"/>
    <p:sldId id="393" r:id="rId10"/>
    <p:sldId id="364" r:id="rId11"/>
    <p:sldId id="381" r:id="rId12"/>
    <p:sldId id="39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2F1"/>
    <a:srgbClr val="FFBBFA"/>
    <a:srgbClr val="4472C4"/>
    <a:srgbClr val="00B294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9" autoAdjust="0"/>
    <p:restoredTop sz="94660"/>
  </p:normalViewPr>
  <p:slideViewPr>
    <p:cSldViewPr snapToGrid="0">
      <p:cViewPr varScale="1">
        <p:scale>
          <a:sx n="49" d="100"/>
          <a:sy n="49" d="100"/>
        </p:scale>
        <p:origin x="77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196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62455-04AA-4E95-B9B2-A90818A1A9E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26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5000"/>
                <a:lumOff val="95000"/>
              </a:schemeClr>
            </a:gs>
            <a:gs pos="66000">
              <a:schemeClr val="accent6">
                <a:lumMod val="40000"/>
                <a:lumOff val="60000"/>
              </a:schemeClr>
            </a:gs>
            <a:gs pos="88000">
              <a:srgbClr val="92D05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46580"/>
            <a:ext cx="12192000" cy="966034"/>
            <a:chOff x="0" y="1300071"/>
            <a:chExt cx="12192000" cy="119421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  <a:grpFill/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 dirty="0"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40640" y="1300071"/>
              <a:ext cx="3639820" cy="11942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3600" b="1" dirty="0"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167836" y="4045105"/>
            <a:ext cx="9856328" cy="97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insertion, ajustement et tri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975841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0" y="2898278"/>
            <a:ext cx="2626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Unité 3 :  LE TABLEUR. </a:t>
            </a:r>
          </a:p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Séquence 1 : 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Le </a:t>
            </a:r>
            <a:r>
              <a:rPr lang="en-US" b="1" dirty="0" err="1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tableur</a:t>
            </a:r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694E9F3-D746-47AD-9FB5-A655E469C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491" y="2265627"/>
            <a:ext cx="2179812" cy="21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2BF94335-8457-474C-A6A8-8D53A3C5B643}"/>
              </a:ext>
            </a:extLst>
          </p:cNvPr>
          <p:cNvSpPr/>
          <p:nvPr/>
        </p:nvSpPr>
        <p:spPr>
          <a:xfrm>
            <a:off x="244286" y="638134"/>
            <a:ext cx="11814364" cy="1017484"/>
          </a:xfrm>
          <a:prstGeom prst="rect">
            <a:avLst/>
          </a:prstGeom>
          <a:solidFill>
            <a:srgbClr val="FEF9F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91270" y="712615"/>
            <a:ext cx="11096385" cy="1017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err="1"/>
              <a:t>Manal</a:t>
            </a:r>
            <a:r>
              <a:rPr lang="fr-FR" sz="2400" dirty="0"/>
              <a:t> est une des camarades du groupe de </a:t>
            </a:r>
            <a:r>
              <a:rPr lang="fr-FR" sz="2400" b="1" dirty="0" err="1"/>
              <a:t>Basma</a:t>
            </a:r>
            <a:r>
              <a:rPr lang="fr-FR" sz="2400" dirty="0"/>
              <a:t> qui a voulu </a:t>
            </a:r>
            <a:r>
              <a:rPr lang="fr-FR" sz="2400" b="1" dirty="0">
                <a:solidFill>
                  <a:srgbClr val="7030A0"/>
                </a:solidFill>
              </a:rPr>
              <a:t>participer</a:t>
            </a:r>
            <a:r>
              <a:rPr lang="fr-FR" sz="2400" dirty="0"/>
              <a:t> au projet dans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7030A0"/>
                </a:solidFill>
              </a:rPr>
              <a:t>le troisième versement</a:t>
            </a:r>
            <a:r>
              <a:rPr lang="fr-FR" sz="2400" dirty="0"/>
              <a:t>.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 :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EDF9424-F1C1-4012-968B-D600171E35A9}"/>
              </a:ext>
            </a:extLst>
          </p:cNvPr>
          <p:cNvSpPr/>
          <p:nvPr/>
        </p:nvSpPr>
        <p:spPr>
          <a:xfrm>
            <a:off x="491270" y="527784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A265CB-C776-4BB9-B5B0-1423A76C6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665" y="1731818"/>
            <a:ext cx="9302985" cy="3258743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3CC71F75-A284-41B8-89CD-C5ED3E4E49A0}"/>
              </a:ext>
            </a:extLst>
          </p:cNvPr>
          <p:cNvSpPr/>
          <p:nvPr/>
        </p:nvSpPr>
        <p:spPr>
          <a:xfrm>
            <a:off x="144339" y="5083216"/>
            <a:ext cx="11443315" cy="19081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1C2833"/>
                </a:solidFill>
              </a:rPr>
              <a:t>Que faut-il faire dans ce tableau pour ajouter </a:t>
            </a:r>
            <a:r>
              <a:rPr lang="fr-FR" sz="2800" b="1" dirty="0" err="1">
                <a:solidFill>
                  <a:srgbClr val="1C2833"/>
                </a:solidFill>
              </a:rPr>
              <a:t>Manal</a:t>
            </a:r>
            <a:r>
              <a:rPr lang="fr-FR" sz="2800" b="1" dirty="0">
                <a:solidFill>
                  <a:srgbClr val="1C2833"/>
                </a:solidFill>
              </a:rPr>
              <a:t>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b="1" dirty="0">
              <a:solidFill>
                <a:srgbClr val="1C2833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1C2833"/>
                </a:solidFill>
              </a:rPr>
              <a:t>Quels sont les problèmes que vous observez dans ce tableau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800" b="1" dirty="0">
              <a:solidFill>
                <a:srgbClr val="1C28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18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 :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D4A615E-C01A-4D55-AA28-77D9547D66D1}"/>
              </a:ext>
            </a:extLst>
          </p:cNvPr>
          <p:cNvSpPr/>
          <p:nvPr/>
        </p:nvSpPr>
        <p:spPr>
          <a:xfrm>
            <a:off x="244284" y="622368"/>
            <a:ext cx="4296183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000" b="1" dirty="0">
                <a:solidFill>
                  <a:srgbClr val="FF0000"/>
                </a:solidFill>
              </a:rPr>
              <a:t> Pour améliorer ce tableau dans Excel 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68B8B4B-F76E-4412-896A-E0AB1A477552}"/>
              </a:ext>
            </a:extLst>
          </p:cNvPr>
          <p:cNvSpPr txBox="1"/>
          <p:nvPr/>
        </p:nvSpPr>
        <p:spPr>
          <a:xfrm>
            <a:off x="207434" y="1078111"/>
            <a:ext cx="11814363" cy="169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/>
              <a:t>Ajouter</a:t>
            </a:r>
            <a:r>
              <a:rPr lang="fr-FR" altLang="fr-FR" sz="2400" dirty="0"/>
              <a:t> </a:t>
            </a:r>
            <a:r>
              <a:rPr lang="fr-FR" altLang="fr-FR" sz="2400" dirty="0" err="1"/>
              <a:t>Manal</a:t>
            </a:r>
            <a:r>
              <a:rPr lang="fr-FR" altLang="fr-FR" sz="2400" dirty="0"/>
              <a:t> et le </a:t>
            </a:r>
            <a:r>
              <a:rPr lang="fr-FR" sz="2400" dirty="0"/>
              <a:t>troisième versement</a:t>
            </a:r>
            <a:r>
              <a:rPr lang="fr-FR" altLang="fr-FR" sz="2400" dirty="0"/>
              <a:t>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Insérer une ligne et une colonne </a:t>
            </a:r>
            <a:endParaRPr lang="fr-FR" altLang="fr-FR" sz="2400" dirty="0"/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/>
              <a:t>Rendre</a:t>
            </a:r>
            <a:r>
              <a:rPr lang="fr-FR" altLang="fr-FR" sz="2400" dirty="0"/>
              <a:t> les données lisibles                          : </a:t>
            </a:r>
            <a:r>
              <a:rPr 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Ajuster la largeur des colonnes</a:t>
            </a:r>
            <a:endParaRPr lang="fr-FR" altLang="fr-FR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dirty="0"/>
              <a:t>Mieux </a:t>
            </a:r>
            <a:r>
              <a:rPr lang="fr-FR" altLang="fr-FR" sz="2400" b="1" dirty="0"/>
              <a:t>organiser</a:t>
            </a:r>
            <a:r>
              <a:rPr lang="fr-FR" altLang="fr-FR" sz="2400" dirty="0"/>
              <a:t> les informations 		: </a:t>
            </a:r>
            <a:r>
              <a:rPr 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Trier les données</a:t>
            </a:r>
            <a:endParaRPr lang="fr-FR" altLang="fr-FR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7A912F-1DC8-40F5-865A-5C600AD34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3B6DAEE-C754-469D-8897-ADE6D4CED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58" y="3038475"/>
            <a:ext cx="8992245" cy="34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99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918D33A-3008-458F-A474-1EFE04F52D0B}"/>
              </a:ext>
            </a:extLst>
          </p:cNvPr>
          <p:cNvSpPr txBox="1"/>
          <p:nvPr/>
        </p:nvSpPr>
        <p:spPr>
          <a:xfrm>
            <a:off x="657225" y="2581652"/>
            <a:ext cx="10877550" cy="169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/>
              <a:t>Ajouter</a:t>
            </a:r>
            <a:r>
              <a:rPr lang="fr-FR" altLang="fr-FR" sz="2400" dirty="0"/>
              <a:t> </a:t>
            </a:r>
            <a:r>
              <a:rPr lang="fr-FR" altLang="fr-FR" sz="2400" dirty="0" err="1"/>
              <a:t>Manal</a:t>
            </a:r>
            <a:r>
              <a:rPr lang="fr-FR" altLang="fr-FR" sz="2400" dirty="0"/>
              <a:t> et le </a:t>
            </a:r>
            <a:r>
              <a:rPr lang="fr-FR" sz="2400" dirty="0"/>
              <a:t>troisième versement</a:t>
            </a:r>
            <a:r>
              <a:rPr lang="fr-FR" altLang="fr-FR" sz="2400" dirty="0"/>
              <a:t>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Insérer une ligne et une colonne </a:t>
            </a:r>
            <a:endParaRPr lang="fr-FR" altLang="fr-FR" sz="2400" dirty="0"/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Rendre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les données lisibles                          : </a:t>
            </a:r>
            <a:r>
              <a:rPr lang="fr-FR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Ajuster la largeur des colonnes</a:t>
            </a:r>
            <a:endParaRPr lang="fr-FR" altLang="fr-FR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Mieux </a:t>
            </a: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organiser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les informations 		: </a:t>
            </a:r>
            <a:r>
              <a:rPr lang="fr-FR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Trier les données</a:t>
            </a:r>
            <a:endParaRPr lang="fr-FR" altLang="fr-FR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194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2" y="126699"/>
            <a:ext cx="8733427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Insertion d’une ligne ou d’une colonne: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464664" y="647238"/>
            <a:ext cx="579424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+mj-lt"/>
              </a:rPr>
              <a:t>Pour insérer une ligne: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b="1" dirty="0">
                <a:latin typeface="+mj-lt"/>
              </a:rPr>
              <a:t>	</a:t>
            </a:r>
            <a:r>
              <a:rPr lang="fr-FR" sz="2400" dirty="0">
                <a:latin typeface="+mj-lt"/>
              </a:rPr>
              <a:t>On </a:t>
            </a:r>
            <a:r>
              <a:rPr lang="fr-FR" sz="2400" b="1" dirty="0">
                <a:latin typeface="+mj-lt"/>
              </a:rPr>
              <a:t>sélectionne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ligne </a:t>
            </a:r>
            <a:r>
              <a:rPr lang="fr-FR" sz="2400" dirty="0">
                <a:latin typeface="+mj-lt"/>
              </a:rPr>
              <a:t>ou une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cellule de la ligne</a:t>
            </a:r>
            <a:r>
              <a:rPr lang="fr-FR" sz="2400" dirty="0">
                <a:latin typeface="+mj-lt"/>
              </a:rPr>
              <a:t>.</a:t>
            </a:r>
          </a:p>
          <a:p>
            <a:pPr lvl="3"/>
            <a:r>
              <a:rPr lang="fr-FR" sz="2400" dirty="0">
                <a:latin typeface="+mj-lt"/>
              </a:rPr>
              <a:t> Puis, on </a:t>
            </a:r>
            <a:r>
              <a:rPr lang="fr-FR" sz="2400" b="1" dirty="0">
                <a:latin typeface="+mj-lt"/>
              </a:rPr>
              <a:t>active</a:t>
            </a:r>
            <a:r>
              <a:rPr lang="fr-FR" sz="2400" dirty="0">
                <a:latin typeface="+mj-lt"/>
              </a:rPr>
              <a:t> la commande 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insérer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 des lignes</a:t>
            </a:r>
            <a:r>
              <a:rPr lang="fr-FR" sz="2400" dirty="0">
                <a:latin typeface="+mj-lt"/>
              </a:rPr>
              <a:t> à partir du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bloc cellules </a:t>
            </a:r>
            <a:r>
              <a:rPr lang="fr-FR" sz="2400" dirty="0">
                <a:latin typeface="+mj-lt"/>
              </a:rPr>
              <a:t>dans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l’onglet accueil.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Une ligne s’insère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au-dessus</a:t>
            </a:r>
            <a:r>
              <a:rPr lang="fr-FR" sz="2400" dirty="0">
                <a:latin typeface="+mj-lt"/>
              </a:rPr>
              <a:t> de </a:t>
            </a:r>
            <a:r>
              <a:rPr lang="fr-FR" sz="2400" b="1" dirty="0">
                <a:latin typeface="+mj-lt"/>
              </a:rPr>
              <a:t>la cellule sélectionnée</a:t>
            </a:r>
            <a:r>
              <a:rPr lang="fr-FR" sz="2400" dirty="0">
                <a:latin typeface="+mj-lt"/>
              </a:rPr>
              <a:t>.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BAA33F-99DD-434A-8DF5-E654C762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891" y="641925"/>
            <a:ext cx="4842127" cy="2303451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549D2ABD-A7D2-4CE1-80D5-AB08E8BBD171}"/>
              </a:ext>
            </a:extLst>
          </p:cNvPr>
          <p:cNvSpPr/>
          <p:nvPr/>
        </p:nvSpPr>
        <p:spPr>
          <a:xfrm>
            <a:off x="7362836" y="1979451"/>
            <a:ext cx="1292772" cy="446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49A212FD-4FF0-4C98-92B7-A3C447919D71}"/>
              </a:ext>
            </a:extLst>
          </p:cNvPr>
          <p:cNvCxnSpPr>
            <a:cxnSpLocks/>
            <a:stCxn id="4" idx="7"/>
          </p:cNvCxnSpPr>
          <p:nvPr/>
        </p:nvCxnSpPr>
        <p:spPr>
          <a:xfrm rot="16200000" flipV="1">
            <a:off x="7960147" y="1538626"/>
            <a:ext cx="752445" cy="2598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51EB3C32-2ED1-425F-9349-918158E1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03" y="1535753"/>
            <a:ext cx="3200847" cy="2076740"/>
          </a:xfrm>
          <a:prstGeom prst="rect">
            <a:avLst/>
          </a:prstGeom>
        </p:spPr>
      </p:pic>
      <p:cxnSp>
        <p:nvCxnSpPr>
          <p:cNvPr id="35" name="Connecteur : en arc 34">
            <a:extLst>
              <a:ext uri="{FF2B5EF4-FFF2-40B4-BE49-F238E27FC236}">
                <a16:creationId xmlns:a16="http://schemas.microsoft.com/office/drawing/2014/main" id="{723AE2D6-08F7-4B17-ADA7-6E928C3659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60662" y="1448945"/>
            <a:ext cx="1350553" cy="747930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BBC17C65-060E-419F-AAC8-55CDEAF08949}"/>
              </a:ext>
            </a:extLst>
          </p:cNvPr>
          <p:cNvSpPr txBox="1"/>
          <p:nvPr/>
        </p:nvSpPr>
        <p:spPr>
          <a:xfrm>
            <a:off x="415114" y="3783149"/>
            <a:ext cx="60936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+mj-lt"/>
              </a:rPr>
              <a:t>Pour insérer une colonne: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b="1" dirty="0">
                <a:latin typeface="+mj-lt"/>
              </a:rPr>
              <a:t>	</a:t>
            </a:r>
            <a:r>
              <a:rPr lang="fr-FR" sz="2400" dirty="0">
                <a:latin typeface="+mj-lt"/>
              </a:rPr>
              <a:t>On </a:t>
            </a:r>
            <a:r>
              <a:rPr lang="fr-FR" sz="2400" b="1" dirty="0">
                <a:latin typeface="+mj-lt"/>
              </a:rPr>
              <a:t>sélectionne</a:t>
            </a:r>
            <a:r>
              <a:rPr lang="fr-FR" sz="2400" dirty="0">
                <a:latin typeface="+mj-lt"/>
              </a:rPr>
              <a:t>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colonne </a:t>
            </a:r>
            <a:r>
              <a:rPr lang="fr-FR" sz="2400" dirty="0">
                <a:latin typeface="+mj-lt"/>
              </a:rPr>
              <a:t>ou une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cellule de la colonne</a:t>
            </a:r>
            <a:r>
              <a:rPr lang="fr-FR" sz="2400" dirty="0">
                <a:latin typeface="+mj-lt"/>
              </a:rPr>
              <a:t>.</a:t>
            </a:r>
          </a:p>
          <a:p>
            <a:pPr lvl="3"/>
            <a:r>
              <a:rPr lang="fr-FR" sz="2400" dirty="0">
                <a:latin typeface="+mj-lt"/>
              </a:rPr>
              <a:t> Puis, on </a:t>
            </a:r>
            <a:r>
              <a:rPr lang="fr-FR" sz="2400" b="1" dirty="0">
                <a:latin typeface="+mj-lt"/>
              </a:rPr>
              <a:t>active</a:t>
            </a:r>
            <a:r>
              <a:rPr lang="fr-FR" sz="2400" dirty="0">
                <a:latin typeface="+mj-lt"/>
              </a:rPr>
              <a:t> la commande 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insérer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 des colonnes</a:t>
            </a:r>
            <a:r>
              <a:rPr lang="fr-FR" sz="2400" dirty="0">
                <a:latin typeface="+mj-lt"/>
              </a:rPr>
              <a:t> à partir du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bloc cellules </a:t>
            </a:r>
            <a:r>
              <a:rPr lang="fr-FR" sz="2400" dirty="0">
                <a:latin typeface="+mj-lt"/>
              </a:rPr>
              <a:t>dans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l’onglet accueil.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Une colonne s’insère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à gauche </a:t>
            </a:r>
            <a:r>
              <a:rPr lang="fr-FR" sz="2400" dirty="0">
                <a:latin typeface="+mj-lt"/>
              </a:rPr>
              <a:t>de </a:t>
            </a:r>
            <a:r>
              <a:rPr lang="fr-FR" sz="2400" b="1" dirty="0">
                <a:latin typeface="+mj-lt"/>
              </a:rPr>
              <a:t>la cellule sélectionnée</a:t>
            </a:r>
            <a:r>
              <a:rPr lang="fr-FR" sz="2400" dirty="0">
                <a:latin typeface="+mj-lt"/>
              </a:rPr>
              <a:t>.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6D1FEB5-63C6-494E-B4A2-B919F0DC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488" y="3885903"/>
            <a:ext cx="4842127" cy="2303451"/>
          </a:xfrm>
          <a:prstGeom prst="rect">
            <a:avLst/>
          </a:prstGeom>
        </p:spPr>
      </p:pic>
      <p:sp>
        <p:nvSpPr>
          <p:cNvPr id="43" name="Ellipse 42">
            <a:extLst>
              <a:ext uri="{FF2B5EF4-FFF2-40B4-BE49-F238E27FC236}">
                <a16:creationId xmlns:a16="http://schemas.microsoft.com/office/drawing/2014/main" id="{C077ABFA-FBC5-41AD-BAA6-FF9CE87661F0}"/>
              </a:ext>
            </a:extLst>
          </p:cNvPr>
          <p:cNvSpPr/>
          <p:nvPr/>
        </p:nvSpPr>
        <p:spPr>
          <a:xfrm>
            <a:off x="7242433" y="5223429"/>
            <a:ext cx="1292772" cy="446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4" name="Connecteur : en arc 43">
            <a:extLst>
              <a:ext uri="{FF2B5EF4-FFF2-40B4-BE49-F238E27FC236}">
                <a16:creationId xmlns:a16="http://schemas.microsoft.com/office/drawing/2014/main" id="{51ED0BA2-9317-44BA-B6DE-A53F3B046C2C}"/>
              </a:ext>
            </a:extLst>
          </p:cNvPr>
          <p:cNvCxnSpPr>
            <a:cxnSpLocks/>
            <a:stCxn id="43" idx="7"/>
          </p:cNvCxnSpPr>
          <p:nvPr/>
        </p:nvCxnSpPr>
        <p:spPr>
          <a:xfrm rot="16200000" flipV="1">
            <a:off x="7839744" y="4782604"/>
            <a:ext cx="752445" cy="2598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" name="Image 29">
            <a:extLst>
              <a:ext uri="{FF2B5EF4-FFF2-40B4-BE49-F238E27FC236}">
                <a16:creationId xmlns:a16="http://schemas.microsoft.com/office/drawing/2014/main" id="{896C4538-3DEE-46F9-89B2-5F192A06E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959" y="4363076"/>
            <a:ext cx="3381847" cy="1952898"/>
          </a:xfrm>
          <a:prstGeom prst="rect">
            <a:avLst/>
          </a:prstGeom>
        </p:spPr>
      </p:pic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D22A59F1-407E-4D5A-8076-83F7CB211F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40259" y="4692923"/>
            <a:ext cx="1350553" cy="747930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42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F800740-9383-4599-9FE5-2A014E6A411B}"/>
              </a:ext>
            </a:extLst>
          </p:cNvPr>
          <p:cNvSpPr txBox="1"/>
          <p:nvPr/>
        </p:nvSpPr>
        <p:spPr>
          <a:xfrm>
            <a:off x="657225" y="2581652"/>
            <a:ext cx="10877550" cy="169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Ajouter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altLang="fr-FR" sz="2400" dirty="0" err="1">
                <a:solidFill>
                  <a:schemeClr val="bg1">
                    <a:lumMod val="65000"/>
                  </a:schemeClr>
                </a:solidFill>
              </a:rPr>
              <a:t>Manal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et le </a:t>
            </a:r>
            <a:r>
              <a:rPr lang="fr-FR" sz="2400" dirty="0">
                <a:solidFill>
                  <a:schemeClr val="bg1">
                    <a:lumMod val="65000"/>
                  </a:schemeClr>
                </a:solidFill>
              </a:rPr>
              <a:t>troisième versement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Insérer une ligne et une colonne </a:t>
            </a:r>
            <a:endParaRPr lang="fr-FR" altLang="fr-FR" sz="2400" dirty="0">
              <a:solidFill>
                <a:schemeClr val="bg1">
                  <a:lumMod val="65000"/>
                </a:schemeClr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/>
              <a:t>Rendre</a:t>
            </a:r>
            <a:r>
              <a:rPr lang="fr-FR" altLang="fr-FR" sz="2400" dirty="0"/>
              <a:t> les données lisibles                          : </a:t>
            </a:r>
            <a:r>
              <a:rPr 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Ajuster la largeur des colonnes</a:t>
            </a:r>
            <a:endParaRPr lang="fr-FR" altLang="fr-FR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Mieux </a:t>
            </a: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organiser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les informations 		: </a:t>
            </a:r>
            <a:r>
              <a:rPr lang="fr-FR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Trier les données</a:t>
            </a:r>
            <a:endParaRPr lang="fr-FR" altLang="fr-FR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56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2" y="126699"/>
            <a:ext cx="8733427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Ajustement de la largeur des colonnes: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93511" y="760691"/>
            <a:ext cx="7648422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+mj-lt"/>
              </a:rPr>
              <a:t>ajuster la largeur des colonnes automatiquement au contenu :</a:t>
            </a:r>
            <a:endParaRPr lang="fr-FR" sz="2400" b="1" dirty="0">
              <a:solidFill>
                <a:srgbClr val="7030A0"/>
              </a:solidFill>
              <a:latin typeface="+mj-lt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sélectionner les cellules concernées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Activer la commande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format</a:t>
            </a:r>
            <a:r>
              <a:rPr lang="fr-FR" sz="2400" dirty="0">
                <a:latin typeface="+mj-lt"/>
              </a:rPr>
              <a:t> du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bloc cellules</a:t>
            </a:r>
            <a:r>
              <a:rPr lang="fr-FR" sz="2400" dirty="0">
                <a:latin typeface="+mj-lt"/>
              </a:rPr>
              <a:t> dans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l’onglet accueil</a:t>
            </a:r>
            <a:endParaRPr lang="fr-FR" sz="2400" dirty="0">
              <a:latin typeface="+mj-lt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choisir </a:t>
            </a:r>
            <a:r>
              <a:rPr lang="fr-FR" sz="2800" b="1" dirty="0">
                <a:solidFill>
                  <a:srgbClr val="7030A0"/>
                </a:solidFill>
                <a:latin typeface="+mj-lt"/>
              </a:rPr>
              <a:t>ajuster la largeur de la colonne</a:t>
            </a:r>
            <a:r>
              <a:rPr lang="fr-FR" sz="2400" dirty="0">
                <a:latin typeface="+mj-lt"/>
              </a:rPr>
              <a:t>.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BC17C65-060E-419F-AAC8-55CDEAF08949}"/>
              </a:ext>
            </a:extLst>
          </p:cNvPr>
          <p:cNvSpPr txBox="1"/>
          <p:nvPr/>
        </p:nvSpPr>
        <p:spPr>
          <a:xfrm>
            <a:off x="356511" y="5565679"/>
            <a:ext cx="11376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+mj-lt"/>
              </a:rPr>
              <a:t>Ajuster la largeur des colonnes manuellement au contenu: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b="1" dirty="0">
                <a:latin typeface="+mj-lt"/>
              </a:rPr>
              <a:t>	</a:t>
            </a:r>
            <a:r>
              <a:rPr lang="fr-FR" sz="2400" dirty="0">
                <a:latin typeface="+mj-lt"/>
              </a:rPr>
              <a:t>On utilise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souris</a:t>
            </a:r>
            <a:r>
              <a:rPr lang="fr-FR" sz="2400" dirty="0">
                <a:latin typeface="+mj-lt"/>
              </a:rPr>
              <a:t>.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6D1FEB5-63C6-494E-B4A2-B919F0DC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408" y="1848905"/>
            <a:ext cx="4533840" cy="2303451"/>
          </a:xfrm>
          <a:prstGeom prst="rect">
            <a:avLst/>
          </a:prstGeom>
        </p:spPr>
      </p:pic>
      <p:sp>
        <p:nvSpPr>
          <p:cNvPr id="43" name="Ellipse 42">
            <a:extLst>
              <a:ext uri="{FF2B5EF4-FFF2-40B4-BE49-F238E27FC236}">
                <a16:creationId xmlns:a16="http://schemas.microsoft.com/office/drawing/2014/main" id="{C077ABFA-FBC5-41AD-BAA6-FF9CE87661F0}"/>
              </a:ext>
            </a:extLst>
          </p:cNvPr>
          <p:cNvSpPr/>
          <p:nvPr/>
        </p:nvSpPr>
        <p:spPr>
          <a:xfrm>
            <a:off x="8003339" y="3144013"/>
            <a:ext cx="1210464" cy="446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4" name="Connecteur : en arc 43">
            <a:extLst>
              <a:ext uri="{FF2B5EF4-FFF2-40B4-BE49-F238E27FC236}">
                <a16:creationId xmlns:a16="http://schemas.microsoft.com/office/drawing/2014/main" id="{51ED0BA2-9317-44BA-B6DE-A53F3B046C2C}"/>
              </a:ext>
            </a:extLst>
          </p:cNvPr>
          <p:cNvCxnSpPr>
            <a:cxnSpLocks/>
            <a:stCxn id="43" idx="7"/>
          </p:cNvCxnSpPr>
          <p:nvPr/>
        </p:nvCxnSpPr>
        <p:spPr>
          <a:xfrm rot="16200000" flipV="1">
            <a:off x="8891201" y="3063994"/>
            <a:ext cx="223106" cy="6756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EA3CC363-7713-4FF3-ABA1-207A6FD5C5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56"/>
          <a:stretch/>
        </p:blipFill>
        <p:spPr>
          <a:xfrm>
            <a:off x="9422554" y="2903365"/>
            <a:ext cx="2872179" cy="2155548"/>
          </a:xfrm>
          <a:prstGeom prst="rect">
            <a:avLst/>
          </a:prstGeom>
        </p:spPr>
      </p:pic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D22A59F1-407E-4D5A-8076-83F7CB211F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3255" y="3356620"/>
            <a:ext cx="1479524" cy="88573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C561641E-F336-4E7D-8EB5-996FF7D74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26" y="3931083"/>
            <a:ext cx="2962688" cy="130510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7FDF8F2-B203-4A50-A27C-AE10B921B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451" y="3864398"/>
            <a:ext cx="1390844" cy="1438476"/>
          </a:xfrm>
          <a:prstGeom prst="rect">
            <a:avLst/>
          </a:prstGeom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1595AF8-49D1-4C9A-9261-30BD95552628}"/>
              </a:ext>
            </a:extLst>
          </p:cNvPr>
          <p:cNvSpPr/>
          <p:nvPr/>
        </p:nvSpPr>
        <p:spPr>
          <a:xfrm>
            <a:off x="4058730" y="4308664"/>
            <a:ext cx="885740" cy="545168"/>
          </a:xfrm>
          <a:prstGeom prst="rightArrow">
            <a:avLst>
              <a:gd name="adj1" fmla="val 29500"/>
              <a:gd name="adj2" fmla="val 38818"/>
            </a:avLst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35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65B6BDB-153E-4637-8E69-E16D998BEC5B}"/>
              </a:ext>
            </a:extLst>
          </p:cNvPr>
          <p:cNvSpPr txBox="1"/>
          <p:nvPr/>
        </p:nvSpPr>
        <p:spPr>
          <a:xfrm>
            <a:off x="657225" y="2581652"/>
            <a:ext cx="10877550" cy="169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Ajouter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altLang="fr-FR" sz="2400" dirty="0" err="1">
                <a:solidFill>
                  <a:schemeClr val="bg1">
                    <a:lumMod val="65000"/>
                  </a:schemeClr>
                </a:solidFill>
              </a:rPr>
              <a:t>Manal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et le </a:t>
            </a:r>
            <a:r>
              <a:rPr lang="fr-FR" sz="2400" dirty="0">
                <a:solidFill>
                  <a:schemeClr val="bg1">
                    <a:lumMod val="65000"/>
                  </a:schemeClr>
                </a:solidFill>
              </a:rPr>
              <a:t>troisième versement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Insérer une ligne et une colonne </a:t>
            </a:r>
            <a:endParaRPr lang="fr-FR" altLang="fr-FR" sz="2400" dirty="0">
              <a:solidFill>
                <a:schemeClr val="bg1">
                  <a:lumMod val="65000"/>
                </a:schemeClr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b="1" dirty="0">
                <a:solidFill>
                  <a:schemeClr val="bg1">
                    <a:lumMod val="65000"/>
                  </a:schemeClr>
                </a:solidFill>
              </a:rPr>
              <a:t>Rendre</a:t>
            </a:r>
            <a:r>
              <a:rPr lang="fr-FR" altLang="fr-FR" sz="2400" dirty="0">
                <a:solidFill>
                  <a:schemeClr val="bg1">
                    <a:lumMod val="65000"/>
                  </a:schemeClr>
                </a:solidFill>
              </a:rPr>
              <a:t> les données lisibles                          : </a:t>
            </a:r>
            <a:r>
              <a:rPr lang="fr-FR" sz="2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Ajuster la largeur des colonnes</a:t>
            </a:r>
            <a:endParaRPr lang="fr-FR" altLang="fr-FR" sz="2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fr-FR" altLang="fr-FR" sz="2400" dirty="0"/>
              <a:t>Mieux </a:t>
            </a:r>
            <a:r>
              <a:rPr lang="fr-FR" altLang="fr-FR" sz="2400" b="1" dirty="0"/>
              <a:t>organiser</a:t>
            </a:r>
            <a:r>
              <a:rPr lang="fr-FR" altLang="fr-FR" sz="2400" dirty="0"/>
              <a:t> les informations 		: </a:t>
            </a:r>
            <a:r>
              <a:rPr lang="fr-FR" sz="2400" b="1" dirty="0">
                <a:solidFill>
                  <a:srgbClr val="7030A0"/>
                </a:solidFill>
                <a:latin typeface="Arial" panose="020B0604020202020204" pitchFamily="34" charset="0"/>
              </a:rPr>
              <a:t>Trier les données</a:t>
            </a:r>
            <a:endParaRPr lang="fr-FR" altLang="fr-FR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750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963CE6A-12DE-4D6F-82DE-5D475D5B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897" y="1292321"/>
            <a:ext cx="3298352" cy="2610611"/>
          </a:xfrm>
          <a:prstGeom prst="rect">
            <a:avLst/>
          </a:prstGeom>
        </p:spPr>
      </p:pic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31532" y="126699"/>
            <a:ext cx="8733427" cy="505544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2"/>
                </a:solidFill>
              </a:rPr>
              <a:t>Le tri: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464664" y="694536"/>
            <a:ext cx="72924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latin typeface="+mj-lt"/>
              </a:rPr>
              <a:t>Le tri signifie le classement des données selon un ordre croissant ou décroissant.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Pour réaliser le tri par ordre croissant, on </a:t>
            </a:r>
            <a:r>
              <a:rPr lang="fr-FR" sz="2400" b="1" dirty="0">
                <a:latin typeface="+mj-lt"/>
              </a:rPr>
              <a:t>sélectionne</a:t>
            </a:r>
            <a:r>
              <a:rPr lang="fr-FR" sz="2400" dirty="0">
                <a:latin typeface="+mj-lt"/>
              </a:rPr>
              <a:t> les données à trier. Ensuite, on clique sur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l’icône</a:t>
            </a:r>
            <a:r>
              <a:rPr lang="fr-FR" sz="2400" dirty="0">
                <a:latin typeface="+mj-lt"/>
              </a:rPr>
              <a:t> 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fr-FR" sz="2400" dirty="0">
              <a:latin typeface="+mj-lt"/>
            </a:endParaRPr>
          </a:p>
          <a:p>
            <a:pPr lvl="3"/>
            <a:endParaRPr lang="fr-FR" sz="2400" dirty="0">
              <a:latin typeface="+mj-lt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fr-FR" sz="2400" dirty="0">
                <a:latin typeface="+mj-lt"/>
              </a:rPr>
              <a:t>Pour réaliser le tri par ordre décroissant, on </a:t>
            </a:r>
            <a:r>
              <a:rPr lang="fr-FR" sz="2400" b="1" dirty="0">
                <a:latin typeface="+mj-lt"/>
              </a:rPr>
              <a:t>sélectionne</a:t>
            </a:r>
            <a:r>
              <a:rPr lang="fr-FR" sz="2400" dirty="0">
                <a:latin typeface="+mj-lt"/>
              </a:rPr>
              <a:t> les données à trier. Ensuite, on clique sur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l’icône</a:t>
            </a:r>
            <a:r>
              <a:rPr lang="fr-FR" sz="2400" dirty="0">
                <a:latin typeface="+mj-lt"/>
              </a:rPr>
              <a:t> 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fr-FR" sz="2400" dirty="0">
              <a:latin typeface="+mj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D22A59F1-407E-4D5A-8076-83F7CB211FF9}"/>
              </a:ext>
            </a:extLst>
          </p:cNvPr>
          <p:cNvCxnSpPr>
            <a:cxnSpLocks/>
          </p:cNvCxnSpPr>
          <p:nvPr/>
        </p:nvCxnSpPr>
        <p:spPr>
          <a:xfrm>
            <a:off x="4398245" y="2493984"/>
            <a:ext cx="4181875" cy="531204"/>
          </a:xfrm>
          <a:prstGeom prst="curvedConnector3">
            <a:avLst>
              <a:gd name="adj1" fmla="val 73041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 : en arc 23">
            <a:extLst>
              <a:ext uri="{FF2B5EF4-FFF2-40B4-BE49-F238E27FC236}">
                <a16:creationId xmlns:a16="http://schemas.microsoft.com/office/drawing/2014/main" id="{A5DF3EE1-B449-4965-A344-87A165169FEB}"/>
              </a:ext>
            </a:extLst>
          </p:cNvPr>
          <p:cNvCxnSpPr>
            <a:cxnSpLocks/>
          </p:cNvCxnSpPr>
          <p:nvPr/>
        </p:nvCxnSpPr>
        <p:spPr>
          <a:xfrm flipV="1">
            <a:off x="4398244" y="3562916"/>
            <a:ext cx="4181876" cy="727324"/>
          </a:xfrm>
          <a:prstGeom prst="curvedConnector3">
            <a:avLst>
              <a:gd name="adj1" fmla="val 80565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347F9312-EB40-4583-A6D9-C39AD650D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57" y="4334818"/>
            <a:ext cx="1373084" cy="255366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752C910-5377-43CF-AA42-E7EF93F5D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657" y="4334819"/>
            <a:ext cx="1373084" cy="2553662"/>
          </a:xfrm>
          <a:prstGeom prst="rect">
            <a:avLst/>
          </a:prstGeom>
        </p:spPr>
      </p:pic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0157517E-0AF6-4849-91E9-73626CE1EDF6}"/>
              </a:ext>
            </a:extLst>
          </p:cNvPr>
          <p:cNvSpPr/>
          <p:nvPr/>
        </p:nvSpPr>
        <p:spPr>
          <a:xfrm>
            <a:off x="6871419" y="5274883"/>
            <a:ext cx="885740" cy="545168"/>
          </a:xfrm>
          <a:prstGeom prst="rightArrow">
            <a:avLst>
              <a:gd name="adj1" fmla="val 29500"/>
              <a:gd name="adj2" fmla="val 38818"/>
            </a:avLst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52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0" y="121284"/>
            <a:ext cx="12192000" cy="6721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00B050"/>
                </a:solidFill>
              </a:rPr>
              <a:t>6. Insertion, ajustement et tri : </a:t>
            </a:r>
          </a:p>
          <a:p>
            <a:pPr>
              <a:buNone/>
            </a:pPr>
            <a:endParaRPr lang="fr-FR" sz="2400" b="1" dirty="0">
              <a:solidFill>
                <a:srgbClr val="00B050"/>
              </a:solidFill>
              <a:latin typeface="+mj-lt"/>
              <a:cs typeface="Aharoni" pitchFamily="2" charset="-79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Une ligne </a:t>
            </a:r>
            <a:r>
              <a:rPr lang="fr-FR" sz="3200" b="1" dirty="0"/>
              <a:t>s’insère</a:t>
            </a:r>
            <a:r>
              <a:rPr lang="fr-FR" sz="3200" dirty="0"/>
              <a:t> </a:t>
            </a:r>
            <a:r>
              <a:rPr lang="fr-FR" sz="3200" b="1" dirty="0">
                <a:solidFill>
                  <a:srgbClr val="7030A0"/>
                </a:solidFill>
              </a:rPr>
              <a:t>au dessus </a:t>
            </a:r>
            <a:r>
              <a:rPr lang="fr-FR" sz="3200" dirty="0"/>
              <a:t>de la cellule sélectionnée.</a:t>
            </a:r>
          </a:p>
          <a:p>
            <a:pPr marL="0" indent="0"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Une colonne </a:t>
            </a:r>
            <a:r>
              <a:rPr lang="fr-FR" sz="3200" b="1" dirty="0"/>
              <a:t>s’insère</a:t>
            </a:r>
            <a:r>
              <a:rPr lang="fr-FR" sz="3200" dirty="0"/>
              <a:t> </a:t>
            </a:r>
            <a:r>
              <a:rPr lang="fr-FR" sz="3200" b="1" dirty="0">
                <a:solidFill>
                  <a:srgbClr val="7030A0"/>
                </a:solidFill>
              </a:rPr>
              <a:t>à gauche</a:t>
            </a:r>
            <a:r>
              <a:rPr lang="fr-FR" sz="3200" dirty="0"/>
              <a:t> de la cellule sélectionnée.</a:t>
            </a:r>
          </a:p>
          <a:p>
            <a:pPr marL="0" indent="0"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La largeur des colonnes s’ajuste automatiquement en activant la commande "</a:t>
            </a:r>
            <a:r>
              <a:rPr lang="fr-FR" sz="3200" dirty="0">
                <a:solidFill>
                  <a:srgbClr val="7030A0"/>
                </a:solidFill>
              </a:rPr>
              <a:t>Format</a:t>
            </a:r>
            <a:r>
              <a:rPr lang="fr-FR" sz="3200" dirty="0"/>
              <a:t>" du bloc "</a:t>
            </a:r>
            <a:r>
              <a:rPr lang="fr-FR" sz="3200" dirty="0">
                <a:solidFill>
                  <a:srgbClr val="7030A0"/>
                </a:solidFill>
              </a:rPr>
              <a:t>Cellules</a:t>
            </a:r>
            <a:r>
              <a:rPr lang="fr-FR" sz="3200" dirty="0"/>
              <a:t>" dans l’onglet </a:t>
            </a:r>
            <a:r>
              <a:rPr lang="fr-FR" sz="3200" dirty="0">
                <a:solidFill>
                  <a:srgbClr val="7030A0"/>
                </a:solidFill>
              </a:rPr>
              <a:t>Accueil</a:t>
            </a:r>
            <a:r>
              <a:rPr lang="fr-FR" sz="3200" dirty="0"/>
              <a:t>, puis "</a:t>
            </a:r>
            <a:r>
              <a:rPr lang="fr-FR" sz="3200" b="1" dirty="0">
                <a:solidFill>
                  <a:srgbClr val="7030A0"/>
                </a:solidFill>
              </a:rPr>
              <a:t>Ajuster la largeur de la colonne</a:t>
            </a:r>
            <a:r>
              <a:rPr lang="fr-FR" sz="3200" dirty="0"/>
              <a:t>".</a:t>
            </a:r>
          </a:p>
          <a:p>
            <a:pPr marL="0" indent="0"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b="1" dirty="0"/>
              <a:t>Le tri</a:t>
            </a:r>
            <a:r>
              <a:rPr lang="fr-FR" sz="3200" dirty="0"/>
              <a:t> peut se faire par ordre</a:t>
            </a:r>
            <a:r>
              <a:rPr lang="fr-FR" sz="3200" b="1" dirty="0"/>
              <a:t> </a:t>
            </a:r>
            <a:r>
              <a:rPr lang="fr-FR" sz="3200" b="1" dirty="0">
                <a:solidFill>
                  <a:srgbClr val="7030A0"/>
                </a:solidFill>
              </a:rPr>
              <a:t>croissant</a:t>
            </a:r>
            <a:r>
              <a:rPr lang="fr-FR" sz="3200" b="1" dirty="0"/>
              <a:t> </a:t>
            </a:r>
            <a:r>
              <a:rPr lang="fr-FR" sz="3200" dirty="0"/>
              <a:t>ou </a:t>
            </a:r>
            <a:r>
              <a:rPr lang="fr-FR" sz="3200" b="1" dirty="0">
                <a:solidFill>
                  <a:srgbClr val="7030A0"/>
                </a:solidFill>
              </a:rPr>
              <a:t>décroissant</a:t>
            </a:r>
            <a:r>
              <a:rPr lang="fr-FR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677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213678" y="0"/>
            <a:ext cx="811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/>
            <a:r>
              <a:rPr lang="fr-FR" sz="3600" b="1">
                <a:solidFill>
                  <a:srgbClr val="FF0000"/>
                </a:solidFill>
              </a:rPr>
              <a:t>TP:</a:t>
            </a:r>
            <a:endParaRPr lang="fr-FR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78618"/>
              </p:ext>
            </p:extLst>
          </p:nvPr>
        </p:nvGraphicFramePr>
        <p:xfrm>
          <a:off x="2613718" y="629646"/>
          <a:ext cx="9000000" cy="216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0995604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404060007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190328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Prénom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1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2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3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Zouhair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17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Yassine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26A98007-5614-41A3-A429-AF251364129E}"/>
              </a:ext>
            </a:extLst>
          </p:cNvPr>
          <p:cNvSpPr txBox="1"/>
          <p:nvPr/>
        </p:nvSpPr>
        <p:spPr>
          <a:xfrm>
            <a:off x="-65149" y="2457912"/>
            <a:ext cx="2153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Consignes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9D041C1-2AA1-465A-B2A9-8A427242D0FE}"/>
              </a:ext>
            </a:extLst>
          </p:cNvPr>
          <p:cNvSpPr txBox="1"/>
          <p:nvPr/>
        </p:nvSpPr>
        <p:spPr>
          <a:xfrm>
            <a:off x="264816" y="2755677"/>
            <a:ext cx="10067771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Insérer</a:t>
            </a:r>
            <a:r>
              <a:rPr lang="fr-FR" sz="2400" dirty="0">
                <a:latin typeface="+mj-lt"/>
              </a:rPr>
              <a:t> une nouvelle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ligne</a:t>
            </a:r>
            <a:r>
              <a:rPr lang="fr-FR" sz="2400" dirty="0">
                <a:latin typeface="+mj-lt"/>
              </a:rPr>
              <a:t> entre </a:t>
            </a:r>
            <a:r>
              <a:rPr lang="fr-FR" sz="2400" b="1" i="1" dirty="0" err="1">
                <a:latin typeface="+mj-lt"/>
              </a:rPr>
              <a:t>Basma</a:t>
            </a:r>
            <a:r>
              <a:rPr lang="fr-FR" sz="2400" dirty="0">
                <a:latin typeface="+mj-lt"/>
              </a:rPr>
              <a:t> et </a:t>
            </a:r>
            <a:r>
              <a:rPr lang="fr-FR" sz="2400" b="1" i="1" dirty="0">
                <a:latin typeface="+mj-lt"/>
              </a:rPr>
              <a:t>Zouhair</a:t>
            </a:r>
            <a:r>
              <a:rPr lang="fr-FR" sz="2400" dirty="0">
                <a:latin typeface="+mj-lt"/>
              </a:rPr>
              <a:t> pour ajouter </a:t>
            </a:r>
            <a:r>
              <a:rPr lang="fr-FR" sz="2400" b="1" i="1" dirty="0" err="1">
                <a:latin typeface="+mj-lt"/>
              </a:rPr>
              <a:t>Manal</a:t>
            </a:r>
            <a:r>
              <a:rPr lang="fr-FR" sz="24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Compléter</a:t>
            </a:r>
            <a:r>
              <a:rPr lang="fr-FR" sz="2400" dirty="0">
                <a:latin typeface="+mj-lt"/>
              </a:rPr>
              <a:t>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la ligne </a:t>
            </a:r>
            <a:r>
              <a:rPr lang="fr-FR" sz="2400" dirty="0">
                <a:latin typeface="+mj-lt"/>
              </a:rPr>
              <a:t>de </a:t>
            </a:r>
            <a:r>
              <a:rPr lang="fr-FR" sz="2400" i="1" dirty="0" err="1">
                <a:latin typeface="+mj-lt"/>
              </a:rPr>
              <a:t>Manal</a:t>
            </a:r>
            <a:r>
              <a:rPr lang="fr-FR" sz="2400" dirty="0">
                <a:latin typeface="+mj-lt"/>
              </a:rPr>
              <a:t> 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Insérer</a:t>
            </a:r>
            <a:r>
              <a:rPr lang="fr-FR" sz="2400" dirty="0">
                <a:latin typeface="+mj-lt"/>
              </a:rPr>
              <a:t> une nouvelle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colonne</a:t>
            </a:r>
            <a:r>
              <a:rPr lang="fr-FR" sz="2400" dirty="0">
                <a:latin typeface="+mj-lt"/>
              </a:rPr>
              <a:t> après </a:t>
            </a:r>
            <a:r>
              <a:rPr lang="fr-FR" sz="2400" b="1" dirty="0">
                <a:latin typeface="+mj-lt"/>
              </a:rPr>
              <a:t>Versement3</a:t>
            </a:r>
            <a:r>
              <a:rPr lang="fr-FR" sz="2400" dirty="0">
                <a:latin typeface="+mj-lt"/>
              </a:rPr>
              <a:t> nommée </a:t>
            </a:r>
            <a:r>
              <a:rPr lang="fr-FR" sz="2400" b="1" dirty="0">
                <a:latin typeface="+mj-lt"/>
              </a:rPr>
              <a:t>Versement4</a:t>
            </a:r>
            <a:r>
              <a:rPr lang="fr-FR" sz="2400" dirty="0">
                <a:latin typeface="+mj-lt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it-IT" sz="2400" b="1" u="sng" dirty="0">
                <a:latin typeface="+mj-lt"/>
              </a:rPr>
              <a:t>Remplir</a:t>
            </a:r>
            <a:r>
              <a:rPr lang="it-IT" sz="2400" dirty="0">
                <a:latin typeface="+mj-lt"/>
              </a:rPr>
              <a:t> la </a:t>
            </a:r>
            <a:r>
              <a:rPr lang="it-IT" sz="2400" dirty="0">
                <a:solidFill>
                  <a:srgbClr val="7030A0"/>
                </a:solidFill>
                <a:latin typeface="+mj-lt"/>
              </a:rPr>
              <a:t>colonne</a:t>
            </a:r>
            <a:r>
              <a:rPr lang="it-IT" sz="2400" dirty="0">
                <a:latin typeface="+mj-lt"/>
              </a:rPr>
              <a:t> </a:t>
            </a:r>
            <a:r>
              <a:rPr lang="fr-FR" sz="2400" b="1" dirty="0">
                <a:latin typeface="+mj-lt"/>
              </a:rPr>
              <a:t>Versement4</a:t>
            </a:r>
            <a:r>
              <a:rPr lang="it-IT" sz="2400" b="1" dirty="0">
                <a:latin typeface="+mj-lt"/>
              </a:rPr>
              <a:t> </a:t>
            </a:r>
            <a:r>
              <a:rPr lang="it-IT" sz="2400" dirty="0">
                <a:latin typeface="+mj-lt"/>
              </a:rPr>
              <a:t>: 10, 21, 13, 04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Ajuster</a:t>
            </a:r>
            <a:r>
              <a:rPr lang="fr-FR" sz="2400" dirty="0">
                <a:latin typeface="+mj-lt"/>
              </a:rPr>
              <a:t> automatiquement la largeur de toutes les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colonnes</a:t>
            </a:r>
            <a:r>
              <a:rPr lang="fr-FR" sz="2400" dirty="0">
                <a:latin typeface="+mj-lt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Trier</a:t>
            </a:r>
            <a:r>
              <a:rPr lang="fr-FR" sz="2400" dirty="0">
                <a:latin typeface="+mj-lt"/>
              </a:rPr>
              <a:t> les élèves par ordre alphabétique des </a:t>
            </a:r>
            <a:r>
              <a:rPr lang="fr-FR" sz="2400" dirty="0">
                <a:solidFill>
                  <a:srgbClr val="7030A0"/>
                </a:solidFill>
                <a:latin typeface="+mj-lt"/>
              </a:rPr>
              <a:t>prénoms</a:t>
            </a:r>
            <a:r>
              <a:rPr lang="fr-FR" sz="2400" dirty="0">
                <a:latin typeface="+mj-lt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u="sng" dirty="0">
                <a:latin typeface="+mj-lt"/>
              </a:rPr>
              <a:t>Enregistrer</a:t>
            </a:r>
            <a:r>
              <a:rPr lang="fr-FR" sz="2400" dirty="0">
                <a:latin typeface="+mj-lt"/>
              </a:rPr>
              <a:t> ton classeur 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B2FA6A65-88BA-43FE-A4FB-266707DF5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83670"/>
              </p:ext>
            </p:extLst>
          </p:nvPr>
        </p:nvGraphicFramePr>
        <p:xfrm>
          <a:off x="4623223" y="3489960"/>
          <a:ext cx="3870536" cy="3657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67634">
                  <a:extLst>
                    <a:ext uri="{9D8B030D-6E8A-4147-A177-3AD203B41FA5}">
                      <a16:colId xmlns:a16="http://schemas.microsoft.com/office/drawing/2014/main" val="1859950667"/>
                    </a:ext>
                  </a:extLst>
                </a:gridCol>
                <a:gridCol w="967634">
                  <a:extLst>
                    <a:ext uri="{9D8B030D-6E8A-4147-A177-3AD203B41FA5}">
                      <a16:colId xmlns:a16="http://schemas.microsoft.com/office/drawing/2014/main" val="2541115895"/>
                    </a:ext>
                  </a:extLst>
                </a:gridCol>
                <a:gridCol w="967634">
                  <a:extLst>
                    <a:ext uri="{9D8B030D-6E8A-4147-A177-3AD203B41FA5}">
                      <a16:colId xmlns:a16="http://schemas.microsoft.com/office/drawing/2014/main" val="1192749054"/>
                    </a:ext>
                  </a:extLst>
                </a:gridCol>
                <a:gridCol w="967634">
                  <a:extLst>
                    <a:ext uri="{9D8B030D-6E8A-4147-A177-3AD203B41FA5}">
                      <a16:colId xmlns:a16="http://schemas.microsoft.com/office/drawing/2014/main" val="2677623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 err="1"/>
                        <a:t>Manal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518247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731A902-8FCA-4E4F-9E83-0A13276C0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9687756-7B31-41BD-97B3-E077FB435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7F36886-8FF1-4333-9322-BDD7ED90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7EFFA23-C909-40BC-8AD5-86F53DE2AEE1}"/>
              </a:ext>
            </a:extLst>
          </p:cNvPr>
          <p:cNvSpPr txBox="1"/>
          <p:nvPr/>
        </p:nvSpPr>
        <p:spPr>
          <a:xfrm>
            <a:off x="1024760" y="118524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+mj-lt"/>
              </a:rPr>
              <a:t>En utilisant le tableau de la situation initiale 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17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8F73A23-1BE3-40D8-A44B-8D1E0C6C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32183"/>
            <a:ext cx="12192000" cy="399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0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4884</TotalTime>
  <Words>612</Words>
  <Application>Microsoft Office PowerPoint</Application>
  <PresentationFormat>Grand écran</PresentationFormat>
  <Paragraphs>99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Abadi</vt:lpstr>
      <vt:lpstr>Aldhabi</vt:lpstr>
      <vt:lpstr>Arial</vt:lpstr>
      <vt:lpstr>Calibri</vt:lpstr>
      <vt:lpstr>Calibri Light</vt:lpstr>
      <vt:lpstr>Comic Sans MS</vt:lpstr>
      <vt:lpstr>Poppins Bold</vt:lpstr>
      <vt:lpstr>Wingdings</vt:lpstr>
      <vt:lpstr>Office Theme</vt:lpstr>
      <vt:lpstr>Présentation PowerPoint</vt:lpstr>
      <vt:lpstr>Activité 1 :</vt:lpstr>
      <vt:lpstr>Activité 1 :</vt:lpstr>
      <vt:lpstr>Présentation PowerPoint</vt:lpstr>
      <vt:lpstr>Insertion d’une ligne ou d’une colonne:</vt:lpstr>
      <vt:lpstr>Présentation PowerPoint</vt:lpstr>
      <vt:lpstr>Ajustement de la largeur des colonnes:</vt:lpstr>
      <vt:lpstr>Présentation PowerPoint</vt:lpstr>
      <vt:lpstr>Le tri: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248</cp:revision>
  <dcterms:created xsi:type="dcterms:W3CDTF">2025-09-27T13:59:56Z</dcterms:created>
  <dcterms:modified xsi:type="dcterms:W3CDTF">2026-05-06T19:59:36Z</dcterms:modified>
</cp:coreProperties>
</file>